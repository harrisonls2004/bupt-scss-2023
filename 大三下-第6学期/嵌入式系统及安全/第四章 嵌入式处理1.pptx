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handoutMasterIdLst>
    <p:handoutMasterId r:id="rId41"/>
  </p:handoutMasterIdLst>
  <p:sldIdLst>
    <p:sldId id="826" r:id="rId3"/>
    <p:sldId id="341" r:id="rId4"/>
    <p:sldId id="818" r:id="rId5"/>
    <p:sldId id="637" r:id="rId6"/>
    <p:sldId id="819" r:id="rId8"/>
    <p:sldId id="824" r:id="rId9"/>
    <p:sldId id="823" r:id="rId10"/>
    <p:sldId id="820" r:id="rId11"/>
    <p:sldId id="815" r:id="rId12"/>
    <p:sldId id="813" r:id="rId13"/>
    <p:sldId id="821" r:id="rId14"/>
    <p:sldId id="822" r:id="rId15"/>
    <p:sldId id="812" r:id="rId16"/>
    <p:sldId id="655" r:id="rId17"/>
    <p:sldId id="790" r:id="rId18"/>
    <p:sldId id="688" r:id="rId19"/>
    <p:sldId id="689" r:id="rId20"/>
    <p:sldId id="681" r:id="rId21"/>
    <p:sldId id="682" r:id="rId22"/>
    <p:sldId id="691" r:id="rId23"/>
    <p:sldId id="683" r:id="rId24"/>
    <p:sldId id="685" r:id="rId25"/>
    <p:sldId id="797" r:id="rId26"/>
    <p:sldId id="692" r:id="rId27"/>
    <p:sldId id="687" r:id="rId28"/>
    <p:sldId id="684" r:id="rId29"/>
    <p:sldId id="693" r:id="rId30"/>
    <p:sldId id="695" r:id="rId31"/>
    <p:sldId id="696" r:id="rId32"/>
    <p:sldId id="697" r:id="rId33"/>
    <p:sldId id="698" r:id="rId34"/>
    <p:sldId id="699" r:id="rId35"/>
    <p:sldId id="700" r:id="rId36"/>
    <p:sldId id="701" r:id="rId37"/>
    <p:sldId id="703" r:id="rId38"/>
    <p:sldId id="704" r:id="rId39"/>
    <p:sldId id="827" r:id="rId40"/>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2FDB2607-1784-4EEB-B798-7EB5836EED8A}">
        <p14:showMediaCtrls xmlns:p14="http://schemas.microsoft.com/office/powerpoint/2010/main" val="1"/>
      </p:ext>
    </p:extLst>
  </p:showPr>
  <p:clrMru>
    <a:srgbClr val="CCFF66"/>
    <a:srgbClr val="FF75BA"/>
    <a:srgbClr val="060606"/>
    <a:srgbClr val="FFFF00"/>
    <a:srgbClr val="FF2994"/>
    <a:srgbClr val="D6006B"/>
    <a:srgbClr val="FF61B0"/>
    <a:srgbClr val="C4FF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6875"/>
    <p:restoredTop sz="99812"/>
  </p:normalViewPr>
  <p:slideViewPr>
    <p:cSldViewPr showGuides="1">
      <p:cViewPr varScale="1">
        <p:scale>
          <a:sx n="97" d="100"/>
          <a:sy n="97" d="100"/>
        </p:scale>
        <p:origin x="84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274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handoutMaster" Target="handoutMasters/handoutMaster1.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image" Target="../media/image9.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63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1" sz="1200" b="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38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1" sz="1200" b="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38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1" sz="1200" b="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38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1" sz="1200" b="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32B5DD8-5252-4853-8A01-C6A99A12F245}" type="slidenum">
              <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355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1" sz="1200" b="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555"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1" sz="1200" b="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412" name="Rectangle 4"/>
          <p:cNvSpPr>
            <a:spLocks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3557"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558"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1" sz="1200" b="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55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1" sz="1200" b="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8D1E0EA-BBBE-4975-A27D-785BBB508132}" type="slidenum">
              <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幻灯片图像占位符 1"/>
          <p:cNvSpPr>
            <a:spLocks noGrp="1" noRot="1" noChangeAspect="1" noTextEdit="1"/>
          </p:cNvSpPr>
          <p:nvPr>
            <p:ph type="sldImg"/>
          </p:nvPr>
        </p:nvSpPr>
        <p:spPr>
          <a:ln/>
        </p:spPr>
      </p:sp>
      <p:sp>
        <p:nvSpPr>
          <p:cNvPr id="23555" name="备注占位符 2"/>
          <p:cNvSpPr>
            <a:spLocks noGrp="1"/>
          </p:cNvSpPr>
          <p:nvPr>
            <p:ph type="body" idx="1"/>
          </p:nvPr>
        </p:nvSpPr>
        <p:spPr>
          <a:ln/>
        </p:spPr>
        <p:txBody>
          <a:bodyPr wrap="square" lIns="91440" tIns="45720" rIns="91440" bIns="45720" anchor="t" anchorCtr="0"/>
          <a:p>
            <a:pPr lvl="0"/>
            <a:endParaRPr lang="zh-CN" altLang="en-US" dirty="0"/>
          </a:p>
        </p:txBody>
      </p:sp>
      <p:sp>
        <p:nvSpPr>
          <p:cNvPr id="2355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14" name="Rectangle 11"/>
          <p:cNvSpPr>
            <a:spLocks noGrp="1" noChangeArrowheads="1"/>
          </p:cNvSpPr>
          <p:nvPr>
            <p:ph type="dt" sz="half" idx="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defRPr/>
            </a:pPr>
            <a:fld id="{A93D9BC8-0B5F-4F3D-9297-32087E1839BB}" type="slidenum">
              <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defRPr/>
            </a:pPr>
            <a:fld id="{3DFCD056-2C4B-4D4C-AE54-5238E1795CCE}" type="slidenum">
              <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14" name="Rectangle 11"/>
          <p:cNvSpPr>
            <a:spLocks noGrp="1" noChangeArrowheads="1"/>
          </p:cNvSpPr>
          <p:nvPr>
            <p:ph type="dt" sz="half" idx="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defRPr/>
            </a:pPr>
            <a:fld id="{14072BCB-5173-4AD9-A536-70B4D2D88AD3}" type="slidenum">
              <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22288" y="1223963"/>
            <a:ext cx="4140200" cy="5221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814888" y="1223963"/>
            <a:ext cx="4140200" cy="5221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1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defRPr/>
            </a:pPr>
            <a:fld id="{B489AC6B-8D83-4D9E-BC5D-EE4133605968}" type="slidenum">
              <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1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1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14"/>
          </p:nvPr>
        </p:nvSpPr>
        <p:spPr bwMode="auto">
          <a:xfrm>
            <a:off x="70421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defRPr/>
            </a:pPr>
            <a:fld id="{47B09C59-BE0A-44B3-870F-91636B852B81}" type="slidenum">
              <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14" name="Rectangle 11"/>
          <p:cNvSpPr>
            <a:spLocks noGrp="1" noChangeArrowheads="1"/>
          </p:cNvSpPr>
          <p:nvPr>
            <p:ph type="dt" sz="half" idx="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defRPr/>
            </a:pPr>
            <a:fld id="{3AAD464C-DD87-4EFD-B7B0-E5E22F101C68}" type="slidenum">
              <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4" name="Rectangle 11"/>
          <p:cNvSpPr>
            <a:spLocks noGrp="1" noChangeArrowheads="1"/>
          </p:cNvSpPr>
          <p:nvPr>
            <p:ph type="dt" sz="half" idx="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defRPr/>
            </a:pPr>
            <a:fld id="{A00970BB-EAAD-442A-88A6-C6621B907F65}" type="slidenum">
              <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14" name="Rectangle 11"/>
          <p:cNvSpPr>
            <a:spLocks noGrp="1" noChangeArrowheads="1"/>
          </p:cNvSpPr>
          <p:nvPr>
            <p:ph type="dt" sz="half" idx="1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defRPr/>
            </a:pPr>
            <a:fld id="{69348223-B904-4DAB-8F76-2A584C7A2C98}" type="slidenum">
              <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14" name="Rectangle 11"/>
          <p:cNvSpPr>
            <a:spLocks noGrp="1" noChangeArrowheads="1"/>
          </p:cNvSpPr>
          <p:nvPr>
            <p:ph type="dt" sz="half" idx="1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defRPr/>
            </a:pPr>
            <a:fld id="{77B9DF8C-79AD-48DF-A546-D8316FE4D9A3}" type="slidenum">
              <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defRPr/>
            </a:pPr>
            <a:fld id="{BAF5D326-FB88-45A1-9A4D-312F62B0114B}" type="slidenum">
              <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46888" y="0"/>
            <a:ext cx="2108200" cy="64452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522288" y="0"/>
            <a:ext cx="6172200" cy="644525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defRPr/>
            </a:pPr>
            <a:fld id="{0A13E8F3-49AD-42FF-9148-11EA06E36033}" type="slidenum">
              <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150938" y="0"/>
            <a:ext cx="7793037" cy="9017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522288" y="1223963"/>
            <a:ext cx="8432800" cy="5221287"/>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14" name="Rectangle 11"/>
          <p:cNvSpPr>
            <a:spLocks noGrp="1" noChangeArrowheads="1"/>
          </p:cNvSpPr>
          <p:nvPr>
            <p:ph type="dt" sz="half" idx="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defRPr/>
            </a:pPr>
            <a:fld id="{A7033B3B-FC78-4E1A-BF61-10F857B1DD9E}" type="slidenum">
              <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150938" y="0"/>
            <a:ext cx="7793037" cy="9017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522288" y="1223963"/>
            <a:ext cx="4140200" cy="522128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814888" y="1223963"/>
            <a:ext cx="4140200" cy="522128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1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defRPr/>
            </a:pPr>
            <a:fld id="{E438D192-EA9F-4867-8E3D-58C648FB1858}" type="slidenum">
              <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150938" y="0"/>
            <a:ext cx="7793037" cy="9017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22288" y="1223963"/>
            <a:ext cx="4140200" cy="522128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814888" y="1223963"/>
            <a:ext cx="4140200" cy="25336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814888" y="3910013"/>
            <a:ext cx="4140200" cy="25352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1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1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defRPr/>
            </a:pPr>
            <a:fld id="{50B706EB-AFE3-484F-B07A-DB855A9310E4}" type="slidenum">
              <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fld>
            <a:endParaRPr kumimoji="0" lang="en-US" altLang="zh-CN" sz="14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3D74DD9-0D88-44BC-B531-7E8AE1318D94}"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8"/>
          <p:cNvSpPr>
            <a:spLocks noChangeArrowheads="1"/>
          </p:cNvSpPr>
          <p:nvPr/>
        </p:nvSpPr>
        <p:spPr bwMode="gray">
          <a:xfrm>
            <a:off x="442913" y="995363"/>
            <a:ext cx="8226425" cy="42863"/>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27" name="Rectangle 9"/>
          <p:cNvSpPr>
            <a:spLocks noGrp="1"/>
          </p:cNvSpPr>
          <p:nvPr>
            <p:ph type="title"/>
          </p:nvPr>
        </p:nvSpPr>
        <p:spPr>
          <a:xfrm>
            <a:off x="1150938" y="0"/>
            <a:ext cx="7793037" cy="90170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28" name="Rectangle 10"/>
          <p:cNvSpPr>
            <a:spLocks noGrp="1"/>
          </p:cNvSpPr>
          <p:nvPr>
            <p:ph type="body" idx="1"/>
          </p:nvPr>
        </p:nvSpPr>
        <p:spPr>
          <a:xfrm>
            <a:off x="522288" y="1223963"/>
            <a:ext cx="8432800" cy="5221287"/>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983499" name="Rectangle 11"/>
          <p:cNvSpPr>
            <a:spLocks noGrp="1" noChangeArrowheads="1"/>
          </p:cNvSpPr>
          <p:nvPr>
            <p:ph type="dt" sz="half" idx="2"/>
          </p:nvPr>
        </p:nvSpPr>
        <p:spPr bwMode="auto">
          <a:xfrm>
            <a:off x="1162050" y="6243638"/>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spcBef>
                <a:spcPct val="0"/>
              </a:spcBef>
              <a:defRPr sz="1400" b="0">
                <a:solidFill>
                  <a:srgbClr val="000000"/>
                </a:solidFill>
                <a:latin typeface="Tahom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83500" name="Rectangle 12"/>
          <p:cNvSpPr>
            <a:spLocks noGrp="1" noChangeArrowheads="1"/>
          </p:cNvSpPr>
          <p:nvPr>
            <p:ph type="ftr" sz="quarter" idx="3"/>
          </p:nvPr>
        </p:nvSpPr>
        <p:spPr bwMode="auto">
          <a:xfrm>
            <a:off x="3657600" y="6243638"/>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spcBef>
                <a:spcPct val="0"/>
              </a:spcBef>
              <a:defRPr sz="1400" b="0">
                <a:solidFill>
                  <a:srgbClr val="000000"/>
                </a:solidFill>
                <a:latin typeface="Tahom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83501" name="Rectangle 13"/>
          <p:cNvSpPr>
            <a:spLocks noGrp="1" noChangeArrowheads="1"/>
          </p:cNvSpPr>
          <p:nvPr>
            <p:ph type="sldNum" sz="quarter" idx="4"/>
          </p:nvPr>
        </p:nvSpPr>
        <p:spPr bwMode="auto">
          <a:xfrm>
            <a:off x="7042150" y="6243638"/>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400" b="0">
                <a:solidFill>
                  <a:srgbClr val="000000"/>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D74DD9-0D88-44BC-B531-7E8AE1318D94}"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2" name="Rectangle 26"/>
          <p:cNvSpPr>
            <a:spLocks noChangeArrowheads="1"/>
          </p:cNvSpPr>
          <p:nvPr/>
        </p:nvSpPr>
        <p:spPr bwMode="ltGray">
          <a:xfrm>
            <a:off x="417513" y="296863"/>
            <a:ext cx="438150" cy="474663"/>
          </a:xfrm>
          <a:prstGeom prst="rect">
            <a:avLst/>
          </a:prstGeom>
          <a:solidFill>
            <a:schemeClr val="accent2"/>
          </a:solidFill>
          <a:ln>
            <a:noFill/>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3" name="Rectangle 27"/>
          <p:cNvSpPr>
            <a:spLocks noChangeArrowheads="1"/>
          </p:cNvSpPr>
          <p:nvPr/>
        </p:nvSpPr>
        <p:spPr bwMode="ltGray">
          <a:xfrm>
            <a:off x="800100" y="296863"/>
            <a:ext cx="328613" cy="474663"/>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4" name="Rectangle 28"/>
          <p:cNvSpPr>
            <a:spLocks noChangeArrowheads="1"/>
          </p:cNvSpPr>
          <p:nvPr/>
        </p:nvSpPr>
        <p:spPr bwMode="ltGray">
          <a:xfrm>
            <a:off x="541338" y="719138"/>
            <a:ext cx="422275" cy="474663"/>
          </a:xfrm>
          <a:prstGeom prst="rect">
            <a:avLst/>
          </a:prstGeom>
          <a:solidFill>
            <a:schemeClr val="folHlink"/>
          </a:solidFill>
          <a:ln>
            <a:noFill/>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5" name="Rectangle 29"/>
          <p:cNvSpPr>
            <a:spLocks noChangeArrowheads="1"/>
          </p:cNvSpPr>
          <p:nvPr/>
        </p:nvSpPr>
        <p:spPr bwMode="ltGray">
          <a:xfrm>
            <a:off x="911225" y="719138"/>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6" name="Rectangle 30"/>
          <p:cNvSpPr>
            <a:spLocks noChangeArrowheads="1"/>
          </p:cNvSpPr>
          <p:nvPr/>
        </p:nvSpPr>
        <p:spPr bwMode="ltGray">
          <a:xfrm>
            <a:off x="127000" y="646113"/>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7" name="Rectangle 31"/>
          <p:cNvSpPr>
            <a:spLocks noChangeArrowheads="1"/>
          </p:cNvSpPr>
          <p:nvPr/>
        </p:nvSpPr>
        <p:spPr bwMode="gray">
          <a:xfrm>
            <a:off x="762000" y="188913"/>
            <a:ext cx="31750" cy="1052513"/>
          </a:xfrm>
          <a:prstGeom prst="rect">
            <a:avLst/>
          </a:prstGeom>
          <a:solidFill>
            <a:schemeClr val="bg2"/>
          </a:solidFill>
          <a:ln>
            <a:noFill/>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timing>
    <p:tnLst>
      <p:par>
        <p:cTn id="1" dur="indefinite" restart="never" nodeType="tmRoot"/>
      </p:par>
    </p:tnLst>
  </p:timing>
  <p:hf sldNum="0" hdr="0" ftr="0" dt="0"/>
  <p:txStyles>
    <p:title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Times New Roman" panose="02020603050405020304" pitchFamily="18" charset="0"/>
          <a:ea typeface="黑体" panose="02010609060101010101" pitchFamily="49" charset="-122"/>
        </a:defRPr>
      </a:lvl2pPr>
      <a:lvl3pPr algn="ctr" rtl="0" eaLnBrk="0" fontAlgn="base" hangingPunct="0">
        <a:spcBef>
          <a:spcPct val="0"/>
        </a:spcBef>
        <a:spcAft>
          <a:spcPct val="0"/>
        </a:spcAft>
        <a:defRPr sz="4400">
          <a:solidFill>
            <a:schemeClr val="tx1"/>
          </a:solidFill>
          <a:latin typeface="Times New Roman" panose="02020603050405020304" pitchFamily="18" charset="0"/>
          <a:ea typeface="黑体" panose="02010609060101010101" pitchFamily="49" charset="-122"/>
        </a:defRPr>
      </a:lvl3pPr>
      <a:lvl4pPr algn="ctr" rtl="0" eaLnBrk="0" fontAlgn="base" hangingPunct="0">
        <a:spcBef>
          <a:spcPct val="0"/>
        </a:spcBef>
        <a:spcAft>
          <a:spcPct val="0"/>
        </a:spcAft>
        <a:defRPr sz="4400">
          <a:solidFill>
            <a:schemeClr val="tx1"/>
          </a:solidFill>
          <a:latin typeface="Times New Roman" panose="02020603050405020304" pitchFamily="18" charset="0"/>
          <a:ea typeface="黑体" panose="02010609060101010101" pitchFamily="49" charset="-122"/>
        </a:defRPr>
      </a:lvl4pPr>
      <a:lvl5pPr algn="ctr" rtl="0" eaLnBrk="0" fontAlgn="base" hangingPunct="0">
        <a:spcBef>
          <a:spcPct val="0"/>
        </a:spcBef>
        <a:spcAft>
          <a:spcPct val="0"/>
        </a:spcAft>
        <a:defRPr sz="4400">
          <a:solidFill>
            <a:schemeClr val="tx1"/>
          </a:solidFill>
          <a:latin typeface="Times New Roman" panose="02020603050405020304" pitchFamily="18" charset="0"/>
          <a:ea typeface="黑体" panose="02010609060101010101" pitchFamily="49" charset="-122"/>
        </a:defRPr>
      </a:lvl5pPr>
      <a:lvl6pPr marL="457200" algn="ctr" rtl="0" fontAlgn="base">
        <a:spcBef>
          <a:spcPct val="0"/>
        </a:spcBef>
        <a:spcAft>
          <a:spcPct val="0"/>
        </a:spcAft>
        <a:defRPr sz="4400">
          <a:solidFill>
            <a:schemeClr val="tx1"/>
          </a:solidFill>
          <a:latin typeface="Times New Roman" panose="02020603050405020304" pitchFamily="18" charset="0"/>
          <a:ea typeface="黑体" panose="02010609060101010101" pitchFamily="49" charset="-122"/>
        </a:defRPr>
      </a:lvl6pPr>
      <a:lvl7pPr marL="914400" algn="ctr" rtl="0" fontAlgn="base">
        <a:spcBef>
          <a:spcPct val="0"/>
        </a:spcBef>
        <a:spcAft>
          <a:spcPct val="0"/>
        </a:spcAft>
        <a:defRPr sz="4400">
          <a:solidFill>
            <a:schemeClr val="tx1"/>
          </a:solidFill>
          <a:latin typeface="Times New Roman" panose="02020603050405020304" pitchFamily="18" charset="0"/>
          <a:ea typeface="黑体" panose="02010609060101010101" pitchFamily="49" charset="-122"/>
        </a:defRPr>
      </a:lvl7pPr>
      <a:lvl8pPr marL="1371600" algn="ctr" rtl="0" fontAlgn="base">
        <a:spcBef>
          <a:spcPct val="0"/>
        </a:spcBef>
        <a:spcAft>
          <a:spcPct val="0"/>
        </a:spcAft>
        <a:defRPr sz="4400">
          <a:solidFill>
            <a:schemeClr val="tx1"/>
          </a:solidFill>
          <a:latin typeface="Times New Roman" panose="02020603050405020304" pitchFamily="18" charset="0"/>
          <a:ea typeface="黑体" panose="02010609060101010101" pitchFamily="49" charset="-122"/>
        </a:defRPr>
      </a:lvl8pPr>
      <a:lvl9pPr marL="1828800" algn="ctr" rtl="0" fontAlgn="base">
        <a:spcBef>
          <a:spcPct val="0"/>
        </a:spcBef>
        <a:spcAft>
          <a:spcPct val="0"/>
        </a:spcAft>
        <a:defRPr sz="4400">
          <a:solidFill>
            <a:schemeClr val="tx1"/>
          </a:solidFill>
          <a:latin typeface="Times New Roman" panose="02020603050405020304" pitchFamily="18" charset="0"/>
          <a:ea typeface="黑体" panose="02010609060101010101" pitchFamily="49"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GIF"/></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7" Type="http://schemas.openxmlformats.org/officeDocument/2006/relationships/vmlDrawing" Target="../drawings/vmlDrawing3.vml"/><Relationship Id="rId6"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oleObject" Target="../embeddings/oleObject4.bin"/><Relationship Id="rId3" Type="http://schemas.openxmlformats.org/officeDocument/2006/relationships/image" Target="../media/image9.png"/><Relationship Id="rId2" Type="http://schemas.openxmlformats.org/officeDocument/2006/relationships/oleObject" Target="../embeddings/oleObject3.bin"/><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www.bilibili.com/video/BV1mD4y1r7UV/" TargetMode="External"/><Relationship Id="rId1" Type="http://schemas.openxmlformats.org/officeDocument/2006/relationships/image" Target="../media/image7.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bilibili.com/video/BV1QR4y1G7B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灯片编号占位符 5"/>
          <p:cNvSpPr txBox="1">
            <a:spLocks noGrp="1"/>
          </p:cNvSpPr>
          <p:nvPr>
            <p:ph type="sldNum" sz="quarter" idx="4"/>
          </p:nvPr>
        </p:nvSpPr>
        <p:spPr>
          <a:ln/>
        </p:spPr>
        <p:txBody>
          <a:bodyPr anchor="b" anchorCtr="0"/>
          <a:p>
            <a:pPr marL="0" indent="0" algn="r" eaLnBrk="1" hangingPunct="1">
              <a:spcBef>
                <a:spcPct val="0"/>
              </a:spcBef>
              <a:buClrTx/>
              <a:buSzTx/>
              <a:buFontTx/>
              <a:buNone/>
            </a:pPr>
            <a:fld id="{9A0DB2DC-4C9A-4742-B13C-FB6460FD3503}" type="slidenum">
              <a:rPr lang="zh-CN" altLang="en-US" sz="1400" dirty="0">
                <a:solidFill>
                  <a:srgbClr val="000000"/>
                </a:solidFill>
                <a:latin typeface="Tahoma" panose="020B0604030504040204" pitchFamily="34" charset="0"/>
                <a:ea typeface="+mn-ea"/>
                <a:cs typeface="+mn-cs"/>
              </a:rPr>
            </a:fld>
            <a:endParaRPr lang="zh-CN" altLang="en-US" sz="1400" dirty="0">
              <a:solidFill>
                <a:srgbClr val="000000"/>
              </a:solidFill>
              <a:latin typeface="Tahoma" panose="020B0604030504040204" pitchFamily="34" charset="0"/>
              <a:ea typeface="+mn-ea"/>
              <a:cs typeface="+mn-cs"/>
            </a:endParaRPr>
          </a:p>
        </p:txBody>
      </p:sp>
      <p:sp>
        <p:nvSpPr>
          <p:cNvPr id="19459" name="Rectangle 2"/>
          <p:cNvSpPr>
            <a:spLocks noGrp="1"/>
          </p:cNvSpPr>
          <p:nvPr>
            <p:ph type="title"/>
          </p:nvPr>
        </p:nvSpPr>
        <p:spPr>
          <a:ln/>
        </p:spPr>
        <p:txBody>
          <a:bodyPr vert="horz" wrap="square" lIns="91440" tIns="45720" rIns="91440" bIns="45720" anchor="b" anchorCtr="0"/>
          <a:p>
            <a:pPr eaLnBrk="1" hangingPunct="1"/>
            <a:r>
              <a:rPr lang="zh-CN" altLang="en-US" dirty="0"/>
              <a:t>嵌入式硬件小结</a:t>
            </a:r>
            <a:endParaRPr lang="zh-CN" altLang="en-US" dirty="0"/>
          </a:p>
        </p:txBody>
      </p:sp>
      <p:sp>
        <p:nvSpPr>
          <p:cNvPr id="19460" name="Rectangle 3"/>
          <p:cNvSpPr>
            <a:spLocks noGrp="1"/>
          </p:cNvSpPr>
          <p:nvPr>
            <p:ph idx="1"/>
          </p:nvPr>
        </p:nvSpPr>
        <p:spPr>
          <a:xfrm>
            <a:off x="827088" y="1508125"/>
            <a:ext cx="7772400" cy="4511675"/>
          </a:xfrm>
          <a:ln/>
        </p:spPr>
        <p:txBody>
          <a:bodyPr vert="horz" wrap="square" lIns="91440" tIns="45720" rIns="91440" bIns="45720" anchor="t" anchorCtr="0"/>
          <a:p>
            <a:pPr eaLnBrk="1" latinLnBrk="1" hangingPunct="1">
              <a:lnSpc>
                <a:spcPct val="120000"/>
              </a:lnSpc>
              <a:spcBef>
                <a:spcPct val="50000"/>
              </a:spcBef>
            </a:pPr>
            <a:r>
              <a:rPr lang="zh-CN" altLang="en-US" sz="2400" dirty="0"/>
              <a:t>计算机系统由</a:t>
            </a:r>
            <a:r>
              <a:rPr lang="zh-CN" altLang="en-US" sz="2400" b="1" dirty="0">
                <a:solidFill>
                  <a:srgbClr val="FF0000"/>
                </a:solidFill>
              </a:rPr>
              <a:t>处理器</a:t>
            </a:r>
            <a:r>
              <a:rPr lang="zh-CN" altLang="en-US" sz="2400" dirty="0"/>
              <a:t>、</a:t>
            </a:r>
            <a:r>
              <a:rPr lang="zh-CN" altLang="en-US" sz="2400" b="1" dirty="0">
                <a:solidFill>
                  <a:srgbClr val="FF0000"/>
                </a:solidFill>
              </a:rPr>
              <a:t>内存</a:t>
            </a:r>
            <a:r>
              <a:rPr lang="zh-CN" altLang="en-US" sz="2400" dirty="0"/>
              <a:t>、</a:t>
            </a:r>
            <a:r>
              <a:rPr lang="zh-CN" altLang="en-US" sz="2400" b="1" dirty="0">
                <a:solidFill>
                  <a:srgbClr val="FF0000"/>
                </a:solidFill>
              </a:rPr>
              <a:t>总线</a:t>
            </a:r>
            <a:r>
              <a:rPr lang="zh-CN" altLang="en-US" sz="2400" dirty="0"/>
              <a:t>等主要部件组成。</a:t>
            </a:r>
            <a:endParaRPr lang="zh-CN" altLang="en-US" sz="2400" dirty="0"/>
          </a:p>
          <a:p>
            <a:pPr eaLnBrk="1" latinLnBrk="1" hangingPunct="1">
              <a:lnSpc>
                <a:spcPct val="120000"/>
              </a:lnSpc>
              <a:spcBef>
                <a:spcPct val="50000"/>
              </a:spcBef>
            </a:pPr>
            <a:r>
              <a:rPr lang="zh-CN" altLang="en-US" sz="2400" dirty="0"/>
              <a:t>处理器对内存的基本操作包括</a:t>
            </a:r>
            <a:r>
              <a:rPr lang="zh-CN" altLang="en-US" sz="2400" b="1" dirty="0">
                <a:solidFill>
                  <a:srgbClr val="FF0000"/>
                </a:solidFill>
              </a:rPr>
              <a:t>读取指令</a:t>
            </a:r>
            <a:r>
              <a:rPr lang="zh-CN" altLang="en-US" sz="2400" dirty="0"/>
              <a:t>和</a:t>
            </a:r>
            <a:r>
              <a:rPr lang="zh-CN" altLang="en-US" sz="2400" b="1" dirty="0">
                <a:solidFill>
                  <a:srgbClr val="FF0000"/>
                </a:solidFill>
              </a:rPr>
              <a:t>读写数据</a:t>
            </a:r>
            <a:r>
              <a:rPr lang="zh-CN" altLang="en-US" sz="2400" dirty="0"/>
              <a:t>。</a:t>
            </a:r>
            <a:endParaRPr lang="en-US" altLang="zh-CN" sz="2400" dirty="0"/>
          </a:p>
          <a:p>
            <a:pPr eaLnBrk="1" latinLnBrk="1" hangingPunct="1">
              <a:lnSpc>
                <a:spcPct val="120000"/>
              </a:lnSpc>
              <a:spcBef>
                <a:spcPct val="50000"/>
              </a:spcBef>
            </a:pPr>
            <a:r>
              <a:rPr lang="zh-CN" altLang="en-US" sz="2400" dirty="0"/>
              <a:t>嵌入式系统的最小系统指基于某处理器为核心，可以运转起来的最简单的硬件设计（即</a:t>
            </a:r>
            <a:r>
              <a:rPr lang="zh-CN" altLang="en-US" sz="2400" b="1" dirty="0">
                <a:solidFill>
                  <a:srgbClr val="FF0000"/>
                </a:solidFill>
              </a:rPr>
              <a:t>处理器能够运行的最基本系统</a:t>
            </a:r>
            <a:r>
              <a:rPr lang="zh-CN" altLang="en-US" sz="2400" dirty="0"/>
              <a:t>）</a:t>
            </a:r>
            <a:endParaRPr lang="en-US" altLang="zh-CN" sz="2400" dirty="0"/>
          </a:p>
          <a:p>
            <a:pPr eaLnBrk="1" latinLnBrk="1" hangingPunct="1">
              <a:lnSpc>
                <a:spcPct val="120000"/>
              </a:lnSpc>
              <a:spcBef>
                <a:spcPct val="50000"/>
              </a:spcBef>
            </a:pPr>
            <a:r>
              <a:rPr lang="zh-CN" altLang="en-US" sz="2400" dirty="0"/>
              <a:t>嵌入式系统的最小系统至少包括</a:t>
            </a:r>
            <a:r>
              <a:rPr lang="zh-CN" altLang="en-US" sz="2400" dirty="0">
                <a:solidFill>
                  <a:srgbClr val="FF0000"/>
                </a:solidFill>
              </a:rPr>
              <a:t>处理器</a:t>
            </a:r>
            <a:r>
              <a:rPr lang="zh-CN" altLang="en-US" sz="2400" dirty="0"/>
              <a:t>、</a:t>
            </a:r>
            <a:r>
              <a:rPr lang="zh-CN" altLang="en-US" sz="2400" dirty="0">
                <a:solidFill>
                  <a:srgbClr val="FF0000"/>
                </a:solidFill>
              </a:rPr>
              <a:t>内存</a:t>
            </a:r>
            <a:r>
              <a:rPr lang="zh-CN" altLang="en-US" sz="2400" dirty="0"/>
              <a:t>、</a:t>
            </a:r>
            <a:r>
              <a:rPr lang="zh-CN" altLang="en-US" sz="2400" dirty="0">
                <a:solidFill>
                  <a:srgbClr val="FF0000"/>
                </a:solidFill>
              </a:rPr>
              <a:t>时钟</a:t>
            </a:r>
            <a:r>
              <a:rPr lang="zh-CN" altLang="en-US" sz="2400" dirty="0"/>
              <a:t>、</a:t>
            </a:r>
            <a:r>
              <a:rPr lang="zh-CN" altLang="en-US" sz="2400" dirty="0">
                <a:solidFill>
                  <a:srgbClr val="FF0000"/>
                </a:solidFill>
              </a:rPr>
              <a:t>电源和复位</a:t>
            </a:r>
            <a:endParaRPr lang="en-US" altLang="zh-CN" sz="2400" dirty="0">
              <a:solidFill>
                <a:srgbClr val="FF0000"/>
              </a:solidFill>
            </a:endParaRPr>
          </a:p>
          <a:p>
            <a:pPr eaLnBrk="1" latinLnBrk="1" hangingPunct="1">
              <a:lnSpc>
                <a:spcPct val="120000"/>
              </a:lnSpc>
              <a:spcBef>
                <a:spcPct val="50000"/>
              </a:spcBef>
            </a:pPr>
            <a:endParaRPr lang="zh-CN" altLang="en-US" sz="24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5" name="Rectangle 3"/>
          <p:cNvSpPr>
            <a:spLocks noGrp="1"/>
          </p:cNvSpPr>
          <p:nvPr>
            <p:ph type="subTitle" idx="1"/>
          </p:nvPr>
        </p:nvSpPr>
        <p:spPr>
          <a:xfrm>
            <a:off x="1116013" y="2781300"/>
            <a:ext cx="7162800" cy="1524000"/>
          </a:xfrm>
          <a:ln/>
        </p:spPr>
        <p:txBody>
          <a:bodyPr vert="horz" wrap="square" lIns="91440" tIns="45720" rIns="91440" bIns="45720" anchor="t" anchorCtr="0"/>
          <a:p>
            <a:pPr eaLnBrk="1" hangingPunct="1">
              <a:lnSpc>
                <a:spcPct val="135000"/>
              </a:lnSpc>
              <a:spcBef>
                <a:spcPct val="50000"/>
              </a:spcBef>
              <a:buSzPct val="60000"/>
            </a:pPr>
            <a:r>
              <a:rPr lang="zh-CN" altLang="en-US" sz="4800" dirty="0">
                <a:solidFill>
                  <a:schemeClr val="tx2"/>
                </a:solidFill>
                <a:latin typeface="黑体" panose="02010609060101010101" pitchFamily="49" charset="-122"/>
                <a:ea typeface="黑体" panose="02010609060101010101" pitchFamily="49" charset="-122"/>
                <a:cs typeface="+mn-cs"/>
              </a:rPr>
              <a:t>第三章 嵌入式处理器</a:t>
            </a:r>
            <a:endParaRPr lang="en-US" altLang="zh-CN" dirty="0">
              <a:solidFill>
                <a:schemeClr val="tx2"/>
              </a:solidFill>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4" presetClass="entr" presetSubtype="0" fill="hold" grpId="0" nodeType="afterEffect">
                                  <p:stCondLst>
                                    <p:cond delay="0"/>
                                  </p:stCondLst>
                                  <p:childTnLst>
                                    <p:set>
                                      <p:cBhvr>
                                        <p:cTn id="6" fill="hold">
                                          <p:stCondLst>
                                            <p:cond delay="0"/>
                                          </p:stCondLst>
                                        </p:cTn>
                                        <p:tgtEl>
                                          <p:spTgt spid="110595">
                                            <p:txEl>
                                              <p:charRg st="0" end="11"/>
                                            </p:txEl>
                                          </p:spTgt>
                                        </p:tgtEl>
                                        <p:attrNameLst>
                                          <p:attrName>style.visibility</p:attrName>
                                        </p:attrNameLst>
                                      </p:cBhvr>
                                      <p:to>
                                        <p:strVal val="visible"/>
                                      </p:to>
                                    </p:set>
                                    <p:animEffect transition="in" filter="fade">
                                      <p:cBhvr>
                                        <p:cTn id="7" dur="500"/>
                                        <p:tgtEl>
                                          <p:spTgt spid="110595">
                                            <p:txEl>
                                              <p:charRg st="0" end="11"/>
                                            </p:txEl>
                                          </p:spTgt>
                                        </p:tgtEl>
                                      </p:cBhvr>
                                    </p:animEffect>
                                    <p:anim calcmode="lin" valueType="num">
                                      <p:cBhvr>
                                        <p:cTn id="8" dur="500" fill="hold"/>
                                        <p:tgtEl>
                                          <p:spTgt spid="110595">
                                            <p:txEl>
                                              <p:charRg st="0" end="11"/>
                                            </p:txEl>
                                          </p:spTgt>
                                        </p:tgtEl>
                                        <p:attrNameLst>
                                          <p:attrName>ppt_x</p:attrName>
                                        </p:attrNameLst>
                                      </p:cBhvr>
                                      <p:tavLst>
                                        <p:tav tm="0">
                                          <p:val>
                                            <p:strVal val="#ppt_x"/>
                                          </p:val>
                                        </p:tav>
                                        <p:tav tm="100000">
                                          <p:val>
                                            <p:strVal val="#ppt_x"/>
                                          </p:val>
                                        </p:tav>
                                      </p:tavLst>
                                    </p:anim>
                                    <p:anim calcmode="lin" valueType="num">
                                      <p:cBhvr>
                                        <p:cTn id="9" dur="500" fill="hold"/>
                                        <p:tgtEl>
                                          <p:spTgt spid="110595">
                                            <p:txEl>
                                              <p:charRg st="0" end="11"/>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0068" name="Rectangle 4"/>
          <p:cNvSpPr>
            <a:spLocks noChangeArrowheads="1"/>
          </p:cNvSpPr>
          <p:nvPr/>
        </p:nvSpPr>
        <p:spPr bwMode="auto">
          <a:xfrm>
            <a:off x="868363" y="260350"/>
            <a:ext cx="7543800" cy="811213"/>
          </a:xfrm>
          <a:prstGeom prst="rect">
            <a:avLst/>
          </a:prstGeom>
          <a:noFill/>
          <a:ln w="9525">
            <a:noFill/>
            <a:miter lim="800000"/>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dirty="0">
                <a:ln>
                  <a:noFill/>
                </a:ln>
                <a:solidFill>
                  <a:schemeClr val="tx2"/>
                </a:solidFill>
                <a:effectLst>
                  <a:outerShdw blurRad="38100" dist="38100" dir="2700000" algn="tl">
                    <a:srgbClr val="000000"/>
                  </a:outerShdw>
                </a:effectLst>
                <a:uLnTx/>
                <a:uFillTx/>
                <a:latin typeface="Tahoma" panose="020B0604030504040204" pitchFamily="34" charset="0"/>
                <a:ea typeface="黑体" panose="02010609060101010101" pitchFamily="49" charset="-122"/>
                <a:cs typeface="+mn-cs"/>
              </a:rPr>
              <a:t>嵌入式处理器的分类</a:t>
            </a:r>
            <a:endParaRPr kumimoji="0" lang="zh-CN" altLang="en-US" sz="4000" b="1" i="0" u="none" strike="noStrike" kern="1200" cap="none" spc="0" normalizeH="0" baseline="0" noProof="0" dirty="0">
              <a:ln>
                <a:noFill/>
              </a:ln>
              <a:solidFill>
                <a:schemeClr val="tx2"/>
              </a:solidFill>
              <a:effectLst>
                <a:outerShdw blurRad="38100" dist="38100" dir="2700000" algn="tl">
                  <a:srgbClr val="000000"/>
                </a:outerShdw>
              </a:effectLst>
              <a:uLnTx/>
              <a:uFillTx/>
              <a:latin typeface="Tahoma" panose="020B0604030504040204" pitchFamily="34" charset="0"/>
              <a:ea typeface="黑体" panose="02010609060101010101" pitchFamily="49" charset="-122"/>
              <a:cs typeface="+mn-cs"/>
            </a:endParaRPr>
          </a:p>
        </p:txBody>
      </p:sp>
      <p:sp>
        <p:nvSpPr>
          <p:cNvPr id="4" name="Rectangle 3"/>
          <p:cNvSpPr txBox="1">
            <a:spLocks noChangeArrowheads="1"/>
          </p:cNvSpPr>
          <p:nvPr/>
        </p:nvSpPr>
        <p:spPr>
          <a:xfrm>
            <a:off x="900113" y="1844675"/>
            <a:ext cx="7704138" cy="3960813"/>
          </a:xfrm>
          <a:prstGeom prst="rect">
            <a:avLst/>
          </a:prstGeom>
        </p:spPr>
        <p:txBody>
          <a:bodyPr/>
          <a:lstStyle/>
          <a:p>
            <a:pPr marL="342900" marR="0" indent="-342900" algn="just" defTabSz="914400" eaLnBrk="1" hangingPunct="1">
              <a:lnSpc>
                <a:spcPct val="175000"/>
              </a:lnSpc>
              <a:spcBef>
                <a:spcPct val="80000"/>
              </a:spcBef>
              <a:buClr>
                <a:srgbClr val="FFD317"/>
              </a:buClr>
              <a:buSzTx/>
              <a:buFont typeface="Wingdings" panose="05000000000000000000" pitchFamily="2" charset="2"/>
              <a:buChar char="Ø"/>
              <a:defRPr/>
            </a:pPr>
            <a:r>
              <a:rPr kumimoji="0" lang="en-US" altLang="zh-CN" sz="3600" kern="0" cap="none" spc="0" normalizeH="0" baseline="0" noProof="0" dirty="0">
                <a:effectLst>
                  <a:outerShdw blurRad="38100" dist="38100" dir="2700000" algn="tl">
                    <a:srgbClr val="000000"/>
                  </a:outerShdw>
                </a:effectLst>
                <a:latin typeface="+mn-lt"/>
                <a:ea typeface="+mn-ea"/>
                <a:cs typeface="+mn-cs"/>
              </a:rPr>
              <a:t> </a:t>
            </a:r>
            <a:r>
              <a:rPr kumimoji="0" lang="zh-CN" altLang="en-US" sz="3600" kern="0" cap="none" spc="0" normalizeH="0" baseline="0" noProof="0" dirty="0">
                <a:effectLst/>
                <a:latin typeface="+mn-ea"/>
                <a:ea typeface="+mn-ea"/>
                <a:cs typeface="+mn-ea"/>
              </a:rPr>
              <a:t>从计算机系统的角度</a:t>
            </a:r>
            <a:endParaRPr kumimoji="0" lang="zh-CN" altLang="en-US" sz="3600" kern="0" cap="none" spc="0" normalizeH="0" baseline="0" noProof="0" dirty="0">
              <a:effectLst/>
              <a:latin typeface="+mn-ea"/>
              <a:ea typeface="+mn-ea"/>
              <a:cs typeface="+mn-ea"/>
            </a:endParaRPr>
          </a:p>
          <a:p>
            <a:pPr marL="342900" marR="0" indent="-342900" algn="just" defTabSz="914400" eaLnBrk="1" hangingPunct="1">
              <a:lnSpc>
                <a:spcPct val="175000"/>
              </a:lnSpc>
              <a:spcBef>
                <a:spcPct val="80000"/>
              </a:spcBef>
              <a:buClr>
                <a:srgbClr val="FFD317"/>
              </a:buClr>
              <a:buSzTx/>
              <a:buFont typeface="Wingdings" panose="05000000000000000000" pitchFamily="2" charset="2"/>
              <a:buChar char="Ø"/>
              <a:defRPr/>
            </a:pPr>
            <a:r>
              <a:rPr kumimoji="0" lang="zh-CN" altLang="en-US" sz="3600" kern="0" cap="none" spc="0" normalizeH="0" baseline="0" noProof="0" dirty="0">
                <a:effectLst/>
                <a:latin typeface="+mn-ea"/>
                <a:ea typeface="+mn-ea"/>
                <a:cs typeface="+mn-ea"/>
              </a:rPr>
              <a:t> 从处理器体系结构</a:t>
            </a:r>
            <a:endParaRPr kumimoji="0" lang="en-US" altLang="zh-CN" sz="3600" kern="0" cap="none" spc="0" normalizeH="0" baseline="0" noProof="0" dirty="0">
              <a:effectLst/>
              <a:latin typeface="+mn-ea"/>
              <a:ea typeface="+mn-ea"/>
              <a:cs typeface="+mn-ea"/>
            </a:endParaRPr>
          </a:p>
          <a:p>
            <a:pPr marL="342900" marR="0" indent="-342900" algn="just" defTabSz="914400" eaLnBrk="1" hangingPunct="1">
              <a:lnSpc>
                <a:spcPct val="175000"/>
              </a:lnSpc>
              <a:spcBef>
                <a:spcPct val="80000"/>
              </a:spcBef>
              <a:buClr>
                <a:srgbClr val="FFD317"/>
              </a:buClr>
              <a:buSzTx/>
              <a:buFont typeface="Wingdings" panose="05000000000000000000" pitchFamily="2" charset="2"/>
              <a:buChar char="Ø"/>
              <a:defRPr/>
            </a:pPr>
            <a:r>
              <a:rPr kumimoji="0" lang="zh-CN" altLang="en-US" sz="3600" kern="0" cap="none" spc="0" normalizeH="0" baseline="0" noProof="0" dirty="0">
                <a:effectLst/>
                <a:latin typeface="+mn-ea"/>
                <a:ea typeface="+mn-ea"/>
                <a:cs typeface="+mn-ea"/>
              </a:rPr>
              <a:t>从实现和工作的角度</a:t>
            </a:r>
            <a:endParaRPr kumimoji="0" lang="zh-CN" altLang="en-US" sz="3600" kern="0" cap="none" spc="0" normalizeH="0" baseline="0" noProof="0" dirty="0">
              <a:effectLst/>
              <a:latin typeface="+mn-ea"/>
              <a:ea typeface="+mn-ea"/>
              <a:cs typeface="+mn-ea"/>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0068" name="Rectangle 4"/>
          <p:cNvSpPr>
            <a:spLocks noChangeArrowheads="1"/>
          </p:cNvSpPr>
          <p:nvPr/>
        </p:nvSpPr>
        <p:spPr bwMode="auto">
          <a:xfrm>
            <a:off x="979488" y="260350"/>
            <a:ext cx="7543800" cy="811213"/>
          </a:xfrm>
          <a:prstGeom prst="rect">
            <a:avLst/>
          </a:prstGeom>
          <a:noFill/>
          <a:ln w="9525">
            <a:noFill/>
            <a:miter lim="800000"/>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dirty="0">
                <a:ln>
                  <a:noFill/>
                </a:ln>
                <a:solidFill>
                  <a:schemeClr val="tx2">
                    <a:lumMod val="75000"/>
                  </a:schemeClr>
                </a:solidFill>
                <a:effectLst>
                  <a:outerShdw blurRad="38100" dist="38100" dir="2700000" algn="tl">
                    <a:srgbClr val="000000"/>
                  </a:outerShdw>
                </a:effectLst>
                <a:uLnTx/>
                <a:uFillTx/>
                <a:latin typeface="Tahoma" panose="020B0604030504040204" pitchFamily="34" charset="0"/>
                <a:ea typeface="黑体" panose="02010609060101010101" pitchFamily="49" charset="-122"/>
                <a:cs typeface="+mn-cs"/>
              </a:rPr>
              <a:t>嵌入式处理器的分类</a:t>
            </a:r>
            <a:r>
              <a:rPr kumimoji="0" lang="en-US" altLang="zh-CN" sz="4000" b="1" i="0" u="none" strike="noStrike" kern="1200" cap="none" spc="0" normalizeH="0" baseline="0" noProof="0" dirty="0">
                <a:ln>
                  <a:noFill/>
                </a:ln>
                <a:solidFill>
                  <a:schemeClr val="tx2">
                    <a:lumMod val="75000"/>
                  </a:schemeClr>
                </a:solidFill>
                <a:effectLst>
                  <a:outerShdw blurRad="38100" dist="38100" dir="2700000" algn="tl">
                    <a:srgbClr val="000000"/>
                  </a:outerShdw>
                </a:effectLst>
                <a:uLnTx/>
                <a:uFillTx/>
                <a:latin typeface="Tahoma" panose="020B0604030504040204" pitchFamily="34" charset="0"/>
                <a:ea typeface="黑体" panose="02010609060101010101" pitchFamily="49" charset="-122"/>
                <a:cs typeface="+mn-cs"/>
              </a:rPr>
              <a:t>1</a:t>
            </a:r>
            <a:endParaRPr kumimoji="0" lang="zh-CN" altLang="en-US" sz="4000" b="1" i="0" u="none" strike="noStrike" kern="1200" cap="none" spc="0" normalizeH="0" baseline="0" noProof="0" dirty="0">
              <a:ln>
                <a:noFill/>
              </a:ln>
              <a:solidFill>
                <a:schemeClr val="tx2">
                  <a:lumMod val="75000"/>
                </a:schemeClr>
              </a:solidFill>
              <a:effectLst>
                <a:outerShdw blurRad="38100" dist="38100" dir="2700000" algn="tl">
                  <a:srgbClr val="000000"/>
                </a:outerShdw>
              </a:effectLst>
              <a:uLnTx/>
              <a:uFillTx/>
              <a:latin typeface="Tahoma" panose="020B0604030504040204" pitchFamily="34" charset="0"/>
              <a:ea typeface="黑体" panose="02010609060101010101" pitchFamily="49" charset="-122"/>
              <a:cs typeface="+mn-cs"/>
            </a:endParaRPr>
          </a:p>
        </p:txBody>
      </p:sp>
      <p:sp>
        <p:nvSpPr>
          <p:cNvPr id="4" name="Rectangle 3"/>
          <p:cNvSpPr txBox="1">
            <a:spLocks noChangeArrowheads="1"/>
          </p:cNvSpPr>
          <p:nvPr/>
        </p:nvSpPr>
        <p:spPr>
          <a:xfrm>
            <a:off x="900113" y="1844675"/>
            <a:ext cx="7704138" cy="3960813"/>
          </a:xfrm>
          <a:prstGeom prst="rect">
            <a:avLst/>
          </a:prstGeom>
        </p:spPr>
        <p:txBody>
          <a:bodyPr/>
          <a:lstStyle/>
          <a:p>
            <a:pPr marL="342900" marR="0" indent="-342900" algn="just" defTabSz="914400" eaLnBrk="1" hangingPunct="1">
              <a:lnSpc>
                <a:spcPct val="175000"/>
              </a:lnSpc>
              <a:spcBef>
                <a:spcPct val="80000"/>
              </a:spcBef>
              <a:buClr>
                <a:srgbClr val="FFD317"/>
              </a:buClr>
              <a:buSzTx/>
              <a:buFont typeface="Wingdings" panose="05000000000000000000" pitchFamily="2" charset="2"/>
              <a:buChar char="Ø"/>
              <a:defRPr/>
            </a:pPr>
            <a:r>
              <a:rPr kumimoji="0" lang="en-US" altLang="zh-CN" sz="3600" kern="0" cap="none" spc="0" normalizeH="0" baseline="0" noProof="0" dirty="0">
                <a:effectLst>
                  <a:outerShdw blurRad="38100" dist="38100" dir="2700000" algn="tl">
                    <a:srgbClr val="000000"/>
                  </a:outerShdw>
                </a:effectLst>
                <a:latin typeface="+mn-lt"/>
                <a:ea typeface="+mn-ea"/>
                <a:cs typeface="+mn-cs"/>
              </a:rPr>
              <a:t> </a:t>
            </a:r>
            <a:r>
              <a:rPr kumimoji="0" lang="zh-CN" altLang="en-US" sz="3600" kern="0" cap="none" spc="0" normalizeH="0" baseline="0" noProof="0" dirty="0">
                <a:effectLst>
                  <a:outerShdw blurRad="38100" dist="38100" dir="2700000" algn="tl">
                    <a:srgbClr val="000000"/>
                  </a:outerShdw>
                </a:effectLst>
                <a:latin typeface="+mn-lt"/>
                <a:ea typeface="+mn-ea"/>
                <a:cs typeface="+mn-cs"/>
              </a:rPr>
              <a:t>冯</a:t>
            </a:r>
            <a:r>
              <a:rPr kumimoji="0" lang="en-US" altLang="zh-CN" sz="3600" kern="0" cap="none" spc="0" normalizeH="0" baseline="0" noProof="0" dirty="0">
                <a:effectLst>
                  <a:outerShdw blurRad="38100" dist="38100" dir="2700000" algn="tl">
                    <a:srgbClr val="000000"/>
                  </a:outerShdw>
                </a:effectLst>
                <a:latin typeface="+mn-lt"/>
                <a:ea typeface="+mn-ea"/>
                <a:cs typeface="+mn-cs"/>
              </a:rPr>
              <a:t>.</a:t>
            </a:r>
            <a:r>
              <a:rPr kumimoji="0" lang="zh-CN" altLang="en-US" sz="3600" kern="0" cap="none" spc="0" normalizeH="0" baseline="0" noProof="0" dirty="0">
                <a:effectLst>
                  <a:outerShdw blurRad="38100" dist="38100" dir="2700000" algn="tl">
                    <a:srgbClr val="000000"/>
                  </a:outerShdw>
                </a:effectLst>
                <a:latin typeface="+mn-lt"/>
                <a:ea typeface="+mn-ea"/>
                <a:cs typeface="+mn-cs"/>
              </a:rPr>
              <a:t>诺依曼</a:t>
            </a:r>
            <a:r>
              <a:rPr kumimoji="0" lang="zh-CN" altLang="en-US" sz="3600" kern="0" cap="none" spc="0" normalizeH="0" baseline="0" noProof="0">
                <a:effectLst>
                  <a:outerShdw blurRad="38100" dist="38100" dir="2700000" algn="tl">
                    <a:srgbClr val="000000"/>
                  </a:outerShdw>
                </a:effectLst>
                <a:latin typeface="+mn-lt"/>
                <a:ea typeface="+mn-ea"/>
                <a:cs typeface="+mn-cs"/>
              </a:rPr>
              <a:t>体系结构（普林斯顿）</a:t>
            </a:r>
            <a:endParaRPr kumimoji="0" lang="zh-CN" altLang="en-US" sz="3600" kern="0" cap="none" spc="0" normalizeH="0" baseline="0" noProof="0" dirty="0">
              <a:effectLst>
                <a:outerShdw blurRad="38100" dist="38100" dir="2700000" algn="tl">
                  <a:srgbClr val="000000"/>
                </a:outerShdw>
              </a:effectLst>
              <a:latin typeface="+mn-lt"/>
              <a:ea typeface="+mn-ea"/>
              <a:cs typeface="+mn-cs"/>
            </a:endParaRPr>
          </a:p>
          <a:p>
            <a:pPr marL="342900" marR="0" indent="-342900" algn="just" defTabSz="914400" eaLnBrk="1" hangingPunct="1">
              <a:lnSpc>
                <a:spcPct val="175000"/>
              </a:lnSpc>
              <a:spcBef>
                <a:spcPct val="80000"/>
              </a:spcBef>
              <a:buClr>
                <a:srgbClr val="FFD317"/>
              </a:buClr>
              <a:buSzTx/>
              <a:buFont typeface="Wingdings" panose="05000000000000000000" pitchFamily="2" charset="2"/>
              <a:buChar char="Ø"/>
              <a:defRPr/>
            </a:pPr>
            <a:r>
              <a:rPr kumimoji="0" lang="zh-CN" altLang="en-US" sz="3600" kern="0" cap="none" spc="0" normalizeH="0" baseline="0" noProof="0" dirty="0">
                <a:effectLst>
                  <a:outerShdw blurRad="38100" dist="38100" dir="2700000" algn="tl">
                    <a:srgbClr val="000000"/>
                  </a:outerShdw>
                </a:effectLst>
                <a:latin typeface="+mn-lt"/>
                <a:ea typeface="+mn-ea"/>
                <a:cs typeface="+mn-cs"/>
              </a:rPr>
              <a:t> 哈佛体系结构</a:t>
            </a:r>
            <a:endParaRPr kumimoji="0" lang="zh-CN" altLang="en-US" sz="3600" kern="0" cap="none" spc="0" normalizeH="0" baseline="0" noProof="0" dirty="0">
              <a:effectLst>
                <a:outerShdw blurRad="38100" dist="38100" dir="2700000" algn="tl">
                  <a:srgbClr val="000000"/>
                </a:outerShdw>
              </a:effectLst>
              <a:latin typeface="+mn-lt"/>
              <a:ea typeface="+mn-ea"/>
              <a:cs typeface="+mn-cs"/>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p:nvPr>
        </p:nvSpPr>
        <p:spPr>
          <a:ln/>
        </p:spPr>
        <p:txBody>
          <a:bodyPr vert="horz" wrap="square" lIns="91440" tIns="45720" rIns="91440" bIns="45720" anchor="b" anchorCtr="0"/>
          <a:p>
            <a:pPr eaLnBrk="1" hangingPunct="1"/>
            <a:r>
              <a:rPr lang="zh-CN" altLang="en-US" dirty="0"/>
              <a:t>冯</a:t>
            </a:r>
            <a:r>
              <a:rPr lang="en-US" altLang="zh-CN" dirty="0">
                <a:latin typeface="宋体" panose="02010600030101010101" pitchFamily="2" charset="-122"/>
              </a:rPr>
              <a:t>·</a:t>
            </a:r>
            <a:r>
              <a:rPr lang="zh-CN" altLang="en-US" dirty="0"/>
              <a:t>诺依曼体系内存结构模型</a:t>
            </a:r>
            <a:endParaRPr lang="zh-CN" altLang="en-US" dirty="0"/>
          </a:p>
        </p:txBody>
      </p:sp>
      <p:sp>
        <p:nvSpPr>
          <p:cNvPr id="24579" name="灯片编号占位符 5"/>
          <p:cNvSpPr txBox="1">
            <a:spLocks noGrp="1"/>
          </p:cNvSpPr>
          <p:nvPr>
            <p:ph type="sldNum" sz="quarter" idx="4"/>
          </p:nvPr>
        </p:nvSpPr>
        <p:spPr>
          <a:xfrm>
            <a:off x="7010400" y="6356350"/>
            <a:ext cx="2133600" cy="365125"/>
          </a:xfrm>
          <a:ln/>
        </p:spPr>
        <p:txBody>
          <a:bodyPr anchor="b" anchorCtr="0"/>
          <a:p>
            <a:pPr marL="0" indent="0" algn="r" eaLnBrk="1" hangingPunct="1">
              <a:spcBef>
                <a:spcPct val="0"/>
              </a:spcBef>
              <a:buClrTx/>
              <a:buSzTx/>
              <a:buFontTx/>
              <a:buNone/>
            </a:pPr>
            <a:fld id="{9A0DB2DC-4C9A-4742-B13C-FB6460FD3503}" type="slidenum">
              <a:rPr lang="zh-CN" altLang="en-US" sz="1400" dirty="0">
                <a:solidFill>
                  <a:srgbClr val="898989"/>
                </a:solidFill>
                <a:latin typeface="Tahoma" panose="020B0604030504040204" pitchFamily="34" charset="0"/>
                <a:ea typeface="+mn-ea"/>
                <a:cs typeface="+mn-cs"/>
              </a:rPr>
            </a:fld>
            <a:endParaRPr lang="zh-CN" altLang="en-US" sz="1400" dirty="0">
              <a:solidFill>
                <a:srgbClr val="898989"/>
              </a:solidFill>
              <a:latin typeface="Tahoma" panose="020B0604030504040204" pitchFamily="34" charset="0"/>
              <a:ea typeface="+mn-ea"/>
              <a:cs typeface="+mn-cs"/>
            </a:endParaRPr>
          </a:p>
        </p:txBody>
      </p:sp>
      <p:pic>
        <p:nvPicPr>
          <p:cNvPr id="24580" name="Picture 40" descr="feng"/>
          <p:cNvPicPr>
            <a:picLocks noChangeAspect="1"/>
          </p:cNvPicPr>
          <p:nvPr/>
        </p:nvPicPr>
        <p:blipFill>
          <a:blip r:embed="rId1"/>
          <a:stretch>
            <a:fillRect/>
          </a:stretch>
        </p:blipFill>
        <p:spPr>
          <a:xfrm>
            <a:off x="755650" y="1484313"/>
            <a:ext cx="6924675" cy="2900362"/>
          </a:xfrm>
          <a:prstGeom prst="rect">
            <a:avLst/>
          </a:prstGeom>
          <a:noFill/>
          <a:ln w="9525">
            <a:noFill/>
          </a:ln>
        </p:spPr>
      </p:pic>
      <p:sp>
        <p:nvSpPr>
          <p:cNvPr id="24581" name="TextBox 6"/>
          <p:cNvSpPr txBox="1"/>
          <p:nvPr/>
        </p:nvSpPr>
        <p:spPr>
          <a:xfrm>
            <a:off x="617538" y="4505325"/>
            <a:ext cx="7200900" cy="20320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spcBef>
                <a:spcPct val="0"/>
              </a:spcBef>
              <a:buClrTx/>
              <a:buSzTx/>
              <a:buFontTx/>
              <a:buNone/>
            </a:pPr>
            <a:r>
              <a:rPr lang="zh-CN" altLang="en-US" sz="1800" b="1" dirty="0">
                <a:latin typeface="Tahoma" panose="020B0604030504040204" pitchFamily="34" charset="0"/>
              </a:rPr>
              <a:t>用一个存储器存储程序和数据</a:t>
            </a:r>
            <a:endParaRPr lang="en-US" altLang="zh-CN" sz="1800" b="1" dirty="0">
              <a:latin typeface="Tahoma" panose="020B0604030504040204" pitchFamily="34" charset="0"/>
            </a:endParaRPr>
          </a:p>
          <a:p>
            <a:pPr marL="0" lvl="0" indent="0" eaLnBrk="1" hangingPunct="1">
              <a:spcBef>
                <a:spcPct val="0"/>
              </a:spcBef>
              <a:buClrTx/>
              <a:buSzTx/>
              <a:buFontTx/>
              <a:buNone/>
            </a:pPr>
            <a:endParaRPr lang="en-US" altLang="zh-CN" sz="1800" b="1" dirty="0">
              <a:latin typeface="Tahoma" panose="020B0604030504040204" pitchFamily="34" charset="0"/>
            </a:endParaRPr>
          </a:p>
          <a:p>
            <a:pPr marL="0" lvl="0" indent="0" eaLnBrk="1" hangingPunct="1">
              <a:spcBef>
                <a:spcPct val="0"/>
              </a:spcBef>
              <a:buClrTx/>
              <a:buSzTx/>
              <a:buFontTx/>
              <a:buNone/>
            </a:pPr>
            <a:r>
              <a:rPr lang="zh-CN" altLang="en-US" sz="1800" b="1" dirty="0">
                <a:latin typeface="Tahoma" panose="020B0604030504040204" pitchFamily="34" charset="0"/>
              </a:rPr>
              <a:t>用一个控制器控制程序的执行</a:t>
            </a:r>
            <a:endParaRPr lang="en-US" altLang="zh-CN" sz="1800" b="1" dirty="0">
              <a:latin typeface="Tahoma" panose="020B0604030504040204" pitchFamily="34" charset="0"/>
            </a:endParaRPr>
          </a:p>
          <a:p>
            <a:pPr marL="0" lvl="0" indent="0" eaLnBrk="1" hangingPunct="1">
              <a:spcBef>
                <a:spcPct val="0"/>
              </a:spcBef>
              <a:buClrTx/>
              <a:buSzTx/>
              <a:buFontTx/>
              <a:buNone/>
            </a:pPr>
            <a:endParaRPr lang="en-US" altLang="zh-CN" sz="1800" b="1" dirty="0">
              <a:latin typeface="Tahoma" panose="020B0604030504040204" pitchFamily="34" charset="0"/>
            </a:endParaRPr>
          </a:p>
          <a:p>
            <a:pPr marL="0" lvl="0" indent="0" eaLnBrk="1" hangingPunct="1">
              <a:spcBef>
                <a:spcPct val="0"/>
              </a:spcBef>
              <a:buClrTx/>
              <a:buSzTx/>
              <a:buFontTx/>
              <a:buNone/>
            </a:pPr>
            <a:r>
              <a:rPr lang="zh-CN" altLang="en-US" sz="1800" b="1" dirty="0">
                <a:latin typeface="Tahoma" panose="020B0604030504040204" pitchFamily="34" charset="0"/>
              </a:rPr>
              <a:t>用一个运算器，完成算数运算和逻辑运算</a:t>
            </a:r>
            <a:endParaRPr lang="en-US" altLang="zh-CN" sz="1800" b="1" dirty="0">
              <a:latin typeface="Tahoma" panose="020B0604030504040204" pitchFamily="34" charset="0"/>
            </a:endParaRPr>
          </a:p>
          <a:p>
            <a:pPr marL="0" lvl="0" indent="0" eaLnBrk="1" hangingPunct="1">
              <a:spcBef>
                <a:spcPct val="0"/>
              </a:spcBef>
              <a:buClrTx/>
              <a:buSzTx/>
              <a:buFontTx/>
              <a:buNone/>
            </a:pPr>
            <a:endParaRPr lang="en-US" altLang="zh-CN" sz="1800" b="1" dirty="0">
              <a:latin typeface="Tahoma" panose="020B0604030504040204" pitchFamily="34" charset="0"/>
            </a:endParaRPr>
          </a:p>
          <a:p>
            <a:pPr marL="0" lvl="0" indent="0" eaLnBrk="1" hangingPunct="1">
              <a:spcBef>
                <a:spcPct val="0"/>
              </a:spcBef>
              <a:buClrTx/>
              <a:buSzTx/>
              <a:buFontTx/>
              <a:buNone/>
            </a:pPr>
            <a:r>
              <a:rPr lang="zh-CN" altLang="en-US" sz="1800" b="1" dirty="0">
                <a:latin typeface="Tahoma" panose="020B0604030504040204" pitchFamily="34" charset="0"/>
              </a:rPr>
              <a:t>有输入输出设备，用于人机通信</a:t>
            </a:r>
            <a:endParaRPr lang="zh-CN" altLang="en-US" sz="1800" b="1" dirty="0">
              <a:latin typeface="Tahoma" panose="020B0604030504040204" pitchFamily="34"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p:nvPr>
        </p:nvSpPr>
        <p:spPr>
          <a:ln/>
        </p:spPr>
        <p:txBody>
          <a:bodyPr vert="horz" wrap="square" lIns="91440" tIns="45720" rIns="91440" bIns="45720" anchor="b" anchorCtr="0"/>
          <a:p>
            <a:pPr eaLnBrk="1" hangingPunct="1"/>
            <a:r>
              <a:rPr lang="zh-CN" altLang="en-US" dirty="0"/>
              <a:t>冯</a:t>
            </a:r>
            <a:r>
              <a:rPr lang="en-US" altLang="zh-CN" dirty="0">
                <a:latin typeface="宋体" panose="02010600030101010101" pitchFamily="2" charset="-122"/>
              </a:rPr>
              <a:t>·</a:t>
            </a:r>
            <a:r>
              <a:rPr lang="zh-CN" altLang="en-US" dirty="0"/>
              <a:t>诺依曼体系内存结构模型</a:t>
            </a:r>
            <a:endParaRPr lang="zh-CN" altLang="en-US" dirty="0"/>
          </a:p>
        </p:txBody>
      </p:sp>
      <p:sp>
        <p:nvSpPr>
          <p:cNvPr id="25603" name="灯片编号占位符 5"/>
          <p:cNvSpPr txBox="1">
            <a:spLocks noGrp="1"/>
          </p:cNvSpPr>
          <p:nvPr>
            <p:ph type="sldNum" sz="quarter" idx="4"/>
          </p:nvPr>
        </p:nvSpPr>
        <p:spPr>
          <a:xfrm>
            <a:off x="7010400" y="6356350"/>
            <a:ext cx="2133600" cy="365125"/>
          </a:xfrm>
          <a:ln/>
        </p:spPr>
        <p:txBody>
          <a:bodyPr anchor="b" anchorCtr="0"/>
          <a:p>
            <a:pPr marL="0" indent="0" algn="r" eaLnBrk="1" hangingPunct="1">
              <a:spcBef>
                <a:spcPct val="0"/>
              </a:spcBef>
              <a:buClrTx/>
              <a:buSzTx/>
              <a:buFontTx/>
              <a:buNone/>
            </a:pPr>
            <a:fld id="{9A0DB2DC-4C9A-4742-B13C-FB6460FD3503}" type="slidenum">
              <a:rPr lang="zh-CN" altLang="en-US" sz="1400" dirty="0">
                <a:solidFill>
                  <a:srgbClr val="898989"/>
                </a:solidFill>
                <a:latin typeface="Tahoma" panose="020B0604030504040204" pitchFamily="34" charset="0"/>
                <a:ea typeface="+mn-ea"/>
                <a:cs typeface="+mn-cs"/>
              </a:rPr>
            </a:fld>
            <a:endParaRPr lang="zh-CN" altLang="en-US" sz="1400" dirty="0">
              <a:solidFill>
                <a:srgbClr val="898989"/>
              </a:solidFill>
              <a:latin typeface="Tahoma" panose="020B0604030504040204" pitchFamily="34" charset="0"/>
              <a:ea typeface="+mn-ea"/>
              <a:cs typeface="+mn-cs"/>
            </a:endParaRPr>
          </a:p>
        </p:txBody>
      </p:sp>
      <p:graphicFrame>
        <p:nvGraphicFramePr>
          <p:cNvPr id="25604" name="Object 3"/>
          <p:cNvGraphicFramePr>
            <a:graphicFrameLocks noChangeAspect="1"/>
          </p:cNvGraphicFramePr>
          <p:nvPr/>
        </p:nvGraphicFramePr>
        <p:xfrm>
          <a:off x="1619250" y="1916113"/>
          <a:ext cx="5819775" cy="4143375"/>
        </p:xfrm>
        <a:graphic>
          <a:graphicData uri="http://schemas.openxmlformats.org/presentationml/2006/ole">
            <mc:AlternateContent xmlns:mc="http://schemas.openxmlformats.org/markup-compatibility/2006">
              <mc:Choice xmlns:v="urn:schemas-microsoft-com:vml" Requires="v">
                <p:oleObj spid="_x0000_s3076" name="" r:id="rId1" imgW="5816600" imgH="4140200" progId="Word.Picture.8">
                  <p:embed/>
                </p:oleObj>
              </mc:Choice>
              <mc:Fallback>
                <p:oleObj name="" r:id="rId1" imgW="5816600" imgH="4140200" progId="Word.Picture.8">
                  <p:embed/>
                  <p:pic>
                    <p:nvPicPr>
                      <p:cNvPr id="0" name="图片 3075"/>
                      <p:cNvPicPr/>
                      <p:nvPr/>
                    </p:nvPicPr>
                    <p:blipFill>
                      <a:blip r:embed="rId2"/>
                      <a:stretch>
                        <a:fillRect/>
                      </a:stretch>
                    </p:blipFill>
                    <p:spPr>
                      <a:xfrm>
                        <a:off x="1619250" y="1916113"/>
                        <a:ext cx="5819775" cy="4143375"/>
                      </a:xfrm>
                      <a:prstGeom prst="rect">
                        <a:avLst/>
                      </a:prstGeom>
                      <a:solidFill>
                        <a:schemeClr val="bg1"/>
                      </a:solidFill>
                      <a:ln w="38100">
                        <a:noFill/>
                        <a:miter/>
                      </a:ln>
                    </p:spPr>
                  </p:pic>
                </p:oleObj>
              </mc:Fallback>
            </mc:AlternateContent>
          </a:graphicData>
        </a:graphic>
      </p:graphicFrame>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标题 1"/>
          <p:cNvSpPr>
            <a:spLocks noGrp="1"/>
          </p:cNvSpPr>
          <p:nvPr>
            <p:ph type="title"/>
          </p:nvPr>
        </p:nvSpPr>
        <p:spPr>
          <a:ln/>
        </p:spPr>
        <p:txBody>
          <a:bodyPr vert="horz" wrap="square" lIns="91440" tIns="45720" rIns="91440" bIns="45720" anchor="b" anchorCtr="0"/>
          <a:p>
            <a:r>
              <a:rPr lang="zh-CN" altLang="en-US" dirty="0"/>
              <a:t>冯</a:t>
            </a:r>
            <a:r>
              <a:rPr lang="en-US" altLang="zh-CN" dirty="0">
                <a:latin typeface="宋体" panose="02010600030101010101" pitchFamily="2" charset="-122"/>
              </a:rPr>
              <a:t>·</a:t>
            </a:r>
            <a:r>
              <a:rPr lang="zh-CN" altLang="en-US" dirty="0"/>
              <a:t>诺依曼体系特点</a:t>
            </a:r>
            <a:endParaRPr lang="zh-CN" altLang="en-US" dirty="0"/>
          </a:p>
        </p:txBody>
      </p:sp>
      <p:sp>
        <p:nvSpPr>
          <p:cNvPr id="3" name="内容占位符 2"/>
          <p:cNvSpPr>
            <a:spLocks noGrp="1"/>
          </p:cNvSpPr>
          <p:nvPr>
            <p:ph idx="1"/>
          </p:nvPr>
        </p:nvSpPr>
        <p:spPr>
          <a:xfrm>
            <a:off x="522288" y="1223963"/>
            <a:ext cx="8432800" cy="522128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ts val="1200"/>
              </a:spcAft>
              <a:buClr>
                <a:schemeClr val="folHlink"/>
              </a:buClr>
              <a:buSzPct val="60000"/>
              <a:buFont typeface="Arial" panose="020B0604020202020204" pitchFamily="34" charset="0"/>
              <a:buChar char="•"/>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计算机处理的数据和指令一律用二进制数表示</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ts val="1200"/>
              </a:spcAft>
              <a:buClr>
                <a:schemeClr val="folHlink"/>
              </a:buClr>
              <a:buSzPct val="60000"/>
              <a:buFont typeface="Arial" panose="020B0604020202020204" pitchFamily="34" charset="0"/>
              <a:buChar char="•"/>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顺序执行程序</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ts val="1200"/>
              </a:spcAft>
              <a:buClr>
                <a:schemeClr val="folHlink"/>
              </a:buClr>
              <a:buSzPct val="60000"/>
              <a:buFont typeface="Arial" panose="020B0604020202020204" pitchFamily="34" charset="0"/>
              <a:buNone/>
              <a:defRPr/>
            </a:pPr>
            <a:r>
              <a:rPr kumimoji="0" lang="zh-CN" altLang="en-US" sz="2400" b="0" i="0" u="none" strike="noStrike" kern="0" cap="none" spc="0" normalizeH="0" baseline="0" noProof="0" dirty="0">
                <a:ln>
                  <a:noFill/>
                </a:ln>
                <a:solidFill>
                  <a:schemeClr val="tx1"/>
                </a:solidFill>
                <a:effectLst/>
                <a:uLnTx/>
                <a:uFillTx/>
                <a:latin typeface="+mn-lt"/>
                <a:ea typeface="+mn-ea"/>
                <a:cs typeface="+mn-cs"/>
              </a:rPr>
              <a:t>         计算机运行过程中，把要执行的程序和处理的数据首先存入主存储器（内存），计算机执行程序时，将自动地并按顺序从主存储器中取出指令一条一条地执行，这一概念称作顺序执行程序。</a:t>
            </a:r>
            <a:endParaRPr kumimoji="0" lang="zh-CN" altLang="en-US"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ts val="1200"/>
              </a:spcAft>
              <a:buClr>
                <a:schemeClr val="folHlink"/>
              </a:buClr>
              <a:buSzPct val="60000"/>
              <a:buFont typeface="Arial" panose="020B0604020202020204" pitchFamily="34" charset="0"/>
              <a:buChar char="•"/>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计算机硬件由运算器、控制器、存储器、输入设备和输出设备五大部分组成</a:t>
            </a: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Arial" panose="020B0604020202020204" pitchFamily="34" charset="0"/>
              <a:buChar char="•"/>
              <a:defRPr/>
            </a:pPr>
            <a:endParaRPr kumimoji="0" lang="zh-CN" altLang="en-US" sz="24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type="title"/>
          </p:nvPr>
        </p:nvSpPr>
        <p:spPr>
          <a:ln/>
        </p:spPr>
        <p:txBody>
          <a:bodyPr vert="horz" wrap="square" lIns="91440" tIns="45720" rIns="91440" bIns="45720" anchor="b" anchorCtr="0"/>
          <a:p>
            <a:pPr eaLnBrk="1" hangingPunct="1"/>
            <a:r>
              <a:rPr lang="zh-CN" altLang="en-US" dirty="0"/>
              <a:t>哈佛体系内存结构模型</a:t>
            </a:r>
            <a:endParaRPr lang="zh-CN" altLang="en-US" dirty="0"/>
          </a:p>
        </p:txBody>
      </p:sp>
      <p:sp>
        <p:nvSpPr>
          <p:cNvPr id="27651" name="灯片编号占位符 5"/>
          <p:cNvSpPr txBox="1">
            <a:spLocks noGrp="1"/>
          </p:cNvSpPr>
          <p:nvPr>
            <p:ph type="sldNum" sz="quarter" idx="4"/>
          </p:nvPr>
        </p:nvSpPr>
        <p:spPr>
          <a:xfrm>
            <a:off x="7010400" y="6356350"/>
            <a:ext cx="2133600" cy="365125"/>
          </a:xfrm>
          <a:ln/>
        </p:spPr>
        <p:txBody>
          <a:bodyPr anchor="b" anchorCtr="0"/>
          <a:p>
            <a:pPr marL="0" indent="0" algn="r" eaLnBrk="1" hangingPunct="1">
              <a:spcBef>
                <a:spcPct val="0"/>
              </a:spcBef>
              <a:buClrTx/>
              <a:buSzTx/>
              <a:buFontTx/>
              <a:buNone/>
            </a:pPr>
            <a:fld id="{9A0DB2DC-4C9A-4742-B13C-FB6460FD3503}" type="slidenum">
              <a:rPr lang="zh-CN" altLang="en-US" sz="1400" dirty="0">
                <a:solidFill>
                  <a:srgbClr val="898989"/>
                </a:solidFill>
                <a:latin typeface="Tahoma" panose="020B0604030504040204" pitchFamily="34" charset="0"/>
                <a:ea typeface="+mn-ea"/>
                <a:cs typeface="+mn-cs"/>
              </a:rPr>
            </a:fld>
            <a:endParaRPr lang="zh-CN" altLang="en-US" sz="1400" dirty="0">
              <a:solidFill>
                <a:srgbClr val="898989"/>
              </a:solidFill>
              <a:latin typeface="Tahoma" panose="020B0604030504040204" pitchFamily="34" charset="0"/>
              <a:ea typeface="+mn-ea"/>
              <a:cs typeface="+mn-cs"/>
            </a:endParaRPr>
          </a:p>
        </p:txBody>
      </p:sp>
      <p:pic>
        <p:nvPicPr>
          <p:cNvPr id="27652" name="Picture 3"/>
          <p:cNvPicPr>
            <a:picLocks noChangeAspect="1"/>
          </p:cNvPicPr>
          <p:nvPr/>
        </p:nvPicPr>
        <p:blipFill>
          <a:blip r:embed="rId1"/>
          <a:stretch>
            <a:fillRect/>
          </a:stretch>
        </p:blipFill>
        <p:spPr>
          <a:xfrm>
            <a:off x="1835150" y="1557338"/>
            <a:ext cx="5473700" cy="3013075"/>
          </a:xfrm>
          <a:prstGeom prst="rect">
            <a:avLst/>
          </a:prstGeom>
          <a:noFill/>
          <a:ln w="9525">
            <a:noFill/>
          </a:ln>
        </p:spPr>
      </p:pic>
      <p:sp>
        <p:nvSpPr>
          <p:cNvPr id="27653" name="TextBox 5"/>
          <p:cNvSpPr txBox="1"/>
          <p:nvPr/>
        </p:nvSpPr>
        <p:spPr>
          <a:xfrm>
            <a:off x="1187450" y="4652963"/>
            <a:ext cx="7632700" cy="1477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spcBef>
                <a:spcPct val="0"/>
              </a:spcBef>
              <a:buClrTx/>
              <a:buSzTx/>
              <a:buFontTx/>
              <a:buNone/>
            </a:pPr>
            <a:r>
              <a:rPr lang="zh-CN" altLang="en-US" sz="1800" b="1" dirty="0">
                <a:latin typeface="Tahoma" panose="020B0604030504040204" pitchFamily="34" charset="0"/>
              </a:rPr>
              <a:t>使用两个独立的存储器模块，分别存储指令和数据，每个存储模块都不允许指令和数据并存；</a:t>
            </a:r>
            <a:endParaRPr lang="en-US" altLang="zh-CN" sz="1800" b="1" dirty="0">
              <a:latin typeface="Tahoma" panose="020B0604030504040204" pitchFamily="34" charset="0"/>
            </a:endParaRPr>
          </a:p>
          <a:p>
            <a:pPr marL="0" lvl="0" indent="0" eaLnBrk="1" hangingPunct="1">
              <a:spcBef>
                <a:spcPct val="0"/>
              </a:spcBef>
              <a:buClrTx/>
              <a:buSzTx/>
              <a:buFontTx/>
              <a:buNone/>
            </a:pPr>
            <a:endParaRPr lang="en-US" altLang="zh-CN" sz="1800" b="1" dirty="0">
              <a:latin typeface="Tahoma" panose="020B0604030504040204" pitchFamily="34" charset="0"/>
            </a:endParaRPr>
          </a:p>
          <a:p>
            <a:pPr marL="0" lvl="0" indent="0" eaLnBrk="1" hangingPunct="1">
              <a:spcBef>
                <a:spcPct val="0"/>
              </a:spcBef>
              <a:buClrTx/>
              <a:buSzTx/>
              <a:buFontTx/>
              <a:buNone/>
            </a:pPr>
            <a:r>
              <a:rPr lang="zh-CN" altLang="en-US" sz="1800" b="1" dirty="0">
                <a:latin typeface="Tahoma" panose="020B0604030504040204" pitchFamily="34" charset="0"/>
              </a:rPr>
              <a:t>使用两条独立的总线，分别作为</a:t>
            </a:r>
            <a:r>
              <a:rPr lang="en-US" altLang="zh-CN" sz="1800" b="1" dirty="0">
                <a:latin typeface="Tahoma" panose="020B0604030504040204" pitchFamily="34" charset="0"/>
              </a:rPr>
              <a:t>CPU</a:t>
            </a:r>
            <a:r>
              <a:rPr lang="zh-CN" altLang="en-US" sz="1800" b="1" dirty="0">
                <a:latin typeface="Tahoma" panose="020B0604030504040204" pitchFamily="34" charset="0"/>
              </a:rPr>
              <a:t>与每个存储器之间的专用通信路径，而这两条总线之间毫无关系。</a:t>
            </a:r>
            <a:endParaRPr lang="zh-CN" altLang="en-US" sz="1800" b="1" dirty="0">
              <a:latin typeface="Tahoma" panose="020B0604030504040204" pitchFamily="34"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p:nvPr>
        </p:nvSpPr>
        <p:spPr>
          <a:ln/>
        </p:spPr>
        <p:txBody>
          <a:bodyPr vert="horz" wrap="square" lIns="91440" tIns="45720" rIns="91440" bIns="45720" anchor="b" anchorCtr="0"/>
          <a:p>
            <a:pPr eaLnBrk="1" hangingPunct="1"/>
            <a:r>
              <a:rPr lang="zh-CN" altLang="en-US" dirty="0"/>
              <a:t>哈佛体系内存结构模型</a:t>
            </a:r>
            <a:endParaRPr lang="zh-CN" altLang="en-US" dirty="0"/>
          </a:p>
        </p:txBody>
      </p:sp>
      <p:sp>
        <p:nvSpPr>
          <p:cNvPr id="28675" name="灯片编号占位符 5"/>
          <p:cNvSpPr txBox="1">
            <a:spLocks noGrp="1"/>
          </p:cNvSpPr>
          <p:nvPr>
            <p:ph type="sldNum" sz="quarter" idx="4"/>
          </p:nvPr>
        </p:nvSpPr>
        <p:spPr>
          <a:xfrm>
            <a:off x="7010400" y="6356350"/>
            <a:ext cx="2133600" cy="365125"/>
          </a:xfrm>
          <a:ln/>
        </p:spPr>
        <p:txBody>
          <a:bodyPr anchor="b" anchorCtr="0"/>
          <a:p>
            <a:pPr marL="0" indent="0" algn="r" eaLnBrk="1" hangingPunct="1">
              <a:spcBef>
                <a:spcPct val="0"/>
              </a:spcBef>
              <a:buClrTx/>
              <a:buSzTx/>
              <a:buFontTx/>
              <a:buNone/>
            </a:pPr>
            <a:fld id="{9A0DB2DC-4C9A-4742-B13C-FB6460FD3503}" type="slidenum">
              <a:rPr lang="zh-CN" altLang="en-US" sz="1400" dirty="0">
                <a:solidFill>
                  <a:srgbClr val="898989"/>
                </a:solidFill>
                <a:latin typeface="Tahoma" panose="020B0604030504040204" pitchFamily="34" charset="0"/>
                <a:ea typeface="+mn-ea"/>
                <a:cs typeface="+mn-cs"/>
              </a:rPr>
            </a:fld>
            <a:endParaRPr lang="zh-CN" altLang="en-US" sz="1400" dirty="0">
              <a:solidFill>
                <a:srgbClr val="898989"/>
              </a:solidFill>
              <a:latin typeface="Tahoma" panose="020B0604030504040204" pitchFamily="34" charset="0"/>
              <a:ea typeface="+mn-ea"/>
              <a:cs typeface="+mn-cs"/>
            </a:endParaRPr>
          </a:p>
        </p:txBody>
      </p:sp>
      <p:graphicFrame>
        <p:nvGraphicFramePr>
          <p:cNvPr id="28676" name="Object 3"/>
          <p:cNvGraphicFramePr>
            <a:graphicFrameLocks noChangeAspect="1"/>
          </p:cNvGraphicFramePr>
          <p:nvPr/>
        </p:nvGraphicFramePr>
        <p:xfrm>
          <a:off x="1692275" y="1700213"/>
          <a:ext cx="5819775" cy="4048125"/>
        </p:xfrm>
        <a:graphic>
          <a:graphicData uri="http://schemas.openxmlformats.org/presentationml/2006/ole">
            <mc:AlternateContent xmlns:mc="http://schemas.openxmlformats.org/markup-compatibility/2006">
              <mc:Choice xmlns:v="urn:schemas-microsoft-com:vml" Requires="v">
                <p:oleObj spid="_x0000_s3077" name="" r:id="rId1" imgW="5800090" imgH="4034155" progId="Word.Picture.8">
                  <p:embed/>
                </p:oleObj>
              </mc:Choice>
              <mc:Fallback>
                <p:oleObj name="" r:id="rId1" imgW="5800090" imgH="4034155" progId="Word.Picture.8">
                  <p:embed/>
                  <p:pic>
                    <p:nvPicPr>
                      <p:cNvPr id="0" name="图片 3076"/>
                      <p:cNvPicPr/>
                      <p:nvPr/>
                    </p:nvPicPr>
                    <p:blipFill>
                      <a:blip r:embed="rId2"/>
                      <a:stretch>
                        <a:fillRect/>
                      </a:stretch>
                    </p:blipFill>
                    <p:spPr>
                      <a:xfrm>
                        <a:off x="1692275" y="1700213"/>
                        <a:ext cx="5819775" cy="4048125"/>
                      </a:xfrm>
                      <a:prstGeom prst="rect">
                        <a:avLst/>
                      </a:prstGeom>
                      <a:solidFill>
                        <a:schemeClr val="bg1"/>
                      </a:solidFill>
                      <a:ln w="38100">
                        <a:noFill/>
                        <a:miter/>
                      </a:ln>
                    </p:spPr>
                  </p:pic>
                </p:oleObj>
              </mc:Fallback>
            </mc:AlternateContent>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0068" name="Rectangle 4"/>
          <p:cNvSpPr>
            <a:spLocks noChangeArrowheads="1"/>
          </p:cNvSpPr>
          <p:nvPr/>
        </p:nvSpPr>
        <p:spPr bwMode="auto">
          <a:xfrm>
            <a:off x="1116013" y="115888"/>
            <a:ext cx="7543800" cy="811213"/>
          </a:xfrm>
          <a:prstGeom prst="rect">
            <a:avLst/>
          </a:prstGeom>
          <a:noFill/>
          <a:ln w="9525">
            <a:noFill/>
            <a:miter lim="800000"/>
          </a:ln>
          <a:effec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dirty="0">
                <a:ln>
                  <a:noFill/>
                </a:ln>
                <a:solidFill>
                  <a:schemeClr val="tx2"/>
                </a:solidFill>
                <a:effectLst>
                  <a:outerShdw blurRad="38100" dist="38100" dir="2700000" algn="tl">
                    <a:srgbClr val="000000"/>
                  </a:outerShdw>
                </a:effectLst>
                <a:uLnTx/>
                <a:uFillTx/>
                <a:latin typeface="Tahoma" panose="020B0604030504040204" pitchFamily="34" charset="0"/>
                <a:ea typeface="黑体" panose="02010609060101010101" pitchFamily="49" charset="-122"/>
                <a:cs typeface="+mn-cs"/>
              </a:rPr>
              <a:t>嵌入式处理器的分类</a:t>
            </a:r>
            <a:r>
              <a:rPr kumimoji="0" lang="en-US" altLang="zh-CN" sz="4000" b="1" i="0" u="none" strike="noStrike" kern="1200" cap="none" spc="0" normalizeH="0" baseline="0" noProof="0" dirty="0">
                <a:ln>
                  <a:noFill/>
                </a:ln>
                <a:solidFill>
                  <a:schemeClr val="tx2"/>
                </a:solidFill>
                <a:effectLst>
                  <a:outerShdw blurRad="38100" dist="38100" dir="2700000" algn="tl">
                    <a:srgbClr val="000000"/>
                  </a:outerShdw>
                </a:effectLst>
                <a:uLnTx/>
                <a:uFillTx/>
                <a:latin typeface="Tahoma" panose="020B0604030504040204" pitchFamily="34" charset="0"/>
                <a:ea typeface="黑体" panose="02010609060101010101" pitchFamily="49" charset="-122"/>
                <a:cs typeface="+mn-cs"/>
              </a:rPr>
              <a:t>2</a:t>
            </a:r>
            <a:endParaRPr kumimoji="0" lang="zh-CN" altLang="en-US" sz="4000" b="1" i="0" u="none" strike="noStrike" kern="1200" cap="none" spc="0" normalizeH="0" baseline="0" noProof="0" dirty="0">
              <a:ln>
                <a:noFill/>
              </a:ln>
              <a:solidFill>
                <a:schemeClr val="tx2"/>
              </a:solidFill>
              <a:effectLst>
                <a:outerShdw blurRad="38100" dist="38100" dir="2700000" algn="tl">
                  <a:srgbClr val="000000"/>
                </a:outerShdw>
              </a:effectLst>
              <a:uLnTx/>
              <a:uFillTx/>
              <a:latin typeface="Tahoma" panose="020B0604030504040204" pitchFamily="34" charset="0"/>
              <a:ea typeface="黑体" panose="02010609060101010101" pitchFamily="49" charset="-122"/>
              <a:cs typeface="+mn-cs"/>
            </a:endParaRPr>
          </a:p>
        </p:txBody>
      </p:sp>
      <p:sp>
        <p:nvSpPr>
          <p:cNvPr id="4" name="Rectangle 3"/>
          <p:cNvSpPr txBox="1">
            <a:spLocks noChangeArrowheads="1"/>
          </p:cNvSpPr>
          <p:nvPr/>
        </p:nvSpPr>
        <p:spPr>
          <a:xfrm>
            <a:off x="900113" y="1844675"/>
            <a:ext cx="7848600" cy="3960813"/>
          </a:xfrm>
          <a:prstGeom prst="rect">
            <a:avLst/>
          </a:prstGeom>
        </p:spPr>
        <p:txBody>
          <a:bodyPr/>
          <a:lstStyle/>
          <a:p>
            <a:pPr marL="342900" marR="0" indent="-342900" algn="just" defTabSz="914400" eaLnBrk="1" hangingPunct="1">
              <a:spcBef>
                <a:spcPts val="0"/>
              </a:spcBef>
              <a:buClr>
                <a:srgbClr val="FFD317"/>
              </a:buClr>
              <a:buSzTx/>
              <a:buFont typeface="Wingdings" panose="05000000000000000000" pitchFamily="2" charset="2"/>
              <a:buChar char="Ø"/>
              <a:defRPr/>
            </a:pPr>
            <a:r>
              <a:rPr kumimoji="0" lang="en-US" altLang="zh-CN" sz="3600" kern="0" cap="none" spc="0" normalizeH="0" baseline="0" noProof="0" dirty="0">
                <a:effectLst/>
                <a:latin typeface="+mn-lt"/>
                <a:ea typeface="+mn-ea"/>
                <a:cs typeface="+mn-cs"/>
              </a:rPr>
              <a:t> CISC</a:t>
            </a:r>
            <a:r>
              <a:rPr kumimoji="0" lang="zh-CN" altLang="en-US" sz="3600" kern="0" cap="none" spc="0" normalizeH="0" baseline="0" noProof="0" dirty="0">
                <a:effectLst/>
                <a:latin typeface="Times New Roman" panose="02020603050405020304" pitchFamily="18" charset="0"/>
                <a:ea typeface="+mn-ea"/>
                <a:cs typeface="Times New Roman" panose="02020603050405020304" pitchFamily="18" charset="0"/>
              </a:rPr>
              <a:t>（</a:t>
            </a:r>
            <a:r>
              <a:rPr kumimoji="0" lang="en-US" altLang="zh-CN" sz="3200" b="0" kern="1200" cap="none" spc="0" normalizeH="0" baseline="0" noProof="0" dirty="0">
                <a:solidFill>
                  <a:schemeClr val="tx1">
                    <a:lumMod val="95000"/>
                    <a:lumOff val="5000"/>
                  </a:schemeClr>
                </a:solidFill>
                <a:effectLst/>
                <a:latin typeface="Times New Roman" panose="02020603050405020304" pitchFamily="18" charset="0"/>
                <a:ea typeface="宋体" panose="02010600030101010101" pitchFamily="2" charset="-122"/>
                <a:cs typeface="Times New Roman" panose="02020603050405020304" pitchFamily="18" charset="0"/>
              </a:rPr>
              <a:t>Complex instruction set computer</a:t>
            </a:r>
            <a:r>
              <a:rPr kumimoji="0" lang="zh-CN" altLang="en-US" sz="3600" kern="0" cap="none" spc="0" normalizeH="0" baseline="0" noProof="0" dirty="0">
                <a:effectLst/>
                <a:latin typeface="Times New Roman" panose="02020603050405020304" pitchFamily="18" charset="0"/>
                <a:ea typeface="+mn-ea"/>
                <a:cs typeface="Times New Roman" panose="02020603050405020304" pitchFamily="18" charset="0"/>
              </a:rPr>
              <a:t>）</a:t>
            </a:r>
            <a:r>
              <a:rPr kumimoji="0" lang="zh-CN" altLang="en-US" sz="3200" kern="1200" cap="none" spc="0" normalizeH="0" baseline="0" noProof="0" dirty="0">
                <a:solidFill>
                  <a:schemeClr val="tx1">
                    <a:lumMod val="95000"/>
                    <a:lumOff val="5000"/>
                  </a:schemeClr>
                </a:solidFill>
                <a:effectLst/>
                <a:latin typeface="宋体" panose="02010600030101010101" pitchFamily="2" charset="-122"/>
                <a:ea typeface="宋体" panose="02010600030101010101" pitchFamily="2" charset="-122"/>
                <a:cs typeface="+mn-cs"/>
              </a:rPr>
              <a:t>复杂指令集系统计算机</a:t>
            </a:r>
            <a:endParaRPr kumimoji="0" lang="zh-CN" altLang="en-US" sz="3600" kern="0" cap="none" spc="0" normalizeH="0" baseline="0" noProof="0" dirty="0">
              <a:solidFill>
                <a:schemeClr val="tx1">
                  <a:lumMod val="95000"/>
                  <a:lumOff val="5000"/>
                </a:schemeClr>
              </a:solidFill>
              <a:effectLst/>
              <a:latin typeface="+mn-lt"/>
              <a:ea typeface="+mn-ea"/>
              <a:cs typeface="+mn-cs"/>
            </a:endParaRPr>
          </a:p>
          <a:p>
            <a:pPr marL="342900" marR="0" indent="-342900" algn="just" defTabSz="914400" eaLnBrk="1" hangingPunct="1">
              <a:spcBef>
                <a:spcPct val="80000"/>
              </a:spcBef>
              <a:buClr>
                <a:srgbClr val="FFD317"/>
              </a:buClr>
              <a:buSzTx/>
              <a:buFont typeface="Wingdings" panose="05000000000000000000" pitchFamily="2" charset="2"/>
              <a:buChar char="Ø"/>
              <a:defRPr/>
            </a:pPr>
            <a:r>
              <a:rPr kumimoji="0" lang="zh-CN" altLang="en-US" sz="3600" kern="0" cap="none" spc="0" normalizeH="0" baseline="0" noProof="0" dirty="0">
                <a:effectLst>
                  <a:outerShdw blurRad="38100" dist="38100" dir="2700000" algn="tl">
                    <a:srgbClr val="000000"/>
                  </a:outerShdw>
                </a:effectLst>
                <a:latin typeface="+mn-lt"/>
                <a:ea typeface="+mn-ea"/>
                <a:cs typeface="+mn-cs"/>
              </a:rPr>
              <a:t> </a:t>
            </a:r>
            <a:r>
              <a:rPr kumimoji="0" lang="en-US" altLang="zh-CN" sz="3600" kern="0" cap="none" spc="0" normalizeH="0" baseline="0" noProof="0" dirty="0">
                <a:effectLst/>
                <a:latin typeface="+mn-lt"/>
                <a:ea typeface="+mn-ea"/>
                <a:cs typeface="+mn-cs"/>
              </a:rPr>
              <a:t>RISC</a:t>
            </a:r>
            <a:r>
              <a:rPr kumimoji="0" lang="zh-CN" altLang="en-US" sz="3600" kern="0" cap="none" spc="0" normalizeH="0" baseline="0" noProof="0" dirty="0">
                <a:effectLst/>
                <a:latin typeface="+mn-lt"/>
                <a:ea typeface="+mn-ea"/>
                <a:cs typeface="+mn-lt"/>
              </a:rPr>
              <a:t>（</a:t>
            </a:r>
            <a:r>
              <a:rPr kumimoji="0" lang="en-US" altLang="zh-CN" sz="3200" b="0" kern="1200" cap="none" spc="0" normalizeH="0" baseline="0" noProof="0" dirty="0">
                <a:solidFill>
                  <a:schemeClr val="tx1">
                    <a:lumMod val="95000"/>
                    <a:lumOff val="5000"/>
                  </a:schemeClr>
                </a:solidFill>
                <a:effectLst/>
                <a:latin typeface="Times New Roman" panose="02020603050405020304" pitchFamily="18" charset="0"/>
                <a:ea typeface="宋体" panose="02010600030101010101" pitchFamily="2" charset="-122"/>
                <a:cs typeface="Times New Roman" panose="02020603050405020304" pitchFamily="18" charset="0"/>
              </a:rPr>
              <a:t>Reduced instruction set computer, RISC</a:t>
            </a:r>
            <a:r>
              <a:rPr kumimoji="0" lang="zh-CN" altLang="en-US" sz="3600" kern="0" cap="none" spc="0" normalizeH="0" baseline="0" noProof="0" dirty="0">
                <a:effectLst/>
                <a:latin typeface="+mn-lt"/>
                <a:ea typeface="+mn-ea"/>
                <a:cs typeface="+mn-lt"/>
              </a:rPr>
              <a:t>）</a:t>
            </a:r>
            <a:r>
              <a:rPr kumimoji="0" lang="zh-CN" altLang="en-US" sz="3200" kern="1200" cap="none" spc="0" normalizeH="0" baseline="0" noProof="0" dirty="0">
                <a:solidFill>
                  <a:schemeClr val="tx1">
                    <a:lumMod val="95000"/>
                    <a:lumOff val="5000"/>
                  </a:schemeClr>
                </a:solidFill>
                <a:effectLst/>
                <a:latin typeface="宋体" panose="02010600030101010101" pitchFamily="2" charset="-122"/>
                <a:ea typeface="宋体" panose="02010600030101010101" pitchFamily="2" charset="-122"/>
                <a:cs typeface="+mn-cs"/>
              </a:rPr>
              <a:t>精简指令集计算机</a:t>
            </a:r>
            <a:endParaRPr kumimoji="0" lang="zh-CN" altLang="en-US" sz="3200" kern="1200" cap="none" spc="0" normalizeH="0" baseline="0" noProof="0" dirty="0">
              <a:solidFill>
                <a:schemeClr val="tx1">
                  <a:lumMod val="95000"/>
                  <a:lumOff val="5000"/>
                </a:schemeClr>
              </a:solidFill>
              <a:effectLst/>
              <a:latin typeface="宋体" panose="02010600030101010101" pitchFamily="2" charset="-122"/>
              <a:ea typeface="宋体" panose="02010600030101010101" pitchFamily="2" charset="-122"/>
              <a:cs typeface="+mn-cs"/>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a:ln/>
        </p:spPr>
        <p:txBody>
          <a:bodyPr vert="horz" wrap="square" lIns="91440" tIns="45720" rIns="91440" bIns="45720" anchor="b" anchorCtr="0"/>
          <a:p>
            <a:pPr eaLnBrk="1" hangingPunct="1"/>
            <a:r>
              <a:rPr lang="en-US" altLang="zh-CN" dirty="0"/>
              <a:t>CISC</a:t>
            </a:r>
            <a:endParaRPr lang="zh-CN" altLang="en-US" dirty="0"/>
          </a:p>
        </p:txBody>
      </p:sp>
      <p:sp>
        <p:nvSpPr>
          <p:cNvPr id="30723" name="灯片编号占位符 5"/>
          <p:cNvSpPr txBox="1">
            <a:spLocks noGrp="1"/>
          </p:cNvSpPr>
          <p:nvPr>
            <p:ph type="sldNum" sz="quarter" idx="4"/>
          </p:nvPr>
        </p:nvSpPr>
        <p:spPr>
          <a:xfrm>
            <a:off x="7010400" y="6356350"/>
            <a:ext cx="2133600" cy="365125"/>
          </a:xfrm>
          <a:ln/>
        </p:spPr>
        <p:txBody>
          <a:bodyPr anchor="b" anchorCtr="0"/>
          <a:p>
            <a:pPr marL="0" indent="0" algn="r" eaLnBrk="1" hangingPunct="1">
              <a:spcBef>
                <a:spcPct val="0"/>
              </a:spcBef>
              <a:buClrTx/>
              <a:buSzTx/>
              <a:buFontTx/>
              <a:buNone/>
            </a:pPr>
            <a:fld id="{9A0DB2DC-4C9A-4742-B13C-FB6460FD3503}" type="slidenum">
              <a:rPr lang="zh-CN" altLang="en-US" sz="1400" dirty="0">
                <a:solidFill>
                  <a:srgbClr val="898989"/>
                </a:solidFill>
                <a:latin typeface="Tahoma" panose="020B0604030504040204" pitchFamily="34" charset="0"/>
                <a:ea typeface="+mn-ea"/>
                <a:cs typeface="+mn-cs"/>
              </a:rPr>
            </a:fld>
            <a:endParaRPr lang="zh-CN" altLang="en-US" sz="1400" dirty="0">
              <a:solidFill>
                <a:srgbClr val="898989"/>
              </a:solidFill>
              <a:latin typeface="Tahoma" panose="020B0604030504040204" pitchFamily="34" charset="0"/>
              <a:ea typeface="+mn-ea"/>
              <a:cs typeface="+mn-cs"/>
            </a:endParaRPr>
          </a:p>
        </p:txBody>
      </p:sp>
      <p:sp>
        <p:nvSpPr>
          <p:cNvPr id="30724" name="TextBox 5"/>
          <p:cNvSpPr txBox="1"/>
          <p:nvPr/>
        </p:nvSpPr>
        <p:spPr>
          <a:xfrm>
            <a:off x="1116013" y="1700213"/>
            <a:ext cx="7632700" cy="28321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spcBef>
                <a:spcPct val="0"/>
              </a:spcBef>
              <a:buClrTx/>
              <a:buSzTx/>
              <a:buFontTx/>
              <a:buNone/>
            </a:pPr>
            <a:r>
              <a:rPr lang="zh-CN" altLang="en-US" b="1" dirty="0">
                <a:solidFill>
                  <a:schemeClr val="tx2"/>
                </a:solidFill>
                <a:latin typeface="Tahoma" panose="020B0604030504040204" pitchFamily="34" charset="0"/>
              </a:rPr>
              <a:t>（</a:t>
            </a:r>
            <a:r>
              <a:rPr lang="en-US" altLang="zh-CN" b="1" dirty="0">
                <a:solidFill>
                  <a:schemeClr val="tx2"/>
                </a:solidFill>
                <a:latin typeface="Tahoma" panose="020B0604030504040204" pitchFamily="34" charset="0"/>
              </a:rPr>
              <a:t>1</a:t>
            </a:r>
            <a:r>
              <a:rPr lang="zh-CN" altLang="en-US" b="1" dirty="0">
                <a:solidFill>
                  <a:schemeClr val="tx2"/>
                </a:solidFill>
                <a:latin typeface="Tahoma" panose="020B0604030504040204" pitchFamily="34" charset="0"/>
              </a:rPr>
              <a:t>）复杂指令</a:t>
            </a:r>
            <a:endParaRPr lang="en-US" altLang="zh-CN" b="1" dirty="0">
              <a:solidFill>
                <a:schemeClr val="tx2"/>
              </a:solidFill>
              <a:latin typeface="Tahoma" panose="020B0604030504040204" pitchFamily="34" charset="0"/>
            </a:endParaRPr>
          </a:p>
          <a:p>
            <a:pPr marL="0" lvl="0" indent="0" eaLnBrk="1" hangingPunct="1">
              <a:spcBef>
                <a:spcPct val="0"/>
              </a:spcBef>
              <a:buClrTx/>
              <a:buSzTx/>
              <a:buFontTx/>
              <a:buNone/>
            </a:pPr>
            <a:endParaRPr lang="en-US" altLang="zh-CN" b="1" dirty="0">
              <a:solidFill>
                <a:schemeClr val="tx2"/>
              </a:solidFill>
              <a:latin typeface="Tahoma" panose="020B0604030504040204" pitchFamily="34" charset="0"/>
            </a:endParaRPr>
          </a:p>
          <a:p>
            <a:pPr marL="0" lvl="0" indent="0" eaLnBrk="1" hangingPunct="1">
              <a:spcBef>
                <a:spcPct val="0"/>
              </a:spcBef>
              <a:buClrTx/>
              <a:buSzTx/>
              <a:buFontTx/>
              <a:buNone/>
            </a:pPr>
            <a:r>
              <a:rPr lang="zh-CN" altLang="en-US" b="1" dirty="0">
                <a:solidFill>
                  <a:schemeClr val="tx2"/>
                </a:solidFill>
                <a:latin typeface="Tahoma" panose="020B0604030504040204" pitchFamily="34" charset="0"/>
              </a:rPr>
              <a:t>（</a:t>
            </a:r>
            <a:r>
              <a:rPr lang="en-US" altLang="zh-CN" b="1" dirty="0">
                <a:solidFill>
                  <a:schemeClr val="tx2"/>
                </a:solidFill>
                <a:latin typeface="Tahoma" panose="020B0604030504040204" pitchFamily="34" charset="0"/>
              </a:rPr>
              <a:t>2</a:t>
            </a:r>
            <a:r>
              <a:rPr lang="zh-CN" altLang="en-US" b="1" dirty="0">
                <a:solidFill>
                  <a:schemeClr val="tx2"/>
                </a:solidFill>
                <a:latin typeface="Tahoma" panose="020B0604030504040204" pitchFamily="34" charset="0"/>
              </a:rPr>
              <a:t>）多类型的内存寻址方式</a:t>
            </a:r>
            <a:endParaRPr lang="en-US" altLang="zh-CN" b="1" dirty="0">
              <a:solidFill>
                <a:schemeClr val="tx2"/>
              </a:solidFill>
              <a:latin typeface="Tahoma" panose="020B0604030504040204" pitchFamily="34" charset="0"/>
            </a:endParaRPr>
          </a:p>
          <a:p>
            <a:pPr marL="0" lvl="0" indent="0" eaLnBrk="1" hangingPunct="1">
              <a:spcBef>
                <a:spcPct val="0"/>
              </a:spcBef>
              <a:buClrTx/>
              <a:buSzTx/>
              <a:buFontTx/>
              <a:buNone/>
            </a:pPr>
            <a:endParaRPr lang="en-US" altLang="zh-CN" b="1" dirty="0">
              <a:solidFill>
                <a:schemeClr val="tx2"/>
              </a:solidFill>
              <a:latin typeface="Tahoma" panose="020B0604030504040204" pitchFamily="34" charset="0"/>
            </a:endParaRPr>
          </a:p>
          <a:p>
            <a:pPr marL="0" lvl="0" indent="0" eaLnBrk="1" hangingPunct="1">
              <a:spcBef>
                <a:spcPct val="0"/>
              </a:spcBef>
              <a:buClrTx/>
              <a:buSzTx/>
              <a:buFontTx/>
              <a:buNone/>
            </a:pPr>
            <a:r>
              <a:rPr lang="zh-CN" altLang="en-US" b="1" dirty="0">
                <a:solidFill>
                  <a:schemeClr val="tx2"/>
                </a:solidFill>
                <a:latin typeface="Tahoma" panose="020B0604030504040204" pitchFamily="34" charset="0"/>
              </a:rPr>
              <a:t>（</a:t>
            </a:r>
            <a:r>
              <a:rPr lang="en-US" altLang="zh-CN" b="1" dirty="0">
                <a:solidFill>
                  <a:schemeClr val="tx2"/>
                </a:solidFill>
                <a:latin typeface="Tahoma" panose="020B0604030504040204" pitchFamily="34" charset="0"/>
              </a:rPr>
              <a:t>3</a:t>
            </a:r>
            <a:r>
              <a:rPr lang="zh-CN" altLang="en-US" b="1" dirty="0">
                <a:solidFill>
                  <a:schemeClr val="tx2"/>
                </a:solidFill>
                <a:latin typeface="Tahoma" panose="020B0604030504040204" pitchFamily="34" charset="0"/>
              </a:rPr>
              <a:t>）微程序结构</a:t>
            </a:r>
            <a:endParaRPr lang="en-US" altLang="zh-CN" b="1" dirty="0">
              <a:solidFill>
                <a:schemeClr val="tx2"/>
              </a:solidFill>
              <a:latin typeface="Tahoma" panose="020B0604030504040204" pitchFamily="34" charset="0"/>
            </a:endParaRPr>
          </a:p>
          <a:p>
            <a:pPr marL="0" lvl="0" indent="0" eaLnBrk="1" hangingPunct="1">
              <a:spcBef>
                <a:spcPct val="0"/>
              </a:spcBef>
              <a:buClrTx/>
              <a:buSzTx/>
              <a:buFontTx/>
              <a:buNone/>
            </a:pPr>
            <a:endParaRPr lang="zh-CN" altLang="en-US" sz="1800" b="1" dirty="0">
              <a:latin typeface="Tahoma" panose="020B0604030504040204" pitchFamily="34"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p:cNvSpPr>
          <p:nvPr>
            <p:ph type="title"/>
          </p:nvPr>
        </p:nvSpPr>
        <p:spPr>
          <a:ln/>
        </p:spPr>
        <p:txBody>
          <a:bodyPr vert="horz" wrap="square" lIns="91440" tIns="45720" rIns="91440" bIns="45720" anchor="b" anchorCtr="0"/>
          <a:p>
            <a:pPr eaLnBrk="1" hangingPunct="1"/>
            <a:r>
              <a:rPr lang="en-US" altLang="zh-CN" dirty="0"/>
              <a:t>RISC</a:t>
            </a:r>
            <a:endParaRPr lang="zh-CN" altLang="en-US" dirty="0"/>
          </a:p>
        </p:txBody>
      </p:sp>
      <p:sp>
        <p:nvSpPr>
          <p:cNvPr id="31747" name="灯片编号占位符 5"/>
          <p:cNvSpPr txBox="1">
            <a:spLocks noGrp="1"/>
          </p:cNvSpPr>
          <p:nvPr>
            <p:ph type="sldNum" sz="quarter" idx="4"/>
          </p:nvPr>
        </p:nvSpPr>
        <p:spPr>
          <a:xfrm>
            <a:off x="7010400" y="6356350"/>
            <a:ext cx="2133600" cy="365125"/>
          </a:xfrm>
          <a:ln/>
        </p:spPr>
        <p:txBody>
          <a:bodyPr anchor="b" anchorCtr="0"/>
          <a:p>
            <a:pPr marL="0" indent="0" algn="r" eaLnBrk="1" hangingPunct="1">
              <a:spcBef>
                <a:spcPct val="0"/>
              </a:spcBef>
              <a:buClrTx/>
              <a:buSzTx/>
              <a:buFontTx/>
              <a:buNone/>
            </a:pPr>
            <a:fld id="{9A0DB2DC-4C9A-4742-B13C-FB6460FD3503}" type="slidenum">
              <a:rPr lang="zh-CN" altLang="en-US" sz="1400" dirty="0">
                <a:solidFill>
                  <a:srgbClr val="898989"/>
                </a:solidFill>
                <a:latin typeface="Tahoma" panose="020B0604030504040204" pitchFamily="34" charset="0"/>
                <a:ea typeface="+mn-ea"/>
                <a:cs typeface="+mn-cs"/>
              </a:rPr>
            </a:fld>
            <a:endParaRPr lang="zh-CN" altLang="en-US" sz="1400" dirty="0">
              <a:solidFill>
                <a:srgbClr val="898989"/>
              </a:solidFill>
              <a:latin typeface="Tahoma" panose="020B0604030504040204" pitchFamily="34" charset="0"/>
              <a:ea typeface="+mn-ea"/>
              <a:cs typeface="+mn-cs"/>
            </a:endParaRPr>
          </a:p>
        </p:txBody>
      </p:sp>
      <p:sp>
        <p:nvSpPr>
          <p:cNvPr id="31748" name="TextBox 5"/>
          <p:cNvSpPr txBox="1"/>
          <p:nvPr/>
        </p:nvSpPr>
        <p:spPr>
          <a:xfrm>
            <a:off x="1116013" y="1700213"/>
            <a:ext cx="7632700" cy="48021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150000"/>
              </a:lnSpc>
              <a:spcBef>
                <a:spcPct val="0"/>
              </a:spcBef>
              <a:buClrTx/>
              <a:buSzTx/>
              <a:buFontTx/>
              <a:buNone/>
            </a:pPr>
            <a:r>
              <a:rPr lang="zh-CN" altLang="en-US" b="1" dirty="0">
                <a:solidFill>
                  <a:schemeClr val="tx2"/>
                </a:solidFill>
                <a:latin typeface="Tahoma" panose="020B0604030504040204" pitchFamily="34" charset="0"/>
              </a:rPr>
              <a:t>（</a:t>
            </a:r>
            <a:r>
              <a:rPr lang="en-US" altLang="zh-CN" b="1" dirty="0">
                <a:solidFill>
                  <a:schemeClr val="tx2"/>
                </a:solidFill>
                <a:latin typeface="Tahoma" panose="020B0604030504040204" pitchFamily="34" charset="0"/>
              </a:rPr>
              <a:t>1</a:t>
            </a:r>
            <a:r>
              <a:rPr lang="zh-CN" altLang="en-US" b="1" dirty="0">
                <a:solidFill>
                  <a:schemeClr val="tx2"/>
                </a:solidFill>
                <a:latin typeface="Tahoma" panose="020B0604030504040204" pitchFamily="34" charset="0"/>
              </a:rPr>
              <a:t>）固定指令长度</a:t>
            </a:r>
            <a:endParaRPr lang="en-US" altLang="zh-CN" b="1" dirty="0">
              <a:solidFill>
                <a:schemeClr val="tx2"/>
              </a:solidFill>
              <a:latin typeface="Tahoma" panose="020B0604030504040204" pitchFamily="34" charset="0"/>
            </a:endParaRPr>
          </a:p>
          <a:p>
            <a:pPr marL="0" lvl="0" indent="0" eaLnBrk="1" hangingPunct="1">
              <a:lnSpc>
                <a:spcPct val="150000"/>
              </a:lnSpc>
              <a:spcBef>
                <a:spcPct val="0"/>
              </a:spcBef>
              <a:buClrTx/>
              <a:buSzTx/>
              <a:buFontTx/>
              <a:buNone/>
            </a:pPr>
            <a:r>
              <a:rPr lang="zh-CN" altLang="en-US" b="1" dirty="0">
                <a:solidFill>
                  <a:schemeClr val="tx2"/>
                </a:solidFill>
                <a:latin typeface="Tahoma" panose="020B0604030504040204" pitchFamily="34" charset="0"/>
              </a:rPr>
              <a:t>（</a:t>
            </a:r>
            <a:r>
              <a:rPr lang="en-US" altLang="zh-CN" b="1" dirty="0">
                <a:solidFill>
                  <a:schemeClr val="tx2"/>
                </a:solidFill>
                <a:latin typeface="Tahoma" panose="020B0604030504040204" pitchFamily="34" charset="0"/>
              </a:rPr>
              <a:t>2</a:t>
            </a:r>
            <a:r>
              <a:rPr lang="zh-CN" altLang="en-US" b="1" dirty="0">
                <a:solidFill>
                  <a:schemeClr val="tx2"/>
                </a:solidFill>
                <a:latin typeface="Tahoma" panose="020B0604030504040204" pitchFamily="34" charset="0"/>
              </a:rPr>
              <a:t>）指令流水线处理</a:t>
            </a:r>
            <a:endParaRPr lang="en-US" altLang="zh-CN" b="1" dirty="0">
              <a:solidFill>
                <a:schemeClr val="tx2"/>
              </a:solidFill>
              <a:latin typeface="Tahoma" panose="020B0604030504040204" pitchFamily="34" charset="0"/>
            </a:endParaRPr>
          </a:p>
          <a:p>
            <a:pPr marL="0" lvl="0" indent="0" eaLnBrk="1" hangingPunct="1">
              <a:lnSpc>
                <a:spcPct val="150000"/>
              </a:lnSpc>
              <a:spcBef>
                <a:spcPct val="0"/>
              </a:spcBef>
              <a:buClrTx/>
              <a:buSzTx/>
              <a:buFontTx/>
              <a:buNone/>
            </a:pPr>
            <a:r>
              <a:rPr lang="zh-CN" altLang="en-US" b="1" dirty="0">
                <a:solidFill>
                  <a:schemeClr val="tx2"/>
                </a:solidFill>
                <a:latin typeface="Tahoma" panose="020B0604030504040204" pitchFamily="34" charset="0"/>
              </a:rPr>
              <a:t>（</a:t>
            </a:r>
            <a:r>
              <a:rPr lang="en-US" altLang="zh-CN" b="1" dirty="0">
                <a:solidFill>
                  <a:schemeClr val="tx2"/>
                </a:solidFill>
                <a:latin typeface="Tahoma" panose="020B0604030504040204" pitchFamily="34" charset="0"/>
              </a:rPr>
              <a:t>3</a:t>
            </a:r>
            <a:r>
              <a:rPr lang="zh-CN" altLang="en-US" b="1" dirty="0">
                <a:solidFill>
                  <a:schemeClr val="tx2"/>
                </a:solidFill>
                <a:latin typeface="Tahoma" panose="020B0604030504040204" pitchFamily="34" charset="0"/>
              </a:rPr>
              <a:t>）简化内存管理</a:t>
            </a:r>
            <a:endParaRPr lang="en-US" altLang="zh-CN" b="1" dirty="0">
              <a:solidFill>
                <a:schemeClr val="tx2"/>
              </a:solidFill>
              <a:latin typeface="Tahoma" panose="020B0604030504040204" pitchFamily="34" charset="0"/>
            </a:endParaRPr>
          </a:p>
          <a:p>
            <a:pPr marL="0" lvl="0" indent="0" eaLnBrk="1" hangingPunct="1">
              <a:lnSpc>
                <a:spcPct val="150000"/>
              </a:lnSpc>
              <a:spcBef>
                <a:spcPct val="0"/>
              </a:spcBef>
              <a:buClrTx/>
              <a:buSzTx/>
              <a:buFontTx/>
              <a:buNone/>
            </a:pPr>
            <a:r>
              <a:rPr lang="zh-CN" altLang="en-US" b="1" dirty="0">
                <a:solidFill>
                  <a:schemeClr val="tx2"/>
                </a:solidFill>
                <a:latin typeface="Tahoma" panose="020B0604030504040204" pitchFamily="34" charset="0"/>
              </a:rPr>
              <a:t>（</a:t>
            </a:r>
            <a:r>
              <a:rPr lang="en-US" altLang="zh-CN" b="1" dirty="0">
                <a:solidFill>
                  <a:schemeClr val="tx2"/>
                </a:solidFill>
                <a:latin typeface="Tahoma" panose="020B0604030504040204" pitchFamily="34" charset="0"/>
              </a:rPr>
              <a:t>4</a:t>
            </a:r>
            <a:r>
              <a:rPr lang="zh-CN" altLang="en-US" b="1" dirty="0">
                <a:solidFill>
                  <a:schemeClr val="tx2"/>
                </a:solidFill>
                <a:latin typeface="Tahoma" panose="020B0604030504040204" pitchFamily="34" charset="0"/>
              </a:rPr>
              <a:t>）硬件接线式控制</a:t>
            </a:r>
            <a:endParaRPr lang="en-US" altLang="zh-CN" b="1" dirty="0">
              <a:solidFill>
                <a:schemeClr val="tx2"/>
              </a:solidFill>
              <a:latin typeface="Tahoma" panose="020B0604030504040204" pitchFamily="34" charset="0"/>
            </a:endParaRPr>
          </a:p>
          <a:p>
            <a:pPr marL="0" lvl="0" indent="0" eaLnBrk="1" hangingPunct="1">
              <a:lnSpc>
                <a:spcPct val="150000"/>
              </a:lnSpc>
              <a:spcBef>
                <a:spcPct val="0"/>
              </a:spcBef>
              <a:buClrTx/>
              <a:buSzTx/>
              <a:buFontTx/>
              <a:buNone/>
            </a:pPr>
            <a:r>
              <a:rPr lang="zh-CN" altLang="en-US" b="1" dirty="0">
                <a:solidFill>
                  <a:schemeClr val="tx2"/>
                </a:solidFill>
                <a:latin typeface="Tahoma" panose="020B0604030504040204" pitchFamily="34" charset="0"/>
              </a:rPr>
              <a:t>（</a:t>
            </a:r>
            <a:r>
              <a:rPr lang="en-US" altLang="zh-CN" b="1" dirty="0">
                <a:solidFill>
                  <a:schemeClr val="tx2"/>
                </a:solidFill>
                <a:latin typeface="Tahoma" panose="020B0604030504040204" pitchFamily="34" charset="0"/>
              </a:rPr>
              <a:t>5</a:t>
            </a:r>
            <a:r>
              <a:rPr lang="zh-CN" altLang="en-US" b="1" dirty="0">
                <a:solidFill>
                  <a:schemeClr val="tx2"/>
                </a:solidFill>
                <a:latin typeface="Tahoma" panose="020B0604030504040204" pitchFamily="34" charset="0"/>
              </a:rPr>
              <a:t>）单周期执行</a:t>
            </a:r>
            <a:endParaRPr lang="en-US" altLang="zh-CN" b="1" dirty="0">
              <a:solidFill>
                <a:schemeClr val="tx2"/>
              </a:solidFill>
              <a:latin typeface="Tahoma" panose="020B0604030504040204" pitchFamily="34" charset="0"/>
            </a:endParaRPr>
          </a:p>
          <a:p>
            <a:pPr marL="0" lvl="0" indent="0" eaLnBrk="1" hangingPunct="1">
              <a:lnSpc>
                <a:spcPct val="150000"/>
              </a:lnSpc>
              <a:spcBef>
                <a:spcPct val="0"/>
              </a:spcBef>
              <a:buClrTx/>
              <a:buSzTx/>
              <a:buFontTx/>
              <a:buNone/>
            </a:pPr>
            <a:r>
              <a:rPr lang="zh-CN" altLang="en-US" b="1" dirty="0">
                <a:solidFill>
                  <a:schemeClr val="tx2"/>
                </a:solidFill>
                <a:latin typeface="Tahoma" panose="020B0604030504040204" pitchFamily="34" charset="0"/>
              </a:rPr>
              <a:t>（</a:t>
            </a:r>
            <a:r>
              <a:rPr lang="en-US" altLang="zh-CN" b="1" dirty="0">
                <a:solidFill>
                  <a:schemeClr val="tx2"/>
                </a:solidFill>
                <a:latin typeface="Tahoma" panose="020B0604030504040204" pitchFamily="34" charset="0"/>
              </a:rPr>
              <a:t>6</a:t>
            </a:r>
            <a:r>
              <a:rPr lang="zh-CN" altLang="en-US" b="1" dirty="0">
                <a:solidFill>
                  <a:schemeClr val="tx2"/>
                </a:solidFill>
                <a:latin typeface="Tahoma" panose="020B0604030504040204" pitchFamily="34" charset="0"/>
              </a:rPr>
              <a:t>）复杂度存于编译程序内</a:t>
            </a:r>
            <a:endParaRPr lang="en-US" altLang="zh-CN" b="1" dirty="0">
              <a:solidFill>
                <a:schemeClr val="tx2"/>
              </a:solidFill>
              <a:latin typeface="Tahoma" panose="020B0604030504040204" pitchFamily="34" charset="0"/>
            </a:endParaRPr>
          </a:p>
          <a:p>
            <a:pPr marL="0" lvl="0" indent="0" eaLnBrk="1" hangingPunct="1">
              <a:spcBef>
                <a:spcPct val="0"/>
              </a:spcBef>
              <a:buClrTx/>
              <a:buSzTx/>
              <a:buFontTx/>
              <a:buNone/>
            </a:pPr>
            <a:endParaRPr lang="zh-CN" altLang="en-US" sz="1800" b="1" dirty="0">
              <a:latin typeface="Tahoma" panose="020B0604030504040204" pitchFamily="34"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0068" name="Rectangle 4"/>
          <p:cNvSpPr>
            <a:spLocks noChangeArrowheads="1"/>
          </p:cNvSpPr>
          <p:nvPr/>
        </p:nvSpPr>
        <p:spPr bwMode="auto">
          <a:xfrm>
            <a:off x="1116013" y="123825"/>
            <a:ext cx="7543800" cy="811213"/>
          </a:xfrm>
          <a:prstGeom prst="rect">
            <a:avLst/>
          </a:prstGeom>
          <a:noFill/>
          <a:ln w="9525">
            <a:noFill/>
            <a:miter lim="800000"/>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dirty="0">
                <a:ln>
                  <a:noFill/>
                </a:ln>
                <a:solidFill>
                  <a:schemeClr val="tx2">
                    <a:lumMod val="75000"/>
                  </a:schemeClr>
                </a:solidFill>
                <a:effectLst>
                  <a:outerShdw blurRad="38100" dist="38100" dir="2700000" algn="tl">
                    <a:srgbClr val="000000"/>
                  </a:outerShdw>
                </a:effectLst>
                <a:uLnTx/>
                <a:uFillTx/>
                <a:latin typeface="Tahoma" panose="020B0604030504040204" pitchFamily="34" charset="0"/>
                <a:ea typeface="黑体" panose="02010609060101010101" pitchFamily="49" charset="-122"/>
                <a:cs typeface="+mn-cs"/>
              </a:rPr>
              <a:t>嵌入式处理器的分类</a:t>
            </a:r>
            <a:r>
              <a:rPr kumimoji="0" lang="en-US" altLang="zh-CN" sz="4000" b="1" i="0" u="none" strike="noStrike" kern="1200" cap="none" spc="0" normalizeH="0" baseline="0" noProof="0" dirty="0">
                <a:ln>
                  <a:noFill/>
                </a:ln>
                <a:solidFill>
                  <a:schemeClr val="tx2">
                    <a:lumMod val="75000"/>
                  </a:schemeClr>
                </a:solidFill>
                <a:effectLst>
                  <a:outerShdw blurRad="38100" dist="38100" dir="2700000" algn="tl">
                    <a:srgbClr val="000000"/>
                  </a:outerShdw>
                </a:effectLst>
                <a:uLnTx/>
                <a:uFillTx/>
                <a:latin typeface="Tahoma" panose="020B0604030504040204" pitchFamily="34" charset="0"/>
                <a:ea typeface="黑体" panose="02010609060101010101" pitchFamily="49" charset="-122"/>
                <a:cs typeface="+mn-cs"/>
              </a:rPr>
              <a:t>3</a:t>
            </a:r>
            <a:endParaRPr kumimoji="0" lang="zh-CN" altLang="en-US" sz="4000" b="1" i="0" u="none" strike="noStrike" kern="1200" cap="none" spc="0" normalizeH="0" baseline="0" noProof="0" dirty="0">
              <a:ln>
                <a:noFill/>
              </a:ln>
              <a:solidFill>
                <a:schemeClr val="tx2">
                  <a:lumMod val="75000"/>
                </a:schemeClr>
              </a:solidFill>
              <a:effectLst>
                <a:outerShdw blurRad="38100" dist="38100" dir="2700000" algn="tl">
                  <a:srgbClr val="000000"/>
                </a:outerShdw>
              </a:effectLst>
              <a:uLnTx/>
              <a:uFillTx/>
              <a:latin typeface="Tahoma" panose="020B0604030504040204" pitchFamily="34" charset="0"/>
              <a:ea typeface="黑体" panose="02010609060101010101" pitchFamily="49" charset="-122"/>
              <a:cs typeface="+mn-cs"/>
            </a:endParaRPr>
          </a:p>
        </p:txBody>
      </p:sp>
      <p:grpSp>
        <p:nvGrpSpPr>
          <p:cNvPr id="32771" name="Group 45"/>
          <p:cNvGrpSpPr/>
          <p:nvPr/>
        </p:nvGrpSpPr>
        <p:grpSpPr>
          <a:xfrm>
            <a:off x="1136650" y="1557338"/>
            <a:ext cx="5976938" cy="4249737"/>
            <a:chOff x="703" y="1207"/>
            <a:chExt cx="3765" cy="2677"/>
          </a:xfrm>
        </p:grpSpPr>
        <p:sp>
          <p:nvSpPr>
            <p:cNvPr id="600096" name="Rectangle 32"/>
            <p:cNvSpPr>
              <a:spLocks noChangeArrowheads="1"/>
            </p:cNvSpPr>
            <p:nvPr/>
          </p:nvSpPr>
          <p:spPr bwMode="auto">
            <a:xfrm>
              <a:off x="703" y="2160"/>
              <a:ext cx="1497" cy="590"/>
            </a:xfrm>
            <a:prstGeom prst="rect">
              <a:avLst/>
            </a:prstGeom>
            <a:solidFill>
              <a:schemeClr val="accent2"/>
            </a:soli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chemeClr val="tx1">
                      <a:lumMod val="75000"/>
                      <a:lumOff val="25000"/>
                    </a:schemeClr>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n-cs"/>
                </a:rPr>
                <a:t>嵌入式处理器</a:t>
              </a:r>
              <a:endParaRPr kumimoji="1" lang="zh-CN" altLang="en-US" sz="2800" b="1" i="0" u="none" strike="noStrike" kern="1200" cap="none" spc="0" normalizeH="0" baseline="0" noProof="0" dirty="0">
                <a:ln>
                  <a:noFill/>
                </a:ln>
                <a:solidFill>
                  <a:schemeClr val="tx1">
                    <a:lumMod val="75000"/>
                    <a:lumOff val="25000"/>
                  </a:schemeClr>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n-cs"/>
              </a:endParaRPr>
            </a:p>
          </p:txBody>
        </p:sp>
        <p:sp>
          <p:nvSpPr>
            <p:cNvPr id="13317" name="Rectangle 33"/>
            <p:cNvSpPr>
              <a:spLocks noChangeArrowheads="1"/>
            </p:cNvSpPr>
            <p:nvPr/>
          </p:nvSpPr>
          <p:spPr bwMode="auto">
            <a:xfrm>
              <a:off x="3016" y="1207"/>
              <a:ext cx="1452" cy="454"/>
            </a:xfrm>
            <a:prstGeom prst="rect">
              <a:avLst/>
            </a:prstGeom>
            <a:solidFill>
              <a:schemeClr val="accent5"/>
            </a:solidFill>
            <a:ln>
              <a:noFill/>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1200" cap="none" spc="0" normalizeH="0" baseline="0" noProof="0" dirty="0">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rPr>
                <a:t>嵌入式微控制器</a:t>
              </a:r>
              <a:endParaRPr kumimoji="1" lang="zh-CN" altLang="en-US" sz="2000" b="1" i="0" u="none" strike="noStrike" kern="1200" cap="none" spc="0" normalizeH="0" baseline="0" noProof="0" dirty="0">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1200" cap="none" spc="0" normalizeH="0" baseline="0" noProof="0" dirty="0">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rPr>
                <a:t>（</a:t>
              </a:r>
              <a:r>
                <a:rPr kumimoji="1" lang="en-US" altLang="zh-CN" sz="2000" b="1" i="0" u="none" strike="noStrike" kern="1200" cap="none" spc="0" normalizeH="0" baseline="0" noProof="0" dirty="0">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rPr>
                <a:t>MCU</a:t>
              </a:r>
              <a:r>
                <a:rPr kumimoji="1" lang="zh-CN" altLang="en-US" sz="2000" b="1" i="0" u="none" strike="noStrike" kern="1200" cap="none" spc="0" normalizeH="0" baseline="0" noProof="0" dirty="0">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rPr>
                <a:t>）</a:t>
              </a:r>
              <a:endParaRPr kumimoji="1" lang="zh-CN" altLang="en-US" sz="2000" b="1" i="0" u="none" strike="noStrike" kern="1200" cap="none" spc="0" normalizeH="0" baseline="0" noProof="0" dirty="0">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endParaRPr>
            </a:p>
          </p:txBody>
        </p:sp>
        <p:sp>
          <p:nvSpPr>
            <p:cNvPr id="13318" name="Rectangle 38"/>
            <p:cNvSpPr>
              <a:spLocks noChangeArrowheads="1"/>
            </p:cNvSpPr>
            <p:nvPr/>
          </p:nvSpPr>
          <p:spPr bwMode="auto">
            <a:xfrm>
              <a:off x="3016" y="1933"/>
              <a:ext cx="1452" cy="454"/>
            </a:xfrm>
            <a:prstGeom prst="rect">
              <a:avLst/>
            </a:prstGeom>
            <a:solidFill>
              <a:schemeClr val="accent1">
                <a:lumMod val="40000"/>
                <a:lumOff val="60000"/>
              </a:schemeClr>
            </a:solidFill>
            <a:ln>
              <a:noFill/>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1200" cap="none" spc="0" normalizeH="0" baseline="0" noProof="0" dirty="0">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rPr>
                <a:t>嵌入式微处理器</a:t>
              </a:r>
              <a:endParaRPr kumimoji="1" lang="zh-CN" altLang="en-US" sz="2000" b="1" i="0" u="none" strike="noStrike" kern="1200" cap="none" spc="0" normalizeH="0" baseline="0" noProof="0" dirty="0">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1200" cap="none" spc="0" normalizeH="0" baseline="0" noProof="0" dirty="0">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rPr>
                <a:t>（</a:t>
              </a:r>
              <a:r>
                <a:rPr kumimoji="1" lang="en-US" altLang="zh-CN" sz="2000" b="1" i="0" u="none" strike="noStrike" kern="1200" cap="none" spc="0" normalizeH="0" baseline="0" noProof="0" dirty="0">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rPr>
                <a:t>MPU</a:t>
              </a:r>
              <a:r>
                <a:rPr kumimoji="1" lang="zh-CN" altLang="en-US" sz="2000" b="1" i="0" u="none" strike="noStrike" kern="1200" cap="none" spc="0" normalizeH="0" baseline="0" noProof="0" dirty="0">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rPr>
                <a:t>）</a:t>
              </a:r>
              <a:endParaRPr kumimoji="1" lang="zh-CN" altLang="en-US" sz="2000" b="1" i="0" u="none" strike="noStrike" kern="1200" cap="none" spc="0" normalizeH="0" baseline="0" noProof="0" dirty="0">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endParaRPr>
            </a:p>
          </p:txBody>
        </p:sp>
        <p:sp>
          <p:nvSpPr>
            <p:cNvPr id="13319" name="Rectangle 39"/>
            <p:cNvSpPr>
              <a:spLocks noChangeArrowheads="1"/>
            </p:cNvSpPr>
            <p:nvPr/>
          </p:nvSpPr>
          <p:spPr bwMode="auto">
            <a:xfrm>
              <a:off x="3016" y="2659"/>
              <a:ext cx="1452" cy="454"/>
            </a:xfrm>
            <a:prstGeom prst="rect">
              <a:avLst/>
            </a:prstGeom>
            <a:solidFill>
              <a:schemeClr val="accent1">
                <a:lumMod val="40000"/>
                <a:lumOff val="60000"/>
              </a:schemeClr>
            </a:solidFill>
            <a:ln>
              <a:noFill/>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1200" cap="none" spc="0" normalizeH="0" baseline="0" noProof="0" dirty="0">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rPr>
                <a:t>嵌入式</a:t>
              </a:r>
              <a:r>
                <a:rPr kumimoji="1" lang="en-US" altLang="zh-CN" sz="2000" b="1" i="0" u="none" strike="noStrike" kern="1200" cap="none" spc="0" normalizeH="0" baseline="0" noProof="0" dirty="0">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rPr>
                <a:t>DSP</a:t>
              </a:r>
              <a:endParaRPr kumimoji="1" lang="en-US" altLang="zh-CN" sz="2000" b="1" i="0" u="none" strike="noStrike" kern="1200" cap="none" spc="0" normalizeH="0" baseline="0" noProof="0" dirty="0">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1200" cap="none" spc="0" normalizeH="0" baseline="0" noProof="0" dirty="0">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rPr>
                <a:t>（</a:t>
              </a:r>
              <a:r>
                <a:rPr kumimoji="1" lang="en-US" altLang="zh-CN" sz="2000" b="1" i="0" u="none" strike="noStrike" kern="1200" cap="none" spc="0" normalizeH="0" baseline="0" noProof="0" dirty="0">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rPr>
                <a:t>DSP</a:t>
              </a:r>
              <a:r>
                <a:rPr kumimoji="1" lang="zh-CN" altLang="en-US" sz="2000" b="1" i="0" u="none" strike="noStrike" kern="1200" cap="none" spc="0" normalizeH="0" baseline="0" noProof="0" dirty="0">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rPr>
                <a:t>）</a:t>
              </a:r>
              <a:endParaRPr kumimoji="1" lang="zh-CN" altLang="en-US" sz="2000" b="1" i="0" u="none" strike="noStrike" kern="1200" cap="none" spc="0" normalizeH="0" baseline="0" noProof="0" dirty="0">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endParaRPr>
            </a:p>
          </p:txBody>
        </p:sp>
        <p:sp>
          <p:nvSpPr>
            <p:cNvPr id="13320" name="Rectangle 40"/>
            <p:cNvSpPr>
              <a:spLocks noChangeArrowheads="1"/>
            </p:cNvSpPr>
            <p:nvPr/>
          </p:nvSpPr>
          <p:spPr bwMode="auto">
            <a:xfrm>
              <a:off x="3016" y="3430"/>
              <a:ext cx="1452" cy="454"/>
            </a:xfrm>
            <a:prstGeom prst="rect">
              <a:avLst/>
            </a:prstGeom>
            <a:solidFill>
              <a:schemeClr val="accent1">
                <a:lumMod val="40000"/>
                <a:lumOff val="60000"/>
              </a:schemeClr>
            </a:solidFill>
            <a:ln>
              <a:noFill/>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1200" cap="none" spc="0" normalizeH="0" baseline="0" noProof="0" dirty="0">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rPr>
                <a:t>嵌入式片上系统</a:t>
              </a:r>
              <a:endParaRPr kumimoji="1" lang="zh-CN" altLang="en-US" sz="2000" b="1" i="0" u="none" strike="noStrike" kern="1200" cap="none" spc="0" normalizeH="0" baseline="0" noProof="0" dirty="0">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1200" cap="none" spc="0" normalizeH="0" baseline="0" noProof="0" dirty="0">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rPr>
                <a:t>（</a:t>
              </a:r>
              <a:r>
                <a:rPr kumimoji="1" lang="en-US" altLang="zh-CN" sz="2000" b="1" i="0" u="none" strike="noStrike" kern="1200" cap="none" spc="0" normalizeH="0" baseline="0" noProof="0" dirty="0" err="1">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rPr>
                <a:t>SoC</a:t>
              </a:r>
              <a:r>
                <a:rPr kumimoji="1" lang="zh-CN" altLang="en-US" sz="2000" b="1" i="0" u="none" strike="noStrike" kern="1200" cap="none" spc="0" normalizeH="0" baseline="0" noProof="0" dirty="0">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rPr>
                <a:t>）</a:t>
              </a:r>
              <a:endParaRPr kumimoji="1" lang="zh-CN" altLang="en-US" sz="2000" b="1" i="0" u="none" strike="noStrike" kern="1200" cap="none" spc="0" normalizeH="0" baseline="0" noProof="0" dirty="0">
                <a:ln>
                  <a:noFill/>
                </a:ln>
                <a:solidFill>
                  <a:schemeClr val="tx1">
                    <a:lumMod val="75000"/>
                    <a:lumOff val="25000"/>
                  </a:schemeClr>
                </a:solidFill>
                <a:effectLst/>
                <a:uLnTx/>
                <a:uFillTx/>
                <a:latin typeface="Times New Roman" panose="02020603050405020304" pitchFamily="18" charset="0"/>
                <a:ea typeface="黑体" panose="02010609060101010101" pitchFamily="49" charset="-122"/>
                <a:cs typeface="+mn-cs"/>
              </a:endParaRPr>
            </a:p>
          </p:txBody>
        </p:sp>
        <p:cxnSp>
          <p:nvCxnSpPr>
            <p:cNvPr id="32777" name="AutoShape 41"/>
            <p:cNvCxnSpPr>
              <a:stCxn id="600096" idx="3"/>
              <a:endCxn id="13317" idx="1"/>
            </p:cNvCxnSpPr>
            <p:nvPr/>
          </p:nvCxnSpPr>
          <p:spPr>
            <a:xfrm flipV="1">
              <a:off x="2200" y="1434"/>
              <a:ext cx="816" cy="1021"/>
            </a:xfrm>
            <a:prstGeom prst="bentConnector3">
              <a:avLst>
                <a:gd name="adj1" fmla="val 50000"/>
              </a:avLst>
            </a:prstGeom>
            <a:ln w="28575" cap="flat" cmpd="sng">
              <a:solidFill>
                <a:schemeClr val="tx1"/>
              </a:solidFill>
              <a:prstDash val="solid"/>
              <a:miter/>
              <a:headEnd type="none" w="med" len="med"/>
              <a:tailEnd type="triangle" w="med" len="med"/>
            </a:ln>
          </p:spPr>
        </p:cxnSp>
        <p:cxnSp>
          <p:nvCxnSpPr>
            <p:cNvPr id="32778" name="AutoShape 42"/>
            <p:cNvCxnSpPr>
              <a:endCxn id="13320" idx="1"/>
            </p:cNvCxnSpPr>
            <p:nvPr/>
          </p:nvCxnSpPr>
          <p:spPr>
            <a:xfrm rot="-5400000" flipH="1">
              <a:off x="2177" y="2818"/>
              <a:ext cx="1270" cy="408"/>
            </a:xfrm>
            <a:prstGeom prst="bentConnector2">
              <a:avLst/>
            </a:prstGeom>
            <a:ln w="28575" cap="flat" cmpd="sng">
              <a:solidFill>
                <a:schemeClr val="tx1"/>
              </a:solidFill>
              <a:prstDash val="solid"/>
              <a:miter/>
              <a:headEnd type="none" w="med" len="med"/>
              <a:tailEnd type="triangle" w="med" len="med"/>
            </a:ln>
          </p:spPr>
        </p:cxnSp>
        <p:cxnSp>
          <p:nvCxnSpPr>
            <p:cNvPr id="32779" name="AutoShape 43"/>
            <p:cNvCxnSpPr>
              <a:endCxn id="13319" idx="1"/>
            </p:cNvCxnSpPr>
            <p:nvPr/>
          </p:nvCxnSpPr>
          <p:spPr>
            <a:xfrm>
              <a:off x="2608" y="2886"/>
              <a:ext cx="408" cy="0"/>
            </a:xfrm>
            <a:prstGeom prst="straightConnector1">
              <a:avLst/>
            </a:prstGeom>
            <a:ln w="28575" cap="flat" cmpd="sng">
              <a:solidFill>
                <a:schemeClr val="tx1"/>
              </a:solidFill>
              <a:prstDash val="solid"/>
              <a:headEnd type="none" w="med" len="med"/>
              <a:tailEnd type="triangle" w="med" len="med"/>
            </a:ln>
          </p:spPr>
        </p:cxnSp>
        <p:cxnSp>
          <p:nvCxnSpPr>
            <p:cNvPr id="32780" name="AutoShape 44"/>
            <p:cNvCxnSpPr>
              <a:endCxn id="13318" idx="1"/>
            </p:cNvCxnSpPr>
            <p:nvPr/>
          </p:nvCxnSpPr>
          <p:spPr>
            <a:xfrm>
              <a:off x="2608" y="2160"/>
              <a:ext cx="408" cy="0"/>
            </a:xfrm>
            <a:prstGeom prst="straightConnector1">
              <a:avLst/>
            </a:prstGeom>
            <a:ln w="28575" cap="flat" cmpd="sng">
              <a:solidFill>
                <a:schemeClr val="tx1"/>
              </a:solidFill>
              <a:prstDash val="solid"/>
              <a:headEnd type="none" w="med" len="med"/>
              <a:tailEnd type="triangle" w="med" len="med"/>
            </a:ln>
          </p:spPr>
        </p:cxnSp>
      </p:gr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title"/>
          </p:nvPr>
        </p:nvSpPr>
        <p:spPr>
          <a:xfrm>
            <a:off x="900113" y="0"/>
            <a:ext cx="8243887" cy="955675"/>
          </a:xfrm>
          <a:ln/>
        </p:spPr>
        <p:txBody>
          <a:bodyPr vert="horz" wrap="square" lIns="91440" tIns="45720" rIns="91440" bIns="45720" anchor="b" anchorCtr="0"/>
          <a:p>
            <a:pPr eaLnBrk="1" hangingPunct="1"/>
            <a:r>
              <a:rPr lang="en-US" altLang="zh-CN" sz="3600" dirty="0"/>
              <a:t>1. </a:t>
            </a:r>
            <a:r>
              <a:rPr lang="zh-CN" altLang="en-US" sz="3600" dirty="0"/>
              <a:t>嵌入式微控制器</a:t>
            </a:r>
            <a:r>
              <a:rPr lang="en-US" altLang="zh-CN" sz="2800" dirty="0"/>
              <a:t>(MicroController)</a:t>
            </a:r>
            <a:endParaRPr lang="en-US" altLang="zh-CN" sz="2800" dirty="0"/>
          </a:p>
        </p:txBody>
      </p:sp>
      <p:sp>
        <p:nvSpPr>
          <p:cNvPr id="620549" name="Text Box 5"/>
          <p:cNvSpPr txBox="1">
            <a:spLocks noChangeArrowheads="1"/>
          </p:cNvSpPr>
          <p:nvPr/>
        </p:nvSpPr>
        <p:spPr bwMode="auto">
          <a:xfrm>
            <a:off x="971550" y="1628775"/>
            <a:ext cx="7848600" cy="4167188"/>
          </a:xfrm>
          <a:prstGeom prst="rect">
            <a:avLst/>
          </a:prstGeom>
          <a:noFill/>
          <a:ln w="9525" algn="ctr">
            <a:noFill/>
            <a:miter lim="800000"/>
          </a:ln>
        </p:spPr>
        <p:txBody>
          <a:bodyPr>
            <a:spAutoFit/>
          </a:bodyPr>
          <a:lstStyle/>
          <a:p>
            <a:pPr marR="0" defTabSz="914400" eaLnBrk="1" hangingPunct="1">
              <a:lnSpc>
                <a:spcPct val="140000"/>
              </a:lnSpc>
              <a:spcBef>
                <a:spcPct val="50000"/>
              </a:spcBef>
              <a:spcAft>
                <a:spcPct val="50000"/>
              </a:spcAft>
              <a:buClrTx/>
              <a:buSzPct val="125000"/>
              <a:buFontTx/>
              <a:buBlip>
                <a:blip r:embed="rId1"/>
              </a:buBlip>
              <a:defRPr/>
            </a:pPr>
            <a:r>
              <a:rPr kumimoji="0" lang="en-US" altLang="zh-CN" sz="2800" kern="1200" cap="none" spc="0" normalizeH="0" baseline="0" noProof="0" dirty="0">
                <a:latin typeface="Tahoma" panose="020B0604030504040204" pitchFamily="34" charset="0"/>
                <a:ea typeface="宋体" panose="02010600030101010101" pitchFamily="2" charset="-122"/>
                <a:cs typeface="Times New Roman" panose="02020603050405020304" pitchFamily="18" charset="0"/>
              </a:rPr>
              <a:t> </a:t>
            </a:r>
            <a:r>
              <a:rPr kumimoji="0" lang="zh-CN" altLang="en-US" sz="2400" kern="1200" cap="none" spc="0" normalizeH="0" baseline="0" noProof="0" dirty="0">
                <a:latin typeface="Tahoma" panose="020B0604030504040204" pitchFamily="34" charset="0"/>
                <a:ea typeface="宋体" panose="02010600030101010101" pitchFamily="2" charset="-122"/>
                <a:cs typeface="Times New Roman" panose="02020603050405020304" pitchFamily="18" charset="0"/>
              </a:rPr>
              <a:t>嵌入式微控制器</a:t>
            </a:r>
            <a:r>
              <a:rPr kumimoji="0" lang="en-US" altLang="zh-CN" sz="2400" kern="1200" cap="none" spc="0" normalizeH="0" baseline="0" noProof="0" dirty="0">
                <a:solidFill>
                  <a:schemeClr val="accent2">
                    <a:lumMod val="75000"/>
                  </a:schemeClr>
                </a:solidFill>
                <a:latin typeface="Tahoma" panose="020B0604030504040204" pitchFamily="34" charset="0"/>
                <a:ea typeface="宋体" panose="02010600030101010101" pitchFamily="2" charset="-122"/>
                <a:cs typeface="Times New Roman" panose="02020603050405020304" pitchFamily="18" charset="0"/>
              </a:rPr>
              <a:t>(</a:t>
            </a:r>
            <a:r>
              <a:rPr kumimoji="0" lang="zh-CN" altLang="en-US" sz="2400" kern="1200" cap="none" spc="0" normalizeH="0" baseline="0" noProof="0" dirty="0">
                <a:solidFill>
                  <a:schemeClr val="accent2">
                    <a:lumMod val="75000"/>
                  </a:schemeClr>
                </a:solidFill>
                <a:latin typeface="Tahoma" panose="020B0604030504040204" pitchFamily="34" charset="0"/>
                <a:ea typeface="宋体" panose="02010600030101010101" pitchFamily="2" charset="-122"/>
                <a:cs typeface="Times New Roman" panose="02020603050405020304" pitchFamily="18" charset="0"/>
              </a:rPr>
              <a:t>单片机</a:t>
            </a:r>
            <a:r>
              <a:rPr kumimoji="0" lang="en-US" altLang="zh-CN" sz="2400" kern="1200" cap="none" spc="0" normalizeH="0" baseline="0" noProof="0" dirty="0">
                <a:solidFill>
                  <a:schemeClr val="accent2">
                    <a:lumMod val="75000"/>
                  </a:schemeClr>
                </a:solidFill>
                <a:latin typeface="Tahoma" panose="020B0604030504040204" pitchFamily="34" charset="0"/>
                <a:ea typeface="宋体" panose="02010600030101010101" pitchFamily="2" charset="-122"/>
                <a:cs typeface="Times New Roman" panose="02020603050405020304" pitchFamily="18" charset="0"/>
              </a:rPr>
              <a:t>)</a:t>
            </a:r>
            <a:r>
              <a:rPr kumimoji="0" lang="zh-CN" altLang="en-US" sz="2400" kern="1200" cap="none" spc="0" normalizeH="0" baseline="0" noProof="0" dirty="0">
                <a:latin typeface="Tahoma" panose="020B0604030504040204" pitchFamily="34" charset="0"/>
                <a:ea typeface="宋体" panose="02010600030101010101" pitchFamily="2" charset="-122"/>
                <a:cs typeface="Times New Roman" panose="02020603050405020304" pitchFamily="18" charset="0"/>
              </a:rPr>
              <a:t>，就是将整个计算机系统集成到一块芯片中。</a:t>
            </a:r>
            <a:r>
              <a:rPr kumimoji="0" lang="zh-CN" altLang="en-US" kern="1200" cap="none" spc="0" normalizeH="0" baseline="0" noProof="0" dirty="0">
                <a:latin typeface="Tahoma" panose="020B0604030504040204" pitchFamily="34" charset="0"/>
                <a:ea typeface="宋体" panose="02010600030101010101" pitchFamily="2" charset="-122"/>
                <a:cs typeface="+mn-cs"/>
              </a:rPr>
              <a:t>嵌入式微控制器的典型代表是单片机，这种８位的电子器件目前在嵌入式设备中仍然有着极其广泛的应用。</a:t>
            </a:r>
            <a:endParaRPr kumimoji="0" lang="zh-CN" altLang="en-US" sz="2400" kern="1200" cap="none" spc="0" normalizeH="0" baseline="0" noProof="0" dirty="0">
              <a:latin typeface="Tahoma" panose="020B0604030504040204" pitchFamily="34" charset="0"/>
              <a:ea typeface="宋体" panose="02010600030101010101" pitchFamily="2" charset="-122"/>
              <a:cs typeface="Times New Roman" panose="02020603050405020304" pitchFamily="18" charset="0"/>
            </a:endParaRPr>
          </a:p>
          <a:p>
            <a:pPr marR="0" defTabSz="914400" eaLnBrk="1" hangingPunct="1">
              <a:lnSpc>
                <a:spcPct val="140000"/>
              </a:lnSpc>
              <a:spcBef>
                <a:spcPct val="50000"/>
              </a:spcBef>
              <a:spcAft>
                <a:spcPct val="50000"/>
              </a:spcAft>
              <a:buClrTx/>
              <a:buSzPct val="125000"/>
              <a:buFontTx/>
              <a:buBlip>
                <a:blip r:embed="rId1"/>
              </a:buBlip>
              <a:defRPr/>
            </a:pPr>
            <a:r>
              <a:rPr kumimoji="0" lang="zh-CN" altLang="en-US" sz="2400" kern="1200" cap="none" spc="0" normalizeH="0" baseline="0" noProof="0" dirty="0">
                <a:latin typeface="Tahoma" panose="020B0604030504040204" pitchFamily="34" charset="0"/>
                <a:ea typeface="宋体" panose="02010600030101010101" pitchFamily="2" charset="-122"/>
                <a:cs typeface="Times New Roman" panose="02020603050405020304" pitchFamily="18" charset="0"/>
              </a:rPr>
              <a:t> 嵌入式微控制器将</a:t>
            </a:r>
            <a:r>
              <a:rPr kumimoji="0" lang="en-US" altLang="zh-CN" sz="2400" kern="1200" cap="none" spc="0" normalizeH="0" baseline="0" noProof="0" dirty="0">
                <a:latin typeface="Tahoma" panose="020B0604030504040204" pitchFamily="34" charset="0"/>
                <a:ea typeface="宋体" panose="02010600030101010101" pitchFamily="2" charset="-122"/>
                <a:cs typeface="Times New Roman" panose="02020603050405020304" pitchFamily="18" charset="0"/>
              </a:rPr>
              <a:t>CPU</a:t>
            </a:r>
            <a:r>
              <a:rPr kumimoji="0" lang="zh-CN" altLang="en-US" sz="2400" kern="1200" cap="none" spc="0" normalizeH="0" baseline="0" noProof="0" dirty="0">
                <a:latin typeface="Tahoma" panose="020B0604030504040204" pitchFamily="34" charset="0"/>
                <a:ea typeface="宋体" panose="02010600030101010101" pitchFamily="2" charset="-122"/>
                <a:cs typeface="Times New Roman" panose="02020603050405020304" pitchFamily="18" charset="0"/>
              </a:rPr>
              <a:t>、存储器（少量的</a:t>
            </a:r>
            <a:r>
              <a:rPr kumimoji="0" lang="en-US" altLang="zh-CN" sz="2400" kern="1200" cap="none" spc="0" normalizeH="0" baseline="0" noProof="0" dirty="0">
                <a:latin typeface="Tahoma" panose="020B0604030504040204" pitchFamily="34" charset="0"/>
                <a:ea typeface="宋体" panose="02010600030101010101" pitchFamily="2" charset="-122"/>
                <a:cs typeface="Times New Roman" panose="02020603050405020304" pitchFamily="18" charset="0"/>
              </a:rPr>
              <a:t>RAM</a:t>
            </a:r>
            <a:r>
              <a:rPr kumimoji="0" lang="zh-CN" altLang="en-US" sz="2400" kern="1200" cap="none" spc="0" normalizeH="0" baseline="0" noProof="0" dirty="0">
                <a:latin typeface="Tahoma" panose="020B0604030504040204" pitchFamily="34" charset="0"/>
                <a:ea typeface="宋体" panose="02010600030101010101" pitchFamily="2" charset="-122"/>
                <a:cs typeface="Times New Roman" panose="02020603050405020304" pitchFamily="18" charset="0"/>
              </a:rPr>
              <a:t>、</a:t>
            </a:r>
            <a:r>
              <a:rPr kumimoji="0" lang="en-US" altLang="zh-CN" sz="2400" kern="1200" cap="none" spc="0" normalizeH="0" baseline="0" noProof="0" dirty="0">
                <a:latin typeface="Tahoma" panose="020B0604030504040204" pitchFamily="34" charset="0"/>
                <a:ea typeface="宋体" panose="02010600030101010101" pitchFamily="2" charset="-122"/>
                <a:cs typeface="Times New Roman" panose="02020603050405020304" pitchFamily="18" charset="0"/>
              </a:rPr>
              <a:t>ROM</a:t>
            </a:r>
            <a:r>
              <a:rPr kumimoji="0" lang="zh-CN" altLang="en-US" sz="2400" kern="1200" cap="none" spc="0" normalizeH="0" baseline="0" noProof="0" dirty="0">
                <a:latin typeface="Tahoma" panose="020B0604030504040204" pitchFamily="34" charset="0"/>
                <a:ea typeface="宋体" panose="02010600030101010101" pitchFamily="2" charset="-122"/>
                <a:cs typeface="Times New Roman" panose="02020603050405020304" pitchFamily="18" charset="0"/>
              </a:rPr>
              <a:t>或两者都有）和其他外设封装在同一片集成电路里，因为其片上外设资源一般比较丰富，适合于控制，因此称为微控制器。</a:t>
            </a:r>
            <a:endParaRPr kumimoji="0" lang="zh-CN" altLang="en-US" sz="2400" kern="1200" cap="none" spc="0" normalizeH="0" baseline="0" noProof="0" dirty="0">
              <a:latin typeface="Tahoma" panose="020B0604030504040204" pitchFamily="34" charset="0"/>
              <a:ea typeface="宋体" panose="02010600030101010101" pitchFamily="2"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620549">
                                            <p:txEl>
                                              <p:charRg st="0" end="81"/>
                                            </p:txEl>
                                          </p:spTgt>
                                        </p:tgtEl>
                                        <p:attrNameLst>
                                          <p:attrName>style.visibility</p:attrName>
                                        </p:attrNameLst>
                                      </p:cBhvr>
                                      <p:to>
                                        <p:strVal val="visible"/>
                                      </p:to>
                                    </p:set>
                                    <p:animEffect transition="in" filter="randombar(horizontal)">
                                      <p:cBhvr>
                                        <p:cTn id="7" dur="500"/>
                                        <p:tgtEl>
                                          <p:spTgt spid="620549">
                                            <p:txEl>
                                              <p:charRg st="0" end="8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20549">
                                            <p:txEl>
                                              <p:charRg st="81" end="163"/>
                                            </p:txEl>
                                          </p:spTgt>
                                        </p:tgtEl>
                                        <p:attrNameLst>
                                          <p:attrName>style.visibility</p:attrName>
                                        </p:attrNameLst>
                                      </p:cBhvr>
                                      <p:to>
                                        <p:strVal val="visible"/>
                                      </p:to>
                                    </p:set>
                                    <p:animEffect transition="in" filter="randombar(horizontal)">
                                      <p:cBhvr>
                                        <p:cTn id="12" dur="500"/>
                                        <p:tgtEl>
                                          <p:spTgt spid="620549">
                                            <p:txEl>
                                              <p:charRg st="81" end="16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0549" grpId="0" build="allAtOnce"/>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4"/>
          <p:cNvSpPr>
            <a:spLocks noGrp="1"/>
          </p:cNvSpPr>
          <p:nvPr>
            <p:ph type="title"/>
          </p:nvPr>
        </p:nvSpPr>
        <p:spPr>
          <a:xfrm>
            <a:off x="900113" y="188913"/>
            <a:ext cx="7772400" cy="722312"/>
          </a:xfrm>
          <a:ln/>
        </p:spPr>
        <p:txBody>
          <a:bodyPr vert="horz" wrap="square" lIns="82550" tIns="41275" rIns="82550" bIns="41275" anchor="b" anchorCtr="0"/>
          <a:p>
            <a:pPr eaLnBrk="1" hangingPunct="1"/>
            <a:r>
              <a:rPr lang="zh-CN" altLang="en-US" sz="3200" dirty="0"/>
              <a:t>例：</a:t>
            </a:r>
            <a:r>
              <a:rPr lang="en-US" altLang="zh-CN" sz="3200" dirty="0"/>
              <a:t>Intel 8085 Microprocessor</a:t>
            </a:r>
            <a:endParaRPr lang="en-US" altLang="zh-CN" sz="3200" dirty="0"/>
          </a:p>
        </p:txBody>
      </p:sp>
      <p:sp>
        <p:nvSpPr>
          <p:cNvPr id="34819" name="Rectangle 5"/>
          <p:cNvSpPr>
            <a:spLocks noGrp="1"/>
          </p:cNvSpPr>
          <p:nvPr>
            <p:ph idx="1"/>
          </p:nvPr>
        </p:nvSpPr>
        <p:spPr>
          <a:xfrm>
            <a:off x="6227763" y="1700213"/>
            <a:ext cx="2755900" cy="2373312"/>
          </a:xfrm>
          <a:ln/>
        </p:spPr>
        <p:txBody>
          <a:bodyPr vert="horz" wrap="square" lIns="82550" tIns="41275" rIns="82550" bIns="41275" anchor="t" anchorCtr="0"/>
          <a:p>
            <a:pPr eaLnBrk="1" hangingPunct="1"/>
            <a:r>
              <a:rPr lang="en-US" altLang="zh-CN" sz="2000" dirty="0"/>
              <a:t>Introduced in 1974</a:t>
            </a:r>
            <a:endParaRPr lang="en-US" altLang="zh-CN" sz="2000" dirty="0"/>
          </a:p>
          <a:p>
            <a:pPr eaLnBrk="1" hangingPunct="1"/>
            <a:r>
              <a:rPr lang="en-US" altLang="zh-CN" sz="2000" dirty="0"/>
              <a:t>8-bit architecture</a:t>
            </a:r>
            <a:endParaRPr lang="en-US" altLang="zh-CN" sz="2000" dirty="0"/>
          </a:p>
          <a:p>
            <a:pPr eaLnBrk="1" hangingPunct="1"/>
            <a:r>
              <a:rPr lang="en-US" altLang="zh-CN" sz="2000" dirty="0"/>
              <a:t>Still used in some</a:t>
            </a:r>
            <a:endParaRPr lang="en-US" altLang="zh-CN" sz="2000" dirty="0"/>
          </a:p>
          <a:p>
            <a:pPr eaLnBrk="1" hangingPunct="1"/>
            <a:r>
              <a:rPr lang="en-US" altLang="zh-CN" sz="2000" dirty="0"/>
              <a:t>microcontroller</a:t>
            </a:r>
            <a:endParaRPr lang="en-US" altLang="zh-CN" sz="2000" dirty="0"/>
          </a:p>
          <a:p>
            <a:pPr eaLnBrk="1" hangingPunct="1"/>
            <a:r>
              <a:rPr lang="en-US" altLang="zh-CN" sz="2000" dirty="0"/>
              <a:t>applications !</a:t>
            </a:r>
            <a:endParaRPr lang="en-US" altLang="zh-CN" sz="2000" dirty="0"/>
          </a:p>
        </p:txBody>
      </p:sp>
      <p:pic>
        <p:nvPicPr>
          <p:cNvPr id="34820" name="Picture 6"/>
          <p:cNvPicPr>
            <a:picLocks noChangeAspect="1"/>
          </p:cNvPicPr>
          <p:nvPr/>
        </p:nvPicPr>
        <p:blipFill>
          <a:blip r:embed="rId1"/>
          <a:stretch>
            <a:fillRect/>
          </a:stretch>
        </p:blipFill>
        <p:spPr>
          <a:xfrm>
            <a:off x="250825" y="1700213"/>
            <a:ext cx="5832475" cy="4305300"/>
          </a:xfrm>
          <a:prstGeom prst="rect">
            <a:avLst/>
          </a:prstGeom>
          <a:noFill/>
          <a:ln w="9525">
            <a:noFill/>
          </a:ln>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type="title"/>
          </p:nvPr>
        </p:nvSpPr>
        <p:spPr>
          <a:xfrm>
            <a:off x="989013" y="0"/>
            <a:ext cx="8243887" cy="955675"/>
          </a:xfrm>
          <a:ln/>
        </p:spPr>
        <p:txBody>
          <a:bodyPr vert="horz" wrap="square" lIns="91440" tIns="45720" rIns="91440" bIns="45720" anchor="b" anchorCtr="0"/>
          <a:p>
            <a:pPr eaLnBrk="1" hangingPunct="1"/>
            <a:r>
              <a:rPr lang="en-US" altLang="zh-CN" sz="3600" dirty="0"/>
              <a:t>1. </a:t>
            </a:r>
            <a:r>
              <a:rPr lang="zh-CN" altLang="en-US" sz="3600" dirty="0"/>
              <a:t>嵌入式微控制器</a:t>
            </a:r>
            <a:r>
              <a:rPr lang="en-US" altLang="zh-CN" sz="2800" dirty="0"/>
              <a:t>(MicroController)</a:t>
            </a:r>
            <a:endParaRPr lang="en-US" altLang="zh-CN" sz="2800" dirty="0"/>
          </a:p>
        </p:txBody>
      </p:sp>
      <p:sp>
        <p:nvSpPr>
          <p:cNvPr id="664579" name="Text Box 3"/>
          <p:cNvSpPr txBox="1"/>
          <p:nvPr/>
        </p:nvSpPr>
        <p:spPr>
          <a:xfrm>
            <a:off x="971550" y="1933575"/>
            <a:ext cx="7848600" cy="24558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135000"/>
              </a:lnSpc>
              <a:spcBef>
                <a:spcPct val="50000"/>
              </a:spcBef>
              <a:spcAft>
                <a:spcPct val="50000"/>
              </a:spcAft>
              <a:buClrTx/>
              <a:buSzPct val="125000"/>
              <a:buFontTx/>
              <a:buBlip>
                <a:blip r:embed="rId1"/>
              </a:buBlip>
            </a:pPr>
            <a:r>
              <a:rPr lang="zh-CN" altLang="en-US" sz="2400" b="1" dirty="0">
                <a:latin typeface="Tahoma" panose="020B0604030504040204" pitchFamily="34" charset="0"/>
                <a:cs typeface="Times New Roman" panose="02020603050405020304" pitchFamily="18" charset="0"/>
              </a:rPr>
              <a:t>微控制器的最大特点是单片化，体积大大减小，从而使功耗和成本降低、可靠性提高。</a:t>
            </a:r>
            <a:endParaRPr lang="zh-CN" altLang="en-US" sz="2400" b="1" dirty="0">
              <a:latin typeface="Tahoma" panose="020B0604030504040204" pitchFamily="34" charset="0"/>
              <a:cs typeface="Times New Roman" panose="02020603050405020304" pitchFamily="18" charset="0"/>
            </a:endParaRPr>
          </a:p>
          <a:p>
            <a:pPr marL="0" lvl="0" indent="0" eaLnBrk="1" hangingPunct="1">
              <a:lnSpc>
                <a:spcPct val="135000"/>
              </a:lnSpc>
              <a:spcBef>
                <a:spcPct val="50000"/>
              </a:spcBef>
              <a:spcAft>
                <a:spcPct val="50000"/>
              </a:spcAft>
              <a:buClrTx/>
              <a:buSzPct val="125000"/>
              <a:buFontTx/>
              <a:buBlip>
                <a:blip r:embed="rId1"/>
              </a:buBlip>
            </a:pPr>
            <a:r>
              <a:rPr lang="zh-CN" altLang="en-US" sz="2400" b="1" dirty="0">
                <a:latin typeface="Tahoma" panose="020B0604030504040204" pitchFamily="34" charset="0"/>
                <a:cs typeface="Times New Roman" panose="02020603050405020304" pitchFamily="18" charset="0"/>
              </a:rPr>
              <a:t> 由于微控制器低廉的价格、优良的功能，所以拥有的品种和数量最多，是目前嵌入式系统工业的主流。 </a:t>
            </a:r>
            <a:endParaRPr lang="zh-CN" altLang="en-US" sz="2400" b="1" dirty="0">
              <a:latin typeface="Tahoma" panose="020B0604030504040204" pitchFamily="34" charset="0"/>
              <a:ea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664579">
                                            <p:txEl>
                                              <p:charRg st="0" end="39"/>
                                            </p:txEl>
                                          </p:spTgt>
                                        </p:tgtEl>
                                        <p:attrNameLst>
                                          <p:attrName>style.visibility</p:attrName>
                                        </p:attrNameLst>
                                      </p:cBhvr>
                                      <p:to>
                                        <p:strVal val="visible"/>
                                      </p:to>
                                    </p:set>
                                    <p:animEffect transition="in" filter="randombar(horizontal)">
                                      <p:cBhvr>
                                        <p:cTn id="7" dur="500"/>
                                        <p:tgtEl>
                                          <p:spTgt spid="664579">
                                            <p:txEl>
                                              <p:charRg st="0" end="39"/>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64579">
                                            <p:txEl>
                                              <p:charRg st="39" end="87"/>
                                            </p:txEl>
                                          </p:spTgt>
                                        </p:tgtEl>
                                        <p:attrNameLst>
                                          <p:attrName>style.visibility</p:attrName>
                                        </p:attrNameLst>
                                      </p:cBhvr>
                                      <p:to>
                                        <p:strVal val="visible"/>
                                      </p:to>
                                    </p:set>
                                    <p:animEffect transition="in" filter="randombar(horizontal)">
                                      <p:cBhvr>
                                        <p:cTn id="12" dur="500"/>
                                        <p:tgtEl>
                                          <p:spTgt spid="664579">
                                            <p:txEl>
                                              <p:charRg st="39" end="8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p:nvPr>
        </p:nvSpPr>
        <p:spPr>
          <a:xfrm>
            <a:off x="892175" y="0"/>
            <a:ext cx="8243888" cy="955675"/>
          </a:xfrm>
          <a:ln/>
        </p:spPr>
        <p:txBody>
          <a:bodyPr vert="horz" wrap="square" lIns="91440" tIns="45720" rIns="91440" bIns="45720" anchor="b" anchorCtr="0"/>
          <a:p>
            <a:pPr eaLnBrk="1" hangingPunct="1"/>
            <a:r>
              <a:rPr lang="en-US" altLang="zh-CN" sz="3600" dirty="0"/>
              <a:t>1. </a:t>
            </a:r>
            <a:r>
              <a:rPr lang="zh-CN" altLang="en-US" sz="3600" dirty="0"/>
              <a:t>嵌入式微控制器</a:t>
            </a:r>
            <a:r>
              <a:rPr lang="en-US" altLang="zh-CN" sz="2800" dirty="0"/>
              <a:t>(MicroController)</a:t>
            </a:r>
            <a:endParaRPr lang="en-US" altLang="zh-CN" sz="2800" dirty="0"/>
          </a:p>
        </p:txBody>
      </p:sp>
      <p:sp>
        <p:nvSpPr>
          <p:cNvPr id="665603" name="Text Box 3"/>
          <p:cNvSpPr txBox="1"/>
          <p:nvPr/>
        </p:nvSpPr>
        <p:spPr>
          <a:xfrm>
            <a:off x="971550" y="1954213"/>
            <a:ext cx="7848600" cy="3419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135000"/>
              </a:lnSpc>
              <a:spcBef>
                <a:spcPct val="50000"/>
              </a:spcBef>
              <a:spcAft>
                <a:spcPct val="50000"/>
              </a:spcAft>
              <a:buClrTx/>
              <a:buSzPct val="125000"/>
              <a:buFontTx/>
              <a:buBlip>
                <a:blip r:embed="rId1"/>
              </a:buBlip>
            </a:pPr>
            <a:r>
              <a:rPr lang="en-US" altLang="zh-CN" sz="2400" b="1" dirty="0">
                <a:latin typeface="Tahoma" panose="020B0604030504040204" pitchFamily="34" charset="0"/>
                <a:cs typeface="Times New Roman" panose="02020603050405020304" pitchFamily="18" charset="0"/>
              </a:rPr>
              <a:t> </a:t>
            </a:r>
            <a:r>
              <a:rPr lang="zh-CN" altLang="en-US" sz="2400" b="1" dirty="0">
                <a:latin typeface="Tahoma" panose="020B0604030504040204" pitchFamily="34" charset="0"/>
                <a:cs typeface="Times New Roman" panose="02020603050405020304" pitchFamily="18" charset="0"/>
              </a:rPr>
              <a:t>比较有代表性的通用系列包括</a:t>
            </a:r>
            <a:r>
              <a:rPr lang="en-US" altLang="zh-CN" sz="2400" b="1" dirty="0">
                <a:latin typeface="Tahoma" panose="020B0604030504040204" pitchFamily="34" charset="0"/>
                <a:cs typeface="Times New Roman" panose="02020603050405020304" pitchFamily="18" charset="0"/>
              </a:rPr>
              <a:t>8051</a:t>
            </a:r>
            <a:r>
              <a:rPr lang="zh-CN" altLang="en-US" sz="2400" b="1" dirty="0">
                <a:latin typeface="Tahoma" panose="020B0604030504040204" pitchFamily="34" charset="0"/>
                <a:cs typeface="Times New Roman" panose="02020603050405020304" pitchFamily="18" charset="0"/>
              </a:rPr>
              <a:t>、</a:t>
            </a:r>
            <a:r>
              <a:rPr lang="en-US" altLang="zh-CN" sz="2400" b="1" dirty="0">
                <a:latin typeface="Tahoma" panose="020B0604030504040204" pitchFamily="34" charset="0"/>
                <a:cs typeface="Times New Roman" panose="02020603050405020304" pitchFamily="18" charset="0"/>
              </a:rPr>
              <a:t>C166/167</a:t>
            </a:r>
            <a:r>
              <a:rPr lang="zh-CN" altLang="en-US" sz="2400" b="1" dirty="0">
                <a:latin typeface="Tahoma" panose="020B0604030504040204" pitchFamily="34" charset="0"/>
                <a:cs typeface="Times New Roman" panose="02020603050405020304" pitchFamily="18" charset="0"/>
              </a:rPr>
              <a:t>、</a:t>
            </a:r>
            <a:r>
              <a:rPr lang="en-US" altLang="zh-CN" sz="2400" b="1" dirty="0">
                <a:latin typeface="Tahoma" panose="020B0604030504040204" pitchFamily="34" charset="0"/>
                <a:cs typeface="Times New Roman" panose="02020603050405020304" pitchFamily="18" charset="0"/>
              </a:rPr>
              <a:t>MCS-251</a:t>
            </a:r>
            <a:r>
              <a:rPr lang="zh-CN" altLang="en-US" sz="2400" b="1" dirty="0">
                <a:latin typeface="Tahoma" panose="020B0604030504040204" pitchFamily="34" charset="0"/>
                <a:cs typeface="Times New Roman" panose="02020603050405020304" pitchFamily="18" charset="0"/>
              </a:rPr>
              <a:t>、</a:t>
            </a:r>
            <a:r>
              <a:rPr lang="en-US" altLang="zh-CN" sz="2400" b="1" dirty="0">
                <a:latin typeface="Tahoma" panose="020B0604030504040204" pitchFamily="34" charset="0"/>
                <a:cs typeface="Times New Roman" panose="02020603050405020304" pitchFamily="18" charset="0"/>
              </a:rPr>
              <a:t>MCS-96/196/296</a:t>
            </a:r>
            <a:r>
              <a:rPr lang="zh-CN" altLang="en-US" sz="2400" b="1" dirty="0">
                <a:latin typeface="Tahoma" panose="020B0604030504040204" pitchFamily="34" charset="0"/>
                <a:cs typeface="Times New Roman" panose="02020603050405020304" pitchFamily="18" charset="0"/>
              </a:rPr>
              <a:t>、</a:t>
            </a:r>
            <a:r>
              <a:rPr lang="en-US" altLang="zh-CN" sz="2400" b="1" dirty="0">
                <a:latin typeface="Tahoma" panose="020B0604030504040204" pitchFamily="34" charset="0"/>
                <a:cs typeface="Times New Roman" panose="02020603050405020304" pitchFamily="18" charset="0"/>
              </a:rPr>
              <a:t>P51XA</a:t>
            </a:r>
            <a:r>
              <a:rPr lang="zh-CN" altLang="en-US" sz="2400" b="1" dirty="0">
                <a:latin typeface="Tahoma" panose="020B0604030504040204" pitchFamily="34" charset="0"/>
                <a:cs typeface="Times New Roman" panose="02020603050405020304" pitchFamily="18" charset="0"/>
              </a:rPr>
              <a:t>、</a:t>
            </a:r>
            <a:r>
              <a:rPr lang="en-US" altLang="zh-CN" sz="2400" b="1" dirty="0">
                <a:latin typeface="Tahoma" panose="020B0604030504040204" pitchFamily="34" charset="0"/>
                <a:cs typeface="Times New Roman" panose="02020603050405020304" pitchFamily="18" charset="0"/>
              </a:rPr>
              <a:t>MC 68HC05/11/12/16</a:t>
            </a:r>
            <a:r>
              <a:rPr lang="zh-CN" altLang="en-US" sz="2400" b="1" dirty="0">
                <a:latin typeface="Tahoma" panose="020B0604030504040204" pitchFamily="34" charset="0"/>
                <a:cs typeface="Times New Roman" panose="02020603050405020304" pitchFamily="18" charset="0"/>
              </a:rPr>
              <a:t>、</a:t>
            </a:r>
            <a:r>
              <a:rPr lang="en-US" altLang="zh-CN" sz="2400" b="1" dirty="0">
                <a:latin typeface="Tahoma" panose="020B0604030504040204" pitchFamily="34" charset="0"/>
                <a:cs typeface="Times New Roman" panose="02020603050405020304" pitchFamily="18" charset="0"/>
              </a:rPr>
              <a:t>68300</a:t>
            </a:r>
            <a:r>
              <a:rPr lang="zh-CN" altLang="en-US" sz="2400" b="1" dirty="0">
                <a:latin typeface="Tahoma" panose="020B0604030504040204" pitchFamily="34" charset="0"/>
                <a:cs typeface="Times New Roman" panose="02020603050405020304" pitchFamily="18" charset="0"/>
              </a:rPr>
              <a:t>等。</a:t>
            </a:r>
            <a:endParaRPr lang="zh-CN" altLang="en-US" sz="2400" b="1" dirty="0">
              <a:latin typeface="Tahoma" panose="020B0604030504040204" pitchFamily="34" charset="0"/>
              <a:cs typeface="Times New Roman" panose="02020603050405020304" pitchFamily="18" charset="0"/>
            </a:endParaRPr>
          </a:p>
          <a:p>
            <a:pPr marL="0" lvl="0" indent="0" eaLnBrk="1" hangingPunct="1">
              <a:lnSpc>
                <a:spcPct val="135000"/>
              </a:lnSpc>
              <a:spcBef>
                <a:spcPct val="50000"/>
              </a:spcBef>
              <a:spcAft>
                <a:spcPct val="50000"/>
              </a:spcAft>
              <a:buClrTx/>
              <a:buSzPct val="125000"/>
              <a:buFontTx/>
              <a:buBlip>
                <a:blip r:embed="rId1"/>
              </a:buBlip>
            </a:pPr>
            <a:r>
              <a:rPr lang="zh-CN" altLang="en-US" sz="2400" b="1" dirty="0">
                <a:latin typeface="Tahoma" panose="020B0604030504040204" pitchFamily="34" charset="0"/>
                <a:cs typeface="Times New Roman" panose="02020603050405020304" pitchFamily="18" charset="0"/>
              </a:rPr>
              <a:t> 还有许多半通用系列，如支持</a:t>
            </a:r>
            <a:r>
              <a:rPr lang="en-US" altLang="zh-CN" sz="2400" b="1" dirty="0">
                <a:latin typeface="Tahoma" panose="020B0604030504040204" pitchFamily="34" charset="0"/>
                <a:cs typeface="Times New Roman" panose="02020603050405020304" pitchFamily="18" charset="0"/>
              </a:rPr>
              <a:t>USB</a:t>
            </a:r>
            <a:r>
              <a:rPr lang="zh-CN" altLang="en-US" sz="2400" b="1" dirty="0">
                <a:latin typeface="Tahoma" panose="020B0604030504040204" pitchFamily="34" charset="0"/>
                <a:cs typeface="Times New Roman" panose="02020603050405020304" pitchFamily="18" charset="0"/>
              </a:rPr>
              <a:t>接口的</a:t>
            </a:r>
            <a:r>
              <a:rPr lang="en-US" altLang="zh-CN" sz="2400" b="1" dirty="0">
                <a:latin typeface="Tahoma" panose="020B0604030504040204" pitchFamily="34" charset="0"/>
                <a:cs typeface="Times New Roman" panose="02020603050405020304" pitchFamily="18" charset="0"/>
              </a:rPr>
              <a:t>MCU8XC930/931</a:t>
            </a:r>
            <a:r>
              <a:rPr lang="zh-CN" altLang="en-US" sz="2400" b="1" dirty="0">
                <a:latin typeface="Tahoma" panose="020B0604030504040204" pitchFamily="34" charset="0"/>
                <a:cs typeface="Times New Roman" panose="02020603050405020304" pitchFamily="18" charset="0"/>
              </a:rPr>
              <a:t>、</a:t>
            </a:r>
            <a:r>
              <a:rPr lang="en-US" altLang="zh-CN" sz="2400" b="1" dirty="0">
                <a:latin typeface="Tahoma" panose="020B0604030504040204" pitchFamily="34" charset="0"/>
                <a:cs typeface="Times New Roman" panose="02020603050405020304" pitchFamily="18" charset="0"/>
              </a:rPr>
              <a:t>C540</a:t>
            </a:r>
            <a:r>
              <a:rPr lang="zh-CN" altLang="en-US" sz="2400" b="1" dirty="0">
                <a:latin typeface="Tahoma" panose="020B0604030504040204" pitchFamily="34" charset="0"/>
                <a:cs typeface="Times New Roman" panose="02020603050405020304" pitchFamily="18" charset="0"/>
              </a:rPr>
              <a:t>、</a:t>
            </a:r>
            <a:r>
              <a:rPr lang="en-US" altLang="zh-CN" sz="2400" b="1" dirty="0">
                <a:latin typeface="Tahoma" panose="020B0604030504040204" pitchFamily="34" charset="0"/>
                <a:cs typeface="Times New Roman" panose="02020603050405020304" pitchFamily="18" charset="0"/>
              </a:rPr>
              <a:t>C541</a:t>
            </a:r>
            <a:r>
              <a:rPr lang="zh-CN" altLang="en-US" sz="2400" b="1" dirty="0">
                <a:latin typeface="Tahoma" panose="020B0604030504040204" pitchFamily="34" charset="0"/>
                <a:cs typeface="Times New Roman" panose="02020603050405020304" pitchFamily="18" charset="0"/>
              </a:rPr>
              <a:t>；支持</a:t>
            </a:r>
            <a:r>
              <a:rPr lang="en-US" altLang="zh-CN" sz="2400" b="1" dirty="0">
                <a:latin typeface="Tahoma" panose="020B0604030504040204" pitchFamily="34" charset="0"/>
                <a:cs typeface="Times New Roman" panose="02020603050405020304" pitchFamily="18" charset="0"/>
              </a:rPr>
              <a:t>I2C</a:t>
            </a:r>
            <a:r>
              <a:rPr lang="zh-CN" altLang="en-US" sz="2400" b="1" dirty="0">
                <a:latin typeface="Tahoma" panose="020B0604030504040204" pitchFamily="34" charset="0"/>
                <a:cs typeface="Times New Roman" panose="02020603050405020304" pitchFamily="18" charset="0"/>
              </a:rPr>
              <a:t>、</a:t>
            </a:r>
            <a:r>
              <a:rPr lang="en-US" altLang="zh-CN" sz="2400" b="1" dirty="0">
                <a:latin typeface="Tahoma" panose="020B0604030504040204" pitchFamily="34" charset="0"/>
                <a:cs typeface="Times New Roman" panose="02020603050405020304" pitchFamily="18" charset="0"/>
              </a:rPr>
              <a:t>CAN</a:t>
            </a:r>
            <a:r>
              <a:rPr lang="zh-CN" altLang="en-US" sz="2400" b="1" dirty="0">
                <a:latin typeface="Tahoma" panose="020B0604030504040204" pitchFamily="34" charset="0"/>
                <a:cs typeface="Times New Roman" panose="02020603050405020304" pitchFamily="18" charset="0"/>
              </a:rPr>
              <a:t>、</a:t>
            </a:r>
            <a:r>
              <a:rPr lang="en-US" altLang="zh-CN" sz="2400" b="1" dirty="0">
                <a:latin typeface="Tahoma" panose="020B0604030504040204" pitchFamily="34" charset="0"/>
                <a:cs typeface="Times New Roman" panose="02020603050405020304" pitchFamily="18" charset="0"/>
              </a:rPr>
              <a:t>LCD</a:t>
            </a:r>
            <a:r>
              <a:rPr lang="zh-CN" altLang="en-US" sz="2400" b="1" dirty="0">
                <a:latin typeface="Tahoma" panose="020B0604030504040204" pitchFamily="34" charset="0"/>
                <a:cs typeface="Times New Roman" panose="02020603050405020304" pitchFamily="18" charset="0"/>
              </a:rPr>
              <a:t>及众多专用</a:t>
            </a:r>
            <a:r>
              <a:rPr lang="en-US" altLang="zh-CN" sz="2400" b="1" dirty="0">
                <a:latin typeface="Tahoma" panose="020B0604030504040204" pitchFamily="34" charset="0"/>
                <a:cs typeface="Times New Roman" panose="02020603050405020304" pitchFamily="18" charset="0"/>
              </a:rPr>
              <a:t>MCU</a:t>
            </a:r>
            <a:r>
              <a:rPr lang="zh-CN" altLang="en-US" sz="2400" b="1" dirty="0">
                <a:latin typeface="Tahoma" panose="020B0604030504040204" pitchFamily="34" charset="0"/>
                <a:cs typeface="Times New Roman" panose="02020603050405020304" pitchFamily="18" charset="0"/>
              </a:rPr>
              <a:t>和兼容系列。 </a:t>
            </a:r>
            <a:endParaRPr lang="zh-CN" altLang="en-US" sz="2400" b="1" dirty="0">
              <a:latin typeface="Tahoma" panose="020B0604030504040204" pitchFamily="34" charset="0"/>
              <a:ea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665603">
                                            <p:txEl>
                                              <p:charRg st="0" end="84"/>
                                            </p:txEl>
                                          </p:spTgt>
                                        </p:tgtEl>
                                        <p:attrNameLst>
                                          <p:attrName>style.visibility</p:attrName>
                                        </p:attrNameLst>
                                      </p:cBhvr>
                                      <p:to>
                                        <p:strVal val="visible"/>
                                      </p:to>
                                    </p:set>
                                    <p:animEffect transition="in" filter="randombar(horizontal)">
                                      <p:cBhvr>
                                        <p:cTn id="7" dur="500"/>
                                        <p:tgtEl>
                                          <p:spTgt spid="665603">
                                            <p:txEl>
                                              <p:charRg st="0" end="8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65603">
                                            <p:txEl>
                                              <p:charRg st="84" end="157"/>
                                            </p:txEl>
                                          </p:spTgt>
                                        </p:tgtEl>
                                        <p:attrNameLst>
                                          <p:attrName>style.visibility</p:attrName>
                                        </p:attrNameLst>
                                      </p:cBhvr>
                                      <p:to>
                                        <p:strVal val="visible"/>
                                      </p:to>
                                    </p:set>
                                    <p:animEffect transition="in" filter="randombar(horizontal)">
                                      <p:cBhvr>
                                        <p:cTn id="12" dur="500"/>
                                        <p:tgtEl>
                                          <p:spTgt spid="665603">
                                            <p:txEl>
                                              <p:charRg st="84" end="15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type="title"/>
          </p:nvPr>
        </p:nvSpPr>
        <p:spPr>
          <a:xfrm>
            <a:off x="904875" y="12700"/>
            <a:ext cx="8243888" cy="955675"/>
          </a:xfrm>
          <a:ln/>
        </p:spPr>
        <p:txBody>
          <a:bodyPr vert="horz" wrap="square" lIns="91440" tIns="45720" rIns="91440" bIns="45720" anchor="b" anchorCtr="0"/>
          <a:p>
            <a:pPr eaLnBrk="1" hangingPunct="1"/>
            <a:r>
              <a:rPr lang="en-US" altLang="zh-CN" sz="3600" dirty="0"/>
              <a:t>2. </a:t>
            </a:r>
            <a:r>
              <a:rPr lang="zh-CN" altLang="en-US" sz="3600" dirty="0"/>
              <a:t>嵌入式微处理器</a:t>
            </a:r>
            <a:r>
              <a:rPr lang="en-US" altLang="zh-CN" sz="2800" dirty="0"/>
              <a:t>(MicroProcessorUnit)</a:t>
            </a:r>
            <a:endParaRPr lang="en-US" altLang="zh-CN" sz="2800" dirty="0"/>
          </a:p>
        </p:txBody>
      </p:sp>
      <p:pic>
        <p:nvPicPr>
          <p:cNvPr id="37891" name="Picture 7"/>
          <p:cNvPicPr>
            <a:picLocks noChangeAspect="1"/>
          </p:cNvPicPr>
          <p:nvPr/>
        </p:nvPicPr>
        <p:blipFill>
          <a:blip r:embed="rId1"/>
          <a:stretch>
            <a:fillRect/>
          </a:stretch>
        </p:blipFill>
        <p:spPr>
          <a:xfrm>
            <a:off x="1042988" y="1484313"/>
            <a:ext cx="7470775" cy="3381375"/>
          </a:xfrm>
          <a:prstGeom prst="rect">
            <a:avLst/>
          </a:prstGeom>
          <a:noFill/>
          <a:ln w="9525">
            <a:noFill/>
          </a:ln>
        </p:spPr>
      </p:pic>
      <p:graphicFrame>
        <p:nvGraphicFramePr>
          <p:cNvPr id="37892" name="Object 7"/>
          <p:cNvGraphicFramePr>
            <a:graphicFrameLocks noChangeAspect="1"/>
          </p:cNvGraphicFramePr>
          <p:nvPr/>
        </p:nvGraphicFramePr>
        <p:xfrm>
          <a:off x="1150938" y="4868863"/>
          <a:ext cx="3276600" cy="1687512"/>
        </p:xfrm>
        <a:graphic>
          <a:graphicData uri="http://schemas.openxmlformats.org/presentationml/2006/ole">
            <mc:AlternateContent xmlns:mc="http://schemas.openxmlformats.org/markup-compatibility/2006">
              <mc:Choice xmlns:v="urn:schemas-microsoft-com:vml" Requires="v">
                <p:oleObj spid="_x0000_s3076" name="" r:id="rId2" imgW="3276600" imgH="1952625" progId="Paint.Picture">
                  <p:embed/>
                </p:oleObj>
              </mc:Choice>
              <mc:Fallback>
                <p:oleObj name="" r:id="rId2" imgW="3276600" imgH="1952625" progId="Paint.Picture">
                  <p:embed/>
                  <p:pic>
                    <p:nvPicPr>
                      <p:cNvPr id="0" name="图片 3075"/>
                      <p:cNvPicPr/>
                      <p:nvPr/>
                    </p:nvPicPr>
                    <p:blipFill>
                      <a:blip r:embed="rId3"/>
                      <a:stretch>
                        <a:fillRect/>
                      </a:stretch>
                    </p:blipFill>
                    <p:spPr>
                      <a:xfrm>
                        <a:off x="1150938" y="4868863"/>
                        <a:ext cx="3276600" cy="1687512"/>
                      </a:xfrm>
                      <a:prstGeom prst="rect">
                        <a:avLst/>
                      </a:prstGeom>
                      <a:noFill/>
                      <a:ln w="38100">
                        <a:noFill/>
                        <a:miter/>
                      </a:ln>
                    </p:spPr>
                  </p:pic>
                </p:oleObj>
              </mc:Fallback>
            </mc:AlternateContent>
          </a:graphicData>
        </a:graphic>
      </p:graphicFrame>
      <p:graphicFrame>
        <p:nvGraphicFramePr>
          <p:cNvPr id="37893" name="Object 9"/>
          <p:cNvGraphicFramePr>
            <a:graphicFrameLocks noChangeAspect="1"/>
          </p:cNvGraphicFramePr>
          <p:nvPr/>
        </p:nvGraphicFramePr>
        <p:xfrm>
          <a:off x="5387975" y="4941888"/>
          <a:ext cx="2695575" cy="1624012"/>
        </p:xfrm>
        <a:graphic>
          <a:graphicData uri="http://schemas.openxmlformats.org/presentationml/2006/ole">
            <mc:AlternateContent xmlns:mc="http://schemas.openxmlformats.org/markup-compatibility/2006">
              <mc:Choice xmlns:v="urn:schemas-microsoft-com:vml" Requires="v">
                <p:oleObj spid="_x0000_s3077" name="" r:id="rId4" imgW="2695575" imgH="1962150" progId="Paint.Picture">
                  <p:embed/>
                </p:oleObj>
              </mc:Choice>
              <mc:Fallback>
                <p:oleObj name="" r:id="rId4" imgW="2695575" imgH="1962150" progId="Paint.Picture">
                  <p:embed/>
                  <p:pic>
                    <p:nvPicPr>
                      <p:cNvPr id="0" name="图片 3076"/>
                      <p:cNvPicPr/>
                      <p:nvPr/>
                    </p:nvPicPr>
                    <p:blipFill>
                      <a:blip r:embed="rId5"/>
                      <a:stretch>
                        <a:fillRect/>
                      </a:stretch>
                    </p:blipFill>
                    <p:spPr>
                      <a:xfrm>
                        <a:off x="5387975" y="4941888"/>
                        <a:ext cx="2695575" cy="1624012"/>
                      </a:xfrm>
                      <a:prstGeom prst="rect">
                        <a:avLst/>
                      </a:prstGeom>
                      <a:noFill/>
                      <a:ln w="38100">
                        <a:noFill/>
                        <a:miter/>
                      </a:ln>
                    </p:spPr>
                  </p:pic>
                </p:oleObj>
              </mc:Fallback>
            </mc:AlternateContent>
          </a:graphicData>
        </a:graphic>
      </p:graphicFrame>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title"/>
          </p:nvPr>
        </p:nvSpPr>
        <p:spPr>
          <a:xfrm>
            <a:off x="942975" y="115888"/>
            <a:ext cx="8243888" cy="955675"/>
          </a:xfrm>
          <a:ln/>
        </p:spPr>
        <p:txBody>
          <a:bodyPr vert="horz" wrap="square" lIns="91440" tIns="45720" rIns="91440" bIns="45720" anchor="b" anchorCtr="0"/>
          <a:p>
            <a:pPr eaLnBrk="1" hangingPunct="1"/>
            <a:r>
              <a:rPr lang="en-US" altLang="zh-CN" sz="3600" dirty="0"/>
              <a:t>3. </a:t>
            </a:r>
            <a:r>
              <a:rPr lang="zh-CN" altLang="en-US" sz="3600" dirty="0"/>
              <a:t>嵌入式</a:t>
            </a:r>
            <a:r>
              <a:rPr lang="en-US" altLang="zh-CN" sz="3600" dirty="0"/>
              <a:t>DSP (</a:t>
            </a:r>
            <a:r>
              <a:rPr lang="en-US" altLang="zh-CN" sz="2800" dirty="0"/>
              <a:t>Digital Signal Processor</a:t>
            </a:r>
            <a:r>
              <a:rPr lang="en-US" altLang="zh-CN" dirty="0"/>
              <a:t> </a:t>
            </a:r>
            <a:r>
              <a:rPr lang="en-US" altLang="zh-CN" sz="3600" dirty="0"/>
              <a:t>)</a:t>
            </a:r>
            <a:endParaRPr lang="en-US" altLang="zh-CN" sz="3600" dirty="0"/>
          </a:p>
        </p:txBody>
      </p:sp>
      <p:sp>
        <p:nvSpPr>
          <p:cNvPr id="657411" name="Text Box 3"/>
          <p:cNvSpPr txBox="1"/>
          <p:nvPr/>
        </p:nvSpPr>
        <p:spPr>
          <a:xfrm>
            <a:off x="971550" y="1855788"/>
            <a:ext cx="7848600" cy="30130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140000"/>
              </a:lnSpc>
              <a:spcBef>
                <a:spcPct val="50000"/>
              </a:spcBef>
              <a:spcAft>
                <a:spcPct val="50000"/>
              </a:spcAft>
              <a:buClrTx/>
              <a:buSzPct val="125000"/>
              <a:buFontTx/>
              <a:buBlip>
                <a:blip r:embed="rId1"/>
              </a:buBlip>
            </a:pPr>
            <a:r>
              <a:rPr lang="en-US" altLang="zh-CN" sz="2400" b="1" dirty="0">
                <a:latin typeface="Tahoma" panose="020B0604030504040204" pitchFamily="34" charset="0"/>
                <a:cs typeface="Times New Roman" panose="02020603050405020304" pitchFamily="18" charset="0"/>
              </a:rPr>
              <a:t> </a:t>
            </a:r>
            <a:r>
              <a:rPr lang="zh-CN" altLang="en-US" sz="2400" b="1" dirty="0">
                <a:latin typeface="Tahoma" panose="020B0604030504040204" pitchFamily="34" charset="0"/>
                <a:cs typeface="Times New Roman" panose="02020603050405020304" pitchFamily="18" charset="0"/>
              </a:rPr>
              <a:t>嵌入式</a:t>
            </a:r>
            <a:r>
              <a:rPr lang="en-US" altLang="zh-CN" sz="2400" b="1" dirty="0">
                <a:latin typeface="Tahoma" panose="020B0604030504040204" pitchFamily="34" charset="0"/>
                <a:cs typeface="Times New Roman" panose="02020603050405020304" pitchFamily="18" charset="0"/>
              </a:rPr>
              <a:t>DSP</a:t>
            </a:r>
            <a:r>
              <a:rPr lang="zh-CN" altLang="en-US" sz="2400" b="1" dirty="0">
                <a:latin typeface="Tahoma" panose="020B0604030504040204" pitchFamily="34" charset="0"/>
                <a:cs typeface="Times New Roman" panose="02020603050405020304" pitchFamily="18" charset="0"/>
              </a:rPr>
              <a:t>是专门用于信号处理的嵌入式芯片。 </a:t>
            </a:r>
            <a:endParaRPr lang="zh-CN" altLang="en-US" sz="2400" b="1" dirty="0">
              <a:latin typeface="Tahoma" panose="020B0604030504040204" pitchFamily="34" charset="0"/>
              <a:cs typeface="Times New Roman" panose="02020603050405020304" pitchFamily="18" charset="0"/>
            </a:endParaRPr>
          </a:p>
          <a:p>
            <a:pPr marL="0" lvl="0" indent="0" eaLnBrk="1" hangingPunct="1">
              <a:lnSpc>
                <a:spcPct val="140000"/>
              </a:lnSpc>
              <a:spcBef>
                <a:spcPct val="50000"/>
              </a:spcBef>
              <a:spcAft>
                <a:spcPct val="50000"/>
              </a:spcAft>
              <a:buClrTx/>
              <a:buSzPct val="125000"/>
              <a:buFontTx/>
              <a:buBlip>
                <a:blip r:embed="rId1"/>
              </a:buBlip>
            </a:pPr>
            <a:r>
              <a:rPr lang="zh-CN" altLang="en-US" sz="2400" b="1" dirty="0">
                <a:latin typeface="Tahoma" panose="020B0604030504040204" pitchFamily="34" charset="0"/>
                <a:cs typeface="Times New Roman" panose="02020603050405020304" pitchFamily="18" charset="0"/>
              </a:rPr>
              <a:t> </a:t>
            </a:r>
            <a:r>
              <a:rPr lang="en-US" altLang="zh-CN" sz="2400" b="1" dirty="0">
                <a:latin typeface="Tahoma" panose="020B0604030504040204" pitchFamily="34" charset="0"/>
                <a:cs typeface="Times New Roman" panose="02020603050405020304" pitchFamily="18" charset="0"/>
              </a:rPr>
              <a:t>DSP</a:t>
            </a:r>
            <a:r>
              <a:rPr lang="zh-CN" altLang="en-US" sz="2400" b="1" dirty="0">
                <a:latin typeface="Tahoma" panose="020B0604030504040204" pitchFamily="34" charset="0"/>
                <a:cs typeface="Times New Roman" panose="02020603050405020304" pitchFamily="18" charset="0"/>
              </a:rPr>
              <a:t>处理器在系统结构和指令算法方面进行了特殊设计，使其适合于执行</a:t>
            </a:r>
            <a:r>
              <a:rPr lang="en-US" altLang="zh-CN" sz="2400" b="1" dirty="0">
                <a:latin typeface="Tahoma" panose="020B0604030504040204" pitchFamily="34" charset="0"/>
                <a:cs typeface="Times New Roman" panose="02020603050405020304" pitchFamily="18" charset="0"/>
              </a:rPr>
              <a:t>DSP</a:t>
            </a:r>
            <a:r>
              <a:rPr lang="zh-CN" altLang="en-US" sz="2400" b="1" dirty="0">
                <a:latin typeface="Tahoma" panose="020B0604030504040204" pitchFamily="34" charset="0"/>
                <a:cs typeface="Times New Roman" panose="02020603050405020304" pitchFamily="18" charset="0"/>
              </a:rPr>
              <a:t>算法 ，使其适合于执行</a:t>
            </a:r>
            <a:r>
              <a:rPr lang="en-US" altLang="zh-CN" sz="2400" b="1" dirty="0">
                <a:latin typeface="Tahoma" panose="020B0604030504040204" pitchFamily="34" charset="0"/>
                <a:cs typeface="Times New Roman" panose="02020603050405020304" pitchFamily="18" charset="0"/>
              </a:rPr>
              <a:t>DSP</a:t>
            </a:r>
            <a:r>
              <a:rPr lang="zh-CN" altLang="en-US" sz="2400" b="1" dirty="0">
                <a:latin typeface="Tahoma" panose="020B0604030504040204" pitchFamily="34" charset="0"/>
                <a:cs typeface="Times New Roman" panose="02020603050405020304" pitchFamily="18" charset="0"/>
              </a:rPr>
              <a:t>算法，因而能够对离散时间信号进行极快的处理计算，提高了编译效率和执行速度 。</a:t>
            </a:r>
            <a:endParaRPr lang="zh-CN" altLang="en-US" sz="2400" b="1" dirty="0">
              <a:latin typeface="Tahoma" panose="020B0604030504040204" pitchFamily="34" charset="0"/>
              <a:ea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657411">
                                            <p:txEl>
                                              <p:charRg st="0" end="25"/>
                                            </p:txEl>
                                          </p:spTgt>
                                        </p:tgtEl>
                                        <p:attrNameLst>
                                          <p:attrName>style.visibility</p:attrName>
                                        </p:attrNameLst>
                                      </p:cBhvr>
                                      <p:to>
                                        <p:strVal val="visible"/>
                                      </p:to>
                                    </p:set>
                                    <p:anim calcmode="lin" valueType="num">
                                      <p:cBhvr>
                                        <p:cTn id="7" dur="1000" fill="hold"/>
                                        <p:tgtEl>
                                          <p:spTgt spid="657411">
                                            <p:txEl>
                                              <p:charRg st="0" end="25"/>
                                            </p:txEl>
                                          </p:spTgt>
                                        </p:tgtEl>
                                        <p:attrNameLst>
                                          <p:attrName>ppt_w</p:attrName>
                                        </p:attrNameLst>
                                      </p:cBhvr>
                                      <p:tavLst>
                                        <p:tav tm="0">
                                          <p:val>
                                            <p:strVal val="#ppt_w*0.70"/>
                                          </p:val>
                                        </p:tav>
                                        <p:tav tm="100000">
                                          <p:val>
                                            <p:strVal val="#ppt_w"/>
                                          </p:val>
                                        </p:tav>
                                      </p:tavLst>
                                    </p:anim>
                                    <p:anim calcmode="lin" valueType="num">
                                      <p:cBhvr>
                                        <p:cTn id="8" dur="1000" fill="hold"/>
                                        <p:tgtEl>
                                          <p:spTgt spid="657411">
                                            <p:txEl>
                                              <p:charRg st="0" end="25"/>
                                            </p:txEl>
                                          </p:spTgt>
                                        </p:tgtEl>
                                        <p:attrNameLst>
                                          <p:attrName>ppt_h</p:attrName>
                                        </p:attrNameLst>
                                      </p:cBhvr>
                                      <p:tavLst>
                                        <p:tav tm="0">
                                          <p:val>
                                            <p:strVal val="#ppt_h"/>
                                          </p:val>
                                        </p:tav>
                                        <p:tav tm="100000">
                                          <p:val>
                                            <p:strVal val="#ppt_h"/>
                                          </p:val>
                                        </p:tav>
                                      </p:tavLst>
                                    </p:anim>
                                    <p:animEffect transition="in" filter="fade">
                                      <p:cBhvr>
                                        <p:cTn id="9" dur="1000"/>
                                        <p:tgtEl>
                                          <p:spTgt spid="657411">
                                            <p:txEl>
                                              <p:charRg st="0" end="25"/>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657411">
                                            <p:txEl>
                                              <p:charRg st="25" end="115"/>
                                            </p:txEl>
                                          </p:spTgt>
                                        </p:tgtEl>
                                        <p:attrNameLst>
                                          <p:attrName>style.visibility</p:attrName>
                                        </p:attrNameLst>
                                      </p:cBhvr>
                                      <p:to>
                                        <p:strVal val="visible"/>
                                      </p:to>
                                    </p:set>
                                    <p:anim calcmode="lin" valueType="num">
                                      <p:cBhvr>
                                        <p:cTn id="14" dur="1000" fill="hold"/>
                                        <p:tgtEl>
                                          <p:spTgt spid="657411">
                                            <p:txEl>
                                              <p:charRg st="25" end="115"/>
                                            </p:txEl>
                                          </p:spTgt>
                                        </p:tgtEl>
                                        <p:attrNameLst>
                                          <p:attrName>ppt_w</p:attrName>
                                        </p:attrNameLst>
                                      </p:cBhvr>
                                      <p:tavLst>
                                        <p:tav tm="0">
                                          <p:val>
                                            <p:strVal val="#ppt_w*0.70"/>
                                          </p:val>
                                        </p:tav>
                                        <p:tav tm="100000">
                                          <p:val>
                                            <p:strVal val="#ppt_w"/>
                                          </p:val>
                                        </p:tav>
                                      </p:tavLst>
                                    </p:anim>
                                    <p:anim calcmode="lin" valueType="num">
                                      <p:cBhvr>
                                        <p:cTn id="15" dur="1000" fill="hold"/>
                                        <p:tgtEl>
                                          <p:spTgt spid="657411">
                                            <p:txEl>
                                              <p:charRg st="25" end="115"/>
                                            </p:txEl>
                                          </p:spTgt>
                                        </p:tgtEl>
                                        <p:attrNameLst>
                                          <p:attrName>ppt_h</p:attrName>
                                        </p:attrNameLst>
                                      </p:cBhvr>
                                      <p:tavLst>
                                        <p:tav tm="0">
                                          <p:val>
                                            <p:strVal val="#ppt_h"/>
                                          </p:val>
                                        </p:tav>
                                        <p:tav tm="100000">
                                          <p:val>
                                            <p:strVal val="#ppt_h"/>
                                          </p:val>
                                        </p:tav>
                                      </p:tavLst>
                                    </p:anim>
                                    <p:animEffect transition="in" filter="fade">
                                      <p:cBhvr>
                                        <p:cTn id="16" dur="1000"/>
                                        <p:tgtEl>
                                          <p:spTgt spid="657411">
                                            <p:txEl>
                                              <p:charRg st="25" end="1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type="title"/>
          </p:nvPr>
        </p:nvSpPr>
        <p:spPr>
          <a:xfrm>
            <a:off x="971550" y="115888"/>
            <a:ext cx="8243888" cy="955675"/>
          </a:xfrm>
          <a:ln/>
        </p:spPr>
        <p:txBody>
          <a:bodyPr vert="horz" wrap="square" lIns="91440" tIns="45720" rIns="91440" bIns="45720" anchor="b" anchorCtr="0"/>
          <a:p>
            <a:pPr eaLnBrk="1" hangingPunct="1"/>
            <a:r>
              <a:rPr lang="en-US" altLang="zh-CN" sz="3600" dirty="0"/>
              <a:t>3. </a:t>
            </a:r>
            <a:r>
              <a:rPr lang="zh-CN" altLang="en-US" sz="3600" dirty="0"/>
              <a:t>嵌入式</a:t>
            </a:r>
            <a:r>
              <a:rPr lang="en-US" altLang="zh-CN" sz="3600" dirty="0"/>
              <a:t>DSP (</a:t>
            </a:r>
            <a:r>
              <a:rPr lang="en-US" altLang="zh-CN" sz="2800" dirty="0"/>
              <a:t>Digital Signal Processor</a:t>
            </a:r>
            <a:r>
              <a:rPr lang="en-US" altLang="zh-CN" dirty="0"/>
              <a:t> </a:t>
            </a:r>
            <a:r>
              <a:rPr lang="en-US" altLang="zh-CN" sz="3600" dirty="0"/>
              <a:t>)</a:t>
            </a:r>
            <a:endParaRPr lang="en-US" altLang="zh-CN" sz="3600" dirty="0"/>
          </a:p>
        </p:txBody>
      </p:sp>
      <p:sp>
        <p:nvSpPr>
          <p:cNvPr id="667651" name="Text Box 3"/>
          <p:cNvSpPr txBox="1"/>
          <p:nvPr/>
        </p:nvSpPr>
        <p:spPr>
          <a:xfrm>
            <a:off x="971550" y="1744663"/>
            <a:ext cx="7848600" cy="3981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140000"/>
              </a:lnSpc>
              <a:spcBef>
                <a:spcPct val="35000"/>
              </a:spcBef>
              <a:spcAft>
                <a:spcPct val="50000"/>
              </a:spcAft>
              <a:buClrTx/>
              <a:buSzPct val="125000"/>
              <a:buFontTx/>
              <a:buBlip>
                <a:blip r:embed="rId1"/>
              </a:buBlip>
            </a:pPr>
            <a:r>
              <a:rPr lang="en-US" altLang="zh-CN" sz="2400" b="1" dirty="0">
                <a:latin typeface="Tahoma" panose="020B0604030504040204" pitchFamily="34" charset="0"/>
                <a:cs typeface="Times New Roman" panose="02020603050405020304" pitchFamily="18" charset="0"/>
              </a:rPr>
              <a:t> </a:t>
            </a:r>
            <a:r>
              <a:rPr lang="zh-CN" altLang="en-US" sz="2400" b="1" dirty="0">
                <a:latin typeface="Tahoma" panose="020B0604030504040204" pitchFamily="34" charset="0"/>
                <a:cs typeface="Times New Roman" panose="02020603050405020304" pitchFamily="18" charset="0"/>
              </a:rPr>
              <a:t>在数字滤波、</a:t>
            </a:r>
            <a:r>
              <a:rPr lang="en-US" altLang="zh-CN" sz="2400" b="1" dirty="0">
                <a:latin typeface="Tahoma" panose="020B0604030504040204" pitchFamily="34" charset="0"/>
                <a:cs typeface="Times New Roman" panose="02020603050405020304" pitchFamily="18" charset="0"/>
              </a:rPr>
              <a:t>FFT</a:t>
            </a:r>
            <a:r>
              <a:rPr lang="zh-CN" altLang="en-US" sz="2400" b="1" dirty="0">
                <a:latin typeface="Tahoma" panose="020B0604030504040204" pitchFamily="34" charset="0"/>
                <a:cs typeface="Times New Roman" panose="02020603050405020304" pitchFamily="18" charset="0"/>
              </a:rPr>
              <a:t>、频谱分析等方面，嵌入式</a:t>
            </a:r>
            <a:r>
              <a:rPr lang="en-US" altLang="zh-CN" sz="2400" b="1" dirty="0">
                <a:latin typeface="Tahoma" panose="020B0604030504040204" pitchFamily="34" charset="0"/>
                <a:cs typeface="Times New Roman" panose="02020603050405020304" pitchFamily="18" charset="0"/>
              </a:rPr>
              <a:t>DSP</a:t>
            </a:r>
            <a:r>
              <a:rPr lang="zh-CN" altLang="en-US" sz="2400" b="1" dirty="0">
                <a:latin typeface="Tahoma" panose="020B0604030504040204" pitchFamily="34" charset="0"/>
                <a:cs typeface="Times New Roman" panose="02020603050405020304" pitchFamily="18" charset="0"/>
              </a:rPr>
              <a:t>获得了大规模的应用。</a:t>
            </a:r>
            <a:endParaRPr lang="zh-CN" altLang="en-US" sz="2400" b="1" dirty="0">
              <a:latin typeface="Tahoma" panose="020B0604030504040204" pitchFamily="34" charset="0"/>
              <a:cs typeface="Times New Roman" panose="02020603050405020304" pitchFamily="18" charset="0"/>
            </a:endParaRPr>
          </a:p>
          <a:p>
            <a:pPr marL="0" lvl="0" indent="0" eaLnBrk="1" hangingPunct="1">
              <a:lnSpc>
                <a:spcPct val="140000"/>
              </a:lnSpc>
              <a:spcBef>
                <a:spcPct val="35000"/>
              </a:spcBef>
              <a:spcAft>
                <a:spcPct val="50000"/>
              </a:spcAft>
              <a:buClrTx/>
              <a:buSzPct val="125000"/>
              <a:buFontTx/>
              <a:buBlip>
                <a:blip r:embed="rId1"/>
              </a:buBlip>
            </a:pPr>
            <a:r>
              <a:rPr lang="zh-CN" altLang="en-US" sz="2400" b="1" dirty="0">
                <a:latin typeface="Tahoma" panose="020B0604030504040204" pitchFamily="34" charset="0"/>
                <a:cs typeface="Times New Roman" panose="02020603050405020304" pitchFamily="18" charset="0"/>
              </a:rPr>
              <a:t> 嵌入式</a:t>
            </a:r>
            <a:r>
              <a:rPr lang="en-US" altLang="zh-CN" sz="2400" b="1" dirty="0">
                <a:latin typeface="Tahoma" panose="020B0604030504040204" pitchFamily="34" charset="0"/>
                <a:cs typeface="Times New Roman" panose="02020603050405020304" pitchFamily="18" charset="0"/>
              </a:rPr>
              <a:t>DSP</a:t>
            </a:r>
            <a:r>
              <a:rPr lang="zh-CN" altLang="en-US" sz="2400" b="1" dirty="0">
                <a:latin typeface="Tahoma" panose="020B0604030504040204" pitchFamily="34" charset="0"/>
                <a:cs typeface="Times New Roman" panose="02020603050405020304" pitchFamily="18" charset="0"/>
              </a:rPr>
              <a:t>处理器主要有两方面的应用：一方面，嵌入式</a:t>
            </a:r>
            <a:r>
              <a:rPr lang="en-US" altLang="zh-CN" sz="2400" b="1" dirty="0">
                <a:latin typeface="Tahoma" panose="020B0604030504040204" pitchFamily="34" charset="0"/>
                <a:cs typeface="Times New Roman" panose="02020603050405020304" pitchFamily="18" charset="0"/>
              </a:rPr>
              <a:t>DSP</a:t>
            </a:r>
            <a:r>
              <a:rPr lang="zh-CN" altLang="en-US" sz="2400" b="1" dirty="0">
                <a:latin typeface="Tahoma" panose="020B0604030504040204" pitchFamily="34" charset="0"/>
                <a:cs typeface="Times New Roman" panose="02020603050405020304" pitchFamily="18" charset="0"/>
              </a:rPr>
              <a:t>处理器经过单片化设计，通过在片上增加丰富的外设使之成为具有高性能</a:t>
            </a:r>
            <a:r>
              <a:rPr lang="en-US" altLang="zh-CN" sz="2400" b="1" dirty="0">
                <a:latin typeface="Tahoma" panose="020B0604030504040204" pitchFamily="34" charset="0"/>
                <a:cs typeface="Times New Roman" panose="02020603050405020304" pitchFamily="18" charset="0"/>
              </a:rPr>
              <a:t>DSP</a:t>
            </a:r>
            <a:r>
              <a:rPr lang="zh-CN" altLang="en-US" sz="2400" b="1" dirty="0">
                <a:latin typeface="Tahoma" panose="020B0604030504040204" pitchFamily="34" charset="0"/>
                <a:cs typeface="Times New Roman" panose="02020603050405020304" pitchFamily="18" charset="0"/>
              </a:rPr>
              <a:t>功能的片上系统；另一方面，在微处理器、微控制器或片上系统中增加</a:t>
            </a:r>
            <a:r>
              <a:rPr lang="en-US" altLang="zh-CN" sz="2400" b="1" dirty="0">
                <a:latin typeface="Tahoma" panose="020B0604030504040204" pitchFamily="34" charset="0"/>
                <a:cs typeface="Times New Roman" panose="02020603050405020304" pitchFamily="18" charset="0"/>
              </a:rPr>
              <a:t>DSP</a:t>
            </a:r>
            <a:r>
              <a:rPr lang="zh-CN" altLang="en-US" sz="2400" b="1" dirty="0">
                <a:latin typeface="Tahoma" panose="020B0604030504040204" pitchFamily="34" charset="0"/>
                <a:cs typeface="Times New Roman" panose="02020603050405020304" pitchFamily="18" charset="0"/>
              </a:rPr>
              <a:t>协处理器来实现</a:t>
            </a:r>
            <a:r>
              <a:rPr lang="en-US" altLang="zh-CN" sz="2400" b="1" dirty="0">
                <a:latin typeface="Tahoma" panose="020B0604030504040204" pitchFamily="34" charset="0"/>
                <a:cs typeface="Times New Roman" panose="02020603050405020304" pitchFamily="18" charset="0"/>
              </a:rPr>
              <a:t>DSP</a:t>
            </a:r>
            <a:r>
              <a:rPr lang="zh-CN" altLang="en-US" sz="2400" b="1" dirty="0">
                <a:latin typeface="Tahoma" panose="020B0604030504040204" pitchFamily="34" charset="0"/>
                <a:cs typeface="Times New Roman" panose="02020603050405020304" pitchFamily="18" charset="0"/>
              </a:rPr>
              <a:t>运算。 </a:t>
            </a:r>
            <a:endParaRPr lang="zh-CN" altLang="en-US" sz="2400" b="1" dirty="0">
              <a:latin typeface="Tahoma" panose="020B0604030504040204" pitchFamily="34" charset="0"/>
              <a:ea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667651">
                                            <p:txEl>
                                              <p:charRg st="0" end="36"/>
                                            </p:txEl>
                                          </p:spTgt>
                                        </p:tgtEl>
                                        <p:attrNameLst>
                                          <p:attrName>style.visibility</p:attrName>
                                        </p:attrNameLst>
                                      </p:cBhvr>
                                      <p:to>
                                        <p:strVal val="visible"/>
                                      </p:to>
                                    </p:set>
                                    <p:anim calcmode="lin" valueType="num">
                                      <p:cBhvr>
                                        <p:cTn id="7" dur="1000" fill="hold"/>
                                        <p:tgtEl>
                                          <p:spTgt spid="667651">
                                            <p:txEl>
                                              <p:charRg st="0" end="36"/>
                                            </p:txEl>
                                          </p:spTgt>
                                        </p:tgtEl>
                                        <p:attrNameLst>
                                          <p:attrName>ppt_w</p:attrName>
                                        </p:attrNameLst>
                                      </p:cBhvr>
                                      <p:tavLst>
                                        <p:tav tm="0">
                                          <p:val>
                                            <p:strVal val="#ppt_w*0.70"/>
                                          </p:val>
                                        </p:tav>
                                        <p:tav tm="100000">
                                          <p:val>
                                            <p:strVal val="#ppt_w"/>
                                          </p:val>
                                        </p:tav>
                                      </p:tavLst>
                                    </p:anim>
                                    <p:anim calcmode="lin" valueType="num">
                                      <p:cBhvr>
                                        <p:cTn id="8" dur="1000" fill="hold"/>
                                        <p:tgtEl>
                                          <p:spTgt spid="667651">
                                            <p:txEl>
                                              <p:charRg st="0" end="36"/>
                                            </p:txEl>
                                          </p:spTgt>
                                        </p:tgtEl>
                                        <p:attrNameLst>
                                          <p:attrName>ppt_h</p:attrName>
                                        </p:attrNameLst>
                                      </p:cBhvr>
                                      <p:tavLst>
                                        <p:tav tm="0">
                                          <p:val>
                                            <p:strVal val="#ppt_h"/>
                                          </p:val>
                                        </p:tav>
                                        <p:tav tm="100000">
                                          <p:val>
                                            <p:strVal val="#ppt_h"/>
                                          </p:val>
                                        </p:tav>
                                      </p:tavLst>
                                    </p:anim>
                                    <p:animEffect transition="in" filter="fade">
                                      <p:cBhvr>
                                        <p:cTn id="9" dur="1000"/>
                                        <p:tgtEl>
                                          <p:spTgt spid="667651">
                                            <p:txEl>
                                              <p:charRg st="0" end="36"/>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667651">
                                            <p:txEl>
                                              <p:charRg st="36" end="150"/>
                                            </p:txEl>
                                          </p:spTgt>
                                        </p:tgtEl>
                                        <p:attrNameLst>
                                          <p:attrName>style.visibility</p:attrName>
                                        </p:attrNameLst>
                                      </p:cBhvr>
                                      <p:to>
                                        <p:strVal val="visible"/>
                                      </p:to>
                                    </p:set>
                                    <p:anim calcmode="lin" valueType="num">
                                      <p:cBhvr>
                                        <p:cTn id="14" dur="1000" fill="hold"/>
                                        <p:tgtEl>
                                          <p:spTgt spid="667651">
                                            <p:txEl>
                                              <p:charRg st="36" end="150"/>
                                            </p:txEl>
                                          </p:spTgt>
                                        </p:tgtEl>
                                        <p:attrNameLst>
                                          <p:attrName>ppt_w</p:attrName>
                                        </p:attrNameLst>
                                      </p:cBhvr>
                                      <p:tavLst>
                                        <p:tav tm="0">
                                          <p:val>
                                            <p:strVal val="#ppt_w*0.70"/>
                                          </p:val>
                                        </p:tav>
                                        <p:tav tm="100000">
                                          <p:val>
                                            <p:strVal val="#ppt_w"/>
                                          </p:val>
                                        </p:tav>
                                      </p:tavLst>
                                    </p:anim>
                                    <p:anim calcmode="lin" valueType="num">
                                      <p:cBhvr>
                                        <p:cTn id="15" dur="1000" fill="hold"/>
                                        <p:tgtEl>
                                          <p:spTgt spid="667651">
                                            <p:txEl>
                                              <p:charRg st="36" end="150"/>
                                            </p:txEl>
                                          </p:spTgt>
                                        </p:tgtEl>
                                        <p:attrNameLst>
                                          <p:attrName>ppt_h</p:attrName>
                                        </p:attrNameLst>
                                      </p:cBhvr>
                                      <p:tavLst>
                                        <p:tav tm="0">
                                          <p:val>
                                            <p:strVal val="#ppt_h"/>
                                          </p:val>
                                        </p:tav>
                                        <p:tav tm="100000">
                                          <p:val>
                                            <p:strVal val="#ppt_h"/>
                                          </p:val>
                                        </p:tav>
                                      </p:tavLst>
                                    </p:anim>
                                    <p:animEffect transition="in" filter="fade">
                                      <p:cBhvr>
                                        <p:cTn id="16" dur="1000"/>
                                        <p:tgtEl>
                                          <p:spTgt spid="667651">
                                            <p:txEl>
                                              <p:charRg st="36" end="15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type="title"/>
          </p:nvPr>
        </p:nvSpPr>
        <p:spPr>
          <a:xfrm>
            <a:off x="971550" y="115888"/>
            <a:ext cx="8243888" cy="955675"/>
          </a:xfrm>
          <a:ln/>
        </p:spPr>
        <p:txBody>
          <a:bodyPr vert="horz" wrap="square" lIns="91440" tIns="45720" rIns="91440" bIns="45720" anchor="b" anchorCtr="0"/>
          <a:p>
            <a:pPr eaLnBrk="1" hangingPunct="1"/>
            <a:r>
              <a:rPr lang="en-US" altLang="zh-CN" sz="3600" dirty="0"/>
              <a:t>4. </a:t>
            </a:r>
            <a:r>
              <a:rPr lang="zh-CN" altLang="en-US" sz="3600" dirty="0"/>
              <a:t>嵌入式片上系统 </a:t>
            </a:r>
            <a:r>
              <a:rPr lang="en-US" altLang="zh-CN" sz="3600" dirty="0"/>
              <a:t>(</a:t>
            </a:r>
            <a:r>
              <a:rPr lang="en-US" altLang="zh-CN" sz="2800" dirty="0"/>
              <a:t>System on Chip</a:t>
            </a:r>
            <a:r>
              <a:rPr lang="en-US" altLang="zh-CN" dirty="0"/>
              <a:t> </a:t>
            </a:r>
            <a:r>
              <a:rPr lang="en-US" altLang="zh-CN" sz="3600" dirty="0"/>
              <a:t>)</a:t>
            </a:r>
            <a:endParaRPr lang="en-US" altLang="zh-CN" sz="3600" dirty="0"/>
          </a:p>
        </p:txBody>
      </p:sp>
      <p:sp>
        <p:nvSpPr>
          <p:cNvPr id="658435" name="Text Box 3"/>
          <p:cNvSpPr txBox="1"/>
          <p:nvPr/>
        </p:nvSpPr>
        <p:spPr>
          <a:xfrm>
            <a:off x="971550" y="1727200"/>
            <a:ext cx="7848600" cy="43656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140000"/>
              </a:lnSpc>
              <a:spcBef>
                <a:spcPct val="45000"/>
              </a:spcBef>
              <a:spcAft>
                <a:spcPct val="50000"/>
              </a:spcAft>
              <a:buClrTx/>
              <a:buSzPct val="125000"/>
              <a:buFontTx/>
              <a:buBlip>
                <a:blip r:embed="rId1"/>
              </a:buBlip>
            </a:pPr>
            <a:r>
              <a:rPr lang="en-US" altLang="zh-CN" sz="2400" b="1" dirty="0">
                <a:latin typeface="Tahoma" panose="020B0604030504040204" pitchFamily="34" charset="0"/>
                <a:cs typeface="Times New Roman" panose="02020603050405020304" pitchFamily="18" charset="0"/>
              </a:rPr>
              <a:t> </a:t>
            </a:r>
            <a:r>
              <a:rPr lang="zh-CN" altLang="en-US" sz="2400" b="1" dirty="0">
                <a:latin typeface="Tahoma" panose="020B0604030504040204" pitchFamily="34" charset="0"/>
                <a:cs typeface="Times New Roman" panose="02020603050405020304" pitchFamily="18" charset="0"/>
              </a:rPr>
              <a:t>片上系统</a:t>
            </a:r>
            <a:r>
              <a:rPr lang="en-US" altLang="zh-CN" sz="2400" b="1" dirty="0">
                <a:latin typeface="Tahoma" panose="020B0604030504040204" pitchFamily="34" charset="0"/>
                <a:cs typeface="Times New Roman" panose="02020603050405020304" pitchFamily="18" charset="0"/>
              </a:rPr>
              <a:t>SoC</a:t>
            </a:r>
            <a:r>
              <a:rPr lang="zh-CN" altLang="en-US" sz="2400" b="1" dirty="0">
                <a:latin typeface="Tahoma" panose="020B0604030504040204" pitchFamily="34" charset="0"/>
                <a:cs typeface="Times New Roman" panose="02020603050405020304" pitchFamily="18" charset="0"/>
              </a:rPr>
              <a:t>是</a:t>
            </a:r>
            <a:r>
              <a:rPr lang="en-US" altLang="zh-CN" sz="2400" b="1" dirty="0">
                <a:latin typeface="Tahoma" panose="020B0604030504040204" pitchFamily="34" charset="0"/>
                <a:cs typeface="Times New Roman" panose="02020603050405020304" pitchFamily="18" charset="0"/>
              </a:rPr>
              <a:t>20</a:t>
            </a:r>
            <a:r>
              <a:rPr lang="zh-CN" altLang="en-US" sz="2400" b="1" dirty="0">
                <a:latin typeface="Tahoma" panose="020B0604030504040204" pitchFamily="34" charset="0"/>
                <a:cs typeface="Times New Roman" panose="02020603050405020304" pitchFamily="18" charset="0"/>
              </a:rPr>
              <a:t>世纪</a:t>
            </a:r>
            <a:r>
              <a:rPr lang="en-US" altLang="zh-CN" sz="2400" b="1" dirty="0">
                <a:latin typeface="Tahoma" panose="020B0604030504040204" pitchFamily="34" charset="0"/>
                <a:cs typeface="Times New Roman" panose="02020603050405020304" pitchFamily="18" charset="0"/>
              </a:rPr>
              <a:t>90</a:t>
            </a:r>
            <a:r>
              <a:rPr lang="zh-CN" altLang="en-US" sz="2400" b="1" dirty="0">
                <a:latin typeface="Tahoma" panose="020B0604030504040204" pitchFamily="34" charset="0"/>
                <a:cs typeface="Times New Roman" panose="02020603050405020304" pitchFamily="18" charset="0"/>
              </a:rPr>
              <a:t>年代后出现的一种新的嵌入式集成器件。</a:t>
            </a:r>
            <a:endParaRPr lang="zh-CN" altLang="en-US" sz="2400" b="1" dirty="0">
              <a:latin typeface="Tahoma" panose="020B0604030504040204" pitchFamily="34" charset="0"/>
              <a:cs typeface="Times New Roman" panose="02020603050405020304" pitchFamily="18" charset="0"/>
            </a:endParaRPr>
          </a:p>
          <a:p>
            <a:pPr marL="0" lvl="0" indent="0" eaLnBrk="1" hangingPunct="1">
              <a:lnSpc>
                <a:spcPct val="140000"/>
              </a:lnSpc>
              <a:spcBef>
                <a:spcPct val="45000"/>
              </a:spcBef>
              <a:spcAft>
                <a:spcPct val="50000"/>
              </a:spcAft>
              <a:buClrTx/>
              <a:buSzPct val="125000"/>
              <a:buFontTx/>
              <a:buBlip>
                <a:blip r:embed="rId1"/>
              </a:buBlip>
            </a:pPr>
            <a:r>
              <a:rPr lang="zh-CN" altLang="en-US" sz="2400" b="1" dirty="0">
                <a:latin typeface="Tahoma" panose="020B0604030504040204" pitchFamily="34" charset="0"/>
                <a:cs typeface="Times New Roman" panose="02020603050405020304" pitchFamily="18" charset="0"/>
              </a:rPr>
              <a:t> 在嵌入式系统设计从 </a:t>
            </a:r>
            <a:r>
              <a:rPr lang="zh-CN" altLang="en-US" sz="2400" b="1" dirty="0">
                <a:latin typeface="Arial" panose="020B0604020202020204" pitchFamily="34" charset="0"/>
                <a:cs typeface="Times New Roman" panose="02020603050405020304" pitchFamily="18" charset="0"/>
              </a:rPr>
              <a:t>“</a:t>
            </a:r>
            <a:r>
              <a:rPr lang="zh-CN" altLang="en-US" sz="2400" b="1" dirty="0">
                <a:latin typeface="Tahoma" panose="020B0604030504040204" pitchFamily="34" charset="0"/>
                <a:cs typeface="Times New Roman" panose="02020603050405020304" pitchFamily="18" charset="0"/>
              </a:rPr>
              <a:t>集成电路</a:t>
            </a:r>
            <a:r>
              <a:rPr lang="zh-CN" altLang="en-US" sz="2400" b="1" dirty="0">
                <a:latin typeface="Arial" panose="020B0604020202020204" pitchFamily="34" charset="0"/>
                <a:cs typeface="Times New Roman" panose="02020603050405020304" pitchFamily="18" charset="0"/>
              </a:rPr>
              <a:t>”</a:t>
            </a:r>
            <a:r>
              <a:rPr lang="zh-CN" altLang="en-US" sz="2400" b="1" dirty="0">
                <a:latin typeface="Tahoma" panose="020B0604030504040204" pitchFamily="34" charset="0"/>
                <a:cs typeface="Times New Roman" panose="02020603050405020304" pitchFamily="18" charset="0"/>
              </a:rPr>
              <a:t>级设计不断转向</a:t>
            </a:r>
            <a:r>
              <a:rPr lang="zh-CN" altLang="en-US" sz="2400" b="1" dirty="0">
                <a:latin typeface="Arial" panose="020B0604020202020204" pitchFamily="34" charset="0"/>
                <a:cs typeface="Times New Roman" panose="02020603050405020304" pitchFamily="18" charset="0"/>
              </a:rPr>
              <a:t>“</a:t>
            </a:r>
            <a:r>
              <a:rPr lang="zh-CN" altLang="en-US" sz="2400" b="1" dirty="0">
                <a:latin typeface="Tahoma" panose="020B0604030504040204" pitchFamily="34" charset="0"/>
                <a:cs typeface="Times New Roman" panose="02020603050405020304" pitchFamily="18" charset="0"/>
              </a:rPr>
              <a:t>集成系统</a:t>
            </a:r>
            <a:r>
              <a:rPr lang="zh-CN" altLang="en-US" sz="2400" b="1" dirty="0">
                <a:latin typeface="Arial" panose="020B0604020202020204" pitchFamily="34" charset="0"/>
                <a:cs typeface="Times New Roman" panose="02020603050405020304" pitchFamily="18" charset="0"/>
              </a:rPr>
              <a:t>”</a:t>
            </a:r>
            <a:r>
              <a:rPr lang="zh-CN" altLang="en-US" sz="2400" b="1" dirty="0">
                <a:latin typeface="Tahoma" panose="020B0604030504040204" pitchFamily="34" charset="0"/>
                <a:cs typeface="Times New Roman" panose="02020603050405020304" pitchFamily="18" charset="0"/>
              </a:rPr>
              <a:t>级设计过程中，提出了</a:t>
            </a:r>
            <a:r>
              <a:rPr lang="en-US" altLang="zh-CN" sz="2400" b="1" dirty="0">
                <a:latin typeface="Tahoma" panose="020B0604030504040204" pitchFamily="34" charset="0"/>
                <a:cs typeface="Times New Roman" panose="02020603050405020304" pitchFamily="18" charset="0"/>
              </a:rPr>
              <a:t>SoC</a:t>
            </a:r>
            <a:r>
              <a:rPr lang="zh-CN" altLang="en-US" sz="2400" b="1" dirty="0">
                <a:latin typeface="Tahoma" panose="020B0604030504040204" pitchFamily="34" charset="0"/>
                <a:cs typeface="Times New Roman" panose="02020603050405020304" pitchFamily="18" charset="0"/>
              </a:rPr>
              <a:t>的概念。 </a:t>
            </a:r>
            <a:endParaRPr lang="zh-CN" altLang="en-US" sz="2400" b="1" dirty="0">
              <a:latin typeface="Tahoma" panose="020B0604030504040204" pitchFamily="34" charset="0"/>
              <a:cs typeface="Times New Roman" panose="02020603050405020304" pitchFamily="18" charset="0"/>
            </a:endParaRPr>
          </a:p>
          <a:p>
            <a:pPr marL="0" lvl="0" indent="0" eaLnBrk="1" hangingPunct="1">
              <a:lnSpc>
                <a:spcPct val="140000"/>
              </a:lnSpc>
              <a:spcBef>
                <a:spcPct val="45000"/>
              </a:spcBef>
              <a:spcAft>
                <a:spcPct val="50000"/>
              </a:spcAft>
              <a:buClrTx/>
              <a:buSzPct val="125000"/>
              <a:buFontTx/>
              <a:buBlip>
                <a:blip r:embed="rId1"/>
              </a:buBlip>
            </a:pPr>
            <a:r>
              <a:rPr lang="zh-CN" altLang="en-US" sz="2400" b="1" dirty="0">
                <a:latin typeface="Tahoma" panose="020B0604030504040204" pitchFamily="34" charset="0"/>
                <a:cs typeface="Times New Roman" panose="02020603050405020304" pitchFamily="18" charset="0"/>
              </a:rPr>
              <a:t> </a:t>
            </a:r>
            <a:r>
              <a:rPr lang="en-US" altLang="zh-CN" sz="2400" b="1" dirty="0">
                <a:latin typeface="Tahoma" panose="020B0604030504040204" pitchFamily="34" charset="0"/>
                <a:cs typeface="Times New Roman" panose="02020603050405020304" pitchFamily="18" charset="0"/>
              </a:rPr>
              <a:t>Soc</a:t>
            </a:r>
            <a:r>
              <a:rPr lang="zh-CN" altLang="en-US" sz="2400" b="1" dirty="0">
                <a:latin typeface="Tahoma" panose="020B0604030504040204" pitchFamily="34" charset="0"/>
                <a:cs typeface="Times New Roman" panose="02020603050405020304" pitchFamily="18" charset="0"/>
              </a:rPr>
              <a:t>追求产品系统的最大包容，已成为提高移动通信、网络、信息家电、高速计算、多媒体应用以及军用电子系统性能的核心器件。</a:t>
            </a:r>
            <a:endParaRPr lang="zh-CN" altLang="en-US" sz="2400" b="1" dirty="0">
              <a:latin typeface="Tahoma" panose="020B0604030504040204" pitchFamily="34" charset="0"/>
              <a:ea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658435">
                                            <p:txEl>
                                              <p:charRg st="0" end="34"/>
                                            </p:txEl>
                                          </p:spTgt>
                                        </p:tgtEl>
                                        <p:attrNameLst>
                                          <p:attrName>style.visibility</p:attrName>
                                        </p:attrNameLst>
                                      </p:cBhvr>
                                      <p:to>
                                        <p:strVal val="visible"/>
                                      </p:to>
                                    </p:set>
                                    <p:animEffect transition="in" filter="strips(downLeft)">
                                      <p:cBhvr>
                                        <p:cTn id="7" dur="500"/>
                                        <p:tgtEl>
                                          <p:spTgt spid="658435">
                                            <p:txEl>
                                              <p:charRg st="0" end="3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658435">
                                            <p:txEl>
                                              <p:charRg st="34" end="83"/>
                                            </p:txEl>
                                          </p:spTgt>
                                        </p:tgtEl>
                                        <p:attrNameLst>
                                          <p:attrName>style.visibility</p:attrName>
                                        </p:attrNameLst>
                                      </p:cBhvr>
                                      <p:to>
                                        <p:strVal val="visible"/>
                                      </p:to>
                                    </p:set>
                                    <p:animEffect transition="in" filter="strips(downLeft)">
                                      <p:cBhvr>
                                        <p:cTn id="12" dur="500"/>
                                        <p:tgtEl>
                                          <p:spTgt spid="658435">
                                            <p:txEl>
                                              <p:charRg st="34" end="8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658435">
                                            <p:txEl>
                                              <p:charRg st="83" end="144"/>
                                            </p:txEl>
                                          </p:spTgt>
                                        </p:tgtEl>
                                        <p:attrNameLst>
                                          <p:attrName>style.visibility</p:attrName>
                                        </p:attrNameLst>
                                      </p:cBhvr>
                                      <p:to>
                                        <p:strVal val="visible"/>
                                      </p:to>
                                    </p:set>
                                    <p:animEffect transition="in" filter="strips(downLeft)">
                                      <p:cBhvr>
                                        <p:cTn id="17" dur="500"/>
                                        <p:tgtEl>
                                          <p:spTgt spid="658435">
                                            <p:txEl>
                                              <p:charRg st="83" end="14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type="title"/>
          </p:nvPr>
        </p:nvSpPr>
        <p:spPr>
          <a:xfrm>
            <a:off x="900113" y="0"/>
            <a:ext cx="8243887" cy="955675"/>
          </a:xfrm>
          <a:ln/>
        </p:spPr>
        <p:txBody>
          <a:bodyPr vert="horz" wrap="square" lIns="91440" tIns="45720" rIns="91440" bIns="45720" anchor="b" anchorCtr="0"/>
          <a:p>
            <a:pPr eaLnBrk="1" hangingPunct="1"/>
            <a:r>
              <a:rPr lang="en-US" altLang="zh-CN" sz="3600" dirty="0"/>
              <a:t>4. </a:t>
            </a:r>
            <a:r>
              <a:rPr lang="zh-CN" altLang="en-US" sz="3600" dirty="0"/>
              <a:t>嵌入式片上系统 </a:t>
            </a:r>
            <a:r>
              <a:rPr lang="en-US" altLang="zh-CN" sz="3600" dirty="0"/>
              <a:t>(</a:t>
            </a:r>
            <a:r>
              <a:rPr lang="en-US" altLang="zh-CN" sz="2800" dirty="0"/>
              <a:t>System on Chip</a:t>
            </a:r>
            <a:r>
              <a:rPr lang="en-US" altLang="zh-CN" dirty="0"/>
              <a:t> </a:t>
            </a:r>
            <a:r>
              <a:rPr lang="en-US" altLang="zh-CN" sz="3600" dirty="0"/>
              <a:t>)</a:t>
            </a:r>
            <a:endParaRPr lang="en-US" altLang="zh-CN" sz="3600" dirty="0"/>
          </a:p>
        </p:txBody>
      </p:sp>
      <p:sp>
        <p:nvSpPr>
          <p:cNvPr id="660483" name="Text Box 3"/>
          <p:cNvSpPr txBox="1"/>
          <p:nvPr/>
        </p:nvSpPr>
        <p:spPr>
          <a:xfrm>
            <a:off x="971550" y="1838325"/>
            <a:ext cx="7848600" cy="43021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130000"/>
              </a:lnSpc>
              <a:spcBef>
                <a:spcPct val="50000"/>
              </a:spcBef>
              <a:spcAft>
                <a:spcPct val="50000"/>
              </a:spcAft>
              <a:buClrTx/>
              <a:buSzPct val="125000"/>
              <a:buFontTx/>
              <a:buBlip>
                <a:blip r:embed="rId1"/>
              </a:buBlip>
            </a:pPr>
            <a:r>
              <a:rPr lang="en-US" altLang="zh-CN" sz="2400" b="1" dirty="0">
                <a:latin typeface="Tahoma" panose="020B0604030504040204" pitchFamily="34" charset="0"/>
                <a:cs typeface="Times New Roman" panose="02020603050405020304" pitchFamily="18" charset="0"/>
              </a:rPr>
              <a:t> SoC</a:t>
            </a:r>
            <a:r>
              <a:rPr lang="zh-CN" altLang="en-US" sz="2400" b="1" dirty="0">
                <a:latin typeface="Tahoma" panose="020B0604030504040204" pitchFamily="34" charset="0"/>
                <a:cs typeface="Times New Roman" panose="02020603050405020304" pitchFamily="18" charset="0"/>
              </a:rPr>
              <a:t>不是把系统所需要的所有集成电路简单地二次集成到一个芯片上，而是从整个系统的性能要求出发，把各层次电路器件紧密结合起来，并通过系统的软硬件协同设计，在单个芯片上实现整个系统的功能。</a:t>
            </a:r>
            <a:endParaRPr lang="zh-CN" altLang="en-US" sz="2400" b="1" dirty="0">
              <a:latin typeface="Tahoma" panose="020B0604030504040204" pitchFamily="34" charset="0"/>
              <a:cs typeface="Times New Roman" panose="02020603050405020304" pitchFamily="18" charset="0"/>
            </a:endParaRPr>
          </a:p>
          <a:p>
            <a:pPr marL="0" lvl="0" indent="0" eaLnBrk="1" hangingPunct="1">
              <a:lnSpc>
                <a:spcPct val="130000"/>
              </a:lnSpc>
              <a:spcBef>
                <a:spcPct val="50000"/>
              </a:spcBef>
              <a:spcAft>
                <a:spcPct val="50000"/>
              </a:spcAft>
              <a:buClrTx/>
              <a:buSzPct val="125000"/>
              <a:buFontTx/>
              <a:buBlip>
                <a:blip r:embed="rId1"/>
              </a:buBlip>
            </a:pPr>
            <a:r>
              <a:rPr lang="zh-CN" altLang="en-US" sz="2400" b="1" dirty="0">
                <a:latin typeface="Tahoma" panose="020B0604030504040204" pitchFamily="34" charset="0"/>
                <a:cs typeface="Times New Roman" panose="02020603050405020304" pitchFamily="18" charset="0"/>
              </a:rPr>
              <a:t> </a:t>
            </a:r>
            <a:r>
              <a:rPr lang="en-US" altLang="zh-CN" sz="2400" b="1" dirty="0">
                <a:latin typeface="Tahoma" panose="020B0604030504040204" pitchFamily="34" charset="0"/>
                <a:cs typeface="Times New Roman" panose="02020603050405020304" pitchFamily="18" charset="0"/>
              </a:rPr>
              <a:t>SoC</a:t>
            </a:r>
            <a:r>
              <a:rPr lang="zh-CN" altLang="en-US" sz="2400" b="1" dirty="0">
                <a:latin typeface="Tahoma" panose="020B0604030504040204" pitchFamily="34" charset="0"/>
                <a:cs typeface="Times New Roman" panose="02020603050405020304" pitchFamily="18" charset="0"/>
              </a:rPr>
              <a:t>最大的特点就是成功实现了</a:t>
            </a:r>
            <a:r>
              <a:rPr lang="zh-CN" altLang="en-US" sz="2400" b="1" dirty="0">
                <a:solidFill>
                  <a:srgbClr val="FF0000"/>
                </a:solidFill>
                <a:latin typeface="Tahoma" panose="020B0604030504040204" pitchFamily="34" charset="0"/>
                <a:cs typeface="Times New Roman" panose="02020603050405020304" pitchFamily="18" charset="0"/>
              </a:rPr>
              <a:t>软硬件无缝结合</a:t>
            </a:r>
            <a:r>
              <a:rPr lang="zh-CN" altLang="en-US" sz="2400" b="1" dirty="0">
                <a:latin typeface="Tahoma" panose="020B0604030504040204" pitchFamily="34" charset="0"/>
                <a:cs typeface="Times New Roman" panose="02020603050405020304" pitchFamily="18" charset="0"/>
              </a:rPr>
              <a:t>，直接在处理器片内嵌入操作系统的代码模块，满足了单片系统所要求的高密度、高速度、高性能、小体积、低电压和低功耗等指标。 </a:t>
            </a:r>
            <a:endParaRPr lang="zh-CN" altLang="en-US" sz="2400" b="1" dirty="0">
              <a:latin typeface="Tahoma" panose="020B0604030504040204" pitchFamily="34" charset="0"/>
              <a:ea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660483">
                                            <p:txEl>
                                              <p:charRg st="0" end="94"/>
                                            </p:txEl>
                                          </p:spTgt>
                                        </p:tgtEl>
                                        <p:attrNameLst>
                                          <p:attrName>style.visibility</p:attrName>
                                        </p:attrNameLst>
                                      </p:cBhvr>
                                      <p:to>
                                        <p:strVal val="visible"/>
                                      </p:to>
                                    </p:set>
                                    <p:animEffect transition="in" filter="strips(downLeft)">
                                      <p:cBhvr>
                                        <p:cTn id="7" dur="500"/>
                                        <p:tgtEl>
                                          <p:spTgt spid="660483">
                                            <p:txEl>
                                              <p:charRg st="0" end="9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660483">
                                            <p:txEl>
                                              <p:charRg st="94" end="178"/>
                                            </p:txEl>
                                          </p:spTgt>
                                        </p:tgtEl>
                                        <p:attrNameLst>
                                          <p:attrName>style.visibility</p:attrName>
                                        </p:attrNameLst>
                                      </p:cBhvr>
                                      <p:to>
                                        <p:strVal val="visible"/>
                                      </p:to>
                                    </p:set>
                                    <p:animEffect transition="in" filter="strips(downLeft)">
                                      <p:cBhvr>
                                        <p:cTn id="12" dur="500"/>
                                        <p:tgtEl>
                                          <p:spTgt spid="660483">
                                            <p:txEl>
                                              <p:charRg st="94" end="17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a:ln/>
        </p:spPr>
        <p:txBody>
          <a:bodyPr vert="horz" wrap="square" lIns="91440" tIns="45720" rIns="91440" bIns="45720" anchor="b" anchorCtr="0"/>
          <a:p>
            <a:pPr eaLnBrk="1" hangingPunct="1"/>
            <a:r>
              <a:rPr lang="en-US" altLang="zh-CN" dirty="0"/>
              <a:t>SOC</a:t>
            </a:r>
            <a:r>
              <a:rPr lang="zh-CN" altLang="en-US" dirty="0"/>
              <a:t>优点</a:t>
            </a:r>
            <a:endParaRPr lang="zh-CN" altLang="en-US" dirty="0"/>
          </a:p>
        </p:txBody>
      </p:sp>
      <p:sp>
        <p:nvSpPr>
          <p:cNvPr id="43011" name="Rectangle 3"/>
          <p:cNvSpPr>
            <a:spLocks noGrp="1"/>
          </p:cNvSpPr>
          <p:nvPr>
            <p:ph idx="1"/>
          </p:nvPr>
        </p:nvSpPr>
        <p:spPr>
          <a:xfrm>
            <a:off x="468313" y="1628775"/>
            <a:ext cx="8459787" cy="4259263"/>
          </a:xfrm>
          <a:ln/>
        </p:spPr>
        <p:txBody>
          <a:bodyPr vert="horz" wrap="square" lIns="91440" tIns="45720" rIns="91440" bIns="45720" anchor="t" anchorCtr="0"/>
          <a:p>
            <a:pPr eaLnBrk="1" hangingPunct="1">
              <a:lnSpc>
                <a:spcPct val="110000"/>
              </a:lnSpc>
            </a:pPr>
            <a:r>
              <a:rPr lang="zh-CN" altLang="en-US" sz="2400" b="1" dirty="0"/>
              <a:t>利用改变内部工作电压</a:t>
            </a:r>
            <a:r>
              <a:rPr lang="en-US" altLang="zh-CN" sz="2400" b="1" dirty="0"/>
              <a:t>,</a:t>
            </a:r>
            <a:r>
              <a:rPr lang="zh-CN" altLang="en-US" sz="2400" b="1" dirty="0"/>
              <a:t>降低芯片功耗</a:t>
            </a:r>
            <a:endParaRPr lang="zh-CN" altLang="en-US" sz="2400" b="1" dirty="0"/>
          </a:p>
          <a:p>
            <a:pPr eaLnBrk="1" hangingPunct="1">
              <a:lnSpc>
                <a:spcPct val="110000"/>
              </a:lnSpc>
            </a:pPr>
            <a:r>
              <a:rPr lang="zh-CN" altLang="en-US" sz="2400" b="1" dirty="0"/>
              <a:t>减少芯片对外的接口</a:t>
            </a:r>
            <a:r>
              <a:rPr lang="en-US" altLang="zh-CN" sz="2400" b="1" dirty="0"/>
              <a:t>,</a:t>
            </a:r>
            <a:r>
              <a:rPr lang="zh-CN" altLang="en-US" sz="2400" b="1" dirty="0"/>
              <a:t>简化制造过程</a:t>
            </a:r>
            <a:endParaRPr lang="zh-CN" altLang="en-US" sz="2400" b="1" dirty="0"/>
          </a:p>
          <a:p>
            <a:pPr eaLnBrk="1" hangingPunct="1">
              <a:lnSpc>
                <a:spcPct val="110000"/>
              </a:lnSpc>
            </a:pPr>
            <a:r>
              <a:rPr lang="zh-CN" altLang="en-US" sz="2400" b="1" dirty="0"/>
              <a:t>避免信号传递时的噪声</a:t>
            </a:r>
            <a:r>
              <a:rPr lang="en-US" altLang="zh-CN" sz="2400" b="1" dirty="0"/>
              <a:t>.</a:t>
            </a:r>
            <a:endParaRPr lang="en-US" altLang="zh-CN" sz="2400" b="1" dirty="0"/>
          </a:p>
          <a:p>
            <a:pPr eaLnBrk="1" hangingPunct="1">
              <a:lnSpc>
                <a:spcPct val="90000"/>
              </a:lnSpc>
            </a:pPr>
            <a:r>
              <a:rPr lang="zh-CN" altLang="en-US" sz="2400" b="1" dirty="0">
                <a:latin typeface="楷体_GB2312" pitchFamily="49" charset="-122"/>
              </a:rPr>
              <a:t>减少外围驱动接口单元及电路板之间的信号传递，可以加快微处理器数据处理的速度。</a:t>
            </a:r>
            <a:endParaRPr lang="zh-CN" altLang="en-US" sz="2400" b="1" dirty="0">
              <a:latin typeface="楷体_GB2312" pitchFamily="49" charset="-122"/>
            </a:endParaRPr>
          </a:p>
          <a:p>
            <a:pPr eaLnBrk="1" hangingPunct="1">
              <a:lnSpc>
                <a:spcPct val="90000"/>
              </a:lnSpc>
            </a:pPr>
            <a:r>
              <a:rPr lang="zh-CN" altLang="en-US" sz="2400" b="1" dirty="0">
                <a:latin typeface="楷体_GB2312" pitchFamily="49" charset="-122"/>
              </a:rPr>
              <a:t>内嵌的线路可以避免外部电路板在信号传递时所造成系统杂讯。</a:t>
            </a:r>
            <a:endParaRPr lang="zh-CN" altLang="en-US" sz="2400" b="1" dirty="0">
              <a:latin typeface="楷体_GB2312" pitchFamily="49"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8675" name="Text Box 3"/>
          <p:cNvSpPr txBox="1"/>
          <p:nvPr/>
        </p:nvSpPr>
        <p:spPr>
          <a:xfrm>
            <a:off x="971550" y="1866900"/>
            <a:ext cx="7777163" cy="22828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150000"/>
              </a:lnSpc>
              <a:spcBef>
                <a:spcPct val="35000"/>
              </a:spcBef>
              <a:buClrTx/>
              <a:buSzPct val="125000"/>
              <a:buFontTx/>
              <a:buBlip>
                <a:blip r:embed="rId1"/>
              </a:buBlip>
            </a:pPr>
            <a:r>
              <a:rPr lang="en-US" altLang="zh-CN" sz="2400" b="1" dirty="0">
                <a:latin typeface="Tahoma" panose="020B0604030504040204" pitchFamily="34" charset="0"/>
                <a:cs typeface="Times New Roman" panose="02020603050405020304" pitchFamily="18" charset="0"/>
              </a:rPr>
              <a:t> </a:t>
            </a:r>
            <a:r>
              <a:rPr lang="zh-CN" altLang="en-US" sz="2400" b="1" dirty="0">
                <a:latin typeface="Tahoma" panose="020B0604030504040204" pitchFamily="34" charset="0"/>
                <a:cs typeface="Times New Roman" panose="02020603050405020304" pitchFamily="18" charset="0"/>
              </a:rPr>
              <a:t>目前比较典型的几款</a:t>
            </a:r>
            <a:r>
              <a:rPr lang="en-US" altLang="zh-CN" sz="2400" b="1" dirty="0">
                <a:latin typeface="Tahoma" panose="020B0604030504040204" pitchFamily="34" charset="0"/>
                <a:cs typeface="Times New Roman" panose="02020603050405020304" pitchFamily="18" charset="0"/>
              </a:rPr>
              <a:t>SoC</a:t>
            </a:r>
            <a:r>
              <a:rPr lang="zh-CN" altLang="en-US" sz="2400" b="1" dirty="0">
                <a:latin typeface="Tahoma" panose="020B0604030504040204" pitchFamily="34" charset="0"/>
                <a:cs typeface="Times New Roman" panose="02020603050405020304" pitchFamily="18" charset="0"/>
              </a:rPr>
              <a:t>产品包括</a:t>
            </a:r>
            <a:r>
              <a:rPr lang="en-US" altLang="zh-CN" sz="2400" b="1" dirty="0">
                <a:latin typeface="Tahoma" panose="020B0604030504040204" pitchFamily="34" charset="0"/>
                <a:cs typeface="Times New Roman" panose="02020603050405020304" pitchFamily="18" charset="0"/>
              </a:rPr>
              <a:t>Siemens</a:t>
            </a:r>
            <a:r>
              <a:rPr lang="zh-CN" altLang="en-US" sz="2400" b="1" dirty="0">
                <a:latin typeface="Tahoma" panose="020B0604030504040204" pitchFamily="34" charset="0"/>
                <a:cs typeface="Times New Roman" panose="02020603050405020304" pitchFamily="18" charset="0"/>
              </a:rPr>
              <a:t>的</a:t>
            </a:r>
            <a:r>
              <a:rPr lang="en-US" altLang="zh-CN" sz="2400" b="1" dirty="0">
                <a:latin typeface="Tahoma" panose="020B0604030504040204" pitchFamily="34" charset="0"/>
                <a:cs typeface="Times New Roman" panose="02020603050405020304" pitchFamily="18" charset="0"/>
              </a:rPr>
              <a:t>TriCore</a:t>
            </a:r>
            <a:r>
              <a:rPr lang="zh-CN" altLang="en-US" sz="2400" b="1" dirty="0">
                <a:latin typeface="Tahoma" panose="020B0604030504040204" pitchFamily="34" charset="0"/>
                <a:cs typeface="Times New Roman" panose="02020603050405020304" pitchFamily="18" charset="0"/>
              </a:rPr>
              <a:t>、</a:t>
            </a:r>
            <a:r>
              <a:rPr lang="en-US" altLang="zh-CN" sz="2400" b="1" dirty="0">
                <a:latin typeface="Tahoma" panose="020B0604030504040204" pitchFamily="34" charset="0"/>
                <a:cs typeface="Times New Roman" panose="02020603050405020304" pitchFamily="18" charset="0"/>
              </a:rPr>
              <a:t>Philips</a:t>
            </a:r>
            <a:r>
              <a:rPr lang="zh-CN" altLang="en-US" sz="2400" b="1" dirty="0">
                <a:latin typeface="Tahoma" panose="020B0604030504040204" pitchFamily="34" charset="0"/>
                <a:cs typeface="Times New Roman" panose="02020603050405020304" pitchFamily="18" charset="0"/>
              </a:rPr>
              <a:t>的</a:t>
            </a:r>
            <a:r>
              <a:rPr lang="en-US" altLang="zh-CN" sz="2400" b="1" dirty="0">
                <a:latin typeface="Tahoma" panose="020B0604030504040204" pitchFamily="34" charset="0"/>
                <a:cs typeface="Times New Roman" panose="02020603050405020304" pitchFamily="18" charset="0"/>
              </a:rPr>
              <a:t>Smart XA</a:t>
            </a:r>
            <a:r>
              <a:rPr lang="zh-CN" altLang="en-US" sz="2400" b="1" dirty="0">
                <a:latin typeface="Tahoma" panose="020B0604030504040204" pitchFamily="34" charset="0"/>
                <a:cs typeface="Times New Roman" panose="02020603050405020304" pitchFamily="18" charset="0"/>
              </a:rPr>
              <a:t>、</a:t>
            </a:r>
            <a:r>
              <a:rPr lang="en-US" altLang="zh-CN" sz="2400" b="1" dirty="0">
                <a:latin typeface="Tahoma" panose="020B0604030504040204" pitchFamily="34" charset="0"/>
                <a:cs typeface="Times New Roman" panose="02020603050405020304" pitchFamily="18" charset="0"/>
              </a:rPr>
              <a:t>Motorola</a:t>
            </a:r>
            <a:r>
              <a:rPr lang="zh-CN" altLang="en-US" sz="2400" b="1" dirty="0">
                <a:latin typeface="Tahoma" panose="020B0604030504040204" pitchFamily="34" charset="0"/>
                <a:cs typeface="Times New Roman" panose="02020603050405020304" pitchFamily="18" charset="0"/>
              </a:rPr>
              <a:t>的</a:t>
            </a:r>
            <a:r>
              <a:rPr lang="en-US" altLang="zh-CN" sz="2400" b="1" dirty="0">
                <a:latin typeface="Tahoma" panose="020B0604030504040204" pitchFamily="34" charset="0"/>
                <a:cs typeface="Times New Roman" panose="02020603050405020304" pitchFamily="18" charset="0"/>
              </a:rPr>
              <a:t>M-Core</a:t>
            </a:r>
            <a:r>
              <a:rPr lang="zh-CN" altLang="en-US" sz="2400" b="1" dirty="0">
                <a:latin typeface="Tahoma" panose="020B0604030504040204" pitchFamily="34" charset="0"/>
                <a:cs typeface="Times New Roman" panose="02020603050405020304" pitchFamily="18" charset="0"/>
              </a:rPr>
              <a:t>、某些</a:t>
            </a:r>
            <a:r>
              <a:rPr lang="en-US" altLang="zh-CN" sz="2400" b="1" dirty="0">
                <a:latin typeface="Tahoma" panose="020B0604030504040204" pitchFamily="34" charset="0"/>
                <a:cs typeface="Times New Roman" panose="02020603050405020304" pitchFamily="18" charset="0"/>
              </a:rPr>
              <a:t>ARM</a:t>
            </a:r>
            <a:r>
              <a:rPr lang="zh-CN" altLang="en-US" sz="2400" b="1" dirty="0">
                <a:latin typeface="Tahoma" panose="020B0604030504040204" pitchFamily="34" charset="0"/>
                <a:cs typeface="Times New Roman" panose="02020603050405020304" pitchFamily="18" charset="0"/>
              </a:rPr>
              <a:t>系列器件、</a:t>
            </a:r>
            <a:r>
              <a:rPr lang="en-US" altLang="zh-CN" sz="2400" b="1" dirty="0">
                <a:latin typeface="Tahoma" panose="020B0604030504040204" pitchFamily="34" charset="0"/>
                <a:cs typeface="Times New Roman" panose="02020603050405020304" pitchFamily="18" charset="0"/>
              </a:rPr>
              <a:t>Echelon</a:t>
            </a:r>
            <a:r>
              <a:rPr lang="zh-CN" altLang="en-US" sz="2400" b="1" dirty="0">
                <a:latin typeface="Tahoma" panose="020B0604030504040204" pitchFamily="34" charset="0"/>
                <a:cs typeface="Times New Roman" panose="02020603050405020304" pitchFamily="18" charset="0"/>
              </a:rPr>
              <a:t>和</a:t>
            </a:r>
            <a:r>
              <a:rPr lang="en-US" altLang="zh-CN" sz="2400" b="1" dirty="0">
                <a:latin typeface="Tahoma" panose="020B0604030504040204" pitchFamily="34" charset="0"/>
                <a:cs typeface="Times New Roman" panose="02020603050405020304" pitchFamily="18" charset="0"/>
              </a:rPr>
              <a:t>Motorola</a:t>
            </a:r>
            <a:r>
              <a:rPr lang="zh-CN" altLang="en-US" sz="2400" b="1" dirty="0">
                <a:latin typeface="Tahoma" panose="020B0604030504040204" pitchFamily="34" charset="0"/>
                <a:cs typeface="Times New Roman" panose="02020603050405020304" pitchFamily="18" charset="0"/>
              </a:rPr>
              <a:t>联合研制的</a:t>
            </a:r>
            <a:r>
              <a:rPr lang="en-US" altLang="zh-CN" sz="2400" b="1" dirty="0">
                <a:latin typeface="Tahoma" panose="020B0604030504040204" pitchFamily="34" charset="0"/>
                <a:cs typeface="Times New Roman" panose="02020603050405020304" pitchFamily="18" charset="0"/>
              </a:rPr>
              <a:t>Neuron</a:t>
            </a:r>
            <a:r>
              <a:rPr lang="zh-CN" altLang="en-US" sz="2400" b="1" dirty="0">
                <a:latin typeface="Tahoma" panose="020B0604030504040204" pitchFamily="34" charset="0"/>
                <a:cs typeface="Times New Roman" panose="02020603050405020304" pitchFamily="18" charset="0"/>
              </a:rPr>
              <a:t>芯片等。 </a:t>
            </a:r>
            <a:endParaRPr lang="zh-CN" altLang="en-US" sz="2400" b="1" dirty="0">
              <a:latin typeface="Tahoma" panose="020B0604030504040204" pitchFamily="34" charset="0"/>
              <a:ea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668675"/>
                                        </p:tgtEl>
                                        <p:attrNameLst>
                                          <p:attrName>style.visibility</p:attrName>
                                        </p:attrNameLst>
                                      </p:cBhvr>
                                      <p:to>
                                        <p:strVal val="visible"/>
                                      </p:to>
                                    </p:set>
                                    <p:animEffect transition="in" filter="strips(downLeft)">
                                      <p:cBhvr>
                                        <p:cTn id="7" dur="500"/>
                                        <p:tgtEl>
                                          <p:spTgt spid="668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867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2530" name="Rectangle 2"/>
          <p:cNvSpPr>
            <a:spLocks noChangeArrowheads="1"/>
          </p:cNvSpPr>
          <p:nvPr/>
        </p:nvSpPr>
        <p:spPr bwMode="auto">
          <a:xfrm>
            <a:off x="1557338" y="188913"/>
            <a:ext cx="7543800" cy="811213"/>
          </a:xfrm>
          <a:prstGeom prst="rect">
            <a:avLst/>
          </a:prstGeom>
          <a:noFill/>
          <a:ln w="9525">
            <a:noFill/>
            <a:miter lim="800000"/>
          </a:ln>
          <a:effec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dirty="0">
                <a:ln>
                  <a:noFill/>
                </a:ln>
                <a:solidFill>
                  <a:schemeClr val="tx1"/>
                </a:solidFill>
                <a:effectLst/>
                <a:uLnTx/>
                <a:uFillTx/>
                <a:latin typeface="Tahoma" panose="020B0604030504040204" pitchFamily="34" charset="0"/>
                <a:ea typeface="黑体" panose="02010609060101010101" pitchFamily="49" charset="-122"/>
                <a:cs typeface="+mn-cs"/>
              </a:rPr>
              <a:t>典型的嵌入式处理器 </a:t>
            </a:r>
            <a:endParaRPr kumimoji="0" lang="zh-CN" altLang="en-US" sz="4000" b="1" i="0" u="none" strike="noStrike" kern="1200" cap="none" spc="0" normalizeH="0" baseline="0" noProof="0" dirty="0">
              <a:ln>
                <a:noFill/>
              </a:ln>
              <a:solidFill>
                <a:schemeClr val="tx1"/>
              </a:solidFill>
              <a:effectLst/>
              <a:uLnTx/>
              <a:uFillTx/>
              <a:latin typeface="Tahoma" panose="020B0604030504040204" pitchFamily="34" charset="0"/>
              <a:ea typeface="黑体" panose="02010609060101010101" pitchFamily="49" charset="-122"/>
              <a:cs typeface="+mn-cs"/>
            </a:endParaRPr>
          </a:p>
        </p:txBody>
      </p:sp>
      <p:sp>
        <p:nvSpPr>
          <p:cNvPr id="662531" name="Rectangle 3"/>
          <p:cNvSpPr>
            <a:spLocks noChangeArrowheads="1"/>
          </p:cNvSpPr>
          <p:nvPr/>
        </p:nvSpPr>
        <p:spPr bwMode="auto">
          <a:xfrm>
            <a:off x="2124075" y="1773238"/>
            <a:ext cx="6408738" cy="4392613"/>
          </a:xfrm>
          <a:prstGeom prst="rect">
            <a:avLst/>
          </a:prstGeom>
          <a:noFill/>
          <a:ln w="9525">
            <a:noFill/>
            <a:miter lim="800000"/>
          </a:ln>
          <a:effectLst/>
        </p:spPr>
        <p:txBody>
          <a:bodyPr/>
          <a:lstStyle/>
          <a:p>
            <a:pPr marL="609600" marR="0" lvl="0" indent="-609600" algn="l" defTabSz="914400" rtl="0" eaLnBrk="1" fontAlgn="base" latinLnBrk="0" hangingPunct="1">
              <a:lnSpc>
                <a:spcPct val="130000"/>
              </a:lnSpc>
              <a:spcBef>
                <a:spcPct val="30000"/>
              </a:spcBef>
              <a:spcAft>
                <a:spcPct val="0"/>
              </a:spcAft>
              <a:buClr>
                <a:srgbClr val="FFD317"/>
              </a:buClr>
              <a:buSzTx/>
              <a:buFont typeface="Wingdings" panose="05000000000000000000" pitchFamily="2" charset="2"/>
              <a:buAutoNum type="arabicPeriod"/>
              <a:defRPr/>
            </a:pPr>
            <a:r>
              <a:rPr kumimoji="0" lang="en-US" altLang="zh-CN" sz="32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Tahoma" panose="020B0604030504040204" pitchFamily="34" charset="0"/>
                <a:ea typeface="楷体_GB2312" pitchFamily="49" charset="-122"/>
                <a:cs typeface="+mn-cs"/>
              </a:rPr>
              <a:t> </a:t>
            </a:r>
            <a:r>
              <a:rPr kumimoji="0" lang="en-US" altLang="zh-CN" sz="3200" b="1" i="0" u="none" strike="noStrike" kern="1200" cap="none" spc="0" normalizeH="0" baseline="0" noProof="0" dirty="0">
                <a:ln>
                  <a:noFill/>
                </a:ln>
                <a:solidFill>
                  <a:schemeClr val="tx1"/>
                </a:solidFill>
                <a:effectLst/>
                <a:uLnTx/>
                <a:uFillTx/>
                <a:latin typeface="Tahoma" panose="020B0604030504040204" pitchFamily="34" charset="0"/>
                <a:ea typeface="楷体_GB2312" pitchFamily="49" charset="-122"/>
                <a:cs typeface="+mn-cs"/>
              </a:rPr>
              <a:t> ARM</a:t>
            </a:r>
            <a:r>
              <a:rPr kumimoji="0" lang="zh-CN" altLang="en-US" sz="3200" b="1" i="0" u="none" strike="noStrike" kern="1200" cap="none" spc="0" normalizeH="0" baseline="0" noProof="0" dirty="0">
                <a:ln>
                  <a:noFill/>
                </a:ln>
                <a:solidFill>
                  <a:schemeClr val="tx1"/>
                </a:solidFill>
                <a:effectLst/>
                <a:uLnTx/>
                <a:uFillTx/>
                <a:latin typeface="Tahoma" panose="020B0604030504040204" pitchFamily="34" charset="0"/>
                <a:ea typeface="楷体_GB2312" pitchFamily="49" charset="-122"/>
                <a:cs typeface="+mn-cs"/>
              </a:rPr>
              <a:t>处理器 </a:t>
            </a:r>
            <a:endParaRPr kumimoji="0" lang="zh-CN" altLang="en-US" sz="3200" b="1" i="0" u="none" strike="noStrike" kern="1200" cap="none" spc="0" normalizeH="0" baseline="0" noProof="0" dirty="0">
              <a:ln>
                <a:noFill/>
              </a:ln>
              <a:solidFill>
                <a:schemeClr val="tx1"/>
              </a:solidFill>
              <a:effectLst/>
              <a:uLnTx/>
              <a:uFillTx/>
              <a:latin typeface="Tahoma" panose="020B0604030504040204" pitchFamily="34" charset="0"/>
              <a:ea typeface="楷体_GB2312" pitchFamily="49" charset="-122"/>
              <a:cs typeface="+mn-cs"/>
            </a:endParaRPr>
          </a:p>
          <a:p>
            <a:pPr marL="609600" marR="0" lvl="0" indent="-609600" algn="l" defTabSz="914400" rtl="0" eaLnBrk="1" fontAlgn="base" latinLnBrk="0" hangingPunct="1">
              <a:lnSpc>
                <a:spcPct val="130000"/>
              </a:lnSpc>
              <a:spcBef>
                <a:spcPct val="30000"/>
              </a:spcBef>
              <a:spcAft>
                <a:spcPct val="0"/>
              </a:spcAft>
              <a:buClr>
                <a:srgbClr val="FFD317"/>
              </a:buClr>
              <a:buSzTx/>
              <a:buFont typeface="Wingdings" panose="05000000000000000000" pitchFamily="2" charset="2"/>
              <a:buAutoNum type="arabicPeriod"/>
              <a:defRPr/>
            </a:pPr>
            <a:r>
              <a:rPr kumimoji="0" lang="zh-CN" altLang="en-US" sz="3200" b="1" i="0" u="none" strike="noStrike" kern="1200" cap="none" spc="0" normalizeH="0" baseline="0" noProof="0" dirty="0">
                <a:ln>
                  <a:noFill/>
                </a:ln>
                <a:solidFill>
                  <a:schemeClr val="tx1"/>
                </a:solidFill>
                <a:effectLst/>
                <a:uLnTx/>
                <a:uFillTx/>
                <a:latin typeface="Tahoma" panose="020B0604030504040204" pitchFamily="34" charset="0"/>
                <a:ea typeface="楷体_GB2312" pitchFamily="49" charset="-122"/>
                <a:cs typeface="+mn-cs"/>
              </a:rPr>
              <a:t>  </a:t>
            </a:r>
            <a:r>
              <a:rPr kumimoji="0" lang="en-US" altLang="zh-CN" sz="3200" b="1" i="0" u="none" strike="noStrike" kern="1200" cap="none" spc="0" normalizeH="0" baseline="0" noProof="0" dirty="0">
                <a:ln>
                  <a:noFill/>
                </a:ln>
                <a:solidFill>
                  <a:schemeClr val="tx1"/>
                </a:solidFill>
                <a:effectLst/>
                <a:uLnTx/>
                <a:uFillTx/>
                <a:latin typeface="Tahoma" panose="020B0604030504040204" pitchFamily="34" charset="0"/>
                <a:ea typeface="楷体_GB2312" pitchFamily="49" charset="-122"/>
                <a:cs typeface="+mn-cs"/>
              </a:rPr>
              <a:t>Power PC</a:t>
            </a:r>
            <a:r>
              <a:rPr kumimoji="0" lang="zh-CN" altLang="en-US" sz="3200" b="1" i="0" u="none" strike="noStrike" kern="1200" cap="none" spc="0" normalizeH="0" baseline="0" noProof="0" dirty="0">
                <a:ln>
                  <a:noFill/>
                </a:ln>
                <a:solidFill>
                  <a:schemeClr val="tx1"/>
                </a:solidFill>
                <a:effectLst/>
                <a:uLnTx/>
                <a:uFillTx/>
                <a:latin typeface="Tahoma" panose="020B0604030504040204" pitchFamily="34" charset="0"/>
                <a:ea typeface="楷体_GB2312" pitchFamily="49" charset="-122"/>
                <a:cs typeface="+mn-cs"/>
              </a:rPr>
              <a:t>处理器 </a:t>
            </a:r>
            <a:endParaRPr kumimoji="0" lang="zh-CN" altLang="en-US" sz="3200" b="1" i="0" u="none" strike="noStrike" kern="1200" cap="none" spc="0" normalizeH="0" baseline="0" noProof="0" dirty="0">
              <a:ln>
                <a:noFill/>
              </a:ln>
              <a:solidFill>
                <a:schemeClr val="tx1"/>
              </a:solidFill>
              <a:effectLst/>
              <a:uLnTx/>
              <a:uFillTx/>
              <a:latin typeface="Tahoma" panose="020B0604030504040204" pitchFamily="34" charset="0"/>
              <a:ea typeface="楷体_GB2312" pitchFamily="49" charset="-122"/>
              <a:cs typeface="+mn-cs"/>
            </a:endParaRPr>
          </a:p>
          <a:p>
            <a:pPr marL="609600" marR="0" lvl="0" indent="-609600" algn="l" defTabSz="914400" rtl="0" eaLnBrk="1" fontAlgn="base" latinLnBrk="0" hangingPunct="1">
              <a:lnSpc>
                <a:spcPct val="130000"/>
              </a:lnSpc>
              <a:spcBef>
                <a:spcPct val="30000"/>
              </a:spcBef>
              <a:spcAft>
                <a:spcPct val="0"/>
              </a:spcAft>
              <a:buClr>
                <a:srgbClr val="FFD317"/>
              </a:buClr>
              <a:buSzTx/>
              <a:buFont typeface="Wingdings" panose="05000000000000000000" pitchFamily="2" charset="2"/>
              <a:buAutoNum type="arabicPeriod"/>
              <a:defRPr/>
            </a:pPr>
            <a:r>
              <a:rPr kumimoji="0" lang="zh-CN" altLang="en-US" sz="3200" b="1" i="0" u="none" strike="noStrike" kern="1200" cap="none" spc="0" normalizeH="0" baseline="0" noProof="0" dirty="0">
                <a:ln>
                  <a:noFill/>
                </a:ln>
                <a:solidFill>
                  <a:schemeClr val="tx1"/>
                </a:solidFill>
                <a:effectLst/>
                <a:uLnTx/>
                <a:uFillTx/>
                <a:latin typeface="Tahoma" panose="020B0604030504040204" pitchFamily="34" charset="0"/>
                <a:ea typeface="楷体_GB2312" pitchFamily="49" charset="-122"/>
                <a:cs typeface="+mn-cs"/>
              </a:rPr>
              <a:t>  </a:t>
            </a:r>
            <a:r>
              <a:rPr kumimoji="0" lang="en-US" altLang="zh-CN" sz="3200" b="1" i="0" u="none" strike="noStrike" kern="1200" cap="none" spc="0" normalizeH="0" baseline="0" noProof="0" dirty="0">
                <a:ln>
                  <a:noFill/>
                </a:ln>
                <a:solidFill>
                  <a:schemeClr val="tx1"/>
                </a:solidFill>
                <a:effectLst/>
                <a:uLnTx/>
                <a:uFillTx/>
                <a:latin typeface="Tahoma" panose="020B0604030504040204" pitchFamily="34" charset="0"/>
                <a:ea typeface="楷体_GB2312" pitchFamily="49" charset="-122"/>
                <a:cs typeface="+mn-cs"/>
              </a:rPr>
              <a:t>MIPS</a:t>
            </a:r>
            <a:r>
              <a:rPr kumimoji="0" lang="zh-CN" altLang="en-US" sz="3200" b="1" i="0" u="none" strike="noStrike" kern="1200" cap="none" spc="0" normalizeH="0" baseline="0" noProof="0" dirty="0">
                <a:ln>
                  <a:noFill/>
                </a:ln>
                <a:solidFill>
                  <a:schemeClr val="tx1"/>
                </a:solidFill>
                <a:effectLst/>
                <a:uLnTx/>
                <a:uFillTx/>
                <a:latin typeface="Tahoma" panose="020B0604030504040204" pitchFamily="34" charset="0"/>
                <a:ea typeface="楷体_GB2312" pitchFamily="49" charset="-122"/>
                <a:cs typeface="+mn-cs"/>
              </a:rPr>
              <a:t>处理器 </a:t>
            </a:r>
            <a:endParaRPr kumimoji="0" lang="zh-CN" altLang="en-US" sz="3200" b="1" i="0" u="none" strike="noStrike" kern="1200" cap="none" spc="0" normalizeH="0" baseline="0" noProof="0" dirty="0">
              <a:ln>
                <a:noFill/>
              </a:ln>
              <a:solidFill>
                <a:schemeClr val="tx1"/>
              </a:solidFill>
              <a:effectLst/>
              <a:uLnTx/>
              <a:uFillTx/>
              <a:latin typeface="Tahoma" panose="020B0604030504040204" pitchFamily="34" charset="0"/>
              <a:ea typeface="楷体_GB2312" pitchFamily="49" charset="-122"/>
              <a:cs typeface="+mn-cs"/>
            </a:endParaRPr>
          </a:p>
          <a:p>
            <a:pPr marL="609600" marR="0" lvl="0" indent="-609600" algn="l" defTabSz="914400" rtl="0" eaLnBrk="1" fontAlgn="base" latinLnBrk="0" hangingPunct="1">
              <a:lnSpc>
                <a:spcPct val="130000"/>
              </a:lnSpc>
              <a:spcBef>
                <a:spcPct val="30000"/>
              </a:spcBef>
              <a:spcAft>
                <a:spcPct val="0"/>
              </a:spcAft>
              <a:buClr>
                <a:srgbClr val="FFD317"/>
              </a:buClr>
              <a:buSzTx/>
              <a:buFont typeface="Wingdings" panose="05000000000000000000" pitchFamily="2" charset="2"/>
              <a:buAutoNum type="arabicPeriod"/>
              <a:defRPr/>
            </a:pPr>
            <a:r>
              <a:rPr kumimoji="0" lang="zh-CN" altLang="en-US" sz="3200" b="1" i="0" u="none" strike="noStrike" kern="1200" cap="none" spc="0" normalizeH="0" baseline="0" noProof="0" dirty="0">
                <a:ln>
                  <a:noFill/>
                </a:ln>
                <a:solidFill>
                  <a:schemeClr val="tx1"/>
                </a:solidFill>
                <a:effectLst/>
                <a:uLnTx/>
                <a:uFillTx/>
                <a:latin typeface="Tahoma" panose="020B0604030504040204" pitchFamily="34" charset="0"/>
                <a:ea typeface="楷体_GB2312" pitchFamily="49" charset="-122"/>
                <a:cs typeface="+mn-cs"/>
              </a:rPr>
              <a:t>  </a:t>
            </a:r>
            <a:r>
              <a:rPr kumimoji="0" lang="en-US" altLang="zh-CN" sz="3200" b="1" i="0" u="none" strike="noStrike" kern="1200" cap="none" spc="0" normalizeH="0" baseline="0" noProof="0" dirty="0" err="1">
                <a:ln>
                  <a:noFill/>
                </a:ln>
                <a:solidFill>
                  <a:schemeClr val="tx1"/>
                </a:solidFill>
                <a:effectLst/>
                <a:uLnTx/>
                <a:uFillTx/>
                <a:latin typeface="Tahoma" panose="020B0604030504040204" pitchFamily="34" charset="0"/>
                <a:ea typeface="楷体_GB2312" pitchFamily="49" charset="-122"/>
                <a:cs typeface="+mn-cs"/>
              </a:rPr>
              <a:t>Sparc</a:t>
            </a:r>
            <a:r>
              <a:rPr kumimoji="0" lang="zh-CN" altLang="en-US" sz="3200" b="1" i="0" u="none" strike="noStrike" kern="1200" cap="none" spc="0" normalizeH="0" baseline="0" noProof="0" dirty="0">
                <a:ln>
                  <a:noFill/>
                </a:ln>
                <a:solidFill>
                  <a:schemeClr val="tx1"/>
                </a:solidFill>
                <a:effectLst/>
                <a:uLnTx/>
                <a:uFillTx/>
                <a:latin typeface="Tahoma" panose="020B0604030504040204" pitchFamily="34" charset="0"/>
                <a:ea typeface="楷体_GB2312" pitchFamily="49" charset="-122"/>
                <a:cs typeface="+mn-cs"/>
              </a:rPr>
              <a:t>处理器 </a:t>
            </a:r>
            <a:endParaRPr kumimoji="0" lang="zh-CN" altLang="en-US" sz="3200" b="1" i="0" u="none" strike="noStrike" kern="1200" cap="none" spc="0" normalizeH="0" baseline="0" noProof="0" dirty="0">
              <a:ln>
                <a:noFill/>
              </a:ln>
              <a:solidFill>
                <a:schemeClr val="tx1"/>
              </a:solidFill>
              <a:effectLst/>
              <a:uLnTx/>
              <a:uFillTx/>
              <a:latin typeface="Tahoma" panose="020B0604030504040204" pitchFamily="34" charset="0"/>
              <a:ea typeface="楷体_GB2312" pitchFamily="49" charset="-122"/>
              <a:cs typeface="+mn-cs"/>
            </a:endParaRPr>
          </a:p>
          <a:p>
            <a:pPr marL="609600" marR="0" lvl="0" indent="-609600" algn="l" defTabSz="914400" rtl="0" eaLnBrk="1" fontAlgn="base" latinLnBrk="0" hangingPunct="1">
              <a:lnSpc>
                <a:spcPct val="130000"/>
              </a:lnSpc>
              <a:spcBef>
                <a:spcPct val="30000"/>
              </a:spcBef>
              <a:spcAft>
                <a:spcPct val="0"/>
              </a:spcAft>
              <a:buClr>
                <a:srgbClr val="FFD317"/>
              </a:buClr>
              <a:buSzTx/>
              <a:buFont typeface="Wingdings" panose="05000000000000000000" pitchFamily="2" charset="2"/>
              <a:buAutoNum type="arabicPeriod"/>
              <a:defRPr/>
            </a:pPr>
            <a:r>
              <a:rPr kumimoji="0" lang="zh-CN" altLang="en-US" sz="3200" b="1" i="0" u="none" strike="noStrike" kern="1200" cap="none" spc="0" normalizeH="0" baseline="0" noProof="0" dirty="0">
                <a:ln>
                  <a:noFill/>
                </a:ln>
                <a:solidFill>
                  <a:schemeClr val="tx1"/>
                </a:solidFill>
                <a:effectLst/>
                <a:uLnTx/>
                <a:uFillTx/>
                <a:latin typeface="Tahoma" panose="020B0604030504040204" pitchFamily="34" charset="0"/>
                <a:ea typeface="楷体_GB2312" pitchFamily="49" charset="-122"/>
                <a:cs typeface="+mn-cs"/>
              </a:rPr>
              <a:t> 龙芯一号处理器 </a:t>
            </a:r>
            <a:endParaRPr kumimoji="0" lang="zh-CN" altLang="en-US" sz="3200" b="1" i="0" u="none" strike="noStrike" kern="1200" cap="none" spc="0" normalizeH="0" baseline="0" noProof="0" dirty="0">
              <a:ln>
                <a:noFill/>
              </a:ln>
              <a:solidFill>
                <a:schemeClr val="tx1"/>
              </a:solidFill>
              <a:effectLst/>
              <a:uLnTx/>
              <a:uFillTx/>
              <a:latin typeface="Tahoma" panose="020B0604030504040204" pitchFamily="34" charset="0"/>
              <a:ea typeface="楷体_GB2312" pitchFamily="49" charset="-122"/>
              <a:cs typeface="+mn-cs"/>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2"/>
          <p:cNvSpPr>
            <a:spLocks noGrp="1"/>
          </p:cNvSpPr>
          <p:nvPr>
            <p:ph type="title"/>
          </p:nvPr>
        </p:nvSpPr>
        <p:spPr>
          <a:xfrm>
            <a:off x="773113" y="115888"/>
            <a:ext cx="8243887" cy="811212"/>
          </a:xfrm>
          <a:ln/>
        </p:spPr>
        <p:txBody>
          <a:bodyPr vert="horz" wrap="square" lIns="91440" tIns="45720" rIns="91440" bIns="45720" anchor="b" anchorCtr="0"/>
          <a:p>
            <a:pPr eaLnBrk="1" hangingPunct="1"/>
            <a:r>
              <a:rPr lang="en-US" altLang="zh-CN" sz="3600" b="1" dirty="0"/>
              <a:t>1. ARM</a:t>
            </a:r>
            <a:r>
              <a:rPr lang="zh-CN" altLang="en-US" sz="3600" b="1" dirty="0"/>
              <a:t>处理器</a:t>
            </a:r>
            <a:endParaRPr lang="zh-CN" altLang="en-US" sz="3600" b="1" dirty="0"/>
          </a:p>
        </p:txBody>
      </p:sp>
      <p:sp>
        <p:nvSpPr>
          <p:cNvPr id="659461" name="Text Box 5"/>
          <p:cNvSpPr txBox="1"/>
          <p:nvPr/>
        </p:nvSpPr>
        <p:spPr>
          <a:xfrm>
            <a:off x="971550" y="1849438"/>
            <a:ext cx="7848600" cy="35639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140000"/>
              </a:lnSpc>
              <a:spcBef>
                <a:spcPct val="50000"/>
              </a:spcBef>
              <a:spcAft>
                <a:spcPct val="50000"/>
              </a:spcAft>
              <a:buClrTx/>
              <a:buSzPct val="125000"/>
              <a:buFontTx/>
              <a:buBlip>
                <a:blip r:embed="rId1"/>
              </a:buBlip>
            </a:pPr>
            <a:r>
              <a:rPr lang="en-US" altLang="zh-CN" sz="2400" b="1" dirty="0">
                <a:latin typeface="Tahoma" panose="020B0604030504040204" pitchFamily="34" charset="0"/>
                <a:cs typeface="Times New Roman" panose="02020603050405020304" pitchFamily="18" charset="0"/>
              </a:rPr>
              <a:t> </a:t>
            </a:r>
            <a:r>
              <a:rPr lang="zh-CN" altLang="en-US" sz="2400" b="1" dirty="0">
                <a:latin typeface="Tahoma" panose="020B0604030504040204" pitchFamily="34" charset="0"/>
                <a:cs typeface="Times New Roman" panose="02020603050405020304" pitchFamily="18" charset="0"/>
              </a:rPr>
              <a:t>英国先进</a:t>
            </a:r>
            <a:r>
              <a:rPr lang="en-US" altLang="zh-CN" sz="2400" b="1" dirty="0">
                <a:latin typeface="Tahoma" panose="020B0604030504040204" pitchFamily="34" charset="0"/>
                <a:cs typeface="Times New Roman" panose="02020603050405020304" pitchFamily="18" charset="0"/>
              </a:rPr>
              <a:t>RISC</a:t>
            </a:r>
            <a:r>
              <a:rPr lang="zh-CN" altLang="en-US" sz="2400" b="1" dirty="0">
                <a:latin typeface="Tahoma" panose="020B0604030504040204" pitchFamily="34" charset="0"/>
                <a:cs typeface="Times New Roman" panose="02020603050405020304" pitchFamily="18" charset="0"/>
              </a:rPr>
              <a:t>机器公司（</a:t>
            </a:r>
            <a:r>
              <a:rPr lang="en-US" altLang="zh-CN" sz="2400" b="1" dirty="0">
                <a:latin typeface="Tahoma" panose="020B0604030504040204" pitchFamily="34" charset="0"/>
                <a:cs typeface="Times New Roman" panose="02020603050405020304" pitchFamily="18" charset="0"/>
              </a:rPr>
              <a:t>Advanced RISC Machines</a:t>
            </a:r>
            <a:r>
              <a:rPr lang="zh-CN" altLang="en-US" sz="2400" b="1" dirty="0">
                <a:latin typeface="Tahoma" panose="020B0604030504040204" pitchFamily="34" charset="0"/>
                <a:cs typeface="Times New Roman" panose="02020603050405020304" pitchFamily="18" charset="0"/>
              </a:rPr>
              <a:t>，</a:t>
            </a:r>
            <a:r>
              <a:rPr lang="en-US" altLang="zh-CN" sz="2400" b="1" dirty="0">
                <a:latin typeface="Tahoma" panose="020B0604030504040204" pitchFamily="34" charset="0"/>
                <a:cs typeface="Times New Roman" panose="02020603050405020304" pitchFamily="18" charset="0"/>
              </a:rPr>
              <a:t>ARM</a:t>
            </a:r>
            <a:r>
              <a:rPr lang="zh-CN" altLang="en-US" sz="2400" b="1" dirty="0">
                <a:latin typeface="Tahoma" panose="020B0604030504040204" pitchFamily="34" charset="0"/>
                <a:cs typeface="Times New Roman" panose="02020603050405020304" pitchFamily="18" charset="0"/>
              </a:rPr>
              <a:t>）是全球领先的</a:t>
            </a:r>
            <a:r>
              <a:rPr lang="en-US" altLang="zh-CN" sz="2400" b="1" dirty="0">
                <a:latin typeface="Tahoma" panose="020B0604030504040204" pitchFamily="34" charset="0"/>
                <a:cs typeface="Times New Roman" panose="02020603050405020304" pitchFamily="18" charset="0"/>
              </a:rPr>
              <a:t>16/32</a:t>
            </a:r>
            <a:r>
              <a:rPr lang="zh-CN" altLang="en-US" sz="2400" b="1" dirty="0">
                <a:latin typeface="Tahoma" panose="020B0604030504040204" pitchFamily="34" charset="0"/>
                <a:cs typeface="Times New Roman" panose="02020603050405020304" pitchFamily="18" charset="0"/>
              </a:rPr>
              <a:t>位</a:t>
            </a:r>
            <a:r>
              <a:rPr lang="en-US" altLang="zh-CN" sz="2400" b="1" dirty="0">
                <a:latin typeface="Tahoma" panose="020B0604030504040204" pitchFamily="34" charset="0"/>
                <a:cs typeface="Times New Roman" panose="02020603050405020304" pitchFamily="18" charset="0"/>
              </a:rPr>
              <a:t>RISC</a:t>
            </a:r>
            <a:r>
              <a:rPr lang="zh-CN" altLang="en-US" sz="2400" b="1" dirty="0">
                <a:latin typeface="Tahoma" panose="020B0604030504040204" pitchFamily="34" charset="0"/>
                <a:cs typeface="Times New Roman" panose="02020603050405020304" pitchFamily="18" charset="0"/>
              </a:rPr>
              <a:t>微处理器知识产权（</a:t>
            </a:r>
            <a:r>
              <a:rPr lang="en-US" altLang="zh-CN" sz="2400" b="1" dirty="0">
                <a:latin typeface="Tahoma" panose="020B0604030504040204" pitchFamily="34" charset="0"/>
                <a:cs typeface="Times New Roman" panose="02020603050405020304" pitchFamily="18" charset="0"/>
              </a:rPr>
              <a:t>Intellectual Property</a:t>
            </a:r>
            <a:r>
              <a:rPr lang="zh-CN" altLang="en-US" sz="2400" b="1" dirty="0">
                <a:latin typeface="Tahoma" panose="020B0604030504040204" pitchFamily="34" charset="0"/>
                <a:cs typeface="Times New Roman" panose="02020603050405020304" pitchFamily="18" charset="0"/>
              </a:rPr>
              <a:t>，</a:t>
            </a:r>
            <a:r>
              <a:rPr lang="en-US" altLang="zh-CN" sz="2400" b="1" dirty="0">
                <a:latin typeface="Tahoma" panose="020B0604030504040204" pitchFamily="34" charset="0"/>
                <a:cs typeface="Times New Roman" panose="02020603050405020304" pitchFamily="18" charset="0"/>
              </a:rPr>
              <a:t>IP</a:t>
            </a:r>
            <a:r>
              <a:rPr lang="zh-CN" altLang="en-US" sz="2400" b="1" dirty="0">
                <a:latin typeface="Tahoma" panose="020B0604030504040204" pitchFamily="34" charset="0"/>
                <a:cs typeface="Times New Roman" panose="02020603050405020304" pitchFamily="18" charset="0"/>
              </a:rPr>
              <a:t>）供应商。</a:t>
            </a:r>
            <a:r>
              <a:rPr lang="zh-CN" altLang="en-US" sz="2400" b="1" dirty="0">
                <a:latin typeface="Tahoma" panose="020B0604030504040204" pitchFamily="34" charset="0"/>
              </a:rPr>
              <a:t> </a:t>
            </a:r>
            <a:endParaRPr lang="zh-CN" altLang="en-US" sz="2400" b="1" dirty="0">
              <a:latin typeface="Tahoma" panose="020B0604030504040204" pitchFamily="34" charset="0"/>
              <a:cs typeface="Times New Roman" panose="02020603050405020304" pitchFamily="18" charset="0"/>
            </a:endParaRPr>
          </a:p>
          <a:p>
            <a:pPr marL="0" lvl="0" indent="0" eaLnBrk="1" hangingPunct="1">
              <a:lnSpc>
                <a:spcPct val="140000"/>
              </a:lnSpc>
              <a:spcBef>
                <a:spcPct val="50000"/>
              </a:spcBef>
              <a:spcAft>
                <a:spcPct val="50000"/>
              </a:spcAft>
              <a:buClrTx/>
              <a:buSzPct val="125000"/>
              <a:buFontTx/>
              <a:buBlip>
                <a:blip r:embed="rId1"/>
              </a:buBlip>
            </a:pPr>
            <a:r>
              <a:rPr lang="zh-CN" altLang="en-US" sz="2400" b="1" dirty="0">
                <a:latin typeface="Tahoma" panose="020B0604030504040204" pitchFamily="34" charset="0"/>
                <a:cs typeface="Times New Roman" panose="02020603050405020304" pitchFamily="18" charset="0"/>
              </a:rPr>
              <a:t> </a:t>
            </a:r>
            <a:r>
              <a:rPr lang="en-US" altLang="zh-CN" sz="2400" b="1" dirty="0">
                <a:latin typeface="Tahoma" panose="020B0604030504040204" pitchFamily="34" charset="0"/>
                <a:cs typeface="Times New Roman" panose="02020603050405020304" pitchFamily="18" charset="0"/>
              </a:rPr>
              <a:t>ARM</a:t>
            </a:r>
            <a:r>
              <a:rPr lang="zh-CN" altLang="en-US" sz="2400" b="1" dirty="0">
                <a:latin typeface="Tahoma" panose="020B0604030504040204" pitchFamily="34" charset="0"/>
                <a:cs typeface="Times New Roman" panose="02020603050405020304" pitchFamily="18" charset="0"/>
              </a:rPr>
              <a:t>公司本身不直接从事芯片生产，而是依靠转让微处理器、外围和系统芯片的设计技术给合作公司，由合作公司使用这些技术来生产各具特色的芯片。 </a:t>
            </a:r>
            <a:endParaRPr lang="zh-CN" altLang="en-US" sz="2400" b="1" dirty="0">
              <a:latin typeface="Tahoma" panose="020B0604030504040204" pitchFamily="34" charset="0"/>
              <a:ea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59461">
                                            <p:txEl>
                                              <p:charRg st="0" end="97"/>
                                            </p:txEl>
                                          </p:spTgt>
                                        </p:tgtEl>
                                        <p:attrNameLst>
                                          <p:attrName>style.visibility</p:attrName>
                                        </p:attrNameLst>
                                      </p:cBhvr>
                                      <p:to>
                                        <p:strVal val="visible"/>
                                      </p:to>
                                    </p:set>
                                    <p:animEffect transition="in" filter="checkerboard(across)">
                                      <p:cBhvr>
                                        <p:cTn id="7" dur="500"/>
                                        <p:tgtEl>
                                          <p:spTgt spid="659461">
                                            <p:txEl>
                                              <p:charRg st="0" end="97"/>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59461">
                                            <p:txEl>
                                              <p:charRg st="97" end="168"/>
                                            </p:txEl>
                                          </p:spTgt>
                                        </p:tgtEl>
                                        <p:attrNameLst>
                                          <p:attrName>style.visibility</p:attrName>
                                        </p:attrNameLst>
                                      </p:cBhvr>
                                      <p:to>
                                        <p:strVal val="visible"/>
                                      </p:to>
                                    </p:set>
                                    <p:animEffect transition="in" filter="checkerboard(across)">
                                      <p:cBhvr>
                                        <p:cTn id="12" dur="500"/>
                                        <p:tgtEl>
                                          <p:spTgt spid="659461">
                                            <p:txEl>
                                              <p:charRg st="97" end="16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p:cNvSpPr>
          <p:nvPr>
            <p:ph type="title"/>
          </p:nvPr>
        </p:nvSpPr>
        <p:spPr>
          <a:xfrm>
            <a:off x="900113" y="188913"/>
            <a:ext cx="8243887" cy="811212"/>
          </a:xfrm>
          <a:ln/>
        </p:spPr>
        <p:txBody>
          <a:bodyPr vert="horz" wrap="square" lIns="91440" tIns="45720" rIns="91440" bIns="45720" anchor="b" anchorCtr="0"/>
          <a:p>
            <a:pPr eaLnBrk="1" hangingPunct="1"/>
            <a:r>
              <a:rPr lang="en-US" altLang="zh-CN" sz="3600" dirty="0"/>
              <a:t>1. ARM</a:t>
            </a:r>
            <a:r>
              <a:rPr lang="zh-CN" altLang="en-US" sz="3600" dirty="0"/>
              <a:t>处理器</a:t>
            </a:r>
            <a:endParaRPr lang="zh-CN" altLang="en-US" sz="3600" dirty="0"/>
          </a:p>
        </p:txBody>
      </p:sp>
      <p:sp>
        <p:nvSpPr>
          <p:cNvPr id="669699" name="Text Box 3"/>
          <p:cNvSpPr txBox="1"/>
          <p:nvPr/>
        </p:nvSpPr>
        <p:spPr>
          <a:xfrm>
            <a:off x="971550" y="1628775"/>
            <a:ext cx="7848600" cy="29257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135000"/>
              </a:lnSpc>
              <a:spcBef>
                <a:spcPct val="50000"/>
              </a:spcBef>
              <a:spcAft>
                <a:spcPct val="50000"/>
              </a:spcAft>
              <a:buClrTx/>
              <a:buSzPct val="125000"/>
              <a:buFontTx/>
              <a:buBlip>
                <a:blip r:embed="rId1"/>
              </a:buBlip>
            </a:pPr>
            <a:r>
              <a:rPr lang="en-US" altLang="zh-CN" sz="2400" b="1" dirty="0">
                <a:latin typeface="Tahoma" panose="020B0604030504040204" pitchFamily="34" charset="0"/>
                <a:cs typeface="Times New Roman" panose="02020603050405020304" pitchFamily="18" charset="0"/>
              </a:rPr>
              <a:t> ARM</a:t>
            </a:r>
            <a:r>
              <a:rPr lang="zh-CN" altLang="en-US" sz="2400" b="1" dirty="0">
                <a:latin typeface="Tahoma" panose="020B0604030504040204" pitchFamily="34" charset="0"/>
                <a:cs typeface="Times New Roman" panose="02020603050405020304" pitchFamily="18" charset="0"/>
              </a:rPr>
              <a:t>已成为移动通信、手持设备、多媒体数字消费等嵌入式解决方案事实上的标准。</a:t>
            </a:r>
            <a:endParaRPr lang="zh-CN" altLang="en-US" sz="2400" b="1" dirty="0">
              <a:latin typeface="Tahoma" panose="020B0604030504040204" pitchFamily="34" charset="0"/>
              <a:cs typeface="Times New Roman" panose="02020603050405020304" pitchFamily="18" charset="0"/>
            </a:endParaRPr>
          </a:p>
          <a:p>
            <a:pPr marL="0" lvl="0" indent="0" eaLnBrk="1" hangingPunct="1">
              <a:lnSpc>
                <a:spcPct val="135000"/>
              </a:lnSpc>
              <a:spcBef>
                <a:spcPct val="50000"/>
              </a:spcBef>
              <a:spcAft>
                <a:spcPct val="50000"/>
              </a:spcAft>
              <a:buClrTx/>
              <a:buSzPct val="125000"/>
              <a:buFontTx/>
              <a:buBlip>
                <a:blip r:embed="rId1"/>
              </a:buBlip>
            </a:pPr>
            <a:r>
              <a:rPr lang="zh-CN" altLang="en-US" sz="2400" b="1" dirty="0">
                <a:latin typeface="Tahoma" panose="020B0604030504040204" pitchFamily="34" charset="0"/>
                <a:cs typeface="Times New Roman" panose="02020603050405020304" pitchFamily="18" charset="0"/>
              </a:rPr>
              <a:t> </a:t>
            </a:r>
            <a:r>
              <a:rPr lang="en-US" altLang="zh-CN" sz="2400" b="1" dirty="0">
                <a:latin typeface="Tahoma" panose="020B0604030504040204" pitchFamily="34" charset="0"/>
                <a:cs typeface="Times New Roman" panose="02020603050405020304" pitchFamily="18" charset="0"/>
              </a:rPr>
              <a:t>ARM</a:t>
            </a:r>
            <a:r>
              <a:rPr lang="zh-CN" altLang="en-US" sz="2400" b="1" dirty="0">
                <a:latin typeface="Tahoma" panose="020B0604030504040204" pitchFamily="34" charset="0"/>
                <a:cs typeface="Times New Roman" panose="02020603050405020304" pitchFamily="18" charset="0"/>
              </a:rPr>
              <a:t>进入中国几年以来，已经与中兴、华为、东南大学、上海集成电路设计中心、中芯国际以及大唐签订了芯片核心技术授权协议。</a:t>
            </a:r>
            <a:endParaRPr lang="zh-CN" altLang="en-US" sz="2400" b="1" dirty="0">
              <a:latin typeface="Tahoma" panose="020B0604030504040204" pitchFamily="34" charset="0"/>
              <a:ea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669699">
                                            <p:txEl>
                                              <p:charRg st="0" end="40"/>
                                            </p:txEl>
                                          </p:spTgt>
                                        </p:tgtEl>
                                        <p:attrNameLst>
                                          <p:attrName>style.visibility</p:attrName>
                                        </p:attrNameLst>
                                      </p:cBhvr>
                                      <p:to>
                                        <p:strVal val="visible"/>
                                      </p:to>
                                    </p:set>
                                    <p:animEffect transition="in" filter="checkerboard(across)">
                                      <p:cBhvr>
                                        <p:cTn id="7" dur="500"/>
                                        <p:tgtEl>
                                          <p:spTgt spid="669699">
                                            <p:txEl>
                                              <p:charRg st="0" end="4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69699">
                                            <p:txEl>
                                              <p:charRg st="40" end="101"/>
                                            </p:txEl>
                                          </p:spTgt>
                                        </p:tgtEl>
                                        <p:attrNameLst>
                                          <p:attrName>style.visibility</p:attrName>
                                        </p:attrNameLst>
                                      </p:cBhvr>
                                      <p:to>
                                        <p:strVal val="visible"/>
                                      </p:to>
                                    </p:set>
                                    <p:animEffect transition="in" filter="checkerboard(across)">
                                      <p:cBhvr>
                                        <p:cTn id="12" dur="500"/>
                                        <p:tgtEl>
                                          <p:spTgt spid="669699">
                                            <p:txEl>
                                              <p:charRg st="40" end="10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a:spLocks noGrp="1"/>
          </p:cNvSpPr>
          <p:nvPr>
            <p:ph type="title"/>
          </p:nvPr>
        </p:nvSpPr>
        <p:spPr>
          <a:xfrm>
            <a:off x="900113" y="223838"/>
            <a:ext cx="8243887" cy="811212"/>
          </a:xfrm>
          <a:ln/>
        </p:spPr>
        <p:txBody>
          <a:bodyPr vert="horz" wrap="square" lIns="91440" tIns="45720" rIns="91440" bIns="45720" anchor="b" anchorCtr="0"/>
          <a:p>
            <a:pPr eaLnBrk="1" hangingPunct="1"/>
            <a:r>
              <a:rPr lang="en-US" altLang="zh-CN" sz="3600" dirty="0"/>
              <a:t>1. ARM</a:t>
            </a:r>
            <a:r>
              <a:rPr lang="zh-CN" altLang="en-US" sz="3600" dirty="0"/>
              <a:t>处理器</a:t>
            </a:r>
            <a:endParaRPr lang="zh-CN" altLang="en-US" sz="3600" dirty="0"/>
          </a:p>
        </p:txBody>
      </p:sp>
      <p:sp>
        <p:nvSpPr>
          <p:cNvPr id="48131" name="Text Box 3"/>
          <p:cNvSpPr txBox="1"/>
          <p:nvPr/>
        </p:nvSpPr>
        <p:spPr>
          <a:xfrm>
            <a:off x="971550" y="1484313"/>
            <a:ext cx="7632700" cy="5302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120000"/>
              </a:lnSpc>
              <a:spcBef>
                <a:spcPct val="30000"/>
              </a:spcBef>
              <a:buClrTx/>
              <a:buSzPct val="125000"/>
              <a:buFontTx/>
              <a:buBlip>
                <a:blip r:embed="rId1"/>
              </a:buBlip>
            </a:pPr>
            <a:r>
              <a:rPr lang="en-US" altLang="zh-CN" sz="2400" b="1" dirty="0">
                <a:latin typeface="Tahoma" panose="020B0604030504040204" pitchFamily="34" charset="0"/>
                <a:cs typeface="Times New Roman" panose="02020603050405020304" pitchFamily="18" charset="0"/>
              </a:rPr>
              <a:t> </a:t>
            </a:r>
            <a:r>
              <a:rPr lang="zh-CN" altLang="en-US" sz="2400" b="1" dirty="0">
                <a:latin typeface="Tahoma" panose="020B0604030504040204" pitchFamily="34" charset="0"/>
                <a:cs typeface="Times New Roman" panose="02020603050405020304" pitchFamily="18" charset="0"/>
              </a:rPr>
              <a:t>基于</a:t>
            </a:r>
            <a:r>
              <a:rPr lang="en-US" altLang="zh-CN" sz="2400" b="1" dirty="0">
                <a:latin typeface="Tahoma" panose="020B0604030504040204" pitchFamily="34" charset="0"/>
                <a:cs typeface="Times New Roman" panose="02020603050405020304" pitchFamily="18" charset="0"/>
              </a:rPr>
              <a:t>ARM</a:t>
            </a:r>
            <a:r>
              <a:rPr lang="zh-CN" altLang="en-US" sz="2400" b="1" dirty="0">
                <a:latin typeface="Tahoma" panose="020B0604030504040204" pitchFamily="34" charset="0"/>
                <a:cs typeface="Times New Roman" panose="02020603050405020304" pitchFamily="18" charset="0"/>
              </a:rPr>
              <a:t>核嵌入式芯片的典型应用主要有：</a:t>
            </a:r>
            <a:endParaRPr lang="zh-CN" altLang="en-US" sz="2400" b="1" dirty="0">
              <a:latin typeface="Tahoma" panose="020B0604030504040204" pitchFamily="34" charset="0"/>
              <a:ea typeface="Times New Roman" panose="02020603050405020304" pitchFamily="18" charset="0"/>
            </a:endParaRPr>
          </a:p>
        </p:txBody>
      </p:sp>
      <p:grpSp>
        <p:nvGrpSpPr>
          <p:cNvPr id="2" name="Group 33"/>
          <p:cNvGrpSpPr/>
          <p:nvPr/>
        </p:nvGrpSpPr>
        <p:grpSpPr>
          <a:xfrm>
            <a:off x="1258888" y="2420938"/>
            <a:ext cx="7077075" cy="3867150"/>
            <a:chOff x="793" y="1525"/>
            <a:chExt cx="4458" cy="2436"/>
          </a:xfrm>
        </p:grpSpPr>
        <p:sp>
          <p:nvSpPr>
            <p:cNvPr id="671752" name="Oval 8"/>
            <p:cNvSpPr>
              <a:spLocks noChangeArrowheads="1"/>
            </p:cNvSpPr>
            <p:nvPr/>
          </p:nvSpPr>
          <p:spPr bwMode="auto">
            <a:xfrm>
              <a:off x="2074" y="2319"/>
              <a:ext cx="1620" cy="840"/>
            </a:xfrm>
            <a:prstGeom prst="ellipse">
              <a:avLst/>
            </a:prstGeom>
            <a:gradFill rotWithShape="1">
              <a:gsLst>
                <a:gs pos="0">
                  <a:schemeClr val="hlink">
                    <a:gamma/>
                    <a:shade val="46275"/>
                    <a:invGamma/>
                  </a:schemeClr>
                </a:gs>
                <a:gs pos="50000">
                  <a:schemeClr val="hlink"/>
                </a:gs>
                <a:gs pos="100000">
                  <a:schemeClr val="hlink">
                    <a:gamma/>
                    <a:shade val="46275"/>
                    <a:invGamma/>
                  </a:schemeClr>
                </a:gs>
              </a:gsLst>
              <a:lin ang="18900000" scaled="1"/>
            </a:gradFill>
            <a:ln w="38100">
              <a:solidFill>
                <a:schemeClr val="hlink"/>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a:ln>
                    <a:noFill/>
                  </a:ln>
                  <a:solidFill>
                    <a:srgbClr val="FF2994"/>
                  </a:solidFill>
                  <a:effectLst>
                    <a:outerShdw blurRad="38100" dist="38100" dir="2700000" algn="tl">
                      <a:srgbClr val="000000"/>
                    </a:outerShdw>
                  </a:effectLst>
                  <a:uLnTx/>
                  <a:uFillTx/>
                  <a:latin typeface="Arial Unicode MS" pitchFamily="34" charset="-122"/>
                  <a:ea typeface="Arial Unicode MS" pitchFamily="34" charset="-122"/>
                  <a:cs typeface="Arial Unicode MS" pitchFamily="34" charset="-122"/>
                </a:rPr>
                <a:t>ARM</a:t>
              </a:r>
              <a:r>
                <a:rPr kumimoji="1" lang="zh-CN" altLang="en-US" sz="3200" b="1" i="0" u="none" strike="noStrike" kern="1200" cap="none" spc="0" normalizeH="0" baseline="0" noProof="0">
                  <a:ln>
                    <a:noFill/>
                  </a:ln>
                  <a:solidFill>
                    <a:srgbClr val="FF2994"/>
                  </a:solidFill>
                  <a:effectLst>
                    <a:outerShdw blurRad="38100" dist="38100" dir="2700000" algn="tl">
                      <a:srgbClr val="000000"/>
                    </a:outerShdw>
                  </a:effectLst>
                  <a:uLnTx/>
                  <a:uFillTx/>
                  <a:latin typeface="黑体" panose="02010609060101010101" pitchFamily="49" charset="-122"/>
                  <a:ea typeface="黑体" panose="02010609060101010101" pitchFamily="49" charset="-122"/>
                  <a:cs typeface="+mn-cs"/>
                </a:rPr>
                <a:t>应用</a:t>
              </a:r>
              <a:endParaRPr kumimoji="1" lang="zh-CN" altLang="en-US" sz="3200" b="1" i="0" u="none" strike="noStrike" kern="1200" cap="none" spc="0" normalizeH="0" baseline="0" noProof="0">
                <a:ln>
                  <a:noFill/>
                </a:ln>
                <a:solidFill>
                  <a:srgbClr val="FF2994"/>
                </a:solidFill>
                <a:effectLst>
                  <a:outerShdw blurRad="38100" dist="38100" dir="2700000" algn="tl">
                    <a:srgbClr val="000000"/>
                  </a:outerShdw>
                </a:effectLst>
                <a:uLnTx/>
                <a:uFillTx/>
                <a:latin typeface="黑体" panose="02010609060101010101" pitchFamily="49" charset="-122"/>
                <a:ea typeface="黑体" panose="02010609060101010101" pitchFamily="49" charset="-122"/>
                <a:cs typeface="+mn-cs"/>
              </a:endParaRPr>
            </a:p>
          </p:txBody>
        </p:sp>
        <p:sp>
          <p:nvSpPr>
            <p:cNvPr id="48134" name="Rectangle 9"/>
            <p:cNvSpPr/>
            <p:nvPr/>
          </p:nvSpPr>
          <p:spPr>
            <a:xfrm>
              <a:off x="4162" y="1767"/>
              <a:ext cx="1077" cy="337"/>
            </a:xfrm>
            <a:prstGeom prst="rect">
              <a:avLst/>
            </a:prstGeom>
            <a:gradFill rotWithShape="1">
              <a:gsLst>
                <a:gs pos="0">
                  <a:srgbClr val="B0DCB0"/>
                </a:gs>
                <a:gs pos="100000">
                  <a:srgbClr val="CCFFCC"/>
                </a:gs>
              </a:gsLst>
              <a:path path="shape">
                <a:fillToRect l="50000" t="50000" r="50000" b="50000"/>
              </a:path>
              <a:tileRect/>
            </a:gradFill>
            <a:ln w="38100" cap="flat" cmpd="sng">
              <a:solidFill>
                <a:schemeClr val="hlink"/>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lgn="ctr" eaLnBrk="1" hangingPunct="1">
                <a:spcBef>
                  <a:spcPct val="0"/>
                </a:spcBef>
                <a:buClrTx/>
                <a:buSzTx/>
                <a:buFontTx/>
                <a:buNone/>
              </a:pPr>
              <a:r>
                <a:rPr lang="zh-CN" altLang="en-US" sz="1800" b="1" dirty="0">
                  <a:solidFill>
                    <a:srgbClr val="000000"/>
                  </a:solidFill>
                  <a:latin typeface="Tahoma" panose="020B0604030504040204" pitchFamily="34" charset="0"/>
                </a:rPr>
                <a:t>消费娱乐产品 </a:t>
              </a:r>
              <a:endParaRPr lang="zh-CN" altLang="en-US" sz="1800" b="1" dirty="0">
                <a:solidFill>
                  <a:srgbClr val="000000"/>
                </a:solidFill>
                <a:latin typeface="Tahoma" panose="020B0604030504040204" pitchFamily="34" charset="0"/>
              </a:endParaRPr>
            </a:p>
          </p:txBody>
        </p:sp>
        <p:sp>
          <p:nvSpPr>
            <p:cNvPr id="48135" name="Rectangle 10"/>
            <p:cNvSpPr/>
            <p:nvPr/>
          </p:nvSpPr>
          <p:spPr>
            <a:xfrm>
              <a:off x="4179" y="2228"/>
              <a:ext cx="1062" cy="361"/>
            </a:xfrm>
            <a:prstGeom prst="rect">
              <a:avLst/>
            </a:prstGeom>
            <a:gradFill rotWithShape="1">
              <a:gsLst>
                <a:gs pos="0">
                  <a:srgbClr val="B0DCB0"/>
                </a:gs>
                <a:gs pos="100000">
                  <a:srgbClr val="CCFFCC"/>
                </a:gs>
              </a:gsLst>
              <a:path path="shape">
                <a:fillToRect l="50000" t="50000" r="50000" b="50000"/>
              </a:path>
              <a:tileRect/>
            </a:gradFill>
            <a:ln w="38100" cap="flat" cmpd="sng">
              <a:solidFill>
                <a:schemeClr val="hlink"/>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lgn="ctr" eaLnBrk="1" hangingPunct="1">
                <a:spcBef>
                  <a:spcPct val="0"/>
                </a:spcBef>
                <a:buClrTx/>
                <a:buSzTx/>
                <a:buFontTx/>
                <a:buNone/>
              </a:pPr>
              <a:r>
                <a:rPr lang="zh-CN" altLang="en-US" sz="1800" b="1" dirty="0">
                  <a:solidFill>
                    <a:srgbClr val="000000"/>
                  </a:solidFill>
                  <a:latin typeface="Tahoma" panose="020B0604030504040204" pitchFamily="34" charset="0"/>
                </a:rPr>
                <a:t>数字影像产品 </a:t>
              </a:r>
              <a:endParaRPr lang="zh-CN" altLang="en-US" sz="1800" b="1" dirty="0">
                <a:solidFill>
                  <a:srgbClr val="000000"/>
                </a:solidFill>
                <a:latin typeface="Tahoma" panose="020B0604030504040204" pitchFamily="34" charset="0"/>
              </a:endParaRPr>
            </a:p>
          </p:txBody>
        </p:sp>
        <p:sp>
          <p:nvSpPr>
            <p:cNvPr id="48136" name="Rectangle 11"/>
            <p:cNvSpPr/>
            <p:nvPr/>
          </p:nvSpPr>
          <p:spPr>
            <a:xfrm>
              <a:off x="2504" y="1525"/>
              <a:ext cx="816" cy="360"/>
            </a:xfrm>
            <a:prstGeom prst="rect">
              <a:avLst/>
            </a:prstGeom>
            <a:gradFill rotWithShape="1">
              <a:gsLst>
                <a:gs pos="0">
                  <a:srgbClr val="B0DCB0"/>
                </a:gs>
                <a:gs pos="100000">
                  <a:srgbClr val="CCFFCC"/>
                </a:gs>
              </a:gsLst>
              <a:path path="shape">
                <a:fillToRect l="50000" t="50000" r="50000" b="50000"/>
              </a:path>
              <a:tileRect/>
            </a:gradFill>
            <a:ln w="38100" cap="flat" cmpd="sng">
              <a:solidFill>
                <a:schemeClr val="hlink"/>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lgn="ctr" eaLnBrk="1" hangingPunct="1">
                <a:spcBef>
                  <a:spcPct val="0"/>
                </a:spcBef>
                <a:buClrTx/>
                <a:buSzTx/>
                <a:buFontTx/>
                <a:buNone/>
              </a:pPr>
              <a:r>
                <a:rPr lang="zh-CN" altLang="en-US" sz="2000" b="1" dirty="0">
                  <a:solidFill>
                    <a:srgbClr val="000000"/>
                  </a:solidFill>
                </a:rPr>
                <a:t>军事电子</a:t>
              </a:r>
              <a:endParaRPr lang="zh-CN" altLang="en-US" sz="2000" b="1" dirty="0">
                <a:solidFill>
                  <a:srgbClr val="000000"/>
                </a:solidFill>
              </a:endParaRPr>
            </a:p>
          </p:txBody>
        </p:sp>
        <p:sp>
          <p:nvSpPr>
            <p:cNvPr id="48137" name="Rectangle 12"/>
            <p:cNvSpPr/>
            <p:nvPr/>
          </p:nvSpPr>
          <p:spPr>
            <a:xfrm>
              <a:off x="4177" y="2706"/>
              <a:ext cx="1062" cy="361"/>
            </a:xfrm>
            <a:prstGeom prst="rect">
              <a:avLst/>
            </a:prstGeom>
            <a:gradFill rotWithShape="1">
              <a:gsLst>
                <a:gs pos="0">
                  <a:srgbClr val="B0DCB0"/>
                </a:gs>
                <a:gs pos="100000">
                  <a:srgbClr val="CCFFCC"/>
                </a:gs>
              </a:gsLst>
              <a:path path="shape">
                <a:fillToRect l="50000" t="50000" r="50000" b="50000"/>
              </a:path>
              <a:tileRect/>
            </a:gradFill>
            <a:ln w="38100" cap="flat" cmpd="sng">
              <a:solidFill>
                <a:schemeClr val="hlink"/>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lgn="ctr" eaLnBrk="1" hangingPunct="1">
                <a:spcBef>
                  <a:spcPct val="0"/>
                </a:spcBef>
                <a:buClrTx/>
                <a:buSzTx/>
                <a:buFontTx/>
                <a:buNone/>
              </a:pPr>
              <a:r>
                <a:rPr lang="zh-CN" altLang="en-US" sz="1800" b="1" dirty="0">
                  <a:solidFill>
                    <a:srgbClr val="000000"/>
                  </a:solidFill>
                  <a:latin typeface="Tahoma" panose="020B0604030504040204" pitchFamily="34" charset="0"/>
                </a:rPr>
                <a:t>工业控制产品 </a:t>
              </a:r>
              <a:endParaRPr lang="zh-CN" altLang="en-US" sz="1800" b="1" dirty="0">
                <a:solidFill>
                  <a:srgbClr val="000000"/>
                </a:solidFill>
                <a:latin typeface="Tahoma" panose="020B0604030504040204" pitchFamily="34" charset="0"/>
              </a:endParaRPr>
            </a:p>
          </p:txBody>
        </p:sp>
        <p:sp>
          <p:nvSpPr>
            <p:cNvPr id="48138" name="Rectangle 13"/>
            <p:cNvSpPr/>
            <p:nvPr/>
          </p:nvSpPr>
          <p:spPr>
            <a:xfrm>
              <a:off x="4189" y="3210"/>
              <a:ext cx="1062" cy="361"/>
            </a:xfrm>
            <a:prstGeom prst="rect">
              <a:avLst/>
            </a:prstGeom>
            <a:gradFill rotWithShape="1">
              <a:gsLst>
                <a:gs pos="0">
                  <a:srgbClr val="B0DCB0"/>
                </a:gs>
                <a:gs pos="100000">
                  <a:srgbClr val="CCFFCC"/>
                </a:gs>
              </a:gsLst>
              <a:path path="shape">
                <a:fillToRect l="50000" t="50000" r="50000" b="50000"/>
              </a:path>
              <a:tileRect/>
            </a:gradFill>
            <a:ln w="38100" cap="flat" cmpd="sng">
              <a:solidFill>
                <a:schemeClr val="hlink"/>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lgn="ctr" eaLnBrk="1" hangingPunct="1">
                <a:spcBef>
                  <a:spcPct val="0"/>
                </a:spcBef>
                <a:buClrTx/>
                <a:buSzTx/>
                <a:buFontTx/>
                <a:buNone/>
              </a:pPr>
              <a:r>
                <a:rPr lang="zh-CN" altLang="en-US" sz="2000" b="1" dirty="0">
                  <a:solidFill>
                    <a:srgbClr val="000000"/>
                  </a:solidFill>
                </a:rPr>
                <a:t>移动存贮</a:t>
              </a:r>
              <a:endParaRPr lang="zh-CN" altLang="en-US" sz="2000" b="1" dirty="0">
                <a:solidFill>
                  <a:srgbClr val="000000"/>
                </a:solidFill>
              </a:endParaRPr>
            </a:p>
          </p:txBody>
        </p:sp>
        <p:sp>
          <p:nvSpPr>
            <p:cNvPr id="48139" name="Rectangle 14"/>
            <p:cNvSpPr/>
            <p:nvPr/>
          </p:nvSpPr>
          <p:spPr>
            <a:xfrm>
              <a:off x="793" y="2094"/>
              <a:ext cx="816" cy="360"/>
            </a:xfrm>
            <a:prstGeom prst="rect">
              <a:avLst/>
            </a:prstGeom>
            <a:gradFill rotWithShape="1">
              <a:gsLst>
                <a:gs pos="0">
                  <a:srgbClr val="B0DCB0"/>
                </a:gs>
                <a:gs pos="100000">
                  <a:srgbClr val="CCFFCC"/>
                </a:gs>
              </a:gsLst>
              <a:path path="shape">
                <a:fillToRect l="50000" t="50000" r="50000" b="50000"/>
              </a:path>
              <a:tileRect/>
            </a:gradFill>
            <a:ln w="38100" cap="flat" cmpd="sng">
              <a:solidFill>
                <a:schemeClr val="hlink"/>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lgn="ctr" eaLnBrk="1" hangingPunct="1">
                <a:spcBef>
                  <a:spcPct val="0"/>
                </a:spcBef>
                <a:buClrTx/>
                <a:buSzTx/>
                <a:buFontTx/>
                <a:buNone/>
              </a:pPr>
              <a:r>
                <a:rPr lang="zh-CN" altLang="en-US" sz="1800" b="1" dirty="0">
                  <a:solidFill>
                    <a:srgbClr val="000000"/>
                  </a:solidFill>
                  <a:latin typeface="Tahoma" panose="020B0604030504040204" pitchFamily="34" charset="0"/>
                </a:rPr>
                <a:t>无线产品 </a:t>
              </a:r>
              <a:endParaRPr lang="zh-CN" altLang="en-US" sz="1800" b="1" dirty="0">
                <a:solidFill>
                  <a:srgbClr val="000000"/>
                </a:solidFill>
                <a:latin typeface="Tahoma" panose="020B0604030504040204" pitchFamily="34" charset="0"/>
              </a:endParaRPr>
            </a:p>
          </p:txBody>
        </p:sp>
        <p:sp>
          <p:nvSpPr>
            <p:cNvPr id="48140" name="Rectangle 15"/>
            <p:cNvSpPr/>
            <p:nvPr/>
          </p:nvSpPr>
          <p:spPr>
            <a:xfrm>
              <a:off x="810" y="2591"/>
              <a:ext cx="816" cy="360"/>
            </a:xfrm>
            <a:prstGeom prst="rect">
              <a:avLst/>
            </a:prstGeom>
            <a:gradFill rotWithShape="1">
              <a:gsLst>
                <a:gs pos="0">
                  <a:srgbClr val="B0DCB0"/>
                </a:gs>
                <a:gs pos="100000">
                  <a:srgbClr val="CCFFCC"/>
                </a:gs>
              </a:gsLst>
              <a:path path="shape">
                <a:fillToRect l="50000" t="50000" r="50000" b="50000"/>
              </a:path>
              <a:tileRect/>
            </a:gradFill>
            <a:ln w="38100" cap="flat" cmpd="sng">
              <a:solidFill>
                <a:schemeClr val="hlink"/>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lgn="ctr" eaLnBrk="1" hangingPunct="1">
                <a:spcBef>
                  <a:spcPct val="0"/>
                </a:spcBef>
                <a:buClrTx/>
                <a:buSzTx/>
                <a:buFontTx/>
                <a:buNone/>
              </a:pPr>
              <a:r>
                <a:rPr lang="zh-CN" altLang="en-US" sz="1800" b="1" dirty="0">
                  <a:solidFill>
                    <a:srgbClr val="000000"/>
                  </a:solidFill>
                  <a:latin typeface="Tahoma" panose="020B0604030504040204" pitchFamily="34" charset="0"/>
                </a:rPr>
                <a:t>存储产品 </a:t>
              </a:r>
              <a:endParaRPr lang="zh-CN" altLang="en-US" sz="1800" b="1" dirty="0">
                <a:solidFill>
                  <a:srgbClr val="000000"/>
                </a:solidFill>
                <a:latin typeface="Tahoma" panose="020B0604030504040204" pitchFamily="34" charset="0"/>
              </a:endParaRPr>
            </a:p>
          </p:txBody>
        </p:sp>
        <p:sp>
          <p:nvSpPr>
            <p:cNvPr id="48141" name="Rectangle 16"/>
            <p:cNvSpPr/>
            <p:nvPr/>
          </p:nvSpPr>
          <p:spPr>
            <a:xfrm>
              <a:off x="822" y="3095"/>
              <a:ext cx="816" cy="360"/>
            </a:xfrm>
            <a:prstGeom prst="rect">
              <a:avLst/>
            </a:prstGeom>
            <a:gradFill rotWithShape="1">
              <a:gsLst>
                <a:gs pos="0">
                  <a:srgbClr val="B0DCB0"/>
                </a:gs>
                <a:gs pos="100000">
                  <a:srgbClr val="CCFFCC"/>
                </a:gs>
              </a:gsLst>
              <a:path path="shape">
                <a:fillToRect l="50000" t="50000" r="50000" b="50000"/>
              </a:path>
              <a:tileRect/>
            </a:gradFill>
            <a:ln w="38100" cap="flat" cmpd="sng">
              <a:solidFill>
                <a:schemeClr val="hlink"/>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lgn="ctr" eaLnBrk="1" hangingPunct="1">
                <a:spcBef>
                  <a:spcPct val="0"/>
                </a:spcBef>
                <a:buClrTx/>
                <a:buSzTx/>
                <a:buFontTx/>
                <a:buNone/>
              </a:pPr>
              <a:r>
                <a:rPr lang="zh-CN" altLang="en-US" sz="1800" b="1" dirty="0">
                  <a:solidFill>
                    <a:srgbClr val="000000"/>
                  </a:solidFill>
                  <a:latin typeface="Tahoma" panose="020B0604030504040204" pitchFamily="34" charset="0"/>
                </a:rPr>
                <a:t>汽车产品 </a:t>
              </a:r>
              <a:endParaRPr lang="zh-CN" altLang="en-US" sz="1800" b="1" dirty="0">
                <a:solidFill>
                  <a:srgbClr val="000000"/>
                </a:solidFill>
                <a:latin typeface="Tahoma" panose="020B0604030504040204" pitchFamily="34" charset="0"/>
              </a:endParaRPr>
            </a:p>
          </p:txBody>
        </p:sp>
        <p:sp>
          <p:nvSpPr>
            <p:cNvPr id="48142" name="Rectangle 17"/>
            <p:cNvSpPr/>
            <p:nvPr/>
          </p:nvSpPr>
          <p:spPr>
            <a:xfrm>
              <a:off x="1899" y="3620"/>
              <a:ext cx="864" cy="336"/>
            </a:xfrm>
            <a:prstGeom prst="rect">
              <a:avLst/>
            </a:prstGeom>
            <a:gradFill rotWithShape="1">
              <a:gsLst>
                <a:gs pos="0">
                  <a:srgbClr val="B0DCB0"/>
                </a:gs>
                <a:gs pos="100000">
                  <a:srgbClr val="CCFFCC"/>
                </a:gs>
              </a:gsLst>
              <a:path path="shape">
                <a:fillToRect l="50000" t="50000" r="50000" b="50000"/>
              </a:path>
              <a:tileRect/>
            </a:gradFill>
            <a:ln w="38100" cap="flat" cmpd="sng">
              <a:solidFill>
                <a:schemeClr val="hlink"/>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lgn="ctr" eaLnBrk="1" hangingPunct="1">
                <a:spcBef>
                  <a:spcPct val="0"/>
                </a:spcBef>
                <a:buClrTx/>
                <a:buSzTx/>
                <a:buFontTx/>
                <a:buNone/>
              </a:pPr>
              <a:r>
                <a:rPr lang="zh-CN" altLang="en-US" sz="1800" b="1" dirty="0">
                  <a:solidFill>
                    <a:srgbClr val="000000"/>
                  </a:solidFill>
                  <a:latin typeface="Tahoma" panose="020B0604030504040204" pitchFamily="34" charset="0"/>
                </a:rPr>
                <a:t>网络产品 </a:t>
              </a:r>
              <a:endParaRPr lang="zh-CN" altLang="en-US" sz="1800" b="1" dirty="0">
                <a:solidFill>
                  <a:srgbClr val="000000"/>
                </a:solidFill>
                <a:latin typeface="Tahoma" panose="020B0604030504040204" pitchFamily="34" charset="0"/>
              </a:endParaRPr>
            </a:p>
          </p:txBody>
        </p:sp>
        <p:sp>
          <p:nvSpPr>
            <p:cNvPr id="48143" name="Line 18"/>
            <p:cNvSpPr/>
            <p:nvPr/>
          </p:nvSpPr>
          <p:spPr>
            <a:xfrm flipH="1" flipV="1">
              <a:off x="2915" y="1887"/>
              <a:ext cx="11" cy="432"/>
            </a:xfrm>
            <a:prstGeom prst="line">
              <a:avLst/>
            </a:prstGeom>
            <a:ln w="38100" cap="flat" cmpd="sng">
              <a:solidFill>
                <a:schemeClr val="hlink"/>
              </a:solidFill>
              <a:prstDash val="solid"/>
              <a:headEnd type="none" w="med" len="med"/>
              <a:tailEnd type="triangle" w="med" len="lg"/>
            </a:ln>
          </p:spPr>
        </p:sp>
        <p:sp>
          <p:nvSpPr>
            <p:cNvPr id="48144" name="Line 19"/>
            <p:cNvSpPr/>
            <p:nvPr/>
          </p:nvSpPr>
          <p:spPr>
            <a:xfrm flipV="1">
              <a:off x="3519" y="1887"/>
              <a:ext cx="658" cy="569"/>
            </a:xfrm>
            <a:prstGeom prst="line">
              <a:avLst/>
            </a:prstGeom>
            <a:ln w="38100" cap="flat" cmpd="sng">
              <a:solidFill>
                <a:schemeClr val="hlink"/>
              </a:solidFill>
              <a:prstDash val="solid"/>
              <a:headEnd type="none" w="med" len="med"/>
              <a:tailEnd type="triangle" w="med" len="lg"/>
            </a:ln>
          </p:spPr>
        </p:sp>
        <p:sp>
          <p:nvSpPr>
            <p:cNvPr id="48145" name="Line 20"/>
            <p:cNvSpPr/>
            <p:nvPr/>
          </p:nvSpPr>
          <p:spPr>
            <a:xfrm flipH="1" flipV="1">
              <a:off x="1611" y="2264"/>
              <a:ext cx="720" cy="180"/>
            </a:xfrm>
            <a:prstGeom prst="line">
              <a:avLst/>
            </a:prstGeom>
            <a:ln w="38100" cap="flat" cmpd="sng">
              <a:solidFill>
                <a:schemeClr val="hlink"/>
              </a:solidFill>
              <a:prstDash val="solid"/>
              <a:headEnd type="none" w="med" len="med"/>
              <a:tailEnd type="triangle" w="med" len="lg"/>
            </a:ln>
          </p:spPr>
        </p:sp>
        <p:sp>
          <p:nvSpPr>
            <p:cNvPr id="48146" name="Line 21"/>
            <p:cNvSpPr/>
            <p:nvPr/>
          </p:nvSpPr>
          <p:spPr>
            <a:xfrm flipH="1">
              <a:off x="1623" y="3056"/>
              <a:ext cx="696" cy="216"/>
            </a:xfrm>
            <a:prstGeom prst="line">
              <a:avLst/>
            </a:prstGeom>
            <a:ln w="38100" cap="flat" cmpd="sng">
              <a:solidFill>
                <a:schemeClr val="hlink"/>
              </a:solidFill>
              <a:prstDash val="solid"/>
              <a:headEnd type="none" w="med" len="med"/>
              <a:tailEnd type="triangle" w="med" len="lg"/>
            </a:ln>
          </p:spPr>
        </p:sp>
        <p:sp>
          <p:nvSpPr>
            <p:cNvPr id="48147" name="Line 22"/>
            <p:cNvSpPr/>
            <p:nvPr/>
          </p:nvSpPr>
          <p:spPr>
            <a:xfrm flipH="1" flipV="1">
              <a:off x="1616" y="2749"/>
              <a:ext cx="468" cy="0"/>
            </a:xfrm>
            <a:prstGeom prst="line">
              <a:avLst/>
            </a:prstGeom>
            <a:ln w="38100" cap="flat" cmpd="sng">
              <a:solidFill>
                <a:schemeClr val="hlink"/>
              </a:solidFill>
              <a:prstDash val="solid"/>
              <a:headEnd type="none" w="med" len="med"/>
              <a:tailEnd type="triangle" w="med" len="lg"/>
            </a:ln>
          </p:spPr>
        </p:sp>
        <p:sp>
          <p:nvSpPr>
            <p:cNvPr id="48148" name="Line 23"/>
            <p:cNvSpPr/>
            <p:nvPr/>
          </p:nvSpPr>
          <p:spPr>
            <a:xfrm flipH="1">
              <a:off x="2331" y="3152"/>
              <a:ext cx="360" cy="480"/>
            </a:xfrm>
            <a:prstGeom prst="line">
              <a:avLst/>
            </a:prstGeom>
            <a:ln w="38100" cap="flat" cmpd="sng">
              <a:solidFill>
                <a:schemeClr val="hlink"/>
              </a:solidFill>
              <a:prstDash val="solid"/>
              <a:headEnd type="none" w="med" len="med"/>
              <a:tailEnd type="triangle" w="med" len="lg"/>
            </a:ln>
          </p:spPr>
        </p:sp>
        <p:sp>
          <p:nvSpPr>
            <p:cNvPr id="48149" name="Line 24"/>
            <p:cNvSpPr/>
            <p:nvPr/>
          </p:nvSpPr>
          <p:spPr>
            <a:xfrm flipV="1">
              <a:off x="3651" y="2408"/>
              <a:ext cx="564" cy="180"/>
            </a:xfrm>
            <a:prstGeom prst="line">
              <a:avLst/>
            </a:prstGeom>
            <a:ln w="38100" cap="flat" cmpd="sng">
              <a:solidFill>
                <a:schemeClr val="hlink"/>
              </a:solidFill>
              <a:prstDash val="solid"/>
              <a:headEnd type="none" w="med" len="med"/>
              <a:tailEnd type="triangle" w="med" len="lg"/>
            </a:ln>
          </p:spPr>
        </p:sp>
        <p:sp>
          <p:nvSpPr>
            <p:cNvPr id="48150" name="Line 25"/>
            <p:cNvSpPr/>
            <p:nvPr/>
          </p:nvSpPr>
          <p:spPr>
            <a:xfrm>
              <a:off x="3699" y="2804"/>
              <a:ext cx="478" cy="81"/>
            </a:xfrm>
            <a:prstGeom prst="line">
              <a:avLst/>
            </a:prstGeom>
            <a:ln w="38100" cap="flat" cmpd="sng">
              <a:solidFill>
                <a:schemeClr val="hlink"/>
              </a:solidFill>
              <a:prstDash val="solid"/>
              <a:headEnd type="none" w="med" len="med"/>
              <a:tailEnd type="triangle" w="med" len="lg"/>
            </a:ln>
          </p:spPr>
        </p:sp>
        <p:sp>
          <p:nvSpPr>
            <p:cNvPr id="48151" name="Line 26"/>
            <p:cNvSpPr/>
            <p:nvPr/>
          </p:nvSpPr>
          <p:spPr>
            <a:xfrm>
              <a:off x="3579" y="2972"/>
              <a:ext cx="624" cy="432"/>
            </a:xfrm>
            <a:prstGeom prst="line">
              <a:avLst/>
            </a:prstGeom>
            <a:ln w="38100" cap="flat" cmpd="sng">
              <a:solidFill>
                <a:schemeClr val="hlink"/>
              </a:solidFill>
              <a:prstDash val="solid"/>
              <a:headEnd type="none" w="med" len="med"/>
              <a:tailEnd type="triangle" w="med" len="lg"/>
            </a:ln>
          </p:spPr>
        </p:sp>
        <p:sp>
          <p:nvSpPr>
            <p:cNvPr id="48152" name="Rectangle 30"/>
            <p:cNvSpPr/>
            <p:nvPr/>
          </p:nvSpPr>
          <p:spPr>
            <a:xfrm>
              <a:off x="3032" y="3625"/>
              <a:ext cx="864" cy="336"/>
            </a:xfrm>
            <a:prstGeom prst="rect">
              <a:avLst/>
            </a:prstGeom>
            <a:gradFill rotWithShape="1">
              <a:gsLst>
                <a:gs pos="0">
                  <a:srgbClr val="B0DCB0"/>
                </a:gs>
                <a:gs pos="100000">
                  <a:srgbClr val="CCFFCC"/>
                </a:gs>
              </a:gsLst>
              <a:path path="shape">
                <a:fillToRect l="50000" t="50000" r="50000" b="50000"/>
              </a:path>
              <a:tileRect/>
            </a:gradFill>
            <a:ln w="38100" cap="flat" cmpd="sng">
              <a:solidFill>
                <a:schemeClr val="hlink"/>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lgn="ctr" eaLnBrk="1" hangingPunct="1">
                <a:spcBef>
                  <a:spcPct val="0"/>
                </a:spcBef>
                <a:buClrTx/>
                <a:buSzTx/>
                <a:buFontTx/>
                <a:buNone/>
              </a:pPr>
              <a:r>
                <a:rPr lang="zh-CN" altLang="en-US" sz="1800" b="1" dirty="0">
                  <a:solidFill>
                    <a:srgbClr val="000000"/>
                  </a:solidFill>
                  <a:latin typeface="Tahoma" panose="020B0604030504040204" pitchFamily="34" charset="0"/>
                </a:rPr>
                <a:t>安全产品 </a:t>
              </a:r>
              <a:endParaRPr lang="zh-CN" altLang="en-US" sz="1800" b="1" dirty="0">
                <a:solidFill>
                  <a:srgbClr val="000000"/>
                </a:solidFill>
                <a:latin typeface="Tahoma" panose="020B0604030504040204" pitchFamily="34" charset="0"/>
              </a:endParaRPr>
            </a:p>
          </p:txBody>
        </p:sp>
        <p:sp>
          <p:nvSpPr>
            <p:cNvPr id="48153" name="Line 31"/>
            <p:cNvSpPr/>
            <p:nvPr/>
          </p:nvSpPr>
          <p:spPr>
            <a:xfrm>
              <a:off x="3154" y="3135"/>
              <a:ext cx="300" cy="480"/>
            </a:xfrm>
            <a:prstGeom prst="line">
              <a:avLst/>
            </a:prstGeom>
            <a:ln w="38100" cap="flat" cmpd="sng">
              <a:solidFill>
                <a:schemeClr val="hlink"/>
              </a:solidFill>
              <a:prstDash val="solid"/>
              <a:headEnd type="none" w="med" len="med"/>
              <a:tailEnd type="triangle" w="med"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000000"/>
                                          </p:val>
                                        </p:tav>
                                        <p:tav tm="100000">
                                          <p:val>
                                            <p:strVal val="#ppt_w"/>
                                          </p:val>
                                        </p:tav>
                                      </p:tavLst>
                                    </p:anim>
                                    <p:anim calcmode="lin" valueType="num">
                                      <p:cBhvr>
                                        <p:cTn id="8" dur="500" fill="hold"/>
                                        <p:tgtEl>
                                          <p:spTgt spid="2"/>
                                        </p:tgtEl>
                                        <p:attrNameLst>
                                          <p:attrName>ppt_h</p:attrName>
                                        </p:attrNameLst>
                                      </p:cBhvr>
                                      <p:tavLst>
                                        <p:tav tm="0">
                                          <p:val>
                                            <p:fltVal val="0.00000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type="title"/>
          </p:nvPr>
        </p:nvSpPr>
        <p:spPr>
          <a:xfrm>
            <a:off x="846138" y="188913"/>
            <a:ext cx="8243887" cy="811212"/>
          </a:xfrm>
          <a:ln/>
        </p:spPr>
        <p:txBody>
          <a:bodyPr vert="horz" wrap="square" lIns="91440" tIns="45720" rIns="91440" bIns="45720" anchor="b" anchorCtr="0"/>
          <a:p>
            <a:pPr eaLnBrk="1" hangingPunct="1"/>
            <a:r>
              <a:rPr lang="en-US" altLang="zh-CN" sz="3600" dirty="0"/>
              <a:t>2. PowerPC</a:t>
            </a:r>
            <a:r>
              <a:rPr lang="zh-CN" altLang="en-US" sz="3600" dirty="0"/>
              <a:t>处理器</a:t>
            </a:r>
            <a:endParaRPr lang="zh-CN" altLang="en-US" sz="3600" dirty="0"/>
          </a:p>
        </p:txBody>
      </p:sp>
      <p:sp>
        <p:nvSpPr>
          <p:cNvPr id="672771" name="Text Box 3"/>
          <p:cNvSpPr txBox="1"/>
          <p:nvPr/>
        </p:nvSpPr>
        <p:spPr>
          <a:xfrm>
            <a:off x="971550" y="1731963"/>
            <a:ext cx="7993063" cy="37846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135000"/>
              </a:lnSpc>
              <a:spcBef>
                <a:spcPct val="50000"/>
              </a:spcBef>
              <a:spcAft>
                <a:spcPct val="50000"/>
              </a:spcAft>
              <a:buClrTx/>
              <a:buSzPct val="125000"/>
              <a:buFontTx/>
              <a:buBlip>
                <a:blip r:embed="rId1"/>
              </a:buBlip>
            </a:pPr>
            <a:r>
              <a:rPr lang="en-US" altLang="zh-CN" sz="2400" b="1" dirty="0">
                <a:latin typeface="Tahoma" panose="020B0604030504040204" pitchFamily="34" charset="0"/>
                <a:cs typeface="Times New Roman" panose="02020603050405020304" pitchFamily="18" charset="0"/>
              </a:rPr>
              <a:t> PowerPC</a:t>
            </a:r>
            <a:r>
              <a:rPr lang="zh-CN" altLang="en-US" sz="2400" b="1" dirty="0">
                <a:latin typeface="Tahoma" panose="020B0604030504040204" pitchFamily="34" charset="0"/>
                <a:cs typeface="Times New Roman" panose="02020603050405020304" pitchFamily="18" charset="0"/>
              </a:rPr>
              <a:t>处理器品种很多，既有通用的处理器，又有嵌入式控制器和内核。</a:t>
            </a:r>
            <a:endParaRPr lang="zh-CN" altLang="en-US" sz="2400" b="1" dirty="0">
              <a:latin typeface="Tahoma" panose="020B0604030504040204" pitchFamily="34" charset="0"/>
              <a:cs typeface="Times New Roman" panose="02020603050405020304" pitchFamily="18" charset="0"/>
            </a:endParaRPr>
          </a:p>
          <a:p>
            <a:pPr marL="0" lvl="0" indent="0" eaLnBrk="1" hangingPunct="1">
              <a:lnSpc>
                <a:spcPct val="135000"/>
              </a:lnSpc>
              <a:spcBef>
                <a:spcPct val="50000"/>
              </a:spcBef>
              <a:spcAft>
                <a:spcPct val="50000"/>
              </a:spcAft>
              <a:buClrTx/>
              <a:buSzPct val="125000"/>
              <a:buFontTx/>
              <a:buBlip>
                <a:blip r:embed="rId1"/>
              </a:buBlip>
            </a:pPr>
            <a:r>
              <a:rPr lang="zh-CN" altLang="en-US" sz="2400" b="1" dirty="0">
                <a:latin typeface="Tahoma" panose="020B0604030504040204" pitchFamily="34" charset="0"/>
                <a:cs typeface="Times New Roman" panose="02020603050405020304" pitchFamily="18" charset="0"/>
              </a:rPr>
              <a:t> </a:t>
            </a:r>
            <a:r>
              <a:rPr lang="en-US" altLang="zh-CN" sz="2400" b="1" dirty="0">
                <a:latin typeface="Tahoma" panose="020B0604030504040204" pitchFamily="34" charset="0"/>
                <a:cs typeface="Times New Roman" panose="02020603050405020304" pitchFamily="18" charset="0"/>
              </a:rPr>
              <a:t>PowerPC</a:t>
            </a:r>
            <a:r>
              <a:rPr lang="zh-CN" altLang="en-US" sz="2400" b="1" dirty="0">
                <a:latin typeface="Tahoma" panose="020B0604030504040204" pitchFamily="34" charset="0"/>
                <a:cs typeface="Times New Roman" panose="02020603050405020304" pitchFamily="18" charset="0"/>
              </a:rPr>
              <a:t>的特点是</a:t>
            </a:r>
            <a:r>
              <a:rPr lang="zh-CN" altLang="en-US" sz="2400" b="1" dirty="0">
                <a:solidFill>
                  <a:srgbClr val="D6006B"/>
                </a:solidFill>
                <a:latin typeface="Tahoma" panose="020B0604030504040204" pitchFamily="34" charset="0"/>
                <a:cs typeface="Times New Roman" panose="02020603050405020304" pitchFamily="18" charset="0"/>
              </a:rPr>
              <a:t>可伸缩性好、方便灵活</a:t>
            </a:r>
            <a:r>
              <a:rPr lang="zh-CN" altLang="en-US" sz="2400" b="1" dirty="0">
                <a:latin typeface="Tahoma" panose="020B0604030504040204" pitchFamily="34" charset="0"/>
                <a:cs typeface="Times New Roman" panose="02020603050405020304" pitchFamily="18" charset="0"/>
              </a:rPr>
              <a:t>。</a:t>
            </a:r>
            <a:endParaRPr lang="zh-CN" altLang="en-US" sz="2400" b="1" dirty="0">
              <a:latin typeface="Tahoma" panose="020B0604030504040204" pitchFamily="34" charset="0"/>
              <a:cs typeface="Times New Roman" panose="02020603050405020304" pitchFamily="18" charset="0"/>
            </a:endParaRPr>
          </a:p>
          <a:p>
            <a:pPr marL="0" lvl="0" indent="0" eaLnBrk="1" hangingPunct="1">
              <a:lnSpc>
                <a:spcPct val="135000"/>
              </a:lnSpc>
              <a:spcBef>
                <a:spcPct val="50000"/>
              </a:spcBef>
              <a:spcAft>
                <a:spcPct val="50000"/>
              </a:spcAft>
              <a:buClrTx/>
              <a:buSzPct val="125000"/>
              <a:buFontTx/>
              <a:buBlip>
                <a:blip r:embed="rId1"/>
              </a:buBlip>
            </a:pPr>
            <a:r>
              <a:rPr lang="zh-CN" altLang="en-US" sz="2400" b="1" dirty="0">
                <a:latin typeface="Tahoma" panose="020B0604030504040204" pitchFamily="34" charset="0"/>
                <a:cs typeface="Times New Roman" panose="02020603050405020304" pitchFamily="18" charset="0"/>
              </a:rPr>
              <a:t> </a:t>
            </a:r>
            <a:r>
              <a:rPr lang="en-US" altLang="zh-CN" sz="2400" b="1" dirty="0">
                <a:latin typeface="Tahoma" panose="020B0604030504040204" pitchFamily="34" charset="0"/>
                <a:cs typeface="Times New Roman" panose="02020603050405020304" pitchFamily="18" charset="0"/>
              </a:rPr>
              <a:t>PowerPC</a:t>
            </a:r>
            <a:r>
              <a:rPr lang="zh-CN" altLang="en-US" sz="2400" b="1" dirty="0">
                <a:latin typeface="Tahoma" panose="020B0604030504040204" pitchFamily="34" charset="0"/>
                <a:cs typeface="Times New Roman" panose="02020603050405020304" pitchFamily="18" charset="0"/>
              </a:rPr>
              <a:t>的应用范围非常广泛，从高端的工作站、服务器到桌面计算机系统，从消费电子到大型通信设备等各个方面。</a:t>
            </a:r>
            <a:r>
              <a:rPr lang="zh-CN" altLang="en-US" sz="2400" b="1" dirty="0">
                <a:latin typeface="Tahoma" panose="020B0604030504040204" pitchFamily="34" charset="0"/>
              </a:rPr>
              <a:t> </a:t>
            </a:r>
            <a:endParaRPr lang="zh-CN" altLang="en-US" sz="2400" b="1" dirty="0">
              <a:latin typeface="Tahoma" panose="020B060403050404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672771">
                                            <p:txEl>
                                              <p:charRg st="0" end="38"/>
                                            </p:txEl>
                                          </p:spTgt>
                                        </p:tgtEl>
                                        <p:attrNameLst>
                                          <p:attrName>style.visibility</p:attrName>
                                        </p:attrNameLst>
                                      </p:cBhvr>
                                      <p:to>
                                        <p:strVal val="visible"/>
                                      </p:to>
                                    </p:set>
                                    <p:animEffect transition="in" filter="diamond(in)">
                                      <p:cBhvr>
                                        <p:cTn id="7" dur="500"/>
                                        <p:tgtEl>
                                          <p:spTgt spid="672771">
                                            <p:txEl>
                                              <p:charRg st="0" end="38"/>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672771">
                                            <p:txEl>
                                              <p:charRg st="38" end="62"/>
                                            </p:txEl>
                                          </p:spTgt>
                                        </p:tgtEl>
                                        <p:attrNameLst>
                                          <p:attrName>style.visibility</p:attrName>
                                        </p:attrNameLst>
                                      </p:cBhvr>
                                      <p:to>
                                        <p:strVal val="visible"/>
                                      </p:to>
                                    </p:set>
                                    <p:animEffect transition="in" filter="diamond(in)">
                                      <p:cBhvr>
                                        <p:cTn id="12" dur="500"/>
                                        <p:tgtEl>
                                          <p:spTgt spid="672771">
                                            <p:txEl>
                                              <p:charRg st="38" end="6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672771">
                                            <p:txEl>
                                              <p:charRg st="62" end="120"/>
                                            </p:txEl>
                                          </p:spTgt>
                                        </p:tgtEl>
                                        <p:attrNameLst>
                                          <p:attrName>style.visibility</p:attrName>
                                        </p:attrNameLst>
                                      </p:cBhvr>
                                      <p:to>
                                        <p:strVal val="visible"/>
                                      </p:to>
                                    </p:set>
                                    <p:animEffect transition="in" filter="diamond(in)">
                                      <p:cBhvr>
                                        <p:cTn id="17" dur="500"/>
                                        <p:tgtEl>
                                          <p:spTgt spid="672771">
                                            <p:txEl>
                                              <p:charRg st="62" end="12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p:cNvSpPr>
          <p:nvPr>
            <p:ph type="title"/>
          </p:nvPr>
        </p:nvSpPr>
        <p:spPr>
          <a:xfrm>
            <a:off x="900113" y="260350"/>
            <a:ext cx="8243887" cy="811213"/>
          </a:xfrm>
          <a:ln/>
        </p:spPr>
        <p:txBody>
          <a:bodyPr vert="horz" wrap="square" lIns="91440" tIns="45720" rIns="91440" bIns="45720" anchor="b" anchorCtr="0"/>
          <a:p>
            <a:pPr eaLnBrk="1" hangingPunct="1"/>
            <a:r>
              <a:rPr lang="en-US" altLang="zh-CN" sz="3600" dirty="0"/>
              <a:t>2. PowerPC</a:t>
            </a:r>
            <a:r>
              <a:rPr lang="zh-CN" altLang="en-US" sz="3600" dirty="0"/>
              <a:t>处理器</a:t>
            </a:r>
            <a:endParaRPr lang="zh-CN" altLang="en-US" sz="3600" dirty="0"/>
          </a:p>
        </p:txBody>
      </p:sp>
      <p:sp>
        <p:nvSpPr>
          <p:cNvPr id="673795" name="Text Box 3"/>
          <p:cNvSpPr txBox="1"/>
          <p:nvPr/>
        </p:nvSpPr>
        <p:spPr>
          <a:xfrm>
            <a:off x="971550" y="1866900"/>
            <a:ext cx="7777163" cy="22828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150000"/>
              </a:lnSpc>
              <a:spcBef>
                <a:spcPct val="30000"/>
              </a:spcBef>
              <a:buClrTx/>
              <a:buSzPct val="125000"/>
              <a:buFontTx/>
              <a:buBlip>
                <a:blip r:embed="rId1"/>
              </a:buBlip>
            </a:pPr>
            <a:r>
              <a:rPr lang="en-US" altLang="zh-CN" sz="2400" b="1" dirty="0">
                <a:latin typeface="Tahoma" panose="020B0604030504040204" pitchFamily="34" charset="0"/>
                <a:cs typeface="Times New Roman" panose="02020603050405020304" pitchFamily="18" charset="0"/>
              </a:rPr>
              <a:t> PowerPC</a:t>
            </a:r>
            <a:r>
              <a:rPr lang="zh-CN" altLang="en-US" sz="2400" b="1" dirty="0">
                <a:latin typeface="Tahoma" panose="020B0604030504040204" pitchFamily="34" charset="0"/>
                <a:cs typeface="Times New Roman" panose="02020603050405020304" pitchFamily="18" charset="0"/>
              </a:rPr>
              <a:t>处理器的主频从</a:t>
            </a:r>
            <a:r>
              <a:rPr lang="en-US" altLang="zh-CN" sz="2400" b="1" dirty="0">
                <a:latin typeface="Tahoma" panose="020B0604030504040204" pitchFamily="34" charset="0"/>
                <a:cs typeface="Times New Roman" panose="02020603050405020304" pitchFamily="18" charset="0"/>
              </a:rPr>
              <a:t>25MHz</a:t>
            </a:r>
            <a:r>
              <a:rPr lang="zh-CN" altLang="en-US" sz="2400" b="1" dirty="0">
                <a:latin typeface="Tahoma" panose="020B0604030504040204" pitchFamily="34" charset="0"/>
                <a:cs typeface="Times New Roman" panose="02020603050405020304" pitchFamily="18" charset="0"/>
              </a:rPr>
              <a:t>～</a:t>
            </a:r>
            <a:r>
              <a:rPr lang="en-US" altLang="zh-CN" sz="2400" b="1" dirty="0">
                <a:latin typeface="Tahoma" panose="020B0604030504040204" pitchFamily="34" charset="0"/>
                <a:cs typeface="Times New Roman" panose="02020603050405020304" pitchFamily="18" charset="0"/>
              </a:rPr>
              <a:t>700MHz</a:t>
            </a:r>
            <a:r>
              <a:rPr lang="zh-CN" altLang="en-US" sz="2400" b="1" dirty="0">
                <a:latin typeface="Tahoma" panose="020B0604030504040204" pitchFamily="34" charset="0"/>
                <a:cs typeface="Times New Roman" panose="02020603050405020304" pitchFamily="18" charset="0"/>
              </a:rPr>
              <a:t>不等，它们的能量消耗、大小、整合程度、价格等差别悬殊，主要产品的芯片型号有</a:t>
            </a:r>
            <a:r>
              <a:rPr lang="en-US" altLang="zh-CN" sz="2400" b="1" dirty="0">
                <a:latin typeface="Tahoma" panose="020B0604030504040204" pitchFamily="34" charset="0"/>
                <a:cs typeface="Times New Roman" panose="02020603050405020304" pitchFamily="18" charset="0"/>
              </a:rPr>
              <a:t>PowerPC 750</a:t>
            </a:r>
            <a:r>
              <a:rPr lang="zh-CN" altLang="en-US" sz="2400" b="1" dirty="0">
                <a:latin typeface="Tahoma" panose="020B0604030504040204" pitchFamily="34" charset="0"/>
                <a:cs typeface="Times New Roman" panose="02020603050405020304" pitchFamily="18" charset="0"/>
              </a:rPr>
              <a:t>、</a:t>
            </a:r>
            <a:r>
              <a:rPr lang="en-US" altLang="zh-CN" sz="2400" b="1" dirty="0">
                <a:latin typeface="Tahoma" panose="020B0604030504040204" pitchFamily="34" charset="0"/>
                <a:cs typeface="Times New Roman" panose="02020603050405020304" pitchFamily="18" charset="0"/>
              </a:rPr>
              <a:t>PowerPC 405</a:t>
            </a:r>
            <a:r>
              <a:rPr lang="zh-CN" altLang="en-US" sz="2400" b="1" dirty="0">
                <a:latin typeface="Tahoma" panose="020B0604030504040204" pitchFamily="34" charset="0"/>
                <a:cs typeface="Times New Roman" panose="02020603050405020304" pitchFamily="18" charset="0"/>
              </a:rPr>
              <a:t>和</a:t>
            </a:r>
            <a:r>
              <a:rPr lang="en-US" altLang="zh-CN" sz="2400" b="1" dirty="0">
                <a:latin typeface="Tahoma" panose="020B0604030504040204" pitchFamily="34" charset="0"/>
                <a:cs typeface="Times New Roman" panose="02020603050405020304" pitchFamily="18" charset="0"/>
              </a:rPr>
              <a:t>PowerPC440</a:t>
            </a:r>
            <a:r>
              <a:rPr lang="zh-CN" altLang="en-US" sz="2400" b="1" dirty="0">
                <a:latin typeface="Tahoma" panose="020B0604030504040204" pitchFamily="34" charset="0"/>
                <a:cs typeface="Times New Roman" panose="02020603050405020304" pitchFamily="18" charset="0"/>
              </a:rPr>
              <a:t>。 </a:t>
            </a:r>
            <a:endParaRPr lang="zh-CN" altLang="en-US" sz="2400" b="1" dirty="0">
              <a:latin typeface="Tahoma" panose="020B0604030504040204" pitchFamily="34" charset="0"/>
              <a:ea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grpId="0" nodeType="afterEffect">
                                  <p:stCondLst>
                                    <p:cond delay="0"/>
                                  </p:stCondLst>
                                  <p:childTnLst>
                                    <p:set>
                                      <p:cBhvr>
                                        <p:cTn id="6" dur="1" fill="hold">
                                          <p:stCondLst>
                                            <p:cond delay="0"/>
                                          </p:stCondLst>
                                        </p:cTn>
                                        <p:tgtEl>
                                          <p:spTgt spid="673795"/>
                                        </p:tgtEl>
                                        <p:attrNameLst>
                                          <p:attrName>style.visibility</p:attrName>
                                        </p:attrNameLst>
                                      </p:cBhvr>
                                      <p:to>
                                        <p:strVal val="visible"/>
                                      </p:to>
                                    </p:set>
                                    <p:animEffect transition="in" filter="diamond(in)">
                                      <p:cBhvr>
                                        <p:cTn id="7" dur="500"/>
                                        <p:tgtEl>
                                          <p:spTgt spid="67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379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p:cNvSpPr>
          <p:nvPr>
            <p:ph type="title"/>
          </p:nvPr>
        </p:nvSpPr>
        <p:spPr>
          <a:xfrm>
            <a:off x="395288" y="115888"/>
            <a:ext cx="8243887" cy="811212"/>
          </a:xfrm>
          <a:ln/>
        </p:spPr>
        <p:txBody>
          <a:bodyPr vert="horz" wrap="square" lIns="91440" tIns="45720" rIns="91440" bIns="45720" anchor="b" anchorCtr="0"/>
          <a:p>
            <a:pPr eaLnBrk="1" hangingPunct="1"/>
            <a:r>
              <a:rPr lang="en-US" altLang="zh-CN" sz="3600" dirty="0"/>
              <a:t>3. MIPS</a:t>
            </a:r>
            <a:r>
              <a:rPr lang="zh-CN" altLang="en-US" sz="3600" dirty="0"/>
              <a:t>处理器</a:t>
            </a:r>
            <a:r>
              <a:rPr lang="zh-CN" altLang="en-US" dirty="0"/>
              <a:t> </a:t>
            </a:r>
            <a:endParaRPr lang="zh-CN" altLang="en-US" dirty="0"/>
          </a:p>
        </p:txBody>
      </p:sp>
      <p:sp>
        <p:nvSpPr>
          <p:cNvPr id="674819" name="Text Box 3"/>
          <p:cNvSpPr txBox="1"/>
          <p:nvPr/>
        </p:nvSpPr>
        <p:spPr>
          <a:xfrm>
            <a:off x="971550" y="1919288"/>
            <a:ext cx="7921625" cy="3670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150000"/>
              </a:lnSpc>
              <a:spcBef>
                <a:spcPct val="30000"/>
              </a:spcBef>
              <a:spcAft>
                <a:spcPct val="50000"/>
              </a:spcAft>
              <a:buClrTx/>
              <a:buSzPct val="125000"/>
              <a:buFontTx/>
              <a:buBlip>
                <a:blip r:embed="rId1"/>
              </a:buBlip>
            </a:pPr>
            <a:r>
              <a:rPr lang="en-US" altLang="zh-CN" sz="2400" b="1" dirty="0">
                <a:latin typeface="Tahoma" panose="020B0604030504040204" pitchFamily="34" charset="0"/>
                <a:cs typeface="Times New Roman" panose="02020603050405020304" pitchFamily="18" charset="0"/>
              </a:rPr>
              <a:t> MIPS</a:t>
            </a:r>
            <a:r>
              <a:rPr lang="zh-CN" altLang="en-US" sz="2400" b="1" dirty="0">
                <a:latin typeface="Tahoma" panose="020B0604030504040204" pitchFamily="34" charset="0"/>
                <a:cs typeface="Times New Roman" panose="02020603050405020304" pitchFamily="18" charset="0"/>
              </a:rPr>
              <a:t>是</a:t>
            </a:r>
            <a:r>
              <a:rPr lang="en-US" altLang="zh-CN" sz="2400" b="1" dirty="0">
                <a:latin typeface="Tahoma" panose="020B0604030504040204" pitchFamily="34" charset="0"/>
                <a:cs typeface="Times New Roman" panose="02020603050405020304" pitchFamily="18" charset="0"/>
              </a:rPr>
              <a:t>Microprocessor without Interlocked Pipeline Stages</a:t>
            </a:r>
            <a:r>
              <a:rPr lang="zh-CN" altLang="en-US" sz="2400" b="1" dirty="0">
                <a:latin typeface="Tahoma" panose="020B0604030504040204" pitchFamily="34" charset="0"/>
                <a:cs typeface="Times New Roman" panose="02020603050405020304" pitchFamily="18" charset="0"/>
              </a:rPr>
              <a:t>的缩写，即</a:t>
            </a:r>
            <a:r>
              <a:rPr lang="zh-CN" altLang="en-US" sz="2400" b="1" dirty="0">
                <a:latin typeface="Arial" panose="020B0604020202020204" pitchFamily="34" charset="0"/>
                <a:cs typeface="Times New Roman" panose="02020603050405020304" pitchFamily="18" charset="0"/>
              </a:rPr>
              <a:t>“</a:t>
            </a:r>
            <a:r>
              <a:rPr lang="zh-CN" altLang="en-US" sz="2400" b="1" dirty="0">
                <a:latin typeface="Tahoma" panose="020B0604030504040204" pitchFamily="34" charset="0"/>
                <a:cs typeface="Times New Roman" panose="02020603050405020304" pitchFamily="18" charset="0"/>
              </a:rPr>
              <a:t>无内部互锁流水级的微处理器</a:t>
            </a:r>
            <a:r>
              <a:rPr lang="zh-CN" altLang="en-US" sz="2400" b="1" dirty="0">
                <a:latin typeface="Arial" panose="020B0604020202020204" pitchFamily="34" charset="0"/>
                <a:cs typeface="Times New Roman" panose="02020603050405020304" pitchFamily="18" charset="0"/>
              </a:rPr>
              <a:t>”</a:t>
            </a:r>
            <a:r>
              <a:rPr lang="zh-CN" altLang="en-US" sz="2400" b="1" dirty="0">
                <a:latin typeface="Tahoma" panose="020B0604030504040204" pitchFamily="34" charset="0"/>
                <a:cs typeface="Times New Roman" panose="02020603050405020304" pitchFamily="18" charset="0"/>
              </a:rPr>
              <a:t>。</a:t>
            </a:r>
            <a:endParaRPr lang="zh-CN" altLang="en-US" sz="2400" b="1" dirty="0">
              <a:latin typeface="Tahoma" panose="020B0604030504040204" pitchFamily="34" charset="0"/>
              <a:cs typeface="Times New Roman" panose="02020603050405020304" pitchFamily="18" charset="0"/>
            </a:endParaRPr>
          </a:p>
          <a:p>
            <a:pPr marL="0" lvl="0" indent="0" eaLnBrk="1" hangingPunct="1">
              <a:lnSpc>
                <a:spcPct val="150000"/>
              </a:lnSpc>
              <a:spcBef>
                <a:spcPct val="30000"/>
              </a:spcBef>
              <a:spcAft>
                <a:spcPct val="50000"/>
              </a:spcAft>
              <a:buClrTx/>
              <a:buSzPct val="125000"/>
              <a:buFontTx/>
              <a:buBlip>
                <a:blip r:embed="rId1"/>
              </a:buBlip>
            </a:pPr>
            <a:r>
              <a:rPr lang="zh-CN" altLang="en-US" sz="2400" b="1" dirty="0">
                <a:latin typeface="Tahoma" panose="020B0604030504040204" pitchFamily="34" charset="0"/>
                <a:cs typeface="Times New Roman" panose="02020603050405020304" pitchFamily="18" charset="0"/>
              </a:rPr>
              <a:t> </a:t>
            </a:r>
            <a:r>
              <a:rPr lang="en-US" altLang="zh-CN" sz="2400" b="1" dirty="0">
                <a:latin typeface="Tahoma" panose="020B0604030504040204" pitchFamily="34" charset="0"/>
                <a:cs typeface="Times New Roman" panose="02020603050405020304" pitchFamily="18" charset="0"/>
              </a:rPr>
              <a:t>MIPS</a:t>
            </a:r>
            <a:r>
              <a:rPr lang="zh-CN" altLang="en-US" sz="2400" b="1" dirty="0">
                <a:latin typeface="Tahoma" panose="020B0604030504040204" pitchFamily="34" charset="0"/>
                <a:cs typeface="Times New Roman" panose="02020603050405020304" pitchFamily="18" charset="0"/>
              </a:rPr>
              <a:t>的机制是尽量利用软件办法避免流水线中的数据相关问题，最早在</a:t>
            </a:r>
            <a:r>
              <a:rPr lang="en-US" altLang="zh-CN" sz="2400" b="1" dirty="0">
                <a:latin typeface="Tahoma" panose="020B0604030504040204" pitchFamily="34" charset="0"/>
                <a:cs typeface="Times New Roman" panose="02020603050405020304" pitchFamily="18" charset="0"/>
              </a:rPr>
              <a:t>80</a:t>
            </a:r>
            <a:r>
              <a:rPr lang="zh-CN" altLang="en-US" sz="2400" b="1" dirty="0">
                <a:latin typeface="Tahoma" panose="020B0604030504040204" pitchFamily="34" charset="0"/>
                <a:cs typeface="Times New Roman" panose="02020603050405020304" pitchFamily="18" charset="0"/>
              </a:rPr>
              <a:t>年代初期由斯坦福（</a:t>
            </a:r>
            <a:r>
              <a:rPr lang="en-US" altLang="zh-CN" sz="2400" b="1" dirty="0">
                <a:latin typeface="Tahoma" panose="020B0604030504040204" pitchFamily="34" charset="0"/>
                <a:cs typeface="Times New Roman" panose="02020603050405020304" pitchFamily="18" charset="0"/>
              </a:rPr>
              <a:t>Stanford</a:t>
            </a:r>
            <a:r>
              <a:rPr lang="zh-CN" altLang="en-US" sz="2400" b="1" dirty="0">
                <a:latin typeface="Tahoma" panose="020B0604030504040204" pitchFamily="34" charset="0"/>
                <a:cs typeface="Times New Roman" panose="02020603050405020304" pitchFamily="18" charset="0"/>
              </a:rPr>
              <a:t>）大学</a:t>
            </a:r>
            <a:r>
              <a:rPr lang="en-US" altLang="zh-CN" sz="2400" b="1" dirty="0">
                <a:latin typeface="Tahoma" panose="020B0604030504040204" pitchFamily="34" charset="0"/>
                <a:cs typeface="Times New Roman" panose="02020603050405020304" pitchFamily="18" charset="0"/>
              </a:rPr>
              <a:t>Hennessy</a:t>
            </a:r>
            <a:r>
              <a:rPr lang="zh-CN" altLang="en-US" sz="2400" b="1" dirty="0">
                <a:latin typeface="Tahoma" panose="020B0604030504040204" pitchFamily="34" charset="0"/>
                <a:cs typeface="Times New Roman" panose="02020603050405020304" pitchFamily="18" charset="0"/>
              </a:rPr>
              <a:t>教授领导的研究小组研制出来的。 </a:t>
            </a:r>
            <a:endParaRPr lang="zh-CN" altLang="en-US" sz="2400" b="1" dirty="0">
              <a:latin typeface="Tahoma" panose="020B0604030504040204" pitchFamily="34" charset="0"/>
              <a:ea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674819">
                                            <p:txEl>
                                              <p:charRg st="0" end="78"/>
                                            </p:txEl>
                                          </p:spTgt>
                                        </p:tgtEl>
                                        <p:attrNameLst>
                                          <p:attrName>style.visibility</p:attrName>
                                        </p:attrNameLst>
                                      </p:cBhvr>
                                      <p:to>
                                        <p:strVal val="visible"/>
                                      </p:to>
                                    </p:set>
                                    <p:animEffect transition="in" filter="box(out)">
                                      <p:cBhvr>
                                        <p:cTn id="7" dur="500"/>
                                        <p:tgtEl>
                                          <p:spTgt spid="674819">
                                            <p:txEl>
                                              <p:charRg st="0" end="78"/>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674819">
                                            <p:txEl>
                                              <p:charRg st="78" end="159"/>
                                            </p:txEl>
                                          </p:spTgt>
                                        </p:tgtEl>
                                        <p:attrNameLst>
                                          <p:attrName>style.visibility</p:attrName>
                                        </p:attrNameLst>
                                      </p:cBhvr>
                                      <p:to>
                                        <p:strVal val="visible"/>
                                      </p:to>
                                    </p:set>
                                    <p:animEffect transition="in" filter="box(out)">
                                      <p:cBhvr>
                                        <p:cTn id="12" dur="500"/>
                                        <p:tgtEl>
                                          <p:spTgt spid="674819">
                                            <p:txEl>
                                              <p:charRg st="78" end="15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p:cNvSpPr>
          <p:nvPr>
            <p:ph type="title"/>
          </p:nvPr>
        </p:nvSpPr>
        <p:spPr>
          <a:xfrm>
            <a:off x="900113" y="188913"/>
            <a:ext cx="8243887" cy="811212"/>
          </a:xfrm>
          <a:ln/>
        </p:spPr>
        <p:txBody>
          <a:bodyPr vert="horz" wrap="square" lIns="91440" tIns="45720" rIns="91440" bIns="45720" anchor="b" anchorCtr="0"/>
          <a:p>
            <a:pPr eaLnBrk="1" hangingPunct="1"/>
            <a:r>
              <a:rPr lang="en-US" altLang="zh-CN" sz="3600" dirty="0"/>
              <a:t>3. MIPS</a:t>
            </a:r>
            <a:r>
              <a:rPr lang="zh-CN" altLang="en-US" sz="3600" dirty="0"/>
              <a:t>处理器</a:t>
            </a:r>
            <a:r>
              <a:rPr lang="zh-CN" altLang="en-US" dirty="0"/>
              <a:t> </a:t>
            </a:r>
            <a:endParaRPr lang="zh-CN" altLang="en-US" dirty="0"/>
          </a:p>
        </p:txBody>
      </p:sp>
      <p:sp>
        <p:nvSpPr>
          <p:cNvPr id="675843" name="Text Box 3"/>
          <p:cNvSpPr txBox="1"/>
          <p:nvPr/>
        </p:nvSpPr>
        <p:spPr>
          <a:xfrm>
            <a:off x="971550" y="1557338"/>
            <a:ext cx="7921625" cy="50593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130000"/>
              </a:lnSpc>
              <a:spcBef>
                <a:spcPct val="45000"/>
              </a:spcBef>
              <a:spcAft>
                <a:spcPct val="50000"/>
              </a:spcAft>
              <a:buClrTx/>
              <a:buSzPct val="125000"/>
              <a:buFontTx/>
              <a:buBlip>
                <a:blip r:embed="rId1"/>
              </a:buBlip>
            </a:pPr>
            <a:r>
              <a:rPr lang="zh-CN" altLang="en-US" sz="2400" b="1" dirty="0">
                <a:latin typeface="Tahoma" panose="020B0604030504040204" pitchFamily="34" charset="0"/>
                <a:cs typeface="Times New Roman" panose="02020603050405020304" pitchFamily="18" charset="0"/>
              </a:rPr>
              <a:t>在嵌入式应用方面，</a:t>
            </a:r>
            <a:r>
              <a:rPr lang="en-US" altLang="zh-CN" sz="2400" b="1" dirty="0">
                <a:latin typeface="Tahoma" panose="020B0604030504040204" pitchFamily="34" charset="0"/>
                <a:cs typeface="Times New Roman" panose="02020603050405020304" pitchFamily="18" charset="0"/>
              </a:rPr>
              <a:t>MIPS</a:t>
            </a:r>
            <a:r>
              <a:rPr lang="zh-CN" altLang="en-US" sz="2400" b="1" dirty="0">
                <a:latin typeface="Tahoma" panose="020B0604030504040204" pitchFamily="34" charset="0"/>
                <a:cs typeface="Times New Roman" panose="02020603050405020304" pitchFamily="18" charset="0"/>
              </a:rPr>
              <a:t>系列微处理器是目前</a:t>
            </a:r>
            <a:r>
              <a:rPr lang="zh-CN" altLang="en-US" sz="2400" b="1" dirty="0">
                <a:solidFill>
                  <a:srgbClr val="D6006B"/>
                </a:solidFill>
                <a:latin typeface="Tahoma" panose="020B0604030504040204" pitchFamily="34" charset="0"/>
                <a:cs typeface="Times New Roman" panose="02020603050405020304" pitchFamily="18" charset="0"/>
              </a:rPr>
              <a:t>仅次于</a:t>
            </a:r>
            <a:r>
              <a:rPr lang="en-US" altLang="zh-CN" sz="2400" b="1" dirty="0">
                <a:latin typeface="Tahoma" panose="020B0604030504040204" pitchFamily="34" charset="0"/>
                <a:cs typeface="Times New Roman" panose="02020603050405020304" pitchFamily="18" charset="0"/>
              </a:rPr>
              <a:t>ARM</a:t>
            </a:r>
            <a:r>
              <a:rPr lang="zh-CN" altLang="en-US" sz="2400" b="1" dirty="0">
                <a:latin typeface="Tahoma" panose="020B0604030504040204" pitchFamily="34" charset="0"/>
                <a:cs typeface="Times New Roman" panose="02020603050405020304" pitchFamily="18" charset="0"/>
              </a:rPr>
              <a:t>的使用最广泛的处理器之一，其应用领域覆盖机顶盒、游戏机、路由器、激光打印机、掌上电脑等各个方面。</a:t>
            </a:r>
            <a:endParaRPr lang="zh-CN" altLang="en-US" sz="2400" b="1" dirty="0">
              <a:latin typeface="Tahoma" panose="020B0604030504040204" pitchFamily="34" charset="0"/>
              <a:cs typeface="Times New Roman" panose="02020603050405020304" pitchFamily="18" charset="0"/>
            </a:endParaRPr>
          </a:p>
          <a:p>
            <a:pPr marL="0" lvl="0" indent="0" eaLnBrk="1" hangingPunct="1">
              <a:lnSpc>
                <a:spcPct val="130000"/>
              </a:lnSpc>
              <a:spcBef>
                <a:spcPct val="45000"/>
              </a:spcBef>
              <a:spcAft>
                <a:spcPct val="50000"/>
              </a:spcAft>
              <a:buClrTx/>
              <a:buSzPct val="125000"/>
              <a:buFontTx/>
              <a:buBlip>
                <a:blip r:embed="rId1"/>
              </a:buBlip>
            </a:pPr>
            <a:r>
              <a:rPr lang="zh-CN" altLang="en-US" sz="2400" b="1" dirty="0">
                <a:latin typeface="Tahoma" panose="020B0604030504040204" pitchFamily="34" charset="0"/>
                <a:cs typeface="Times New Roman" panose="02020603050405020304" pitchFamily="18" charset="0"/>
              </a:rPr>
              <a:t> </a:t>
            </a:r>
            <a:r>
              <a:rPr lang="en-US" altLang="zh-CN" sz="2400" b="1" dirty="0">
                <a:latin typeface="Tahoma" panose="020B0604030504040204" pitchFamily="34" charset="0"/>
                <a:cs typeface="Times New Roman" panose="02020603050405020304" pitchFamily="18" charset="0"/>
              </a:rPr>
              <a:t>MIPS</a:t>
            </a:r>
            <a:r>
              <a:rPr lang="zh-CN" altLang="en-US" sz="2400" b="1" dirty="0">
                <a:latin typeface="Tahoma" panose="020B0604030504040204" pitchFamily="34" charset="0"/>
                <a:cs typeface="Times New Roman" panose="02020603050405020304" pitchFamily="18" charset="0"/>
              </a:rPr>
              <a:t>的系统结构及设计理念比较先进，强调软硬件协同提供性能，同时简化硬件设计。</a:t>
            </a:r>
            <a:endParaRPr lang="zh-CN" altLang="en-US" sz="2400" b="1" dirty="0">
              <a:latin typeface="Tahoma" panose="020B0604030504040204" pitchFamily="34" charset="0"/>
              <a:cs typeface="Times New Roman" panose="02020603050405020304" pitchFamily="18" charset="0"/>
            </a:endParaRPr>
          </a:p>
          <a:p>
            <a:pPr marL="0" lvl="0" indent="0" eaLnBrk="1" hangingPunct="1">
              <a:lnSpc>
                <a:spcPct val="130000"/>
              </a:lnSpc>
              <a:spcBef>
                <a:spcPct val="45000"/>
              </a:spcBef>
              <a:spcAft>
                <a:spcPct val="50000"/>
              </a:spcAft>
              <a:buClrTx/>
              <a:buSzPct val="125000"/>
              <a:buFontTx/>
              <a:buBlip>
                <a:blip r:embed="rId1"/>
              </a:buBlip>
            </a:pPr>
            <a:r>
              <a:rPr lang="zh-CN" altLang="en-US" sz="2400" b="1" dirty="0">
                <a:latin typeface="Tahoma" panose="020B0604030504040204" pitchFamily="34" charset="0"/>
                <a:cs typeface="Times New Roman" panose="02020603050405020304" pitchFamily="18" charset="0"/>
              </a:rPr>
              <a:t> </a:t>
            </a:r>
            <a:r>
              <a:rPr lang="en-US" altLang="zh-CN" sz="2400" b="1" dirty="0">
                <a:latin typeface="Tahoma" panose="020B0604030504040204" pitchFamily="34" charset="0"/>
                <a:cs typeface="Times New Roman" panose="02020603050405020304" pitchFamily="18" charset="0"/>
              </a:rPr>
              <a:t>MIPS IDF(MIPS Integrated Development Framework)</a:t>
            </a:r>
            <a:r>
              <a:rPr lang="zh-CN" altLang="en-US" sz="2400" b="1" dirty="0">
                <a:latin typeface="Tahoma" panose="020B0604030504040204" pitchFamily="34" charset="0"/>
                <a:cs typeface="Times New Roman" panose="02020603050405020304" pitchFamily="18" charset="0"/>
              </a:rPr>
              <a:t>集成开发工具，特别适用于嵌入式系统的开发。</a:t>
            </a:r>
            <a:endParaRPr lang="zh-CN" altLang="en-US" sz="2400" b="1" dirty="0">
              <a:latin typeface="Tahoma" panose="020B0604030504040204" pitchFamily="34" charset="0"/>
              <a:ea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675843">
                                            <p:txEl>
                                              <p:charRg st="0" end="77"/>
                                            </p:txEl>
                                          </p:spTgt>
                                        </p:tgtEl>
                                        <p:attrNameLst>
                                          <p:attrName>style.visibility</p:attrName>
                                        </p:attrNameLst>
                                      </p:cBhvr>
                                      <p:to>
                                        <p:strVal val="visible"/>
                                      </p:to>
                                    </p:set>
                                    <p:animEffect transition="in" filter="box(out)">
                                      <p:cBhvr>
                                        <p:cTn id="7" dur="500"/>
                                        <p:tgtEl>
                                          <p:spTgt spid="675843">
                                            <p:txEl>
                                              <p:charRg st="0" end="77"/>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675843">
                                            <p:txEl>
                                              <p:charRg st="77" end="119"/>
                                            </p:txEl>
                                          </p:spTgt>
                                        </p:tgtEl>
                                        <p:attrNameLst>
                                          <p:attrName>style.visibility</p:attrName>
                                        </p:attrNameLst>
                                      </p:cBhvr>
                                      <p:to>
                                        <p:strVal val="visible"/>
                                      </p:to>
                                    </p:set>
                                    <p:animEffect transition="in" filter="box(out)">
                                      <p:cBhvr>
                                        <p:cTn id="12" dur="500"/>
                                        <p:tgtEl>
                                          <p:spTgt spid="675843">
                                            <p:txEl>
                                              <p:charRg st="77" end="11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675843">
                                            <p:txEl>
                                              <p:charRg st="119" end="189"/>
                                            </p:txEl>
                                          </p:spTgt>
                                        </p:tgtEl>
                                        <p:attrNameLst>
                                          <p:attrName>style.visibility</p:attrName>
                                        </p:attrNameLst>
                                      </p:cBhvr>
                                      <p:to>
                                        <p:strVal val="visible"/>
                                      </p:to>
                                    </p:set>
                                    <p:animEffect transition="in" filter="box(out)">
                                      <p:cBhvr>
                                        <p:cTn id="17" dur="500"/>
                                        <p:tgtEl>
                                          <p:spTgt spid="675843">
                                            <p:txEl>
                                              <p:charRg st="119" end="18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
          <p:cNvSpPr>
            <a:spLocks noGrp="1"/>
          </p:cNvSpPr>
          <p:nvPr>
            <p:ph type="title"/>
          </p:nvPr>
        </p:nvSpPr>
        <p:spPr>
          <a:xfrm>
            <a:off x="809625" y="115888"/>
            <a:ext cx="8243888" cy="811212"/>
          </a:xfrm>
          <a:ln/>
        </p:spPr>
        <p:txBody>
          <a:bodyPr vert="horz" wrap="square" lIns="91440" tIns="45720" rIns="91440" bIns="45720" anchor="b" anchorCtr="0"/>
          <a:p>
            <a:pPr eaLnBrk="1" hangingPunct="1"/>
            <a:r>
              <a:rPr lang="en-US" altLang="zh-CN" sz="3600" dirty="0"/>
              <a:t>4. Sparc</a:t>
            </a:r>
            <a:r>
              <a:rPr lang="zh-CN" altLang="en-US" sz="3600" dirty="0"/>
              <a:t>处理器</a:t>
            </a:r>
            <a:r>
              <a:rPr lang="zh-CN" altLang="en-US" dirty="0"/>
              <a:t>  </a:t>
            </a:r>
            <a:endParaRPr lang="zh-CN" altLang="en-US" dirty="0"/>
          </a:p>
        </p:txBody>
      </p:sp>
      <p:sp>
        <p:nvSpPr>
          <p:cNvPr id="676867" name="Text Box 3"/>
          <p:cNvSpPr txBox="1"/>
          <p:nvPr/>
        </p:nvSpPr>
        <p:spPr>
          <a:xfrm>
            <a:off x="971550" y="1779588"/>
            <a:ext cx="7921625" cy="45799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140000"/>
              </a:lnSpc>
              <a:spcBef>
                <a:spcPct val="45000"/>
              </a:spcBef>
              <a:spcAft>
                <a:spcPct val="50000"/>
              </a:spcAft>
              <a:buClrTx/>
              <a:buSzPct val="125000"/>
              <a:buFontTx/>
              <a:buBlip>
                <a:blip r:embed="rId1"/>
              </a:buBlip>
            </a:pPr>
            <a:r>
              <a:rPr lang="en-US" altLang="zh-CN" sz="2400" b="1" dirty="0">
                <a:latin typeface="Tahoma" panose="020B0604030504040204" pitchFamily="34" charset="0"/>
                <a:cs typeface="Times New Roman" panose="02020603050405020304" pitchFamily="18" charset="0"/>
              </a:rPr>
              <a:t> Sparc</a:t>
            </a:r>
            <a:r>
              <a:rPr lang="zh-CN" altLang="en-US" sz="2400" b="1" dirty="0">
                <a:latin typeface="Tahoma" panose="020B0604030504040204" pitchFamily="34" charset="0"/>
                <a:cs typeface="Times New Roman" panose="02020603050405020304" pitchFamily="18" charset="0"/>
              </a:rPr>
              <a:t>处理器是由著名的</a:t>
            </a:r>
            <a:r>
              <a:rPr lang="en-US" altLang="zh-CN" sz="2400" b="1" dirty="0">
                <a:latin typeface="Tahoma" panose="020B0604030504040204" pitchFamily="34" charset="0"/>
                <a:cs typeface="Times New Roman" panose="02020603050405020304" pitchFamily="18" charset="0"/>
              </a:rPr>
              <a:t>Sun</a:t>
            </a:r>
            <a:r>
              <a:rPr lang="zh-CN" altLang="en-US" sz="2400" b="1" dirty="0">
                <a:latin typeface="Tahoma" panose="020B0604030504040204" pitchFamily="34" charset="0"/>
                <a:cs typeface="Times New Roman" panose="02020603050405020304" pitchFamily="18" charset="0"/>
              </a:rPr>
              <a:t>公司自行研发的微处理器芯片。 </a:t>
            </a:r>
            <a:endParaRPr lang="zh-CN" altLang="en-US" sz="2400" b="1" dirty="0">
              <a:latin typeface="Tahoma" panose="020B0604030504040204" pitchFamily="34" charset="0"/>
              <a:cs typeface="Times New Roman" panose="02020603050405020304" pitchFamily="18" charset="0"/>
            </a:endParaRPr>
          </a:p>
          <a:p>
            <a:pPr marL="0" lvl="0" indent="0" eaLnBrk="1" hangingPunct="1">
              <a:lnSpc>
                <a:spcPct val="140000"/>
              </a:lnSpc>
              <a:spcBef>
                <a:spcPct val="45000"/>
              </a:spcBef>
              <a:spcAft>
                <a:spcPct val="50000"/>
              </a:spcAft>
              <a:buClrTx/>
              <a:buSzPct val="125000"/>
              <a:buFontTx/>
              <a:buBlip>
                <a:blip r:embed="rId1"/>
              </a:buBlip>
            </a:pPr>
            <a:r>
              <a:rPr lang="zh-CN" altLang="en-US" sz="2400" b="1" dirty="0">
                <a:latin typeface="Tahoma" panose="020B0604030504040204" pitchFamily="34" charset="0"/>
                <a:cs typeface="Times New Roman" panose="02020603050405020304" pitchFamily="18" charset="0"/>
              </a:rPr>
              <a:t> </a:t>
            </a:r>
            <a:r>
              <a:rPr lang="en-US" altLang="zh-CN" sz="2400" b="1" dirty="0">
                <a:latin typeface="Tahoma" panose="020B0604030504040204" pitchFamily="34" charset="0"/>
                <a:cs typeface="Times New Roman" panose="02020603050405020304" pitchFamily="18" charset="0"/>
              </a:rPr>
              <a:t>Sun</a:t>
            </a:r>
            <a:r>
              <a:rPr lang="zh-CN" altLang="en-US" sz="2400" b="1" dirty="0">
                <a:latin typeface="Tahoma" panose="020B0604030504040204" pitchFamily="34" charset="0"/>
                <a:cs typeface="Times New Roman" panose="02020603050405020304" pitchFamily="18" charset="0"/>
              </a:rPr>
              <a:t>在</a:t>
            </a:r>
            <a:r>
              <a:rPr lang="en-US" altLang="zh-CN" sz="2400" b="1" dirty="0">
                <a:latin typeface="Tahoma" panose="020B0604030504040204" pitchFamily="34" charset="0"/>
                <a:cs typeface="Times New Roman" panose="02020603050405020304" pitchFamily="18" charset="0"/>
              </a:rPr>
              <a:t>64</a:t>
            </a:r>
            <a:r>
              <a:rPr lang="zh-CN" altLang="en-US" sz="2400" b="1" dirty="0">
                <a:latin typeface="Tahoma" panose="020B0604030504040204" pitchFamily="34" charset="0"/>
                <a:cs typeface="Times New Roman" panose="02020603050405020304" pitchFamily="18" charset="0"/>
              </a:rPr>
              <a:t>位</a:t>
            </a:r>
            <a:r>
              <a:rPr lang="en-US" altLang="zh-CN" sz="2400" b="1" dirty="0">
                <a:latin typeface="Tahoma" panose="020B0604030504040204" pitchFamily="34" charset="0"/>
                <a:cs typeface="Times New Roman" panose="02020603050405020304" pitchFamily="18" charset="0"/>
              </a:rPr>
              <a:t>UltraSparc</a:t>
            </a:r>
            <a:r>
              <a:rPr lang="zh-CN" altLang="en-US" sz="2400" b="1" dirty="0">
                <a:latin typeface="Tahoma" panose="020B0604030504040204" pitchFamily="34" charset="0"/>
                <a:cs typeface="Times New Roman" panose="02020603050405020304" pitchFamily="18" charset="0"/>
              </a:rPr>
              <a:t>处理器方面，主要有</a:t>
            </a:r>
            <a:r>
              <a:rPr lang="en-US" altLang="zh-CN" sz="2400" b="1" dirty="0">
                <a:latin typeface="Tahoma" panose="020B0604030504040204" pitchFamily="34" charset="0"/>
                <a:cs typeface="Times New Roman" panose="02020603050405020304" pitchFamily="18" charset="0"/>
              </a:rPr>
              <a:t>3</a:t>
            </a:r>
            <a:r>
              <a:rPr lang="zh-CN" altLang="en-US" sz="2400" b="1" dirty="0">
                <a:latin typeface="Tahoma" panose="020B0604030504040204" pitchFamily="34" charset="0"/>
                <a:cs typeface="Times New Roman" panose="02020603050405020304" pitchFamily="18" charset="0"/>
              </a:rPr>
              <a:t>个系列：</a:t>
            </a:r>
            <a:r>
              <a:rPr lang="zh-CN" altLang="en-US" sz="2400" b="1" dirty="0">
                <a:solidFill>
                  <a:srgbClr val="FF0000"/>
                </a:solidFill>
                <a:latin typeface="Tahoma" panose="020B0604030504040204" pitchFamily="34" charset="0"/>
                <a:cs typeface="Times New Roman" panose="02020603050405020304" pitchFamily="18" charset="0"/>
              </a:rPr>
              <a:t>可扩展的</a:t>
            </a:r>
            <a:r>
              <a:rPr lang="en-US" altLang="zh-CN" sz="2400" b="1" dirty="0">
                <a:solidFill>
                  <a:srgbClr val="FF0000"/>
                </a:solidFill>
                <a:latin typeface="Tahoma" panose="020B0604030504040204" pitchFamily="34" charset="0"/>
                <a:cs typeface="Times New Roman" panose="02020603050405020304" pitchFamily="18" charset="0"/>
              </a:rPr>
              <a:t>s</a:t>
            </a:r>
            <a:r>
              <a:rPr lang="zh-CN" altLang="en-US" sz="2400" b="1" dirty="0">
                <a:solidFill>
                  <a:srgbClr val="FF0000"/>
                </a:solidFill>
                <a:latin typeface="Tahoma" panose="020B0604030504040204" pitchFamily="34" charset="0"/>
                <a:cs typeface="Times New Roman" panose="02020603050405020304" pitchFamily="18" charset="0"/>
              </a:rPr>
              <a:t>系列</a:t>
            </a:r>
            <a:r>
              <a:rPr lang="zh-CN" altLang="en-US" sz="2400" b="1" dirty="0">
                <a:latin typeface="Tahoma" panose="020B0604030504040204" pitchFamily="34" charset="0"/>
                <a:cs typeface="Times New Roman" panose="02020603050405020304" pitchFamily="18" charset="0"/>
              </a:rPr>
              <a:t>主要用于高性能、易扩展的多处理器系统；</a:t>
            </a:r>
            <a:r>
              <a:rPr lang="zh-CN" altLang="en-US" sz="2400" b="1" dirty="0">
                <a:solidFill>
                  <a:srgbClr val="FF0000"/>
                </a:solidFill>
                <a:latin typeface="Tahoma" panose="020B0604030504040204" pitchFamily="34" charset="0"/>
                <a:cs typeface="Times New Roman" panose="02020603050405020304" pitchFamily="18" charset="0"/>
              </a:rPr>
              <a:t>集成式</a:t>
            </a:r>
            <a:r>
              <a:rPr lang="en-US" altLang="zh-CN" sz="2400" b="1" dirty="0">
                <a:solidFill>
                  <a:srgbClr val="FF0000"/>
                </a:solidFill>
                <a:latin typeface="Tahoma" panose="020B0604030504040204" pitchFamily="34" charset="0"/>
                <a:cs typeface="Times New Roman" panose="02020603050405020304" pitchFamily="18" charset="0"/>
              </a:rPr>
              <a:t>i</a:t>
            </a:r>
            <a:r>
              <a:rPr lang="zh-CN" altLang="en-US" sz="2400" b="1" dirty="0">
                <a:solidFill>
                  <a:srgbClr val="FF0000"/>
                </a:solidFill>
                <a:latin typeface="Tahoma" panose="020B0604030504040204" pitchFamily="34" charset="0"/>
                <a:cs typeface="Times New Roman" panose="02020603050405020304" pitchFamily="18" charset="0"/>
              </a:rPr>
              <a:t>系列</a:t>
            </a:r>
            <a:r>
              <a:rPr lang="zh-CN" altLang="en-US" sz="2400" b="1" dirty="0">
                <a:latin typeface="Tahoma" panose="020B0604030504040204" pitchFamily="34" charset="0"/>
                <a:cs typeface="Times New Roman" panose="02020603050405020304" pitchFamily="18" charset="0"/>
              </a:rPr>
              <a:t>将多种系统功能集成在一个处理器上，为单处理器系统提供了更高的效益；</a:t>
            </a:r>
            <a:r>
              <a:rPr lang="zh-CN" altLang="en-US" sz="2400" b="1" dirty="0">
                <a:solidFill>
                  <a:srgbClr val="FF0000"/>
                </a:solidFill>
                <a:latin typeface="Tahoma" panose="020B0604030504040204" pitchFamily="34" charset="0"/>
                <a:cs typeface="Times New Roman" panose="02020603050405020304" pitchFamily="18" charset="0"/>
              </a:rPr>
              <a:t>嵌入式</a:t>
            </a:r>
            <a:r>
              <a:rPr lang="en-US" altLang="zh-CN" sz="2400" b="1" dirty="0">
                <a:solidFill>
                  <a:srgbClr val="FF0000"/>
                </a:solidFill>
                <a:latin typeface="Tahoma" panose="020B0604030504040204" pitchFamily="34" charset="0"/>
                <a:cs typeface="Times New Roman" panose="02020603050405020304" pitchFamily="18" charset="0"/>
              </a:rPr>
              <a:t>e</a:t>
            </a:r>
            <a:r>
              <a:rPr lang="zh-CN" altLang="en-US" sz="2400" b="1" dirty="0">
                <a:solidFill>
                  <a:srgbClr val="FF0000"/>
                </a:solidFill>
                <a:latin typeface="Tahoma" panose="020B0604030504040204" pitchFamily="34" charset="0"/>
                <a:cs typeface="Times New Roman" panose="02020603050405020304" pitchFamily="18" charset="0"/>
              </a:rPr>
              <a:t>系列</a:t>
            </a:r>
            <a:r>
              <a:rPr lang="zh-CN" altLang="en-US" sz="2400" b="1" dirty="0">
                <a:latin typeface="Tahoma" panose="020B0604030504040204" pitchFamily="34" charset="0"/>
                <a:cs typeface="Times New Roman" panose="02020603050405020304" pitchFamily="18" charset="0"/>
              </a:rPr>
              <a:t>为用户提供理想的性能价格比，其嵌入式应用包括瘦客户机、电缆调制解调器和网络接口等。</a:t>
            </a:r>
            <a:endParaRPr lang="zh-CN" altLang="en-US" sz="2400" b="1" dirty="0">
              <a:latin typeface="Tahoma" panose="020B0604030504040204" pitchFamily="34" charset="0"/>
              <a:ea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676867">
                                            <p:txEl>
                                              <p:charRg st="0" end="33"/>
                                            </p:txEl>
                                          </p:spTgt>
                                        </p:tgtEl>
                                        <p:attrNameLst>
                                          <p:attrName>style.visibility</p:attrName>
                                        </p:attrNameLst>
                                      </p:cBhvr>
                                      <p:to>
                                        <p:strVal val="visible"/>
                                      </p:to>
                                    </p:set>
                                    <p:animEffect transition="in" filter="box(out)">
                                      <p:cBhvr>
                                        <p:cTn id="7" dur="500"/>
                                        <p:tgtEl>
                                          <p:spTgt spid="676867">
                                            <p:txEl>
                                              <p:charRg st="0" end="33"/>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676867">
                                            <p:txEl>
                                              <p:charRg st="33" end="178"/>
                                            </p:txEl>
                                          </p:spTgt>
                                        </p:tgtEl>
                                        <p:attrNameLst>
                                          <p:attrName>style.visibility</p:attrName>
                                        </p:attrNameLst>
                                      </p:cBhvr>
                                      <p:to>
                                        <p:strVal val="visible"/>
                                      </p:to>
                                    </p:set>
                                    <p:animEffect transition="in" filter="box(out)">
                                      <p:cBhvr>
                                        <p:cTn id="12" dur="500"/>
                                        <p:tgtEl>
                                          <p:spTgt spid="676867">
                                            <p:txEl>
                                              <p:charRg st="33" end="17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2"/>
          <p:cNvSpPr>
            <a:spLocks noGrp="1"/>
          </p:cNvSpPr>
          <p:nvPr>
            <p:ph type="title"/>
          </p:nvPr>
        </p:nvSpPr>
        <p:spPr>
          <a:xfrm>
            <a:off x="900113" y="260350"/>
            <a:ext cx="8243887" cy="811213"/>
          </a:xfrm>
          <a:ln/>
        </p:spPr>
        <p:txBody>
          <a:bodyPr vert="horz" wrap="square" lIns="91440" tIns="45720" rIns="91440" bIns="45720" anchor="b" anchorCtr="0"/>
          <a:p>
            <a:pPr eaLnBrk="1" hangingPunct="1"/>
            <a:r>
              <a:rPr lang="en-US" altLang="zh-CN" sz="3600" dirty="0"/>
              <a:t>5. </a:t>
            </a:r>
            <a:r>
              <a:rPr lang="zh-CN" altLang="en-US" sz="3600" dirty="0"/>
              <a:t>龙芯一号处理器</a:t>
            </a:r>
            <a:r>
              <a:rPr lang="zh-CN" altLang="en-US" dirty="0"/>
              <a:t>  </a:t>
            </a:r>
            <a:endParaRPr lang="zh-CN" altLang="en-US" dirty="0"/>
          </a:p>
        </p:txBody>
      </p:sp>
      <p:sp>
        <p:nvSpPr>
          <p:cNvPr id="677891" name="Text Box 3"/>
          <p:cNvSpPr txBox="1"/>
          <p:nvPr/>
        </p:nvSpPr>
        <p:spPr>
          <a:xfrm>
            <a:off x="608013" y="1181100"/>
            <a:ext cx="8243887" cy="4899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140000"/>
              </a:lnSpc>
              <a:spcBef>
                <a:spcPct val="50000"/>
              </a:spcBef>
              <a:spcAft>
                <a:spcPct val="50000"/>
              </a:spcAft>
              <a:buClrTx/>
              <a:buSzPct val="125000"/>
              <a:buFontTx/>
              <a:buBlip>
                <a:blip r:embed="rId1"/>
              </a:buBlip>
            </a:pPr>
            <a:r>
              <a:rPr lang="en-US" altLang="zh-CN" sz="2400" b="1" dirty="0">
                <a:latin typeface="Tahoma" panose="020B0604030504040204" pitchFamily="34" charset="0"/>
                <a:cs typeface="Times New Roman" panose="02020603050405020304" pitchFamily="18" charset="0"/>
                <a:hlinkClick r:id="rId2"/>
              </a:rPr>
              <a:t>https://www.bilibili.com/video/BV1mD4y1r7UV/</a:t>
            </a:r>
            <a:endParaRPr lang="en-US" altLang="zh-CN" sz="2400" b="1" dirty="0">
              <a:latin typeface="Tahoma" panose="020B0604030504040204" pitchFamily="34" charset="0"/>
              <a:cs typeface="Times New Roman" panose="02020603050405020304" pitchFamily="18" charset="0"/>
            </a:endParaRPr>
          </a:p>
          <a:p>
            <a:pPr marL="0" lvl="0" indent="0" eaLnBrk="1" hangingPunct="1">
              <a:lnSpc>
                <a:spcPct val="140000"/>
              </a:lnSpc>
              <a:spcBef>
                <a:spcPct val="50000"/>
              </a:spcBef>
              <a:spcAft>
                <a:spcPct val="50000"/>
              </a:spcAft>
              <a:buClrTx/>
              <a:buSzPct val="125000"/>
              <a:buFontTx/>
              <a:buBlip>
                <a:blip r:embed="rId1"/>
              </a:buBlip>
            </a:pPr>
            <a:r>
              <a:rPr lang="zh-CN" altLang="en-US" sz="2400" b="1" dirty="0">
                <a:latin typeface="Tahoma" panose="020B0604030504040204" pitchFamily="34" charset="0"/>
                <a:cs typeface="Times New Roman" panose="02020603050405020304" pitchFamily="18" charset="0"/>
              </a:rPr>
              <a:t>龙芯一号处理器是神州龙芯公司推出的兼顾通用及嵌入式处理器特点的新一代</a:t>
            </a:r>
            <a:r>
              <a:rPr lang="en-US" altLang="zh-CN" sz="2400" b="1" dirty="0">
                <a:latin typeface="Tahoma" panose="020B0604030504040204" pitchFamily="34" charset="0"/>
                <a:cs typeface="Times New Roman" panose="02020603050405020304" pitchFamily="18" charset="0"/>
              </a:rPr>
              <a:t>32</a:t>
            </a:r>
            <a:r>
              <a:rPr lang="zh-CN" altLang="en-US" sz="2400" b="1" dirty="0">
                <a:latin typeface="Tahoma" panose="020B0604030504040204" pitchFamily="34" charset="0"/>
                <a:cs typeface="Times New Roman" panose="02020603050405020304" pitchFamily="18" charset="0"/>
              </a:rPr>
              <a:t>位处理器。</a:t>
            </a:r>
            <a:endParaRPr lang="zh-CN" altLang="en-US" sz="2400" b="1" dirty="0">
              <a:latin typeface="Tahoma" panose="020B0604030504040204" pitchFamily="34" charset="0"/>
              <a:cs typeface="Times New Roman" panose="02020603050405020304" pitchFamily="18" charset="0"/>
            </a:endParaRPr>
          </a:p>
          <a:p>
            <a:pPr marL="0" lvl="0" indent="0" eaLnBrk="1" hangingPunct="1">
              <a:lnSpc>
                <a:spcPct val="140000"/>
              </a:lnSpc>
              <a:spcBef>
                <a:spcPct val="50000"/>
              </a:spcBef>
              <a:spcAft>
                <a:spcPct val="50000"/>
              </a:spcAft>
              <a:buClrTx/>
              <a:buSzPct val="125000"/>
              <a:buFontTx/>
              <a:buBlip>
                <a:blip r:embed="rId1"/>
              </a:buBlip>
            </a:pPr>
            <a:r>
              <a:rPr lang="zh-CN" altLang="en-US" sz="2400" b="1" dirty="0">
                <a:latin typeface="Tahoma" panose="020B0604030504040204" pitchFamily="34" charset="0"/>
                <a:cs typeface="Times New Roman" panose="02020603050405020304" pitchFamily="18" charset="0"/>
              </a:rPr>
              <a:t> 龙芯一号的投片成功，并通过了以</a:t>
            </a:r>
            <a:r>
              <a:rPr lang="en-US" altLang="zh-CN" sz="2400" b="1" dirty="0">
                <a:latin typeface="Tahoma" panose="020B0604030504040204" pitchFamily="34" charset="0"/>
                <a:cs typeface="Times New Roman" panose="02020603050405020304" pitchFamily="18" charset="0"/>
              </a:rPr>
              <a:t>SPEC CPU2000</a:t>
            </a:r>
            <a:r>
              <a:rPr lang="zh-CN" altLang="en-US" sz="2400" b="1" dirty="0">
                <a:latin typeface="Tahoma" panose="020B0604030504040204" pitchFamily="34" charset="0"/>
                <a:cs typeface="Times New Roman" panose="02020603050405020304" pitchFamily="18" charset="0"/>
              </a:rPr>
              <a:t>为代表的一批性能和功能测试程序的严格测试，标志着我国在现代通用微处理器设计方面实现了</a:t>
            </a:r>
            <a:r>
              <a:rPr lang="en-US" altLang="zh-CN" sz="2400" b="1" dirty="0">
                <a:latin typeface="Tahoma" panose="020B0604030504040204" pitchFamily="34" charset="0"/>
                <a:cs typeface="Times New Roman" panose="02020603050405020304" pitchFamily="18" charset="0"/>
              </a:rPr>
              <a:t>"</a:t>
            </a:r>
            <a:r>
              <a:rPr lang="zh-CN" altLang="en-US" sz="2400" b="1" dirty="0">
                <a:latin typeface="Tahoma" panose="020B0604030504040204" pitchFamily="34" charset="0"/>
                <a:cs typeface="Times New Roman" panose="02020603050405020304" pitchFamily="18" charset="0"/>
              </a:rPr>
              <a:t>零</a:t>
            </a:r>
            <a:r>
              <a:rPr lang="en-US" altLang="zh-CN" sz="2400" b="1" dirty="0">
                <a:latin typeface="Tahoma" panose="020B0604030504040204" pitchFamily="34" charset="0"/>
                <a:cs typeface="Times New Roman" panose="02020603050405020304" pitchFamily="18" charset="0"/>
              </a:rPr>
              <a:t>"</a:t>
            </a:r>
            <a:r>
              <a:rPr lang="zh-CN" altLang="en-US" sz="2400" b="1" dirty="0">
                <a:latin typeface="Tahoma" panose="020B0604030504040204" pitchFamily="34" charset="0"/>
                <a:cs typeface="Times New Roman" panose="02020603050405020304" pitchFamily="18" charset="0"/>
              </a:rPr>
              <a:t>的突破，</a:t>
            </a:r>
            <a:r>
              <a:rPr lang="zh-CN" altLang="en-US" sz="2400" b="1" dirty="0">
                <a:latin typeface="Arial" panose="020B0604020202020204" pitchFamily="34" charset="0"/>
                <a:cs typeface="Times New Roman" panose="02020603050405020304" pitchFamily="18" charset="0"/>
              </a:rPr>
              <a:t> </a:t>
            </a:r>
            <a:r>
              <a:rPr lang="zh-CN" altLang="en-US" sz="2400" b="1" dirty="0">
                <a:latin typeface="Tahoma" panose="020B0604030504040204" pitchFamily="34" charset="0"/>
                <a:cs typeface="Times New Roman" panose="02020603050405020304" pitchFamily="18" charset="0"/>
              </a:rPr>
              <a:t>打破了我国长期依赖国外</a:t>
            </a:r>
            <a:r>
              <a:rPr lang="en-US" altLang="zh-CN" sz="2400" b="1" dirty="0">
                <a:latin typeface="Tahoma" panose="020B0604030504040204" pitchFamily="34" charset="0"/>
                <a:cs typeface="Times New Roman" panose="02020603050405020304" pitchFamily="18" charset="0"/>
              </a:rPr>
              <a:t>CPU</a:t>
            </a:r>
            <a:r>
              <a:rPr lang="zh-CN" altLang="en-US" sz="2400" b="1" dirty="0">
                <a:latin typeface="Tahoma" panose="020B0604030504040204" pitchFamily="34" charset="0"/>
                <a:cs typeface="Times New Roman" panose="02020603050405020304" pitchFamily="18" charset="0"/>
              </a:rPr>
              <a:t>产品的无</a:t>
            </a:r>
            <a:r>
              <a:rPr lang="en-US" altLang="zh-CN" sz="2400" b="1" dirty="0">
                <a:latin typeface="Tahoma" panose="020B0604030504040204" pitchFamily="34" charset="0"/>
                <a:cs typeface="Times New Roman" panose="02020603050405020304" pitchFamily="18" charset="0"/>
              </a:rPr>
              <a:t>"</a:t>
            </a:r>
            <a:r>
              <a:rPr lang="zh-CN" altLang="en-US" sz="2400" b="1" dirty="0">
                <a:latin typeface="Tahoma" panose="020B0604030504040204" pitchFamily="34" charset="0"/>
                <a:cs typeface="Times New Roman" panose="02020603050405020304" pitchFamily="18" charset="0"/>
              </a:rPr>
              <a:t>芯</a:t>
            </a:r>
            <a:r>
              <a:rPr lang="en-US" altLang="zh-CN" sz="2400" b="1" dirty="0">
                <a:latin typeface="Tahoma" panose="020B0604030504040204" pitchFamily="34" charset="0"/>
                <a:cs typeface="Times New Roman" panose="02020603050405020304" pitchFamily="18" charset="0"/>
              </a:rPr>
              <a:t>"</a:t>
            </a:r>
            <a:r>
              <a:rPr lang="zh-CN" altLang="en-US" sz="2400" b="1" dirty="0">
                <a:latin typeface="Tahoma" panose="020B0604030504040204" pitchFamily="34" charset="0"/>
                <a:cs typeface="Times New Roman" panose="02020603050405020304" pitchFamily="18" charset="0"/>
              </a:rPr>
              <a:t>的历史，也标志着国产安全服务器</a:t>
            </a:r>
            <a:r>
              <a:rPr lang="en-US" altLang="zh-CN" sz="2400" b="1" dirty="0">
                <a:latin typeface="Tahoma" panose="020B0604030504040204" pitchFamily="34" charset="0"/>
                <a:cs typeface="Times New Roman" panose="02020603050405020304" pitchFamily="18" charset="0"/>
              </a:rPr>
              <a:t>CPU</a:t>
            </a:r>
            <a:r>
              <a:rPr lang="zh-CN" altLang="en-US" sz="2400" b="1" dirty="0">
                <a:latin typeface="Tahoma" panose="020B0604030504040204" pitchFamily="34" charset="0"/>
                <a:cs typeface="Times New Roman" panose="02020603050405020304" pitchFamily="18" charset="0"/>
              </a:rPr>
              <a:t>和通用的嵌入式微处理器产业化的开始。</a:t>
            </a:r>
            <a:endParaRPr lang="zh-CN" altLang="en-US" sz="2400" b="1" dirty="0">
              <a:latin typeface="Tahoma" panose="020B0604030504040204" pitchFamily="34" charset="0"/>
              <a:ea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afterEffect">
                                  <p:stCondLst>
                                    <p:cond delay="0"/>
                                  </p:stCondLst>
                                  <p:childTnLst>
                                    <p:set>
                                      <p:cBhvr>
                                        <p:cTn id="6" dur="1" fill="hold">
                                          <p:stCondLst>
                                            <p:cond delay="0"/>
                                          </p:stCondLst>
                                        </p:cTn>
                                        <p:tgtEl>
                                          <p:spTgt spid="677891">
                                            <p:txEl>
                                              <p:charRg st="0" end="45"/>
                                            </p:txEl>
                                          </p:spTgt>
                                        </p:tgtEl>
                                        <p:attrNameLst>
                                          <p:attrName>style.visibility</p:attrName>
                                        </p:attrNameLst>
                                      </p:cBhvr>
                                      <p:to>
                                        <p:strVal val="visible"/>
                                      </p:to>
                                    </p:set>
                                    <p:animEffect transition="in" filter="wedge">
                                      <p:cBhvr>
                                        <p:cTn id="7" dur="500"/>
                                        <p:tgtEl>
                                          <p:spTgt spid="677891">
                                            <p:txEl>
                                              <p:charRg st="0" end="45"/>
                                            </p:txEl>
                                          </p:spTgt>
                                        </p:tgtEl>
                                      </p:cBhvr>
                                    </p:animEffect>
                                  </p:childTnLst>
                                </p:cTn>
                              </p:par>
                            </p:childTnLst>
                          </p:cTn>
                        </p:par>
                        <p:par>
                          <p:cTn id="8" fill="hold">
                            <p:stCondLst>
                              <p:cond delay="500"/>
                            </p:stCondLst>
                            <p:childTnLst>
                              <p:par>
                                <p:cTn id="9" presetID="20" presetClass="entr" presetSubtype="0" fill="hold" nodeType="afterEffect">
                                  <p:stCondLst>
                                    <p:cond delay="0"/>
                                  </p:stCondLst>
                                  <p:childTnLst>
                                    <p:set>
                                      <p:cBhvr>
                                        <p:cTn id="10" dur="1" fill="hold">
                                          <p:stCondLst>
                                            <p:cond delay="0"/>
                                          </p:stCondLst>
                                        </p:cTn>
                                        <p:tgtEl>
                                          <p:spTgt spid="677891">
                                            <p:txEl>
                                              <p:charRg st="45" end="87"/>
                                            </p:txEl>
                                          </p:spTgt>
                                        </p:tgtEl>
                                        <p:attrNameLst>
                                          <p:attrName>style.visibility</p:attrName>
                                        </p:attrNameLst>
                                      </p:cBhvr>
                                      <p:to>
                                        <p:strVal val="visible"/>
                                      </p:to>
                                    </p:set>
                                    <p:animEffect transition="in" filter="wedge">
                                      <p:cBhvr>
                                        <p:cTn id="11" dur="500"/>
                                        <p:tgtEl>
                                          <p:spTgt spid="677891">
                                            <p:txEl>
                                              <p:charRg st="45" end="87"/>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0" presetClass="entr" presetSubtype="0" fill="hold" nodeType="clickEffect">
                                  <p:stCondLst>
                                    <p:cond delay="0"/>
                                  </p:stCondLst>
                                  <p:childTnLst>
                                    <p:set>
                                      <p:cBhvr>
                                        <p:cTn id="15" dur="1" fill="hold">
                                          <p:stCondLst>
                                            <p:cond delay="0"/>
                                          </p:stCondLst>
                                        </p:cTn>
                                        <p:tgtEl>
                                          <p:spTgt spid="677891">
                                            <p:txEl>
                                              <p:charRg st="87" end="223"/>
                                            </p:txEl>
                                          </p:spTgt>
                                        </p:tgtEl>
                                        <p:attrNameLst>
                                          <p:attrName>style.visibility</p:attrName>
                                        </p:attrNameLst>
                                      </p:cBhvr>
                                      <p:to>
                                        <p:strVal val="visible"/>
                                      </p:to>
                                    </p:set>
                                    <p:animEffect transition="in" filter="wedge">
                                      <p:cBhvr>
                                        <p:cTn id="16" dur="500"/>
                                        <p:tgtEl>
                                          <p:spTgt spid="677891">
                                            <p:txEl>
                                              <p:charRg st="87" end="22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type="title"/>
          </p:nvPr>
        </p:nvSpPr>
        <p:spPr>
          <a:xfrm>
            <a:off x="809625" y="260350"/>
            <a:ext cx="8243888" cy="811213"/>
          </a:xfrm>
          <a:ln/>
        </p:spPr>
        <p:txBody>
          <a:bodyPr vert="horz" wrap="square" lIns="91440" tIns="45720" rIns="91440" bIns="45720" anchor="b" anchorCtr="0"/>
          <a:p>
            <a:pPr eaLnBrk="1" hangingPunct="1"/>
            <a:r>
              <a:rPr lang="en-US" altLang="zh-CN" sz="3600" dirty="0"/>
              <a:t>5. </a:t>
            </a:r>
            <a:r>
              <a:rPr lang="zh-CN" altLang="en-US" sz="3600" dirty="0"/>
              <a:t>龙芯一号处理器</a:t>
            </a:r>
            <a:r>
              <a:rPr lang="zh-CN" altLang="en-US" dirty="0"/>
              <a:t>  </a:t>
            </a:r>
            <a:endParaRPr lang="zh-CN" altLang="en-US" dirty="0"/>
          </a:p>
        </p:txBody>
      </p:sp>
      <p:sp>
        <p:nvSpPr>
          <p:cNvPr id="679939" name="Text Box 3"/>
          <p:cNvSpPr txBox="1"/>
          <p:nvPr/>
        </p:nvSpPr>
        <p:spPr>
          <a:xfrm>
            <a:off x="971550" y="1773238"/>
            <a:ext cx="7921625" cy="3543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140000"/>
              </a:lnSpc>
              <a:spcBef>
                <a:spcPct val="55000"/>
              </a:spcBef>
              <a:spcAft>
                <a:spcPct val="50000"/>
              </a:spcAft>
              <a:buClrTx/>
              <a:buSzPct val="125000"/>
              <a:buFontTx/>
              <a:buBlip>
                <a:blip r:embed="rId1"/>
              </a:buBlip>
            </a:pPr>
            <a:r>
              <a:rPr lang="en-US" altLang="zh-CN" sz="2400" b="1" dirty="0">
                <a:latin typeface="Tahoma" panose="020B0604030504040204" pitchFamily="34" charset="0"/>
                <a:cs typeface="Times New Roman" panose="02020603050405020304" pitchFamily="18" charset="0"/>
              </a:rPr>
              <a:t> </a:t>
            </a:r>
            <a:r>
              <a:rPr lang="zh-CN" altLang="en-US" sz="2400" b="1" dirty="0">
                <a:latin typeface="Tahoma" panose="020B0604030504040204" pitchFamily="34" charset="0"/>
                <a:cs typeface="Times New Roman" panose="02020603050405020304" pitchFamily="18" charset="0"/>
              </a:rPr>
              <a:t>龙芯一号在通用</a:t>
            </a:r>
            <a:r>
              <a:rPr lang="en-US" altLang="zh-CN" sz="2400" b="1" dirty="0">
                <a:latin typeface="Tahoma" panose="020B0604030504040204" pitchFamily="34" charset="0"/>
                <a:cs typeface="Times New Roman" panose="02020603050405020304" pitchFamily="18" charset="0"/>
              </a:rPr>
              <a:t>CPU</a:t>
            </a:r>
            <a:r>
              <a:rPr lang="zh-CN" altLang="en-US" sz="2400" b="1" dirty="0">
                <a:latin typeface="Tahoma" panose="020B0604030504040204" pitchFamily="34" charset="0"/>
                <a:cs typeface="Times New Roman" panose="02020603050405020304" pitchFamily="18" charset="0"/>
              </a:rPr>
              <a:t>体系结构设计方面采用了许多先进的设计与实现技术，尤其在动态流水线的具体实现和硬件对系统安全性的支持方面，有独特创新并申请了专利。</a:t>
            </a:r>
            <a:endParaRPr lang="zh-CN" altLang="en-US" sz="2400" b="1" dirty="0">
              <a:latin typeface="Tahoma" panose="020B0604030504040204" pitchFamily="34" charset="0"/>
              <a:cs typeface="Times New Roman" panose="02020603050405020304" pitchFamily="18" charset="0"/>
            </a:endParaRPr>
          </a:p>
          <a:p>
            <a:pPr marL="0" lvl="0" indent="0" eaLnBrk="1" hangingPunct="1">
              <a:lnSpc>
                <a:spcPct val="140000"/>
              </a:lnSpc>
              <a:spcBef>
                <a:spcPct val="55000"/>
              </a:spcBef>
              <a:spcAft>
                <a:spcPct val="50000"/>
              </a:spcAft>
              <a:buClrTx/>
              <a:buSzPct val="125000"/>
              <a:buFontTx/>
              <a:buBlip>
                <a:blip r:embed="rId1"/>
              </a:buBlip>
            </a:pPr>
            <a:r>
              <a:rPr lang="zh-CN" altLang="en-US" sz="2400" b="1" dirty="0">
                <a:latin typeface="Arial" panose="020B0604020202020204" pitchFamily="34" charset="0"/>
                <a:cs typeface="Times New Roman" panose="02020603050405020304" pitchFamily="18" charset="0"/>
              </a:rPr>
              <a:t> </a:t>
            </a:r>
            <a:r>
              <a:rPr lang="zh-CN" altLang="en-US" sz="2400" b="1" dirty="0">
                <a:latin typeface="Tahoma" panose="020B0604030504040204" pitchFamily="34" charset="0"/>
                <a:cs typeface="Times New Roman" panose="02020603050405020304" pitchFamily="18" charset="0"/>
              </a:rPr>
              <a:t> 龙芯一号在片内提供了一种特别设计的硬件机制，可以抗御缓冲区溢出攻击，在硬件上根本抵制了缓冲区溢出类攻击的危险，从而大大的增加的服务器的安全性。</a:t>
            </a:r>
            <a:r>
              <a:rPr lang="zh-CN" altLang="en-US" sz="2400" b="1" dirty="0">
                <a:latin typeface="Tahoma" panose="020B0604030504040204" pitchFamily="34" charset="0"/>
              </a:rPr>
              <a:t> </a:t>
            </a:r>
            <a:endParaRPr lang="zh-CN" altLang="en-US" sz="2400" b="1" dirty="0">
              <a:latin typeface="Tahoma" panose="020B0604030504040204" pitchFamily="34" charset="0"/>
              <a:ea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afterEffect">
                                  <p:stCondLst>
                                    <p:cond delay="0"/>
                                  </p:stCondLst>
                                  <p:childTnLst>
                                    <p:set>
                                      <p:cBhvr>
                                        <p:cTn id="6" dur="1" fill="hold">
                                          <p:stCondLst>
                                            <p:cond delay="0"/>
                                          </p:stCondLst>
                                        </p:cTn>
                                        <p:tgtEl>
                                          <p:spTgt spid="679939">
                                            <p:txEl>
                                              <p:charRg st="0" end="76"/>
                                            </p:txEl>
                                          </p:spTgt>
                                        </p:tgtEl>
                                        <p:attrNameLst>
                                          <p:attrName>style.visibility</p:attrName>
                                        </p:attrNameLst>
                                      </p:cBhvr>
                                      <p:to>
                                        <p:strVal val="visible"/>
                                      </p:to>
                                    </p:set>
                                    <p:animEffect transition="in" filter="wedge">
                                      <p:cBhvr>
                                        <p:cTn id="7" dur="500"/>
                                        <p:tgtEl>
                                          <p:spTgt spid="679939">
                                            <p:txEl>
                                              <p:charRg st="0" end="7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679939">
                                            <p:txEl>
                                              <p:charRg st="76" end="151"/>
                                            </p:txEl>
                                          </p:spTgt>
                                        </p:tgtEl>
                                        <p:attrNameLst>
                                          <p:attrName>style.visibility</p:attrName>
                                        </p:attrNameLst>
                                      </p:cBhvr>
                                      <p:to>
                                        <p:strVal val="visible"/>
                                      </p:to>
                                    </p:set>
                                    <p:animEffect transition="in" filter="wedge">
                                      <p:cBhvr>
                                        <p:cTn id="12" dur="500"/>
                                        <p:tgtEl>
                                          <p:spTgt spid="679939">
                                            <p:txEl>
                                              <p:charRg st="76" end="15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2"/>
          <p:cNvSpPr>
            <a:spLocks noGrp="1"/>
          </p:cNvSpPr>
          <p:nvPr>
            <p:ph type="title"/>
          </p:nvPr>
        </p:nvSpPr>
        <p:spPr>
          <a:xfrm>
            <a:off x="939800" y="188913"/>
            <a:ext cx="8243888" cy="811212"/>
          </a:xfrm>
          <a:ln/>
        </p:spPr>
        <p:txBody>
          <a:bodyPr vert="horz" wrap="square" lIns="91440" tIns="45720" rIns="91440" bIns="45720" anchor="b" anchorCtr="0"/>
          <a:p>
            <a:pPr eaLnBrk="1" hangingPunct="1"/>
            <a:r>
              <a:rPr lang="en-US" altLang="zh-CN" sz="3600" dirty="0"/>
              <a:t>5. </a:t>
            </a:r>
            <a:r>
              <a:rPr lang="zh-CN" altLang="en-US" sz="3600" dirty="0"/>
              <a:t>龙芯一号处理器</a:t>
            </a:r>
            <a:r>
              <a:rPr lang="zh-CN" altLang="en-US" dirty="0"/>
              <a:t>  </a:t>
            </a:r>
            <a:endParaRPr lang="zh-CN" altLang="en-US" dirty="0"/>
          </a:p>
        </p:txBody>
      </p:sp>
      <p:sp>
        <p:nvSpPr>
          <p:cNvPr id="680963" name="Text Box 3"/>
          <p:cNvSpPr txBox="1"/>
          <p:nvPr/>
        </p:nvSpPr>
        <p:spPr>
          <a:xfrm>
            <a:off x="971550" y="1827213"/>
            <a:ext cx="7921625" cy="34020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eaLnBrk="1" hangingPunct="1">
              <a:lnSpc>
                <a:spcPct val="135000"/>
              </a:lnSpc>
              <a:spcBef>
                <a:spcPct val="45000"/>
              </a:spcBef>
              <a:spcAft>
                <a:spcPct val="50000"/>
              </a:spcAft>
              <a:buClrTx/>
              <a:buSzPct val="125000"/>
              <a:buFontTx/>
              <a:buBlip>
                <a:blip r:embed="rId1"/>
              </a:buBlip>
            </a:pPr>
            <a:r>
              <a:rPr lang="en-US" altLang="zh-CN" sz="2400" b="1" dirty="0">
                <a:latin typeface="Tahoma" panose="020B0604030504040204" pitchFamily="34" charset="0"/>
                <a:cs typeface="Times New Roman" panose="02020603050405020304" pitchFamily="18" charset="0"/>
              </a:rPr>
              <a:t> </a:t>
            </a:r>
            <a:r>
              <a:rPr lang="zh-CN" altLang="en-US" sz="2400" b="1" dirty="0">
                <a:latin typeface="Tahoma" panose="020B0604030504040204" pitchFamily="34" charset="0"/>
                <a:cs typeface="Times New Roman" panose="02020603050405020304" pitchFamily="18" charset="0"/>
              </a:rPr>
              <a:t>使用龙芯一号</a:t>
            </a:r>
            <a:r>
              <a:rPr lang="en-US" altLang="zh-CN" sz="2400" b="1" dirty="0">
                <a:latin typeface="Tahoma" panose="020B0604030504040204" pitchFamily="34" charset="0"/>
                <a:cs typeface="Times New Roman" panose="02020603050405020304" pitchFamily="18" charset="0"/>
              </a:rPr>
              <a:t>CPU</a:t>
            </a:r>
            <a:r>
              <a:rPr lang="zh-CN" altLang="en-US" sz="2400" b="1" dirty="0">
                <a:latin typeface="Tahoma" panose="020B0604030504040204" pitchFamily="34" charset="0"/>
                <a:cs typeface="Times New Roman" panose="02020603050405020304" pitchFamily="18" charset="0"/>
              </a:rPr>
              <a:t>可以构成更为安全的网络安全服务器、网络安全网关、网际防火墙、服务器网卡等对网络安全有特殊需求的产品及应用。</a:t>
            </a:r>
            <a:endParaRPr lang="zh-CN" altLang="en-US" sz="2400" b="1" dirty="0">
              <a:latin typeface="Tahoma" panose="020B0604030504040204" pitchFamily="34" charset="0"/>
              <a:cs typeface="Times New Roman" panose="02020603050405020304" pitchFamily="18" charset="0"/>
            </a:endParaRPr>
          </a:p>
          <a:p>
            <a:pPr marL="0" lvl="0" indent="0" eaLnBrk="1" hangingPunct="1">
              <a:lnSpc>
                <a:spcPct val="135000"/>
              </a:lnSpc>
              <a:spcBef>
                <a:spcPct val="45000"/>
              </a:spcBef>
              <a:spcAft>
                <a:spcPct val="50000"/>
              </a:spcAft>
              <a:buClrTx/>
              <a:buSzPct val="125000"/>
              <a:buFontTx/>
              <a:buBlip>
                <a:blip r:embed="rId1"/>
              </a:buBlip>
            </a:pPr>
            <a:r>
              <a:rPr lang="zh-CN" altLang="en-US" sz="2400" b="1" dirty="0">
                <a:latin typeface="Tahoma" panose="020B0604030504040204" pitchFamily="34" charset="0"/>
                <a:cs typeface="Times New Roman" panose="02020603050405020304" pitchFamily="18" charset="0"/>
              </a:rPr>
              <a:t> 龙芯系列微处理器可广泛应用于工业控制、信息家电、通讯、网络设备、</a:t>
            </a:r>
            <a:r>
              <a:rPr lang="en-US" altLang="zh-CN" sz="2400" b="1" dirty="0">
                <a:latin typeface="Tahoma" panose="020B0604030504040204" pitchFamily="34" charset="0"/>
                <a:cs typeface="Times New Roman" panose="02020603050405020304" pitchFamily="18" charset="0"/>
              </a:rPr>
              <a:t>PDA</a:t>
            </a:r>
            <a:r>
              <a:rPr lang="zh-CN" altLang="en-US" sz="2400" b="1" dirty="0">
                <a:latin typeface="Tahoma" panose="020B0604030504040204" pitchFamily="34" charset="0"/>
                <a:cs typeface="Times New Roman" panose="02020603050405020304" pitchFamily="18" charset="0"/>
              </a:rPr>
              <a:t>、网络终端、存储服务器、安全服务器等产品上。 </a:t>
            </a:r>
            <a:endParaRPr lang="zh-CN" altLang="en-US" sz="2400" b="1" dirty="0">
              <a:latin typeface="Tahoma" panose="020B0604030504040204" pitchFamily="34" charset="0"/>
              <a:ea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afterEffect">
                                  <p:stCondLst>
                                    <p:cond delay="0"/>
                                  </p:stCondLst>
                                  <p:childTnLst>
                                    <p:set>
                                      <p:cBhvr>
                                        <p:cTn id="6" dur="1" fill="hold">
                                          <p:stCondLst>
                                            <p:cond delay="0"/>
                                          </p:stCondLst>
                                        </p:cTn>
                                        <p:tgtEl>
                                          <p:spTgt spid="680963">
                                            <p:txEl>
                                              <p:charRg st="0" end="64"/>
                                            </p:txEl>
                                          </p:spTgt>
                                        </p:tgtEl>
                                        <p:attrNameLst>
                                          <p:attrName>style.visibility</p:attrName>
                                        </p:attrNameLst>
                                      </p:cBhvr>
                                      <p:to>
                                        <p:strVal val="visible"/>
                                      </p:to>
                                    </p:set>
                                    <p:animEffect transition="in" filter="wedge">
                                      <p:cBhvr>
                                        <p:cTn id="7" dur="500"/>
                                        <p:tgtEl>
                                          <p:spTgt spid="680963">
                                            <p:txEl>
                                              <p:charRg st="0" end="6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680963">
                                            <p:txEl>
                                              <p:charRg st="64" end="124"/>
                                            </p:txEl>
                                          </p:spTgt>
                                        </p:tgtEl>
                                        <p:attrNameLst>
                                          <p:attrName>style.visibility</p:attrName>
                                        </p:attrNameLst>
                                      </p:cBhvr>
                                      <p:to>
                                        <p:strVal val="visible"/>
                                      </p:to>
                                    </p:set>
                                    <p:animEffect transition="in" filter="wedge">
                                      <p:cBhvr>
                                        <p:cTn id="12" dur="500"/>
                                        <p:tgtEl>
                                          <p:spTgt spid="680963">
                                            <p:txEl>
                                              <p:charRg st="64" end="12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标题 1"/>
          <p:cNvSpPr>
            <a:spLocks noGrp="1"/>
          </p:cNvSpPr>
          <p:nvPr>
            <p:ph type="title"/>
          </p:nvPr>
        </p:nvSpPr>
        <p:spPr>
          <a:ln/>
        </p:spPr>
        <p:txBody>
          <a:bodyPr vert="horz" wrap="square" lIns="91440" tIns="45720" rIns="91440" bIns="45720" anchor="b" anchorCtr="0"/>
          <a:p>
            <a:r>
              <a:rPr lang="en-US" altLang="zh-CN" dirty="0"/>
              <a:t>6. </a:t>
            </a:r>
            <a:r>
              <a:rPr lang="zh-CN" altLang="en-US" dirty="0"/>
              <a:t>我国自主可控的处理器</a:t>
            </a:r>
            <a:endParaRPr lang="zh-CN" altLang="en-US" dirty="0"/>
          </a:p>
        </p:txBody>
      </p:sp>
      <p:sp>
        <p:nvSpPr>
          <p:cNvPr id="57347" name="内容占位符 2"/>
          <p:cNvSpPr>
            <a:spLocks noGrp="1"/>
          </p:cNvSpPr>
          <p:nvPr>
            <p:ph idx="1"/>
          </p:nvPr>
        </p:nvSpPr>
        <p:spPr>
          <a:ln/>
        </p:spPr>
        <p:txBody>
          <a:bodyPr vert="horz" wrap="square" lIns="91440" tIns="45720" rIns="91440" bIns="45720" anchor="t" anchorCtr="0"/>
          <a:p>
            <a:r>
              <a:rPr lang="en-US" altLang="zh-CN" dirty="0">
                <a:hlinkClick r:id="rId1"/>
              </a:rPr>
              <a:t>https://www.bilibili.com/video/BV1QR4y1G7B3/</a:t>
            </a:r>
            <a:endParaRPr lang="en-US" altLang="zh-CN" dirty="0"/>
          </a:p>
          <a:p>
            <a:endParaRPr lang="en-US" altLang="zh-CN" dirty="0"/>
          </a:p>
          <a:p>
            <a:endParaRPr lang="zh-CN" altLang="en-US" dirty="0"/>
          </a:p>
        </p:txBody>
      </p:sp>
    </p:spTree>
  </p:cSld>
  <p:clrMapOvr>
    <a:masterClrMapping/>
  </p:clrMapOvr>
  <p:transition/>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82550" tIns="41275" rIns="82550" bIns="41275"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82550" tIns="41275" rIns="82550" bIns="41275"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4211</Words>
  <Application>WPS 演示</Application>
  <PresentationFormat>全屏显示(4:3)</PresentationFormat>
  <Paragraphs>251</Paragraphs>
  <Slides>37</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4</vt:i4>
      </vt:variant>
      <vt:variant>
        <vt:lpstr>幻灯片标题</vt:lpstr>
      </vt:variant>
      <vt:variant>
        <vt:i4>37</vt:i4>
      </vt:variant>
    </vt:vector>
  </HeadingPairs>
  <TitlesOfParts>
    <vt:vector size="56" baseType="lpstr">
      <vt:lpstr>Arial</vt:lpstr>
      <vt:lpstr>宋体</vt:lpstr>
      <vt:lpstr>Wingdings</vt:lpstr>
      <vt:lpstr>Tahoma</vt:lpstr>
      <vt:lpstr>Times New Roman</vt:lpstr>
      <vt:lpstr>黑体</vt:lpstr>
      <vt:lpstr>楷体_GB2312</vt:lpstr>
      <vt:lpstr>新宋体</vt:lpstr>
      <vt:lpstr>Arial Unicode MS</vt:lpstr>
      <vt:lpstr>微软雅黑</vt:lpstr>
      <vt:lpstr>Arial Unicode MS</vt:lpstr>
      <vt:lpstr>Calibri</vt:lpstr>
      <vt:lpstr>Wingdings</vt:lpstr>
      <vt:lpstr>楷体_GB2312</vt:lpstr>
      <vt:lpstr>Blends</vt:lpstr>
      <vt:lpstr>Word.Picture.8</vt:lpstr>
      <vt:lpstr>Word.Picture.8</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cyr</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 3 章    网络安全基本技术</dc:title>
  <dc:creator>cyr</dc:creator>
  <cp:lastModifiedBy>李祺</cp:lastModifiedBy>
  <cp:revision>207</cp:revision>
  <dcterms:created xsi:type="dcterms:W3CDTF">2004-09-18T12:18:43Z</dcterms:created>
  <dcterms:modified xsi:type="dcterms:W3CDTF">2026-03-31T04:57:34Z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13DDE5F73FD844A29F4CD3D7124D229A_12</vt:lpwstr>
  </property>
  <property fmtid="{D5CDD505-2E9C-101B-9397-08002B2CF9AE}" pid="3" name="KSOProductBuildVer">
    <vt:lpwstr>2052-12.1.0.25225</vt:lpwstr>
  </property>
</Properties>
</file>