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118"/>
  </p:handoutMasterIdLst>
  <p:sldIdLst>
    <p:sldId id="357" r:id="rId3"/>
    <p:sldId id="280" r:id="rId4"/>
    <p:sldId id="281" r:id="rId5"/>
    <p:sldId id="257" r:id="rId6"/>
    <p:sldId id="258" r:id="rId8"/>
    <p:sldId id="434" r:id="rId9"/>
    <p:sldId id="259" r:id="rId10"/>
    <p:sldId id="260" r:id="rId11"/>
    <p:sldId id="262" r:id="rId12"/>
    <p:sldId id="263" r:id="rId13"/>
    <p:sldId id="264" r:id="rId14"/>
    <p:sldId id="261" r:id="rId15"/>
    <p:sldId id="265" r:id="rId16"/>
    <p:sldId id="267" r:id="rId17"/>
    <p:sldId id="268" r:id="rId18"/>
    <p:sldId id="435" r:id="rId19"/>
    <p:sldId id="436" r:id="rId20"/>
    <p:sldId id="358" r:id="rId21"/>
    <p:sldId id="276" r:id="rId22"/>
    <p:sldId id="278" r:id="rId23"/>
    <p:sldId id="283" r:id="rId24"/>
    <p:sldId id="284" r:id="rId25"/>
    <p:sldId id="286" r:id="rId26"/>
    <p:sldId id="359" r:id="rId27"/>
    <p:sldId id="445" r:id="rId28"/>
    <p:sldId id="279" r:id="rId29"/>
    <p:sldId id="446" r:id="rId30"/>
    <p:sldId id="360" r:id="rId31"/>
    <p:sldId id="291" r:id="rId32"/>
    <p:sldId id="292" r:id="rId33"/>
    <p:sldId id="293" r:id="rId34"/>
    <p:sldId id="361" r:id="rId35"/>
    <p:sldId id="294" r:id="rId36"/>
    <p:sldId id="295" r:id="rId37"/>
    <p:sldId id="362" r:id="rId38"/>
    <p:sldId id="297" r:id="rId39"/>
    <p:sldId id="302" r:id="rId40"/>
    <p:sldId id="299" r:id="rId41"/>
    <p:sldId id="307" r:id="rId42"/>
    <p:sldId id="363" r:id="rId43"/>
    <p:sldId id="301" r:id="rId44"/>
    <p:sldId id="315" r:id="rId45"/>
    <p:sldId id="304" r:id="rId46"/>
    <p:sldId id="305" r:id="rId47"/>
    <p:sldId id="316" r:id="rId48"/>
    <p:sldId id="318" r:id="rId49"/>
    <p:sldId id="319" r:id="rId50"/>
    <p:sldId id="320" r:id="rId51"/>
    <p:sldId id="321" r:id="rId52"/>
    <p:sldId id="322" r:id="rId53"/>
    <p:sldId id="323" r:id="rId54"/>
    <p:sldId id="314" r:id="rId55"/>
    <p:sldId id="306" r:id="rId56"/>
    <p:sldId id="324" r:id="rId57"/>
    <p:sldId id="325" r:id="rId58"/>
    <p:sldId id="330" r:id="rId59"/>
    <p:sldId id="327" r:id="rId60"/>
    <p:sldId id="328" r:id="rId61"/>
    <p:sldId id="331" r:id="rId62"/>
    <p:sldId id="326" r:id="rId63"/>
    <p:sldId id="332" r:id="rId64"/>
    <p:sldId id="336" r:id="rId65"/>
    <p:sldId id="364" r:id="rId66"/>
    <p:sldId id="335" r:id="rId67"/>
    <p:sldId id="447" r:id="rId68"/>
    <p:sldId id="346" r:id="rId69"/>
    <p:sldId id="345" r:id="rId70"/>
    <p:sldId id="347" r:id="rId71"/>
    <p:sldId id="348" r:id="rId72"/>
    <p:sldId id="349" r:id="rId73"/>
    <p:sldId id="353" r:id="rId74"/>
    <p:sldId id="351" r:id="rId75"/>
    <p:sldId id="354" r:id="rId76"/>
    <p:sldId id="356" r:id="rId77"/>
    <p:sldId id="355" r:id="rId78"/>
    <p:sldId id="365" r:id="rId79"/>
    <p:sldId id="366" r:id="rId80"/>
    <p:sldId id="367" r:id="rId81"/>
    <p:sldId id="368" r:id="rId82"/>
    <p:sldId id="369" r:id="rId83"/>
    <p:sldId id="370" r:id="rId84"/>
    <p:sldId id="371" r:id="rId85"/>
    <p:sldId id="372" r:id="rId86"/>
    <p:sldId id="373" r:id="rId87"/>
    <p:sldId id="374" r:id="rId88"/>
    <p:sldId id="375" r:id="rId89"/>
    <p:sldId id="376" r:id="rId90"/>
    <p:sldId id="377" r:id="rId91"/>
    <p:sldId id="378" r:id="rId92"/>
    <p:sldId id="379" r:id="rId93"/>
    <p:sldId id="380" r:id="rId94"/>
    <p:sldId id="382" r:id="rId95"/>
    <p:sldId id="383" r:id="rId96"/>
    <p:sldId id="384" r:id="rId97"/>
    <p:sldId id="385" r:id="rId98"/>
    <p:sldId id="386" r:id="rId99"/>
    <p:sldId id="387" r:id="rId100"/>
    <p:sldId id="432" r:id="rId101"/>
    <p:sldId id="395" r:id="rId102"/>
    <p:sldId id="396" r:id="rId103"/>
    <p:sldId id="433" r:id="rId104"/>
    <p:sldId id="398" r:id="rId105"/>
    <p:sldId id="399" r:id="rId106"/>
    <p:sldId id="400" r:id="rId107"/>
    <p:sldId id="401" r:id="rId108"/>
    <p:sldId id="402" r:id="rId109"/>
    <p:sldId id="442" r:id="rId110"/>
    <p:sldId id="443" r:id="rId111"/>
    <p:sldId id="444" r:id="rId112"/>
    <p:sldId id="403" r:id="rId113"/>
    <p:sldId id="408" r:id="rId114"/>
    <p:sldId id="409" r:id="rId115"/>
    <p:sldId id="410" r:id="rId116"/>
    <p:sldId id="415" r:id="rId11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00CCFF"/>
    <a:srgbClr val="9966FF"/>
    <a:srgbClr val="DDDDDD"/>
    <a:srgbClr val="CCFFCC"/>
    <a:srgbClr val="FFFF99"/>
    <a:srgbClr val="FF00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7"/>
    <p:restoredTop sz="82434"/>
  </p:normalViewPr>
  <p:slideViewPr>
    <p:cSldViewPr showGuides="1">
      <p:cViewPr varScale="1">
        <p:scale>
          <a:sx n="79" d="100"/>
          <a:sy n="79" d="100"/>
        </p:scale>
        <p:origin x="14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 Target="slides/slide9.xml"/><Relationship Id="rId119" Type="http://schemas.openxmlformats.org/officeDocument/2006/relationships/presProps" Target="presProps.xml"/><Relationship Id="rId118" Type="http://schemas.openxmlformats.org/officeDocument/2006/relationships/handoutMaster" Target="handoutMasters/handoutMaster1.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46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46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46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smtClean="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73C01CF-8808-4745-A813-737BB9F1C7A9}"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215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15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215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15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15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smtClean="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A73704C-4E07-40D2-ABE4-85E2B6FF1E7C}"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9218" name="Rectangle 2"/>
          <p:cNvSpPr>
            <a:spLocks noRot="1" noTextEdit="1"/>
          </p:cNvSpPr>
          <p:nvPr>
            <p:ph type="sldImg"/>
          </p:nvPr>
        </p:nvSpPr>
        <p:spPr>
          <a:ln/>
        </p:spPr>
      </p:sp>
      <p:sp>
        <p:nvSpPr>
          <p:cNvPr id="9219" name="Rectangle 3"/>
          <p:cNvSpPr>
            <a:spLocks noGrp="1"/>
          </p:cNvSpPr>
          <p:nvPr>
            <p:ph type="body"/>
          </p:nvPr>
        </p:nvSpPr>
        <p:spPr>
          <a:ln/>
        </p:spPr>
        <p:txBody>
          <a:bodyPr wrap="square" lIns="91440" tIns="45720" rIns="91440" bIns="45720" anchor="t" anchorCtr="0"/>
          <a:p>
            <a:pPr lvl="1" indent="0" eaLnBrk="1" hangingPunct="1"/>
            <a:r>
              <a:rPr lang="zh-CN" altLang="en-US" dirty="0">
                <a:latin typeface="楷体_GB2312" pitchFamily="49" charset="-122"/>
                <a:ea typeface="楷体_GB2312" pitchFamily="49" charset="-122"/>
              </a:rPr>
              <a:t>前身为 </a:t>
            </a:r>
            <a:r>
              <a:rPr lang="en-US" altLang="zh-CN" dirty="0">
                <a:latin typeface="楷体_GB2312" pitchFamily="49" charset="-122"/>
                <a:ea typeface="楷体_GB2312" pitchFamily="49" charset="-122"/>
              </a:rPr>
              <a:t>Acorn</a:t>
            </a:r>
            <a:r>
              <a:rPr lang="zh-CN" altLang="en-US" dirty="0">
                <a:latin typeface="楷体_GB2312" pitchFamily="49" charset="-122"/>
                <a:ea typeface="楷体_GB2312" pitchFamily="49" charset="-122"/>
              </a:rPr>
              <a:t>计算机公司</a:t>
            </a:r>
            <a:endParaRPr lang="zh-CN" altLang="en-US" dirty="0">
              <a:latin typeface="楷体_GB2312" pitchFamily="49" charset="-122"/>
              <a:ea typeface="楷体_GB2312" pitchFamily="49" charset="-122"/>
            </a:endParaRPr>
          </a:p>
          <a:p>
            <a:pPr lvl="0" eaLnBrk="1" hangingPunct="1"/>
            <a:r>
              <a:rPr lang="zh-CN" altLang="en-US" dirty="0">
                <a:solidFill>
                  <a:srgbClr val="FF0000"/>
                </a:solidFill>
                <a:latin typeface="楷体_GB2312" pitchFamily="49" charset="-122"/>
                <a:ea typeface="楷体_GB2312" pitchFamily="49" charset="-122"/>
              </a:rPr>
              <a:t>另外也提供基于</a:t>
            </a:r>
            <a:r>
              <a:rPr lang="en-US" altLang="zh-CN" dirty="0">
                <a:solidFill>
                  <a:srgbClr val="FF0000"/>
                </a:solidFill>
                <a:latin typeface="楷体_GB2312" pitchFamily="49" charset="-122"/>
                <a:ea typeface="楷体_GB2312" pitchFamily="49" charset="-122"/>
              </a:rPr>
              <a:t>ARM</a:t>
            </a:r>
            <a:r>
              <a:rPr lang="zh-CN" altLang="en-US" dirty="0">
                <a:solidFill>
                  <a:srgbClr val="FF0000"/>
                </a:solidFill>
                <a:latin typeface="楷体_GB2312" pitchFamily="49" charset="-122"/>
                <a:ea typeface="楷体_GB2312" pitchFamily="49" charset="-122"/>
              </a:rPr>
              <a:t>架构的开发设计技术</a:t>
            </a:r>
            <a:endParaRPr lang="zh-CN" altLang="en-US" dirty="0">
              <a:solidFill>
                <a:srgbClr val="FF0000"/>
              </a:solidFill>
              <a:latin typeface="楷体_GB2312" pitchFamily="49" charset="-122"/>
              <a:ea typeface="楷体_GB2312" pitchFamily="49" charset="-122"/>
            </a:endParaRPr>
          </a:p>
          <a:p>
            <a:pPr lvl="1" indent="0" eaLnBrk="1" hangingPunct="1"/>
            <a:r>
              <a:rPr lang="zh-CN" altLang="en-US" dirty="0">
                <a:latin typeface="楷体_GB2312" pitchFamily="49" charset="-122"/>
                <a:ea typeface="楷体_GB2312" pitchFamily="49" charset="-122"/>
              </a:rPr>
              <a:t>软件工具</a:t>
            </a: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评估板</a:t>
            </a: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调试工具</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应用软件</a:t>
            </a:r>
            <a:r>
              <a:rPr lang="en-US" altLang="zh-CN"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lvl="1" indent="0" eaLnBrk="1" hangingPunct="1"/>
            <a:r>
              <a:rPr lang="zh-CN" altLang="en-US" dirty="0">
                <a:latin typeface="楷体_GB2312" pitchFamily="49" charset="-122"/>
                <a:ea typeface="楷体_GB2312" pitchFamily="49" charset="-122"/>
              </a:rPr>
              <a:t>总线架构</a:t>
            </a: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外围设备单元，等等</a:t>
            </a:r>
            <a:endParaRPr lang="zh-CN" altLang="en-US" dirty="0">
              <a:latin typeface="楷体_GB2312" pitchFamily="49" charset="-122"/>
              <a:ea typeface="楷体_GB2312" pitchFamily="49" charset="-122"/>
            </a:endParaRPr>
          </a:p>
          <a:p>
            <a:pPr lvl="1" indent="0" eaLnBrk="1" hangingPunct="1"/>
            <a:endParaRPr lang="en-US" altLang="zh-CN" dirty="0">
              <a:latin typeface="楷体_GB2312" pitchFamily="49" charset="-122"/>
              <a:ea typeface="楷体_GB2312"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Grp="1" noRot="1" noChangeAspect="1" noTextEdit="1"/>
          </p:cNvSpPr>
          <p:nvPr>
            <p:ph type="sldImg"/>
          </p:nvPr>
        </p:nvSpPr>
        <p:spPr>
          <a:ln/>
        </p:spPr>
      </p:sp>
      <p:sp>
        <p:nvSpPr>
          <p:cNvPr id="21506" name="备注占位符 2"/>
          <p:cNvSpPr>
            <a:spLocks noGrp="1"/>
          </p:cNvSpPr>
          <p:nvPr>
            <p:ph type="body"/>
          </p:nvPr>
        </p:nvSpPr>
        <p:spPr>
          <a:ln/>
        </p:spPr>
        <p:txBody>
          <a:bodyPr wrap="square" lIns="91440" tIns="45720" rIns="91440" bIns="45720" anchor="t" anchorCtr="0"/>
          <a:p>
            <a:pPr lvl="0"/>
            <a:r>
              <a:rPr lang="zh-CN" altLang="en-US" dirty="0"/>
              <a:t>处理器核</a:t>
            </a:r>
            <a:r>
              <a:rPr lang="en-US" altLang="zh-CN" dirty="0"/>
              <a:t>——</a:t>
            </a:r>
            <a:r>
              <a:rPr lang="zh-CN" altLang="en-US" dirty="0"/>
              <a:t>处理器中的计算核心</a:t>
            </a:r>
            <a:endParaRPr lang="zh-CN" altLang="en-US" dirty="0"/>
          </a:p>
        </p:txBody>
      </p:sp>
      <p:sp>
        <p:nvSpPr>
          <p:cNvPr id="21507"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32770" name="Rectangle 2"/>
          <p:cNvSpPr>
            <a:spLocks noRot="1" noTextEdit="1"/>
          </p:cNvSpPr>
          <p:nvPr>
            <p:ph type="sldImg"/>
          </p:nvPr>
        </p:nvSpPr>
        <p:spPr>
          <a:ln/>
        </p:spPr>
      </p:sp>
      <p:sp>
        <p:nvSpPr>
          <p:cNvPr id="32771" name="Rectangle 3"/>
          <p:cNvSpPr>
            <a:spLocks noGrp="1"/>
          </p:cNvSpPr>
          <p:nvPr>
            <p:ph type="body"/>
          </p:nvPr>
        </p:nvSpPr>
        <p:spPr>
          <a:ln/>
        </p:spPr>
        <p:txBody>
          <a:bodyPr wrap="square" lIns="91440" tIns="45720" rIns="91440" bIns="45720" anchor="t" anchorCtr="0"/>
          <a:p>
            <a:pPr lvl="0" eaLnBrk="1" hangingPunct="1"/>
            <a:r>
              <a:rPr lang="en-US" altLang="zh-CN" dirty="0"/>
              <a:t>JTAG</a:t>
            </a:r>
            <a:r>
              <a:rPr lang="zh-CN" altLang="en-US" dirty="0"/>
              <a:t>内部有一个状态机</a:t>
            </a:r>
            <a:r>
              <a:rPr lang="en-US" altLang="zh-CN" dirty="0"/>
              <a:t>,</a:t>
            </a:r>
            <a:r>
              <a:rPr lang="zh-CN" altLang="en-US" dirty="0"/>
              <a:t>称为</a:t>
            </a:r>
            <a:r>
              <a:rPr lang="en-US" altLang="zh-CN" dirty="0"/>
              <a:t>TAP</a:t>
            </a:r>
            <a:r>
              <a:rPr lang="zh-CN" altLang="en-US" dirty="0"/>
              <a:t>控制器。 </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39938" name="Rectangle 2"/>
          <p:cNvSpPr>
            <a:spLocks noRot="1" noTextEdit="1"/>
          </p:cNvSpPr>
          <p:nvPr>
            <p:ph type="sldImg"/>
          </p:nvPr>
        </p:nvSpPr>
        <p:spPr>
          <a:ln/>
        </p:spPr>
      </p:sp>
      <p:sp>
        <p:nvSpPr>
          <p:cNvPr id="39939" name="Rectangle 3"/>
          <p:cNvSpPr>
            <a:spLocks noGrp="1"/>
          </p:cNvSpPr>
          <p:nvPr>
            <p:ph type="body"/>
          </p:nvPr>
        </p:nvSpPr>
        <p:spPr>
          <a:ln/>
        </p:spPr>
        <p:txBody>
          <a:bodyPr wrap="square" lIns="91440" tIns="45720" rIns="91440" bIns="45720" anchor="t" anchorCtr="0"/>
          <a:p>
            <a:pPr lvl="0" eaLnBrk="1" hangingPunct="1"/>
            <a:r>
              <a:rPr lang="en-US" altLang="zh-CN" dirty="0"/>
              <a:t>CBW</a:t>
            </a:r>
            <a:r>
              <a:rPr lang="zh-CN" altLang="en-US" dirty="0"/>
              <a:t>的功能描述為：</a:t>
            </a:r>
            <a:endParaRPr lang="zh-CN" altLang="en-US" dirty="0"/>
          </a:p>
          <a:p>
            <a:pPr lvl="0" eaLnBrk="1" hangingPunct="1"/>
            <a:r>
              <a:rPr lang="en-US" altLang="zh-CN" dirty="0"/>
              <a:t>If</a:t>
            </a:r>
            <a:r>
              <a:rPr lang="en-US" altLang="zh-CN" dirty="0">
                <a:latin typeface="Arial" panose="020B0604020202020204" pitchFamily="34" charset="0"/>
              </a:rPr>
              <a:t> </a:t>
            </a:r>
            <a:r>
              <a:rPr lang="en-US" altLang="zh-CN" dirty="0"/>
              <a:t> (AL</a:t>
            </a:r>
            <a:r>
              <a:rPr lang="zh-CN" altLang="en-US" dirty="0"/>
              <a:t>的</a:t>
            </a:r>
            <a:r>
              <a:rPr lang="en-US" altLang="zh-CN" dirty="0"/>
              <a:t>MSB=1)</a:t>
            </a:r>
            <a:r>
              <a:rPr lang="en-US" altLang="zh-CN" dirty="0">
                <a:latin typeface="Arial" panose="020B0604020202020204" pitchFamily="34" charset="0"/>
              </a:rPr>
              <a:t>     </a:t>
            </a:r>
            <a:r>
              <a:rPr lang="en-US" altLang="zh-CN" dirty="0"/>
              <a:t> then</a:t>
            </a:r>
            <a:endParaRPr lang="en-US" altLang="zh-CN" dirty="0"/>
          </a:p>
          <a:p>
            <a:pPr lvl="0" eaLnBrk="1" hangingPunct="1"/>
            <a:r>
              <a:rPr lang="en-US" altLang="zh-CN" dirty="0"/>
              <a:t>AH ← FFh </a:t>
            </a:r>
            <a:r>
              <a:rPr lang="en-US" altLang="zh-CN" dirty="0">
                <a:latin typeface="Arial" panose="020B0604020202020204" pitchFamily="34" charset="0"/>
              </a:rPr>
              <a:t> </a:t>
            </a:r>
            <a:r>
              <a:rPr lang="en-US" altLang="zh-CN" dirty="0"/>
              <a:t> (</a:t>
            </a:r>
            <a:r>
              <a:rPr lang="zh-CN" altLang="en-US" dirty="0"/>
              <a:t>負數</a:t>
            </a:r>
            <a:r>
              <a:rPr lang="en-US" altLang="zh-CN" dirty="0"/>
              <a:t>)</a:t>
            </a:r>
            <a:endParaRPr lang="en-US" altLang="zh-CN" dirty="0"/>
          </a:p>
          <a:p>
            <a:pPr lvl="0" eaLnBrk="1" hangingPunct="1"/>
            <a:r>
              <a:rPr lang="en-US" altLang="zh-CN" dirty="0"/>
              <a:t>Else</a:t>
            </a:r>
            <a:endParaRPr lang="en-US" altLang="zh-CN" dirty="0"/>
          </a:p>
          <a:p>
            <a:pPr lvl="0" eaLnBrk="1" hangingPunct="1"/>
            <a:r>
              <a:rPr lang="en-US" altLang="zh-CN" dirty="0"/>
              <a:t>AH ← 00h </a:t>
            </a:r>
            <a:r>
              <a:rPr lang="en-US" altLang="zh-CN" dirty="0">
                <a:latin typeface="Arial" panose="020B0604020202020204" pitchFamily="34" charset="0"/>
              </a:rPr>
              <a:t>  </a:t>
            </a:r>
            <a:r>
              <a:rPr lang="en-US" altLang="zh-CN" dirty="0"/>
              <a:t> (</a:t>
            </a:r>
            <a:r>
              <a:rPr lang="zh-CN" altLang="en-US" dirty="0"/>
              <a:t>正數</a:t>
            </a:r>
            <a:r>
              <a:rPr lang="en-US" altLang="zh-CN" dirty="0"/>
              <a:t>)</a:t>
            </a:r>
            <a:endParaRPr lang="en-US" altLang="zh-CN" dirty="0"/>
          </a:p>
          <a:p>
            <a:pPr lvl="0" eaLnBrk="1" hangingPunct="1"/>
            <a:r>
              <a:rPr lang="en-US" altLang="zh-CN" dirty="0"/>
              <a:t>End if</a:t>
            </a: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52226" name="Rectangle 2"/>
          <p:cNvSpPr>
            <a:spLocks noRot="1" noTextEdit="1"/>
          </p:cNvSpPr>
          <p:nvPr>
            <p:ph type="sldImg"/>
          </p:nvPr>
        </p:nvSpPr>
        <p:spPr>
          <a:ln/>
        </p:spPr>
      </p:sp>
      <p:sp>
        <p:nvSpPr>
          <p:cNvPr id="52227" name="Rectangle 3"/>
          <p:cNvSpPr>
            <a:spLocks noGrp="1"/>
          </p:cNvSpPr>
          <p:nvPr>
            <p:ph type="body"/>
          </p:nvPr>
        </p:nvSpPr>
        <p:spPr>
          <a:ln/>
        </p:spPr>
        <p:txBody>
          <a:bodyPr wrap="square" lIns="91440" tIns="45720" rIns="91440" bIns="45720" anchor="t" anchorCtr="0"/>
          <a:p>
            <a:pPr lvl="0" eaLnBrk="1" hangingPunct="1"/>
            <a:r>
              <a:rPr lang="en-US" altLang="zh-CN" dirty="0"/>
              <a:t>31</a:t>
            </a:r>
            <a:r>
              <a:rPr lang="zh-CN" altLang="en-US" dirty="0"/>
              <a:t>个通用寄存器和</a:t>
            </a:r>
            <a:r>
              <a:rPr lang="en-US" altLang="zh-CN" dirty="0"/>
              <a:t>6</a:t>
            </a:r>
            <a:r>
              <a:rPr lang="zh-CN" altLang="en-US" dirty="0"/>
              <a:t>个状态寄存器，共</a:t>
            </a:r>
            <a:r>
              <a:rPr lang="en-US" altLang="zh-CN" dirty="0"/>
              <a:t>37</a:t>
            </a:r>
            <a:r>
              <a:rPr lang="zh-CN" altLang="en-US" dirty="0"/>
              <a:t>个寄存器。</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77826" name="Rectangle 2"/>
          <p:cNvSpPr>
            <a:spLocks noRot="1" noTextEdit="1"/>
          </p:cNvSpPr>
          <p:nvPr>
            <p:ph type="sldImg"/>
          </p:nvPr>
        </p:nvSpPr>
        <p:spPr>
          <a:ln/>
        </p:spPr>
      </p:sp>
      <p:sp>
        <p:nvSpPr>
          <p:cNvPr id="77827" name="Rectangle 3"/>
          <p:cNvSpPr>
            <a:spLocks noGrp="1"/>
          </p:cNvSpPr>
          <p:nvPr>
            <p:ph type="body"/>
          </p:nvPr>
        </p:nvSpPr>
        <p:spPr>
          <a:ln/>
        </p:spPr>
        <p:txBody>
          <a:bodyPr wrap="square" lIns="91440" tIns="45720" rIns="91440" bIns="45720" anchor="t" anchorCtr="0"/>
          <a:p>
            <a:pPr lvl="0" eaLnBrk="1" hangingPunct="1">
              <a:spcBef>
                <a:spcPct val="20000"/>
              </a:spcBef>
            </a:pPr>
            <a:r>
              <a:rPr lang="en-US" altLang="zh-CN" dirty="0">
                <a:solidFill>
                  <a:srgbClr val="FF0000"/>
                </a:solidFill>
                <a:latin typeface="楷体_GB2312" pitchFamily="49" charset="-122"/>
                <a:ea typeface="楷体_GB2312" pitchFamily="49" charset="-122"/>
              </a:rPr>
              <a:t>Q </a:t>
            </a:r>
            <a:r>
              <a:rPr lang="zh-CN" altLang="en-US" dirty="0">
                <a:solidFill>
                  <a:srgbClr val="FF0000"/>
                </a:solidFill>
                <a:latin typeface="楷体_GB2312" pitchFamily="49" charset="-122"/>
                <a:ea typeface="楷体_GB2312" pitchFamily="49" charset="-122"/>
              </a:rPr>
              <a:t>位（</a:t>
            </a:r>
            <a:r>
              <a:rPr lang="en-US" altLang="zh-CN" dirty="0">
                <a:solidFill>
                  <a:srgbClr val="FF0000"/>
                </a:solidFill>
                <a:latin typeface="楷体_GB2312" pitchFamily="49" charset="-122"/>
                <a:ea typeface="楷体_GB2312" pitchFamily="49" charset="-122"/>
              </a:rPr>
              <a:t>27</a:t>
            </a:r>
            <a:r>
              <a:rPr lang="zh-CN" altLang="en-US" dirty="0">
                <a:solidFill>
                  <a:srgbClr val="FF0000"/>
                </a:solidFill>
                <a:latin typeface="楷体_GB2312" pitchFamily="49" charset="-122"/>
                <a:ea typeface="楷体_GB2312" pitchFamily="49" charset="-122"/>
              </a:rPr>
              <a:t>位）：</a:t>
            </a:r>
            <a:endParaRPr lang="zh-CN" altLang="en-US" dirty="0">
              <a:solidFill>
                <a:srgbClr val="FF0000"/>
              </a:solidFill>
              <a:latin typeface="楷体_GB2312" pitchFamily="49" charset="-122"/>
              <a:ea typeface="楷体_GB2312" pitchFamily="49" charset="-122"/>
            </a:endParaRPr>
          </a:p>
          <a:p>
            <a:pPr lvl="1" indent="0" eaLnBrk="1" hangingPunct="1">
              <a:spcBef>
                <a:spcPct val="20000"/>
              </a:spcBef>
            </a:pPr>
            <a:r>
              <a:rPr lang="zh-CN" altLang="en-US" dirty="0">
                <a:latin typeface="楷体_GB2312" pitchFamily="49" charset="-122"/>
                <a:ea typeface="楷体_GB2312" pitchFamily="49" charset="-122"/>
              </a:rPr>
              <a:t>仅</a:t>
            </a:r>
            <a:r>
              <a:rPr lang="en-US" altLang="zh-CN" dirty="0">
                <a:latin typeface="楷体_GB2312" pitchFamily="49" charset="-122"/>
                <a:ea typeface="楷体_GB2312" pitchFamily="49" charset="-122"/>
              </a:rPr>
              <a:t>ARM 5TE/J</a:t>
            </a:r>
            <a:r>
              <a:rPr lang="zh-CN" altLang="en-US" dirty="0">
                <a:latin typeface="楷体_GB2312" pitchFamily="49" charset="-122"/>
                <a:ea typeface="楷体_GB2312" pitchFamily="49" charset="-122"/>
              </a:rPr>
              <a:t>架构支持</a:t>
            </a:r>
            <a:endParaRPr lang="zh-CN" altLang="en-US" dirty="0">
              <a:latin typeface="楷体_GB2312" pitchFamily="49" charset="-122"/>
              <a:ea typeface="楷体_GB2312" pitchFamily="49" charset="-122"/>
            </a:endParaRPr>
          </a:p>
          <a:p>
            <a:pPr lvl="1" indent="0" eaLnBrk="1" hangingPunct="1">
              <a:spcBef>
                <a:spcPct val="20000"/>
              </a:spcBef>
            </a:pPr>
            <a:r>
              <a:rPr lang="zh-CN" altLang="en-US" dirty="0">
                <a:latin typeface="楷体_GB2312" pitchFamily="49" charset="-122"/>
                <a:ea typeface="楷体_GB2312" pitchFamily="49" charset="-122"/>
              </a:rPr>
              <a:t>指示增强型</a:t>
            </a:r>
            <a:r>
              <a:rPr lang="en-US" altLang="zh-CN" dirty="0">
                <a:latin typeface="楷体_GB2312" pitchFamily="49" charset="-122"/>
                <a:ea typeface="楷体_GB2312" pitchFamily="49" charset="-122"/>
              </a:rPr>
              <a:t>DSP</a:t>
            </a:r>
            <a:r>
              <a:rPr lang="zh-CN" altLang="en-US" dirty="0">
                <a:latin typeface="楷体_GB2312" pitchFamily="49" charset="-122"/>
                <a:ea typeface="楷体_GB2312" pitchFamily="49" charset="-122"/>
              </a:rPr>
              <a:t>指令是否溢出</a:t>
            </a:r>
            <a:endParaRPr lang="zh-CN" altLang="en-US" dirty="0">
              <a:latin typeface="楷体_GB2312" pitchFamily="49" charset="-122"/>
              <a:ea typeface="楷体_GB2312" pitchFamily="49" charset="-122"/>
            </a:endParaRPr>
          </a:p>
          <a:p>
            <a:pPr lvl="0" eaLnBrk="1" hangingPunct="1">
              <a:spcBef>
                <a:spcPct val="20000"/>
              </a:spcBef>
            </a:pPr>
            <a:endParaRPr lang="zh-CN" altLang="en-US" dirty="0">
              <a:latin typeface="楷体_GB2312" pitchFamily="49" charset="-122"/>
              <a:ea typeface="楷体_GB2312" pitchFamily="49" charset="-122"/>
            </a:endParaRPr>
          </a:p>
          <a:p>
            <a:pPr lvl="0" eaLnBrk="1" hangingPunct="1">
              <a:spcBef>
                <a:spcPct val="20000"/>
              </a:spcBef>
            </a:pPr>
            <a:r>
              <a:rPr lang="en-US" altLang="zh-CN" dirty="0">
                <a:solidFill>
                  <a:srgbClr val="FF0000"/>
                </a:solidFill>
                <a:latin typeface="楷体_GB2312" pitchFamily="49" charset="-122"/>
                <a:ea typeface="楷体_GB2312" pitchFamily="49" charset="-122"/>
              </a:rPr>
              <a:t>J </a:t>
            </a:r>
            <a:r>
              <a:rPr lang="zh-CN" altLang="en-US" dirty="0">
                <a:solidFill>
                  <a:srgbClr val="FF0000"/>
                </a:solidFill>
                <a:latin typeface="楷体_GB2312" pitchFamily="49" charset="-122"/>
                <a:ea typeface="楷体_GB2312" pitchFamily="49" charset="-122"/>
              </a:rPr>
              <a:t>位（</a:t>
            </a:r>
            <a:r>
              <a:rPr lang="en-US" altLang="zh-CN" dirty="0">
                <a:solidFill>
                  <a:srgbClr val="FF0000"/>
                </a:solidFill>
                <a:latin typeface="楷体_GB2312" pitchFamily="49" charset="-122"/>
                <a:ea typeface="楷体_GB2312" pitchFamily="49" charset="-122"/>
              </a:rPr>
              <a:t>24</a:t>
            </a:r>
            <a:r>
              <a:rPr lang="zh-CN" altLang="en-US" dirty="0">
                <a:solidFill>
                  <a:srgbClr val="FF0000"/>
                </a:solidFill>
                <a:latin typeface="楷体_GB2312" pitchFamily="49" charset="-122"/>
                <a:ea typeface="楷体_GB2312" pitchFamily="49" charset="-122"/>
              </a:rPr>
              <a:t>位）</a:t>
            </a:r>
            <a:endParaRPr lang="zh-CN" altLang="en-US" dirty="0">
              <a:solidFill>
                <a:srgbClr val="FF0000"/>
              </a:solidFill>
              <a:latin typeface="楷体_GB2312" pitchFamily="49" charset="-122"/>
              <a:ea typeface="楷体_GB2312" pitchFamily="49" charset="-122"/>
            </a:endParaRPr>
          </a:p>
          <a:p>
            <a:pPr lvl="1" indent="0" eaLnBrk="1" hangingPunct="1">
              <a:spcBef>
                <a:spcPct val="20000"/>
              </a:spcBef>
            </a:pPr>
            <a:r>
              <a:rPr lang="zh-CN" altLang="en-US" dirty="0">
                <a:latin typeface="楷体_GB2312" pitchFamily="49" charset="-122"/>
                <a:ea typeface="楷体_GB2312" pitchFamily="49" charset="-122"/>
              </a:rPr>
              <a:t>仅</a:t>
            </a:r>
            <a:r>
              <a:rPr lang="en-US" altLang="zh-CN" dirty="0">
                <a:latin typeface="楷体_GB2312" pitchFamily="49" charset="-122"/>
                <a:ea typeface="楷体_GB2312" pitchFamily="49" charset="-122"/>
              </a:rPr>
              <a:t>ARM 5TE/J</a:t>
            </a:r>
            <a:r>
              <a:rPr lang="zh-CN" altLang="en-US" dirty="0">
                <a:latin typeface="楷体_GB2312" pitchFamily="49" charset="-122"/>
                <a:ea typeface="楷体_GB2312" pitchFamily="49" charset="-122"/>
              </a:rPr>
              <a:t>架构支持</a:t>
            </a:r>
            <a:endParaRPr lang="zh-CN" altLang="en-US" dirty="0">
              <a:latin typeface="楷体_GB2312" pitchFamily="49" charset="-122"/>
              <a:ea typeface="楷体_GB2312" pitchFamily="49" charset="-122"/>
            </a:endParaRPr>
          </a:p>
          <a:p>
            <a:pPr lvl="1" indent="0" eaLnBrk="1" hangingPunct="1">
              <a:spcBef>
                <a:spcPct val="20000"/>
              </a:spcBef>
            </a:pPr>
            <a:r>
              <a:rPr lang="en-US" altLang="zh-CN" dirty="0">
                <a:latin typeface="楷体_GB2312" pitchFamily="49" charset="-122"/>
                <a:ea typeface="楷体_GB2312" pitchFamily="49" charset="-122"/>
              </a:rPr>
              <a:t>J = 1:  </a:t>
            </a:r>
            <a:r>
              <a:rPr lang="zh-CN" altLang="en-US" dirty="0">
                <a:latin typeface="楷体_GB2312" pitchFamily="49" charset="-122"/>
                <a:ea typeface="楷体_GB2312" pitchFamily="49" charset="-122"/>
              </a:rPr>
              <a:t>处理器处于</a:t>
            </a:r>
            <a:r>
              <a:rPr lang="en-US" altLang="zh-CN" dirty="0">
                <a:latin typeface="楷体_GB2312" pitchFamily="49" charset="-122"/>
                <a:ea typeface="楷体_GB2312" pitchFamily="49" charset="-122"/>
              </a:rPr>
              <a:t>Jazelle</a:t>
            </a:r>
            <a:r>
              <a:rPr lang="zh-CN" altLang="en-US" dirty="0">
                <a:latin typeface="楷体_GB2312" pitchFamily="49" charset="-122"/>
                <a:ea typeface="楷体_GB2312" pitchFamily="49" charset="-122"/>
              </a:rPr>
              <a:t>状态</a:t>
            </a:r>
            <a:endParaRPr lang="zh-CN" altLang="en-US" dirty="0">
              <a:latin typeface="楷体_GB2312" pitchFamily="49" charset="-122"/>
              <a:ea typeface="楷体_GB2312"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1" name="Group 3"/>
            <p:cNvGrpSpPr/>
            <p:nvPr/>
          </p:nvGrpSpPr>
          <p:grpSpPr>
            <a:xfrm>
              <a:off x="183" y="1604"/>
              <a:ext cx="448" cy="299"/>
              <a:chOff x="720" y="336"/>
              <a:chExt cx="624" cy="432"/>
            </a:xfrm>
          </p:grpSpPr>
          <p:sp>
            <p:nvSpPr>
              <p:cNvPr id="2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4" name="Group 6"/>
            <p:cNvGrpSpPr/>
            <p:nvPr/>
          </p:nvGrpSpPr>
          <p:grpSpPr>
            <a:xfrm>
              <a:off x="261" y="1870"/>
              <a:ext cx="465" cy="299"/>
              <a:chOff x="912" y="2640"/>
              <a:chExt cx="672" cy="432"/>
            </a:xfrm>
          </p:grpSpPr>
          <p:sp>
            <p:nvSpPr>
              <p:cNvPr id="2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83308" name="Rectangle 12"/>
          <p:cNvSpPr>
            <a:spLocks noGrp="1" noChangeArrowheads="1"/>
          </p:cNvSpPr>
          <p:nvPr>
            <p:ph type="ctrTitle"/>
          </p:nvPr>
        </p:nvSpPr>
        <p:spPr>
          <a:xfrm>
            <a:off x="990600" y="1676400"/>
            <a:ext cx="7772400" cy="1462088"/>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1833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24" name="Rectangle 14"/>
          <p:cNvSpPr>
            <a:spLocks noGrp="1" noChangeArrowheads="1"/>
          </p:cNvSpPr>
          <p:nvPr>
            <p:ph type="dt" sz="half" idx="2"/>
          </p:nvPr>
        </p:nvSpPr>
        <p:spPr bwMode="auto">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mtClean="0">
                <a:solidFill>
                  <a:schemeClr val="bg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28D4CEA-4A23-45DF-89F9-2102D4B464E5}" type="slidenum">
              <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68313" y="1341438"/>
            <a:ext cx="4167187" cy="4895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787900" y="1341438"/>
            <a:ext cx="4167188" cy="4895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34188" y="214313"/>
            <a:ext cx="2120900" cy="602297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68313" y="214313"/>
            <a:ext cx="6213475" cy="602297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766762"/>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468313" y="1341438"/>
            <a:ext cx="4167187" cy="48958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787900" y="1341438"/>
            <a:ext cx="4167188" cy="48958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766762"/>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468313" y="1341438"/>
            <a:ext cx="8486775" cy="48958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36830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36830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79057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79057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71755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26035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05092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214313"/>
            <a:ext cx="7793037" cy="766762"/>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4" name="Rectangle 10"/>
          <p:cNvSpPr>
            <a:spLocks noGrp="1"/>
          </p:cNvSpPr>
          <p:nvPr>
            <p:ph type="body"/>
          </p:nvPr>
        </p:nvSpPr>
        <p:spPr>
          <a:xfrm>
            <a:off x="468313" y="1341438"/>
            <a:ext cx="8486775" cy="489585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2283"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2284"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2285"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16CF1DE0-ADF6-489E-9409-C1F8C06A97F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黑体" panose="02010609060101010101" pitchFamily="49"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黑体" panose="02010609060101010101" pitchFamily="49"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黑体" panose="02010609060101010101" pitchFamily="49"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黑体" panose="02010609060101010101" pitchFamily="49"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黑体" panose="02010609060101010101" pitchFamily="49"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黑体" panose="02010609060101010101" pitchFamily="49"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黑体" panose="02010609060101010101" pitchFamily="49"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oleObject" Target="../embeddings/oleObject3.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Text Box 4">
            <a:hlinkClick r:id="" action="ppaction://hlinkshowjump?jump=nextslide"/>
          </p:cNvPr>
          <p:cNvSpPr txBox="1"/>
          <p:nvPr/>
        </p:nvSpPr>
        <p:spPr>
          <a:xfrm>
            <a:off x="1979613" y="3068638"/>
            <a:ext cx="4562475" cy="1568450"/>
          </a:xfrm>
          <a:prstGeom prst="rect">
            <a:avLst/>
          </a:prstGeom>
          <a:noFill/>
          <a:ln w="9525">
            <a:noFill/>
          </a:ln>
        </p:spPr>
        <p:txBody>
          <a:bodyPr anchor="t" anchorCtr="0">
            <a:spAutoFit/>
          </a:bodyPr>
          <a:p>
            <a:pPr algn="ctr" eaLnBrk="0" hangingPunct="0">
              <a:buClrTx/>
              <a:buFontTx/>
            </a:pPr>
            <a:r>
              <a:rPr lang="zh-CN" altLang="en-US" sz="4800" b="1" dirty="0">
                <a:solidFill>
                  <a:srgbClr val="0000FF"/>
                </a:solidFill>
                <a:latin typeface="Arial" panose="020B0604020202020204" pitchFamily="34" charset="0"/>
                <a:ea typeface="华文琥珀" panose="02010800040101010101" pitchFamily="2" charset="-122"/>
              </a:rPr>
              <a:t>嵌入式处理器</a:t>
            </a:r>
            <a:r>
              <a:rPr lang="en-US" altLang="zh-CN" sz="4800" b="1" dirty="0">
                <a:solidFill>
                  <a:srgbClr val="0000FF"/>
                </a:solidFill>
                <a:latin typeface="Arial" panose="020B0604020202020204" pitchFamily="34" charset="0"/>
                <a:ea typeface="华文琥珀" panose="02010800040101010101" pitchFamily="2" charset="-122"/>
              </a:rPr>
              <a:t>ARM7</a:t>
            </a:r>
            <a:r>
              <a:rPr lang="zh-CN" altLang="en-US" sz="4800" b="1" dirty="0">
                <a:solidFill>
                  <a:srgbClr val="0000FF"/>
                </a:solidFill>
                <a:latin typeface="Arial" panose="020B0604020202020204" pitchFamily="34" charset="0"/>
                <a:ea typeface="华文琥珀" panose="02010800040101010101" pitchFamily="2" charset="-122"/>
              </a:rPr>
              <a:t>体系结构</a:t>
            </a:r>
            <a:endParaRPr lang="zh-CN" altLang="en-US" sz="4800" b="1" dirty="0">
              <a:solidFill>
                <a:srgbClr val="0000FF"/>
              </a:solidFill>
              <a:latin typeface="Arial" panose="020B0604020202020204" pitchFamily="34" charset="0"/>
              <a:ea typeface="华文琥珀" panose="02010800040101010101" pitchFamily="2" charset="-122"/>
            </a:endParaRPr>
          </a:p>
        </p:txBody>
      </p:sp>
      <p:sp>
        <p:nvSpPr>
          <p:cNvPr id="5122" name="Text Box 4">
            <a:hlinkClick r:id="" action="ppaction://hlinkshowjump?jump=nextslide"/>
          </p:cNvPr>
          <p:cNvSpPr txBox="1"/>
          <p:nvPr/>
        </p:nvSpPr>
        <p:spPr>
          <a:xfrm>
            <a:off x="1979613" y="1484313"/>
            <a:ext cx="4562475" cy="829945"/>
          </a:xfrm>
          <a:prstGeom prst="rect">
            <a:avLst/>
          </a:prstGeom>
          <a:noFill/>
          <a:ln w="9525">
            <a:noFill/>
          </a:ln>
        </p:spPr>
        <p:txBody>
          <a:bodyPr anchor="t" anchorCtr="0">
            <a:spAutoFit/>
          </a:bodyPr>
          <a:p>
            <a:pPr algn="ctr" eaLnBrk="0" hangingPunct="0">
              <a:buClrTx/>
              <a:buFontTx/>
            </a:pPr>
            <a:r>
              <a:rPr lang="zh-CN" altLang="en-US" sz="4800" b="1" dirty="0">
                <a:solidFill>
                  <a:srgbClr val="0000FF"/>
                </a:solidFill>
                <a:latin typeface="黑体" panose="02010609060101010101" pitchFamily="49" charset="-122"/>
                <a:ea typeface="黑体" panose="02010609060101010101" pitchFamily="49" charset="-122"/>
              </a:rPr>
              <a:t>第四章</a:t>
            </a:r>
            <a:endParaRPr lang="zh-CN" altLang="en-US" sz="48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p:nvPr/>
        </p:nvSpPr>
        <p:spPr>
          <a:xfrm>
            <a:off x="1187450" y="304800"/>
            <a:ext cx="7270750" cy="603250"/>
          </a:xfrm>
          <a:prstGeom prst="rect">
            <a:avLst/>
          </a:prstGeom>
          <a:noFill/>
          <a:ln w="9525">
            <a:noFill/>
          </a:ln>
        </p:spPr>
        <p:txBody>
          <a:bodyPr anchor="ctr"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4</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6146"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简介</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2.ARM7TDMI</a:t>
            </a:r>
            <a:endParaRPr lang="en-US" altLang="zh-CN"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3.ARM7TDMI</a:t>
            </a:r>
            <a:r>
              <a:rPr lang="zh-CN" altLang="en-US" sz="2800" dirty="0">
                <a:latin typeface="Times New Roman" panose="02020603050405020304" pitchFamily="18" charset="0"/>
                <a:ea typeface="宋体" panose="02010600030101010101" pitchFamily="2" charset="-122"/>
              </a:rPr>
              <a:t>的模块和内部框图</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4.</a:t>
            </a:r>
            <a:r>
              <a:rPr lang="zh-CN" altLang="en-US" sz="2800" dirty="0">
                <a:latin typeface="Times New Roman" panose="02020603050405020304" pitchFamily="18" charset="0"/>
                <a:ea typeface="宋体" panose="02010600030101010101" pitchFamily="2" charset="-122"/>
              </a:rPr>
              <a:t>体系结构直接支持的数据类型</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5.</a:t>
            </a:r>
            <a:r>
              <a:rPr lang="zh-CN" altLang="en-US" sz="2800" dirty="0">
                <a:latin typeface="Times New Roman" panose="02020603050405020304" pitchFamily="18" charset="0"/>
                <a:ea typeface="宋体" panose="02010600030101010101" pitchFamily="2" charset="-122"/>
              </a:rPr>
              <a:t>处理器状态</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6.</a:t>
            </a:r>
            <a:r>
              <a:rPr lang="zh-CN" altLang="en-US" sz="2800" dirty="0">
                <a:latin typeface="Times New Roman" panose="02020603050405020304" pitchFamily="18" charset="0"/>
                <a:ea typeface="宋体" panose="02010600030101010101" pitchFamily="2" charset="-122"/>
              </a:rPr>
              <a:t>处理器模式</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7.</a:t>
            </a:r>
            <a:r>
              <a:rPr lang="zh-CN" altLang="en-US" sz="2800" dirty="0">
                <a:latin typeface="Times New Roman" panose="02020603050405020304" pitchFamily="18" charset="0"/>
                <a:ea typeface="宋体" panose="02010600030101010101" pitchFamily="2" charset="-122"/>
              </a:rPr>
              <a:t>内部寄存器</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8. </a:t>
            </a:r>
            <a:r>
              <a:rPr lang="zh-CN" altLang="en-US" sz="2800" dirty="0">
                <a:latin typeface="Times New Roman" panose="02020603050405020304" pitchFamily="18" charset="0"/>
                <a:ea typeface="宋体" panose="02010600030101010101" pitchFamily="2" charset="-122"/>
              </a:rPr>
              <a:t>程序状态寄存器</a:t>
            </a:r>
            <a:endParaRPr lang="zh-CN" altLang="en-US" sz="2800" dirty="0">
              <a:latin typeface="Times New Roman" panose="02020603050405020304" pitchFamily="18" charset="0"/>
              <a:ea typeface="宋体" panose="02010600030101010101" pitchFamily="2" charset="-122"/>
            </a:endParaRPr>
          </a:p>
        </p:txBody>
      </p:sp>
      <p:sp>
        <p:nvSpPr>
          <p:cNvPr id="6147"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9.</a:t>
            </a:r>
            <a:r>
              <a:rPr lang="zh-CN" altLang="en-US" sz="2800" dirty="0">
                <a:latin typeface="Times New Roman" panose="02020603050405020304" pitchFamily="18" charset="0"/>
                <a:ea typeface="宋体" panose="02010600030101010101" pitchFamily="2" charset="-122"/>
              </a:rPr>
              <a:t>异常</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10.</a:t>
            </a:r>
            <a:r>
              <a:rPr lang="zh-CN" altLang="en-US" sz="2800" dirty="0">
                <a:latin typeface="Times New Roman" panose="02020603050405020304" pitchFamily="18" charset="0"/>
                <a:ea typeface="宋体" panose="02010600030101010101" pitchFamily="2" charset="-122"/>
              </a:rPr>
              <a:t>复位</a:t>
            </a:r>
            <a:endParaRPr lang="zh-CN" altLang="en-US"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11.</a:t>
            </a:r>
            <a:r>
              <a:rPr lang="zh-CN" altLang="en-US" sz="2800" dirty="0">
                <a:latin typeface="Times New Roman" panose="02020603050405020304" pitchFamily="18" charset="0"/>
                <a:ea typeface="宋体" panose="02010600030101010101" pitchFamily="2" charset="-122"/>
              </a:rPr>
              <a:t>存储器及存储器映射</a:t>
            </a:r>
            <a:r>
              <a:rPr lang="en-US" altLang="zh-CN" sz="2800" dirty="0">
                <a:latin typeface="Times New Roman" panose="02020603050405020304" pitchFamily="18" charset="0"/>
                <a:ea typeface="宋体" panose="02010600030101010101" pitchFamily="2" charset="-122"/>
              </a:rPr>
              <a:t>I/O</a:t>
            </a:r>
            <a:endParaRPr lang="en-US" altLang="zh-CN" sz="2800" dirty="0">
              <a:latin typeface="Times New Roman" panose="02020603050405020304" pitchFamily="18" charset="0"/>
              <a:ea typeface="宋体" panose="02010600030101010101" pitchFamily="2" charset="-122"/>
            </a:endParaRPr>
          </a:p>
          <a:p>
            <a:pPr marL="342900" indent="-342900">
              <a:spcBef>
                <a:spcPct val="20000"/>
              </a:spcBef>
              <a:buClr>
                <a:schemeClr val="tx1"/>
              </a:buClr>
              <a:buFont typeface="Wingdings" panose="05000000000000000000" pitchFamily="2" charset="2"/>
            </a:pPr>
            <a:endParaRPr lang="en-US" altLang="zh-CN"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4</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7170"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chemeClr val="folHlink"/>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1.</a:t>
            </a:r>
            <a:r>
              <a:rPr lang="zh-CN" altLang="en-US" sz="2800" dirty="0">
                <a:solidFill>
                  <a:srgbClr val="0000FF"/>
                </a:solidFill>
                <a:latin typeface="Times New Roman" panose="02020603050405020304" pitchFamily="18" charset="0"/>
                <a:ea typeface="宋体" panose="02010600030101010101" pitchFamily="2" charset="-122"/>
              </a:rPr>
              <a:t>简介</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7171"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pP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9"/>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3082" name="Rectangle 10"/>
          <p:cNvSpPr>
            <a:spLocks noGrp="1"/>
          </p:cNvSpPr>
          <p:nvPr>
            <p:ph type="body" sz="half" idx="1"/>
          </p:nvPr>
        </p:nvSpPr>
        <p:spPr>
          <a:ln/>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en-US" altLang="zh-CN" sz="2800" dirty="0"/>
              <a:t>ARM</a:t>
            </a:r>
            <a:r>
              <a:rPr lang="zh-CN" altLang="en-US" sz="2800" dirty="0"/>
              <a:t>公司简介</a:t>
            </a:r>
            <a:endParaRPr lang="zh-CN" altLang="en-US" sz="2800" dirty="0"/>
          </a:p>
        </p:txBody>
      </p:sp>
      <p:sp>
        <p:nvSpPr>
          <p:cNvPr id="8195" name="Text Box 11"/>
          <p:cNvSpPr txBox="1"/>
          <p:nvPr/>
        </p:nvSpPr>
        <p:spPr>
          <a:xfrm>
            <a:off x="179388" y="1989138"/>
            <a:ext cx="4537075" cy="44735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a:t>
            </a:r>
            <a:r>
              <a:rPr lang="zh-CN" altLang="en-US" sz="2400" dirty="0">
                <a:latin typeface="华文新魏" panose="02010800040101010101" pitchFamily="2" charset="-122"/>
                <a:ea typeface="华文新魏" panose="02010800040101010101" pitchFamily="2" charset="-122"/>
              </a:rPr>
              <a:t>是</a:t>
            </a:r>
            <a:r>
              <a:rPr lang="en-US" altLang="zh-CN" sz="2400" dirty="0">
                <a:solidFill>
                  <a:srgbClr val="0000FF"/>
                </a:solidFill>
                <a:latin typeface="华文新魏" panose="02010800040101010101" pitchFamily="2" charset="-122"/>
                <a:ea typeface="华文新魏" panose="02010800040101010101" pitchFamily="2" charset="-122"/>
              </a:rPr>
              <a:t>A</a:t>
            </a:r>
            <a:r>
              <a:rPr lang="en-US" altLang="zh-CN" sz="2400" dirty="0">
                <a:latin typeface="华文新魏" panose="02010800040101010101" pitchFamily="2" charset="-122"/>
                <a:ea typeface="华文新魏" panose="02010800040101010101" pitchFamily="2" charset="-122"/>
              </a:rPr>
              <a:t>dvanced </a:t>
            </a:r>
            <a:r>
              <a:rPr lang="en-US" altLang="zh-CN" sz="2400" dirty="0">
                <a:solidFill>
                  <a:srgbClr val="0000FF"/>
                </a:solidFill>
                <a:latin typeface="华文新魏" panose="02010800040101010101" pitchFamily="2" charset="-122"/>
                <a:ea typeface="华文新魏" panose="02010800040101010101" pitchFamily="2" charset="-122"/>
              </a:rPr>
              <a:t>R</a:t>
            </a:r>
            <a:r>
              <a:rPr lang="en-US" altLang="zh-CN" sz="2400" dirty="0">
                <a:latin typeface="华文新魏" panose="02010800040101010101" pitchFamily="2" charset="-122"/>
                <a:ea typeface="华文新魏" panose="02010800040101010101" pitchFamily="2" charset="-122"/>
              </a:rPr>
              <a:t>ISC </a:t>
            </a:r>
            <a:r>
              <a:rPr lang="en-US" altLang="zh-CN" sz="2400" dirty="0">
                <a:solidFill>
                  <a:srgbClr val="0000FF"/>
                </a:solidFill>
                <a:latin typeface="华文新魏" panose="02010800040101010101" pitchFamily="2" charset="-122"/>
                <a:ea typeface="华文新魏" panose="02010800040101010101" pitchFamily="2" charset="-122"/>
              </a:rPr>
              <a:t>M</a:t>
            </a:r>
            <a:r>
              <a:rPr lang="en-US" altLang="zh-CN" sz="2400" dirty="0">
                <a:latin typeface="华文新魏" panose="02010800040101010101" pitchFamily="2" charset="-122"/>
                <a:ea typeface="华文新魏" panose="02010800040101010101" pitchFamily="2" charset="-122"/>
              </a:rPr>
              <a:t>achines</a:t>
            </a:r>
            <a:r>
              <a:rPr lang="zh-CN" altLang="en-US" sz="2400" dirty="0">
                <a:latin typeface="华文新魏" panose="02010800040101010101" pitchFamily="2" charset="-122"/>
                <a:ea typeface="华文新魏" panose="02010800040101010101" pitchFamily="2" charset="-122"/>
              </a:rPr>
              <a:t>的缩写，它是一家微处理器行业的知名企业，该企业设计了大量高性能、廉价、耗能低的</a:t>
            </a:r>
            <a:r>
              <a:rPr lang="en-US" altLang="zh-CN" sz="2400" dirty="0">
                <a:latin typeface="华文新魏" panose="02010800040101010101" pitchFamily="2" charset="-122"/>
                <a:ea typeface="华文新魏" panose="02010800040101010101" pitchFamily="2" charset="-122"/>
              </a:rPr>
              <a:t>RISC </a:t>
            </a:r>
            <a:r>
              <a:rPr lang="zh-CN" altLang="en-US" sz="2400" dirty="0">
                <a:latin typeface="华文新魏" panose="02010800040101010101" pitchFamily="2" charset="-122"/>
                <a:ea typeface="华文新魏" panose="02010800040101010101" pitchFamily="2" charset="-122"/>
              </a:rPr>
              <a:t>（精简指令集）处理器。</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公司的特点是只设计芯片，而不生产。它将技术授权给世界上许多著名的半导体、软件和</a:t>
            </a:r>
            <a:r>
              <a:rPr lang="en-US" altLang="zh-CN" sz="2400" dirty="0">
                <a:latin typeface="华文新魏" panose="02010800040101010101" pitchFamily="2" charset="-122"/>
                <a:ea typeface="华文新魏" panose="02010800040101010101" pitchFamily="2" charset="-122"/>
              </a:rPr>
              <a:t>OEM</a:t>
            </a:r>
            <a:r>
              <a:rPr lang="zh-CN" altLang="en-US" sz="2400" dirty="0">
                <a:latin typeface="华文新魏" panose="02010800040101010101" pitchFamily="2" charset="-122"/>
                <a:ea typeface="华文新魏" panose="02010800040101010101" pitchFamily="2" charset="-122"/>
              </a:rPr>
              <a:t>厂商，并提供服务。</a:t>
            </a:r>
            <a:endParaRPr lang="zh-CN" altLang="en-US" sz="2400" dirty="0">
              <a:latin typeface="华文新魏" panose="02010800040101010101" pitchFamily="2" charset="-122"/>
              <a:ea typeface="华文新魏" panose="02010800040101010101" pitchFamily="2" charset="-122"/>
            </a:endParaRPr>
          </a:p>
        </p:txBody>
      </p:sp>
      <p:pic>
        <p:nvPicPr>
          <p:cNvPr id="8196" name="Picture 16" descr="ARM_logo_98x45"/>
          <p:cNvPicPr>
            <a:picLocks noChangeAspect="1"/>
          </p:cNvPicPr>
          <p:nvPr/>
        </p:nvPicPr>
        <p:blipFill>
          <a:blip r:embed="rId1"/>
          <a:stretch>
            <a:fillRect/>
          </a:stretch>
        </p:blipFill>
        <p:spPr>
          <a:xfrm>
            <a:off x="827088" y="4365625"/>
            <a:ext cx="1371600" cy="630238"/>
          </a:xfrm>
          <a:prstGeom prst="rect">
            <a:avLst/>
          </a:prstGeom>
          <a:noFill/>
          <a:ln w="9525">
            <a:noFill/>
          </a:ln>
        </p:spPr>
      </p:pic>
      <p:pic>
        <p:nvPicPr>
          <p:cNvPr id="8197" name="Picture 19" descr="building_scan_for_Wendy"/>
          <p:cNvPicPr>
            <a:picLocks noGrp="1" noChangeAspect="1"/>
          </p:cNvPicPr>
          <p:nvPr>
            <p:ph sz="half" idx="2"/>
          </p:nvPr>
        </p:nvPicPr>
        <p:blipFill>
          <a:blip r:embed="rId2"/>
          <a:stretch>
            <a:fillRect/>
          </a:stretch>
        </p:blipFill>
        <p:spPr>
          <a:xfrm>
            <a:off x="4976813" y="1628775"/>
            <a:ext cx="4167187" cy="42719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082">
                                            <p:txEl>
                                              <p:charRg st="0" end="8"/>
                                            </p:txEl>
                                          </p:spTgt>
                                        </p:tgtEl>
                                        <p:attrNameLst>
                                          <p:attrName>style.visibility</p:attrName>
                                        </p:attrNameLst>
                                      </p:cBhvr>
                                      <p:to>
                                        <p:strVal val="visible"/>
                                      </p:to>
                                    </p:set>
                                    <p:anim calcmode="lin" valueType="num">
                                      <p:cBhvr additive="base">
                                        <p:cTn id="7" dur="500" fill="hold"/>
                                        <p:tgtEl>
                                          <p:spTgt spid="3082">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82">
                                            <p:txEl>
                                              <p:charRg st="0"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 grpId="0" advAuto="100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10242" name="Rectangle 5"/>
          <p:cNvSpPr>
            <a:spLocks noGrp="1"/>
          </p:cNvSpPr>
          <p:nvPr>
            <p:ph type="body" sz="half" idx="1"/>
          </p:nvPr>
        </p:nvSpPr>
        <p:spPr>
          <a:ln/>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en-US" altLang="zh-CN" sz="2800" dirty="0"/>
              <a:t>ARM</a:t>
            </a:r>
            <a:r>
              <a:rPr lang="zh-CN" altLang="en-US" sz="2800" dirty="0"/>
              <a:t>公司简介</a:t>
            </a:r>
            <a:endParaRPr lang="zh-CN" altLang="en-US" sz="2800" dirty="0"/>
          </a:p>
        </p:txBody>
      </p:sp>
      <p:pic>
        <p:nvPicPr>
          <p:cNvPr id="4108" name="Picture 12" descr="ARM_logo_98x45"/>
          <p:cNvPicPr>
            <a:picLocks noChangeAspect="1"/>
          </p:cNvPicPr>
          <p:nvPr/>
        </p:nvPicPr>
        <p:blipFill>
          <a:blip r:embed="rId1"/>
          <a:stretch>
            <a:fillRect/>
          </a:stretch>
        </p:blipFill>
        <p:spPr>
          <a:xfrm>
            <a:off x="4038600" y="2205038"/>
            <a:ext cx="1371600" cy="630237"/>
          </a:xfrm>
          <a:prstGeom prst="rect">
            <a:avLst/>
          </a:prstGeom>
          <a:noFill/>
          <a:ln w="9525">
            <a:noFill/>
          </a:ln>
        </p:spPr>
      </p:pic>
      <p:pic>
        <p:nvPicPr>
          <p:cNvPr id="4109" name="Picture 13" descr="circuit_scope"/>
          <p:cNvPicPr>
            <a:picLocks noChangeAspect="1"/>
          </p:cNvPicPr>
          <p:nvPr/>
        </p:nvPicPr>
        <p:blipFill>
          <a:blip r:embed="rId2"/>
          <a:stretch>
            <a:fillRect/>
          </a:stretch>
        </p:blipFill>
        <p:spPr>
          <a:xfrm>
            <a:off x="2590800" y="5024438"/>
            <a:ext cx="4191000" cy="720725"/>
          </a:xfrm>
          <a:prstGeom prst="rect">
            <a:avLst/>
          </a:prstGeom>
          <a:noFill/>
          <a:ln w="9525">
            <a:noFill/>
          </a:ln>
        </p:spPr>
      </p:pic>
      <p:sp>
        <p:nvSpPr>
          <p:cNvPr id="4120" name="AutoShape 24"/>
          <p:cNvSpPr/>
          <p:nvPr/>
        </p:nvSpPr>
        <p:spPr>
          <a:xfrm>
            <a:off x="4495800" y="2890838"/>
            <a:ext cx="457200" cy="685800"/>
          </a:xfrm>
          <a:prstGeom prst="downArrow">
            <a:avLst>
              <a:gd name="adj1" fmla="val 50000"/>
              <a:gd name="adj2" fmla="val 37500"/>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4121" name="AutoShape 25"/>
          <p:cNvSpPr/>
          <p:nvPr/>
        </p:nvSpPr>
        <p:spPr>
          <a:xfrm>
            <a:off x="4495800" y="4338638"/>
            <a:ext cx="457200" cy="685800"/>
          </a:xfrm>
          <a:prstGeom prst="downArrow">
            <a:avLst>
              <a:gd name="adj1" fmla="val 50000"/>
              <a:gd name="adj2" fmla="val 37500"/>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4122" name="Text Box 26"/>
          <p:cNvSpPr txBox="1"/>
          <p:nvPr/>
        </p:nvSpPr>
        <p:spPr>
          <a:xfrm>
            <a:off x="5029200" y="2814638"/>
            <a:ext cx="1828800" cy="701675"/>
          </a:xfrm>
          <a:prstGeom prst="rect">
            <a:avLst/>
          </a:prstGeom>
          <a:noFill/>
          <a:ln w="9525">
            <a:noFill/>
          </a:ln>
        </p:spPr>
        <p:txBody>
          <a:bodyPr anchor="t" anchorCtr="0">
            <a:spAutoFit/>
          </a:bodyPr>
          <a:p>
            <a:pPr>
              <a:spcBef>
                <a:spcPct val="50000"/>
              </a:spcBef>
              <a:buClrTx/>
              <a:buFontTx/>
            </a:pPr>
            <a:r>
              <a:rPr lang="zh-CN" altLang="en-US" sz="2000" dirty="0">
                <a:solidFill>
                  <a:srgbClr val="0000FF"/>
                </a:solidFill>
                <a:latin typeface="华文新魏" panose="02010800040101010101" pitchFamily="2" charset="-122"/>
                <a:ea typeface="华文新魏" panose="02010800040101010101" pitchFamily="2" charset="-122"/>
              </a:rPr>
              <a:t>将技术授权给其它芯片厂商</a:t>
            </a:r>
            <a:endParaRPr lang="zh-CN" altLang="en-US" sz="2000" dirty="0">
              <a:solidFill>
                <a:srgbClr val="0000FF"/>
              </a:solidFill>
              <a:latin typeface="华文新魏" panose="02010800040101010101" pitchFamily="2" charset="-122"/>
              <a:ea typeface="华文新魏" panose="02010800040101010101" pitchFamily="2" charset="-122"/>
            </a:endParaRPr>
          </a:p>
        </p:txBody>
      </p:sp>
      <p:sp>
        <p:nvSpPr>
          <p:cNvPr id="4123" name="Text Box 27"/>
          <p:cNvSpPr txBox="1"/>
          <p:nvPr/>
        </p:nvSpPr>
        <p:spPr>
          <a:xfrm>
            <a:off x="5029200" y="4338638"/>
            <a:ext cx="1752600" cy="701675"/>
          </a:xfrm>
          <a:prstGeom prst="rect">
            <a:avLst/>
          </a:prstGeom>
          <a:noFill/>
          <a:ln w="9525">
            <a:noFill/>
          </a:ln>
        </p:spPr>
        <p:txBody>
          <a:bodyPr anchor="t" anchorCtr="0">
            <a:spAutoFit/>
          </a:bodyPr>
          <a:p>
            <a:pPr>
              <a:spcBef>
                <a:spcPct val="50000"/>
              </a:spcBef>
              <a:buClrTx/>
              <a:buFontTx/>
            </a:pPr>
            <a:r>
              <a:rPr lang="zh-CN" altLang="en-US" sz="2000" dirty="0">
                <a:solidFill>
                  <a:srgbClr val="0000FF"/>
                </a:solidFill>
                <a:latin typeface="华文新魏" panose="02010800040101010101" pitchFamily="2" charset="-122"/>
                <a:ea typeface="华文新魏" panose="02010800040101010101" pitchFamily="2" charset="-122"/>
              </a:rPr>
              <a:t>形成各具特色的</a:t>
            </a:r>
            <a:r>
              <a:rPr lang="en-US" altLang="zh-CN" sz="2000" dirty="0">
                <a:solidFill>
                  <a:srgbClr val="0000FF"/>
                </a:solidFill>
                <a:latin typeface="华文新魏" panose="02010800040101010101" pitchFamily="2" charset="-122"/>
                <a:ea typeface="华文新魏" panose="02010800040101010101" pitchFamily="2" charset="-122"/>
              </a:rPr>
              <a:t>ARM</a:t>
            </a:r>
            <a:r>
              <a:rPr lang="zh-CN" altLang="en-US" sz="2000" dirty="0">
                <a:solidFill>
                  <a:srgbClr val="0000FF"/>
                </a:solidFill>
                <a:latin typeface="华文新魏" panose="02010800040101010101" pitchFamily="2" charset="-122"/>
                <a:ea typeface="华文新魏" panose="02010800040101010101" pitchFamily="2" charset="-122"/>
              </a:rPr>
              <a:t>芯片</a:t>
            </a:r>
            <a:endParaRPr lang="zh-CN" altLang="en-US" sz="2000" dirty="0">
              <a:solidFill>
                <a:srgbClr val="0000FF"/>
              </a:solidFill>
              <a:latin typeface="华文新魏" panose="02010800040101010101" pitchFamily="2" charset="-122"/>
              <a:ea typeface="华文新魏" panose="02010800040101010101" pitchFamily="2" charset="-122"/>
            </a:endParaRPr>
          </a:p>
        </p:txBody>
      </p:sp>
      <p:grpSp>
        <p:nvGrpSpPr>
          <p:cNvPr id="2" name="Group 32"/>
          <p:cNvGrpSpPr/>
          <p:nvPr/>
        </p:nvGrpSpPr>
        <p:grpSpPr>
          <a:xfrm>
            <a:off x="228600" y="3576638"/>
            <a:ext cx="8686800" cy="762000"/>
            <a:chOff x="144" y="2592"/>
            <a:chExt cx="5472" cy="480"/>
          </a:xfrm>
        </p:grpSpPr>
        <p:sp>
          <p:nvSpPr>
            <p:cNvPr id="10250" name="Rectangle 22"/>
            <p:cNvSpPr/>
            <p:nvPr/>
          </p:nvSpPr>
          <p:spPr>
            <a:xfrm>
              <a:off x="144" y="2592"/>
              <a:ext cx="5472" cy="48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pic>
          <p:nvPicPr>
            <p:cNvPr id="10251" name="Picture 14" descr="atmel"/>
            <p:cNvPicPr>
              <a:picLocks noChangeAspect="1"/>
            </p:cNvPicPr>
            <p:nvPr/>
          </p:nvPicPr>
          <p:blipFill>
            <a:blip r:embed="rId3"/>
            <a:stretch>
              <a:fillRect/>
            </a:stretch>
          </p:blipFill>
          <p:spPr>
            <a:xfrm>
              <a:off x="4368" y="2640"/>
              <a:ext cx="670" cy="338"/>
            </a:xfrm>
            <a:prstGeom prst="rect">
              <a:avLst/>
            </a:prstGeom>
            <a:noFill/>
            <a:ln w="9525">
              <a:noFill/>
            </a:ln>
          </p:spPr>
        </p:pic>
        <p:pic>
          <p:nvPicPr>
            <p:cNvPr id="10252" name="Picture 15" descr="Intel"/>
            <p:cNvPicPr>
              <a:picLocks noChangeAspect="1"/>
            </p:cNvPicPr>
            <p:nvPr/>
          </p:nvPicPr>
          <p:blipFill>
            <a:blip r:embed="rId4"/>
            <a:srcRect l="14502" r="20242"/>
            <a:stretch>
              <a:fillRect/>
            </a:stretch>
          </p:blipFill>
          <p:spPr>
            <a:xfrm>
              <a:off x="1632" y="2736"/>
              <a:ext cx="432" cy="223"/>
            </a:xfrm>
            <a:prstGeom prst="rect">
              <a:avLst/>
            </a:prstGeom>
            <a:noFill/>
            <a:ln w="9525">
              <a:noFill/>
            </a:ln>
          </p:spPr>
        </p:pic>
        <p:pic>
          <p:nvPicPr>
            <p:cNvPr id="10253" name="Picture 16" descr="philips"/>
            <p:cNvPicPr>
              <a:picLocks noChangeAspect="1"/>
            </p:cNvPicPr>
            <p:nvPr/>
          </p:nvPicPr>
          <p:blipFill>
            <a:blip r:embed="rId5"/>
            <a:stretch>
              <a:fillRect/>
            </a:stretch>
          </p:blipFill>
          <p:spPr>
            <a:xfrm>
              <a:off x="288" y="2736"/>
              <a:ext cx="1152" cy="245"/>
            </a:xfrm>
            <a:prstGeom prst="rect">
              <a:avLst/>
            </a:prstGeom>
            <a:noFill/>
            <a:ln w="9525">
              <a:noFill/>
            </a:ln>
          </p:spPr>
        </p:pic>
        <p:sp>
          <p:nvSpPr>
            <p:cNvPr id="10254" name="Rectangle 19"/>
            <p:cNvSpPr/>
            <p:nvPr/>
          </p:nvSpPr>
          <p:spPr>
            <a:xfrm>
              <a:off x="5040" y="2688"/>
              <a:ext cx="528" cy="240"/>
            </a:xfrm>
            <a:prstGeom prst="rect">
              <a:avLst/>
            </a:prstGeom>
            <a:solidFill>
              <a:srgbClr val="CCFFFF"/>
            </a:solidFill>
            <a:ln w="9525">
              <a:noFill/>
            </a:ln>
          </p:spPr>
          <p:txBody>
            <a:bodyPr wrap="none" anchor="ctr" anchorCtr="0"/>
            <a:p>
              <a:pPr algn="ctr">
                <a:buClrTx/>
                <a:buFontTx/>
              </a:pPr>
              <a:r>
                <a:rPr lang="en-US" altLang="zh-CN" sz="2400" dirty="0">
                  <a:latin typeface="Times New Roman" panose="02020603050405020304" pitchFamily="18" charset="0"/>
                  <a:ea typeface="宋体" panose="02010600030101010101" pitchFamily="2" charset="-122"/>
                </a:rPr>
                <a:t>. . .</a:t>
              </a:r>
              <a:endParaRPr lang="en-US" altLang="zh-CN" sz="2400" dirty="0">
                <a:latin typeface="Times New Roman" panose="02020603050405020304" pitchFamily="18" charset="0"/>
                <a:ea typeface="宋体" panose="02010600030101010101" pitchFamily="2" charset="-122"/>
              </a:endParaRPr>
            </a:p>
          </p:txBody>
        </p:sp>
        <p:pic>
          <p:nvPicPr>
            <p:cNvPr id="10255" name="Picture 30" descr="samsung 拷贝"/>
            <p:cNvPicPr>
              <a:picLocks noChangeAspect="1"/>
            </p:cNvPicPr>
            <p:nvPr/>
          </p:nvPicPr>
          <p:blipFill>
            <a:blip r:embed="rId6"/>
            <a:stretch>
              <a:fillRect/>
            </a:stretch>
          </p:blipFill>
          <p:spPr>
            <a:xfrm>
              <a:off x="2208" y="2736"/>
              <a:ext cx="720" cy="248"/>
            </a:xfrm>
            <a:prstGeom prst="rect">
              <a:avLst/>
            </a:prstGeom>
            <a:noFill/>
            <a:ln w="9525">
              <a:noFill/>
            </a:ln>
          </p:spPr>
        </p:pic>
        <p:pic>
          <p:nvPicPr>
            <p:cNvPr id="10256" name="Picture 31" descr="sharp 拷贝"/>
            <p:cNvPicPr>
              <a:picLocks noChangeAspect="1"/>
            </p:cNvPicPr>
            <p:nvPr/>
          </p:nvPicPr>
          <p:blipFill>
            <a:blip r:embed="rId7"/>
            <a:stretch>
              <a:fillRect/>
            </a:stretch>
          </p:blipFill>
          <p:spPr>
            <a:xfrm>
              <a:off x="3072" y="2736"/>
              <a:ext cx="1161" cy="185"/>
            </a:xfrm>
            <a:prstGeom prst="rect">
              <a:avLst/>
            </a:prstGeom>
            <a:solidFill>
              <a:schemeClr val="bg1"/>
            </a:solid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4108"/>
                                        </p:tgtEl>
                                        <p:attrNameLst>
                                          <p:attrName>style.visibility</p:attrName>
                                        </p:attrNameLst>
                                      </p:cBhvr>
                                      <p:to>
                                        <p:strVal val="visible"/>
                                      </p:to>
                                    </p:set>
                                    <p:animEffect transition="in" filter="slide(fromTop)">
                                      <p:cBhvr>
                                        <p:cTn id="7" dur="500"/>
                                        <p:tgtEl>
                                          <p:spTgt spid="4108"/>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4120"/>
                                        </p:tgtEl>
                                        <p:attrNameLst>
                                          <p:attrName>style.visibility</p:attrName>
                                        </p:attrNameLst>
                                      </p:cBhvr>
                                      <p:to>
                                        <p:strVal val="visible"/>
                                      </p:to>
                                    </p:set>
                                    <p:animEffect transition="in" filter="slide(fromTop)">
                                      <p:cBhvr>
                                        <p:cTn id="11" dur="500"/>
                                        <p:tgtEl>
                                          <p:spTgt spid="4120"/>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4122"/>
                                        </p:tgtEl>
                                        <p:attrNameLst>
                                          <p:attrName>style.visibility</p:attrName>
                                        </p:attrNameLst>
                                      </p:cBhvr>
                                      <p:to>
                                        <p:strVal val="visible"/>
                                      </p:to>
                                    </p:set>
                                    <p:anim calcmode="lin" valueType="num">
                                      <p:cBhvr additive="base">
                                        <p:cTn id="15" dur="500" fill="hold"/>
                                        <p:tgtEl>
                                          <p:spTgt spid="4122"/>
                                        </p:tgtEl>
                                        <p:attrNameLst>
                                          <p:attrName>ppt_x</p:attrName>
                                        </p:attrNameLst>
                                      </p:cBhvr>
                                      <p:tavLst>
                                        <p:tav tm="0">
                                          <p:val>
                                            <p:strVal val="1+#ppt_w/2"/>
                                          </p:val>
                                        </p:tav>
                                        <p:tav tm="100000">
                                          <p:val>
                                            <p:strVal val="#ppt_x"/>
                                          </p:val>
                                        </p:tav>
                                      </p:tavLst>
                                    </p:anim>
                                    <p:anim calcmode="lin" valueType="num">
                                      <p:cBhvr additive="base">
                                        <p:cTn id="16" dur="500" fill="hold"/>
                                        <p:tgtEl>
                                          <p:spTgt spid="4122"/>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p:stCondLst>
                              <p:cond delay="2000"/>
                            </p:stCondLst>
                            <p:childTnLst>
                              <p:par>
                                <p:cTn id="22" presetID="12" presetClass="entr" presetSubtype="1" fill="hold" grpId="0" nodeType="afterEffect">
                                  <p:stCondLst>
                                    <p:cond delay="0"/>
                                  </p:stCondLst>
                                  <p:childTnLst>
                                    <p:set>
                                      <p:cBhvr>
                                        <p:cTn id="23" dur="1" fill="hold">
                                          <p:stCondLst>
                                            <p:cond delay="0"/>
                                          </p:stCondLst>
                                        </p:cTn>
                                        <p:tgtEl>
                                          <p:spTgt spid="4121"/>
                                        </p:tgtEl>
                                        <p:attrNameLst>
                                          <p:attrName>style.visibility</p:attrName>
                                        </p:attrNameLst>
                                      </p:cBhvr>
                                      <p:to>
                                        <p:strVal val="visible"/>
                                      </p:to>
                                    </p:set>
                                    <p:animEffect transition="in" filter="slide(fromTop)">
                                      <p:cBhvr>
                                        <p:cTn id="24" dur="500"/>
                                        <p:tgtEl>
                                          <p:spTgt spid="4121"/>
                                        </p:tgtEl>
                                      </p:cBhvr>
                                    </p:animEffect>
                                  </p:childTnLst>
                                </p:cTn>
                              </p:par>
                            </p:childTnLst>
                          </p:cTn>
                        </p:par>
                        <p:par>
                          <p:cTn id="25" fill="hold">
                            <p:stCondLst>
                              <p:cond delay="2500"/>
                            </p:stCondLst>
                            <p:childTnLst>
                              <p:par>
                                <p:cTn id="26" presetID="2" presetClass="entr" presetSubtype="2" fill="hold" grpId="0" nodeType="afterEffect">
                                  <p:stCondLst>
                                    <p:cond delay="0"/>
                                  </p:stCondLst>
                                  <p:childTnLst>
                                    <p:set>
                                      <p:cBhvr>
                                        <p:cTn id="27" dur="1" fill="hold">
                                          <p:stCondLst>
                                            <p:cond delay="0"/>
                                          </p:stCondLst>
                                        </p:cTn>
                                        <p:tgtEl>
                                          <p:spTgt spid="4123"/>
                                        </p:tgtEl>
                                        <p:attrNameLst>
                                          <p:attrName>style.visibility</p:attrName>
                                        </p:attrNameLst>
                                      </p:cBhvr>
                                      <p:to>
                                        <p:strVal val="visible"/>
                                      </p:to>
                                    </p:set>
                                    <p:anim calcmode="lin" valueType="num">
                                      <p:cBhvr additive="base">
                                        <p:cTn id="28" dur="500" fill="hold"/>
                                        <p:tgtEl>
                                          <p:spTgt spid="4123"/>
                                        </p:tgtEl>
                                        <p:attrNameLst>
                                          <p:attrName>ppt_x</p:attrName>
                                        </p:attrNameLst>
                                      </p:cBhvr>
                                      <p:tavLst>
                                        <p:tav tm="0">
                                          <p:val>
                                            <p:strVal val="1+#ppt_w/2"/>
                                          </p:val>
                                        </p:tav>
                                        <p:tav tm="100000">
                                          <p:val>
                                            <p:strVal val="#ppt_x"/>
                                          </p:val>
                                        </p:tav>
                                      </p:tavLst>
                                    </p:anim>
                                    <p:anim calcmode="lin" valueType="num">
                                      <p:cBhvr additive="base">
                                        <p:cTn id="29" dur="500" fill="hold"/>
                                        <p:tgtEl>
                                          <p:spTgt spid="4123"/>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2" presetClass="entr" presetSubtype="8" fill="hold" nodeType="afterEffect">
                                  <p:stCondLst>
                                    <p:cond delay="0"/>
                                  </p:stCondLst>
                                  <p:childTnLst>
                                    <p:set>
                                      <p:cBhvr>
                                        <p:cTn id="32" dur="1" fill="hold">
                                          <p:stCondLst>
                                            <p:cond delay="0"/>
                                          </p:stCondLst>
                                        </p:cTn>
                                        <p:tgtEl>
                                          <p:spTgt spid="4109"/>
                                        </p:tgtEl>
                                        <p:attrNameLst>
                                          <p:attrName>style.visibility</p:attrName>
                                        </p:attrNameLst>
                                      </p:cBhvr>
                                      <p:to>
                                        <p:strVal val="visible"/>
                                      </p:to>
                                    </p:set>
                                    <p:animEffect transition="in" filter="wipe(left)">
                                      <p:cBhvr>
                                        <p:cTn id="33" dur="500"/>
                                        <p:tgtEl>
                                          <p:spTgt spid="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0" grpId="0" animBg="1"/>
      <p:bldP spid="4121" grpId="0" animBg="1"/>
      <p:bldP spid="4122" grpId="0"/>
      <p:bldP spid="41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a:ln/>
        </p:spPr>
        <p:txBody>
          <a:bodyPr vert="horz" wrap="square" lIns="82550" tIns="41275" rIns="82550" bIns="41275" anchor="t" anchorCtr="0"/>
          <a:p>
            <a:pPr marL="254000" indent="-254000" defTabSz="678180" eaLnBrk="1" hangingPunct="1">
              <a:spcBef>
                <a:spcPct val="50000"/>
              </a:spcBef>
              <a:buSzPct val="75000"/>
            </a:pPr>
            <a:r>
              <a:rPr lang="en-US" altLang="zh-CN" dirty="0"/>
              <a:t>4.1  ARM</a:t>
            </a:r>
            <a:r>
              <a:rPr lang="zh-CN" altLang="en-US" dirty="0"/>
              <a:t>简介</a:t>
            </a:r>
            <a:endParaRPr lang="zh-CN" altLang="en-US" dirty="0"/>
          </a:p>
        </p:txBody>
      </p:sp>
      <p:sp>
        <p:nvSpPr>
          <p:cNvPr id="11266" name="Rectangle 3"/>
          <p:cNvSpPr>
            <a:spLocks noGrp="1"/>
          </p:cNvSpPr>
          <p:nvPr>
            <p:ph idx="1"/>
          </p:nvPr>
        </p:nvSpPr>
        <p:spPr>
          <a:xfrm>
            <a:off x="685800" y="1322388"/>
            <a:ext cx="7772400" cy="4849812"/>
          </a:xfrm>
          <a:ln/>
        </p:spPr>
        <p:txBody>
          <a:bodyPr vert="horz" wrap="square" lIns="82550" tIns="41275" rIns="82550" bIns="41275" anchor="t" anchorCtr="0"/>
          <a:p>
            <a:pPr defTabSz="678180" eaLnBrk="1" hangingPunct="1"/>
            <a:r>
              <a:rPr lang="zh-CN" altLang="en-US" sz="2800" dirty="0">
                <a:ea typeface="楷体_GB2312" pitchFamily="49" charset="-122"/>
              </a:rPr>
              <a:t>微处理器是整个系统的核心，通常由</a:t>
            </a:r>
            <a:r>
              <a:rPr lang="en-US" altLang="zh-CN" sz="2800" dirty="0">
                <a:ea typeface="楷体_GB2312" pitchFamily="49" charset="-122"/>
              </a:rPr>
              <a:t>3</a:t>
            </a:r>
            <a:r>
              <a:rPr lang="zh-CN" altLang="en-US" sz="2800" dirty="0">
                <a:ea typeface="楷体_GB2312" pitchFamily="49" charset="-122"/>
              </a:rPr>
              <a:t>大部分组成：控制单元、算术逻辑单元和寄存器。</a:t>
            </a:r>
            <a:r>
              <a:rPr lang="zh-CN" altLang="en-US" sz="3600" dirty="0">
                <a:ea typeface="楷体_GB2312" pitchFamily="49" charset="-122"/>
              </a:rPr>
              <a:t> </a:t>
            </a:r>
            <a:endParaRPr lang="zh-CN" altLang="en-US" sz="3600" dirty="0">
              <a:ea typeface="楷体_GB2312" pitchFamily="49" charset="-122"/>
            </a:endParaRPr>
          </a:p>
        </p:txBody>
      </p:sp>
      <p:grpSp>
        <p:nvGrpSpPr>
          <p:cNvPr id="11267" name="Group 4"/>
          <p:cNvGrpSpPr/>
          <p:nvPr/>
        </p:nvGrpSpPr>
        <p:grpSpPr>
          <a:xfrm>
            <a:off x="1639888" y="2495550"/>
            <a:ext cx="5783262" cy="3335338"/>
            <a:chOff x="2877" y="10816"/>
            <a:chExt cx="5378" cy="2386"/>
          </a:xfrm>
        </p:grpSpPr>
        <p:sp>
          <p:nvSpPr>
            <p:cNvPr id="11268" name="Text Box 5"/>
            <p:cNvSpPr txBox="1"/>
            <p:nvPr/>
          </p:nvSpPr>
          <p:spPr>
            <a:xfrm>
              <a:off x="4153" y="11174"/>
              <a:ext cx="1365" cy="312"/>
            </a:xfrm>
            <a:prstGeom prst="rect">
              <a:avLst/>
            </a:prstGeom>
            <a:noFill/>
            <a:ln w="12700" cap="flat" cmpd="sng">
              <a:solidFill>
                <a:srgbClr val="000000"/>
              </a:solidFill>
              <a:prstDash val="solid"/>
              <a:miter/>
              <a:headEnd type="none" w="med" len="med"/>
              <a:tailEnd type="none" w="med" len="med"/>
            </a:ln>
          </p:spPr>
          <p:txBody>
            <a:bodyPr lIns="0" tIns="10800" rIns="0" bIns="10800" anchor="t" anchorCtr="0"/>
            <a:p>
              <a:pPr algn="ctr">
                <a:buClrTx/>
                <a:buFontTx/>
              </a:pPr>
              <a:r>
                <a:rPr lang="zh-CN" altLang="en-US" b="1" dirty="0">
                  <a:latin typeface="Times New Roman" panose="02020603050405020304" pitchFamily="18" charset="0"/>
                  <a:ea typeface="宋体" panose="02010600030101010101" pitchFamily="2" charset="-122"/>
                </a:rPr>
                <a:t>算术逻辑单元</a:t>
              </a:r>
              <a:endParaRPr lang="zh-CN" altLang="en-US" b="1" dirty="0">
                <a:latin typeface="Times New Roman" panose="02020603050405020304" pitchFamily="18" charset="0"/>
                <a:ea typeface="宋体" panose="02010600030101010101" pitchFamily="2" charset="-122"/>
              </a:endParaRPr>
            </a:p>
          </p:txBody>
        </p:sp>
        <p:sp>
          <p:nvSpPr>
            <p:cNvPr id="11269" name="Text Box 6"/>
            <p:cNvSpPr txBox="1"/>
            <p:nvPr/>
          </p:nvSpPr>
          <p:spPr>
            <a:xfrm>
              <a:off x="4153" y="11954"/>
              <a:ext cx="1365" cy="312"/>
            </a:xfrm>
            <a:prstGeom prst="rect">
              <a:avLst/>
            </a:prstGeom>
            <a:noFill/>
            <a:ln w="12700" cap="flat" cmpd="sng">
              <a:solidFill>
                <a:srgbClr val="000000"/>
              </a:solidFill>
              <a:prstDash val="solid"/>
              <a:miter/>
              <a:headEnd type="none" w="med" len="med"/>
              <a:tailEnd type="none" w="med" len="med"/>
            </a:ln>
          </p:spPr>
          <p:txBody>
            <a:bodyPr lIns="0" tIns="10800" rIns="0" bIns="10800" anchor="t" anchorCtr="0"/>
            <a:p>
              <a:pPr algn="ctr">
                <a:buClrTx/>
                <a:buFontTx/>
              </a:pPr>
              <a:r>
                <a:rPr lang="zh-CN" altLang="en-US" b="1" dirty="0">
                  <a:latin typeface="Times New Roman" panose="02020603050405020304" pitchFamily="18" charset="0"/>
                  <a:ea typeface="宋体" panose="02010600030101010101" pitchFamily="2" charset="-122"/>
                </a:rPr>
                <a:t>寄存器</a:t>
              </a:r>
              <a:endParaRPr lang="zh-CN" altLang="en-US" b="1" dirty="0">
                <a:latin typeface="Times New Roman" panose="02020603050405020304" pitchFamily="18" charset="0"/>
                <a:ea typeface="宋体" panose="02010600030101010101" pitchFamily="2" charset="-122"/>
              </a:endParaRPr>
            </a:p>
          </p:txBody>
        </p:sp>
        <p:sp>
          <p:nvSpPr>
            <p:cNvPr id="11270" name="Text Box 7"/>
            <p:cNvSpPr txBox="1"/>
            <p:nvPr/>
          </p:nvSpPr>
          <p:spPr>
            <a:xfrm>
              <a:off x="6043" y="11174"/>
              <a:ext cx="945" cy="1092"/>
            </a:xfrm>
            <a:prstGeom prst="rect">
              <a:avLst/>
            </a:prstGeom>
            <a:noFill/>
            <a:ln w="12700" cap="flat" cmpd="sng">
              <a:solidFill>
                <a:srgbClr val="000000"/>
              </a:solidFill>
              <a:prstDash val="solid"/>
              <a:miter/>
              <a:headEnd type="none" w="med" len="med"/>
              <a:tailEnd type="none" w="med" len="med"/>
            </a:ln>
          </p:spPr>
          <p:txBody>
            <a:bodyPr lIns="0" tIns="10800" rIns="0" bIns="10800" anchor="t" anchorCtr="0"/>
            <a:p>
              <a:pPr algn="ctr">
                <a:spcBef>
                  <a:spcPts val="2340"/>
                </a:spcBef>
                <a:buClrTx/>
                <a:buFontTx/>
              </a:pPr>
              <a:r>
                <a:rPr lang="zh-CN" altLang="en-US" b="1" dirty="0">
                  <a:latin typeface="Times New Roman" panose="02020603050405020304" pitchFamily="18" charset="0"/>
                  <a:ea typeface="宋体" panose="02010600030101010101" pitchFamily="2" charset="-122"/>
                </a:rPr>
                <a:t>控制单元</a:t>
              </a:r>
              <a:endParaRPr lang="zh-CN" altLang="en-US" b="1" dirty="0">
                <a:latin typeface="Times New Roman" panose="02020603050405020304" pitchFamily="18" charset="0"/>
                <a:ea typeface="宋体" panose="02010600030101010101" pitchFamily="2" charset="-122"/>
              </a:endParaRPr>
            </a:p>
          </p:txBody>
        </p:sp>
        <p:sp>
          <p:nvSpPr>
            <p:cNvPr id="11271" name="Text Box 8"/>
            <p:cNvSpPr txBox="1"/>
            <p:nvPr/>
          </p:nvSpPr>
          <p:spPr>
            <a:xfrm>
              <a:off x="5068" y="10866"/>
              <a:ext cx="1365" cy="468"/>
            </a:xfrm>
            <a:prstGeom prst="rect">
              <a:avLst/>
            </a:prstGeom>
            <a:noFill/>
            <a:ln w="12700">
              <a:noFill/>
            </a:ln>
          </p:spPr>
          <p:txBody>
            <a:bodyPr lIns="0" tIns="10800" rIns="0" bIns="10800" anchor="t" anchorCtr="0"/>
            <a:p>
              <a:pPr algn="ctr">
                <a:spcBef>
                  <a:spcPts val="775"/>
                </a:spcBef>
                <a:buClrTx/>
                <a:buFontTx/>
              </a:pPr>
              <a:r>
                <a:rPr lang="zh-CN" altLang="en-US" b="1" dirty="0">
                  <a:latin typeface="Times New Roman" panose="02020603050405020304" pitchFamily="18" charset="0"/>
                  <a:ea typeface="宋体" panose="02010600030101010101" pitchFamily="2" charset="-122"/>
                </a:rPr>
                <a:t>微处理器</a:t>
              </a:r>
              <a:endParaRPr lang="zh-CN" altLang="en-US" b="1" dirty="0">
                <a:latin typeface="Times New Roman" panose="02020603050405020304" pitchFamily="18" charset="0"/>
                <a:ea typeface="宋体" panose="02010600030101010101" pitchFamily="2" charset="-122"/>
              </a:endParaRPr>
            </a:p>
          </p:txBody>
        </p:sp>
        <p:sp>
          <p:nvSpPr>
            <p:cNvPr id="11272" name="Rectangle 9"/>
            <p:cNvSpPr/>
            <p:nvPr/>
          </p:nvSpPr>
          <p:spPr>
            <a:xfrm>
              <a:off x="4048" y="10816"/>
              <a:ext cx="3045" cy="1606"/>
            </a:xfrm>
            <a:prstGeom prst="rect">
              <a:avLst/>
            </a:prstGeom>
            <a:noFill/>
            <a:ln w="12700" cap="flat" cmpd="sng">
              <a:solidFill>
                <a:srgbClr val="000000"/>
              </a:solidFill>
              <a:prstDash val="solid"/>
              <a:miter/>
              <a:headEnd type="none" w="med" len="med"/>
              <a:tailEnd type="none" w="med" len="med"/>
            </a:ln>
          </p:spPr>
          <p:txBody>
            <a:bodyPr anchor="t" anchorCtr="0"/>
            <a:p>
              <a:pPr>
                <a:buClrTx/>
                <a:buFontTx/>
              </a:pPr>
              <a:endParaRPr lang="zh-CN" altLang="en-US" dirty="0">
                <a:latin typeface="Tahoma" panose="020B0604030504040204" pitchFamily="34" charset="0"/>
                <a:ea typeface="宋体" panose="02010600030101010101" pitchFamily="2" charset="-122"/>
              </a:endParaRPr>
            </a:p>
          </p:txBody>
        </p:sp>
        <p:sp>
          <p:nvSpPr>
            <p:cNvPr id="11273" name="Text Box 10"/>
            <p:cNvSpPr txBox="1"/>
            <p:nvPr/>
          </p:nvSpPr>
          <p:spPr>
            <a:xfrm>
              <a:off x="4153" y="12734"/>
              <a:ext cx="2835" cy="468"/>
            </a:xfrm>
            <a:prstGeom prst="rect">
              <a:avLst/>
            </a:prstGeom>
            <a:noFill/>
            <a:ln w="12700" cap="flat" cmpd="sng">
              <a:solidFill>
                <a:srgbClr val="000000"/>
              </a:solidFill>
              <a:prstDash val="solid"/>
              <a:miter/>
              <a:headEnd type="none" w="med" len="med"/>
              <a:tailEnd type="none" w="med" len="med"/>
            </a:ln>
          </p:spPr>
          <p:txBody>
            <a:bodyPr lIns="0" tIns="10800" rIns="0" bIns="10800" anchor="t" anchorCtr="0"/>
            <a:p>
              <a:pPr algn="ctr">
                <a:spcBef>
                  <a:spcPts val="775"/>
                </a:spcBef>
                <a:buClrTx/>
                <a:buFontTx/>
              </a:pPr>
              <a:r>
                <a:rPr lang="zh-CN" altLang="en-US" b="1" dirty="0">
                  <a:latin typeface="Times New Roman" panose="02020603050405020304" pitchFamily="18" charset="0"/>
                  <a:ea typeface="宋体" panose="02010600030101010101" pitchFamily="2" charset="-122"/>
                </a:rPr>
                <a:t>存储器</a:t>
              </a:r>
              <a:endParaRPr lang="zh-CN" altLang="en-US" b="1" dirty="0">
                <a:latin typeface="Times New Roman" panose="02020603050405020304" pitchFamily="18" charset="0"/>
                <a:ea typeface="宋体" panose="02010600030101010101" pitchFamily="2" charset="-122"/>
              </a:endParaRPr>
            </a:p>
          </p:txBody>
        </p:sp>
        <p:sp>
          <p:nvSpPr>
            <p:cNvPr id="11274" name="Line 11"/>
            <p:cNvSpPr/>
            <p:nvPr/>
          </p:nvSpPr>
          <p:spPr>
            <a:xfrm>
              <a:off x="4786" y="11483"/>
              <a:ext cx="0" cy="468"/>
            </a:xfrm>
            <a:prstGeom prst="line">
              <a:avLst/>
            </a:prstGeom>
            <a:ln w="12700" cap="flat" cmpd="sng">
              <a:solidFill>
                <a:srgbClr val="000000"/>
              </a:solidFill>
              <a:prstDash val="solid"/>
              <a:round/>
              <a:headEnd type="triangle" w="med" len="med"/>
              <a:tailEnd type="triangle" w="med" len="med"/>
            </a:ln>
          </p:spPr>
        </p:sp>
        <p:sp>
          <p:nvSpPr>
            <p:cNvPr id="11275" name="Line 12"/>
            <p:cNvSpPr/>
            <p:nvPr/>
          </p:nvSpPr>
          <p:spPr>
            <a:xfrm flipH="1">
              <a:off x="5518" y="11330"/>
              <a:ext cx="525" cy="0"/>
            </a:xfrm>
            <a:prstGeom prst="line">
              <a:avLst/>
            </a:prstGeom>
            <a:ln w="12700" cap="flat" cmpd="sng">
              <a:solidFill>
                <a:srgbClr val="000000"/>
              </a:solidFill>
              <a:prstDash val="solid"/>
              <a:round/>
              <a:headEnd type="none" w="med" len="med"/>
              <a:tailEnd type="triangle" w="med" len="med"/>
            </a:ln>
          </p:spPr>
        </p:sp>
        <p:sp>
          <p:nvSpPr>
            <p:cNvPr id="11276" name="Line 13"/>
            <p:cNvSpPr/>
            <p:nvPr/>
          </p:nvSpPr>
          <p:spPr>
            <a:xfrm>
              <a:off x="4801" y="12264"/>
              <a:ext cx="0" cy="468"/>
            </a:xfrm>
            <a:prstGeom prst="line">
              <a:avLst/>
            </a:prstGeom>
            <a:ln w="12700" cap="flat" cmpd="sng">
              <a:solidFill>
                <a:srgbClr val="000000"/>
              </a:solidFill>
              <a:prstDash val="solid"/>
              <a:round/>
              <a:headEnd type="triangle" w="med" len="med"/>
              <a:tailEnd type="triangle" w="med" len="med"/>
            </a:ln>
          </p:spPr>
        </p:sp>
        <p:sp>
          <p:nvSpPr>
            <p:cNvPr id="11277" name="Line 14"/>
            <p:cNvSpPr/>
            <p:nvPr/>
          </p:nvSpPr>
          <p:spPr>
            <a:xfrm>
              <a:off x="6533" y="12264"/>
              <a:ext cx="0" cy="468"/>
            </a:xfrm>
            <a:prstGeom prst="line">
              <a:avLst/>
            </a:prstGeom>
            <a:ln w="12700" cap="flat" cmpd="sng">
              <a:solidFill>
                <a:srgbClr val="000000"/>
              </a:solidFill>
              <a:prstDash val="solid"/>
              <a:round/>
              <a:headEnd type="triangle" w="med" len="med"/>
              <a:tailEnd type="triangle" w="med" len="med"/>
            </a:ln>
          </p:spPr>
        </p:sp>
        <p:sp>
          <p:nvSpPr>
            <p:cNvPr id="11278" name="AutoShape 15"/>
            <p:cNvSpPr/>
            <p:nvPr/>
          </p:nvSpPr>
          <p:spPr>
            <a:xfrm>
              <a:off x="2877" y="11528"/>
              <a:ext cx="1162" cy="390"/>
            </a:xfrm>
            <a:prstGeom prst="rightArrow">
              <a:avLst>
                <a:gd name="adj1" fmla="val 50000"/>
                <a:gd name="adj2" fmla="val 74445"/>
              </a:avLst>
            </a:prstGeom>
            <a:noFill/>
            <a:ln w="12700" cap="flat" cmpd="sng">
              <a:solidFill>
                <a:srgbClr val="000000"/>
              </a:solidFill>
              <a:prstDash val="solid"/>
              <a:miter/>
              <a:headEnd type="none" w="med" len="med"/>
              <a:tailEnd type="none" w="med" len="med"/>
            </a:ln>
          </p:spPr>
          <p:txBody>
            <a:bodyPr anchor="t" anchorCtr="0"/>
            <a:p>
              <a:pPr>
                <a:buClrTx/>
                <a:buFontTx/>
              </a:pPr>
              <a:endParaRPr lang="zh-CN" altLang="en-US" dirty="0">
                <a:latin typeface="Tahoma" panose="020B0604030504040204" pitchFamily="34" charset="0"/>
                <a:ea typeface="宋体" panose="02010600030101010101" pitchFamily="2" charset="-122"/>
              </a:endParaRPr>
            </a:p>
          </p:txBody>
        </p:sp>
        <p:sp>
          <p:nvSpPr>
            <p:cNvPr id="11279" name="AutoShape 16"/>
            <p:cNvSpPr/>
            <p:nvPr/>
          </p:nvSpPr>
          <p:spPr>
            <a:xfrm>
              <a:off x="7093" y="11518"/>
              <a:ext cx="1162" cy="390"/>
            </a:xfrm>
            <a:prstGeom prst="rightArrow">
              <a:avLst>
                <a:gd name="adj1" fmla="val 50000"/>
                <a:gd name="adj2" fmla="val 74445"/>
              </a:avLst>
            </a:prstGeom>
            <a:noFill/>
            <a:ln w="12700" cap="flat" cmpd="sng">
              <a:solidFill>
                <a:srgbClr val="000000"/>
              </a:solidFill>
              <a:prstDash val="solid"/>
              <a:miter/>
              <a:headEnd type="none" w="med" len="med"/>
              <a:tailEnd type="none" w="med" len="med"/>
            </a:ln>
          </p:spPr>
          <p:txBody>
            <a:bodyPr anchor="t" anchorCtr="0"/>
            <a:p>
              <a:pPr>
                <a:buClrTx/>
                <a:buFontTx/>
              </a:pPr>
              <a:endParaRPr lang="zh-CN" altLang="en-US" dirty="0">
                <a:latin typeface="Tahoma" panose="020B0604030504040204" pitchFamily="34" charset="0"/>
                <a:ea typeface="宋体" panose="02010600030101010101" pitchFamily="2" charset="-122"/>
              </a:endParaRPr>
            </a:p>
          </p:txBody>
        </p:sp>
        <p:sp>
          <p:nvSpPr>
            <p:cNvPr id="11280" name="Text Box 17"/>
            <p:cNvSpPr txBox="1"/>
            <p:nvPr/>
          </p:nvSpPr>
          <p:spPr>
            <a:xfrm>
              <a:off x="2913" y="11057"/>
              <a:ext cx="915" cy="468"/>
            </a:xfrm>
            <a:prstGeom prst="rect">
              <a:avLst/>
            </a:prstGeom>
            <a:noFill/>
            <a:ln w="12700">
              <a:noFill/>
            </a:ln>
          </p:spPr>
          <p:txBody>
            <a:bodyPr lIns="0" tIns="10800" rIns="0" bIns="10800" anchor="t" anchorCtr="0"/>
            <a:p>
              <a:pPr algn="ctr">
                <a:spcBef>
                  <a:spcPts val="775"/>
                </a:spcBef>
                <a:buClrTx/>
                <a:buFontTx/>
              </a:pPr>
              <a:r>
                <a:rPr lang="zh-CN" altLang="en-US" b="1" dirty="0">
                  <a:latin typeface="Times New Roman" panose="02020603050405020304" pitchFamily="18" charset="0"/>
                  <a:ea typeface="宋体" panose="02010600030101010101" pitchFamily="2" charset="-122"/>
                </a:rPr>
                <a:t>输入</a:t>
              </a:r>
              <a:endParaRPr lang="zh-CN" altLang="en-US" b="1" dirty="0">
                <a:latin typeface="Times New Roman" panose="02020603050405020304" pitchFamily="18" charset="0"/>
                <a:ea typeface="宋体" panose="02010600030101010101" pitchFamily="2" charset="-122"/>
              </a:endParaRPr>
            </a:p>
          </p:txBody>
        </p:sp>
        <p:sp>
          <p:nvSpPr>
            <p:cNvPr id="11281" name="Text Box 18"/>
            <p:cNvSpPr txBox="1"/>
            <p:nvPr/>
          </p:nvSpPr>
          <p:spPr>
            <a:xfrm>
              <a:off x="7143" y="11057"/>
              <a:ext cx="915" cy="468"/>
            </a:xfrm>
            <a:prstGeom prst="rect">
              <a:avLst/>
            </a:prstGeom>
            <a:noFill/>
            <a:ln w="12700">
              <a:noFill/>
            </a:ln>
          </p:spPr>
          <p:txBody>
            <a:bodyPr lIns="0" tIns="10800" rIns="0" bIns="10800" anchor="t" anchorCtr="0"/>
            <a:p>
              <a:pPr algn="ctr">
                <a:spcBef>
                  <a:spcPts val="775"/>
                </a:spcBef>
                <a:buClrTx/>
                <a:buFontTx/>
              </a:pPr>
              <a:r>
                <a:rPr lang="zh-CN" altLang="en-US" b="1" dirty="0">
                  <a:latin typeface="Times New Roman" panose="02020603050405020304" pitchFamily="18" charset="0"/>
                  <a:ea typeface="宋体" panose="02010600030101010101" pitchFamily="2" charset="-122"/>
                </a:rPr>
                <a:t>输出</a:t>
              </a:r>
              <a:endParaRPr lang="zh-CN" altLang="en-US" b="1"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4"/>
          <p:cNvSpPr>
            <a:spLocks noGrp="1"/>
          </p:cNvSpPr>
          <p:nvPr>
            <p:ph type="title"/>
          </p:nvPr>
        </p:nvSpPr>
        <p:spPr>
          <a:ln/>
        </p:spPr>
        <p:txBody>
          <a:bodyPr vert="horz" wrap="square" lIns="91440" tIns="45720" rIns="91440" bIns="45720" anchor="ctr" anchorCtr="0"/>
          <a:p>
            <a:pPr eaLnBrk="1" hangingPunct="1"/>
            <a:r>
              <a:rPr lang="en-US" altLang="zh-CN" dirty="0"/>
              <a:t>3.1  ARM</a:t>
            </a:r>
            <a:r>
              <a:rPr lang="zh-CN" altLang="en-US" dirty="0"/>
              <a:t>简介</a:t>
            </a:r>
            <a:endParaRPr lang="zh-CN" altLang="en-US" dirty="0"/>
          </a:p>
        </p:txBody>
      </p:sp>
      <p:sp>
        <p:nvSpPr>
          <p:cNvPr id="5125"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ARM</a:t>
            </a:r>
            <a:r>
              <a:rPr lang="zh-CN" altLang="en-US" dirty="0"/>
              <a:t>体系结构</a:t>
            </a:r>
            <a:endParaRPr lang="zh-CN" altLang="en-US" dirty="0"/>
          </a:p>
        </p:txBody>
      </p:sp>
      <p:sp>
        <p:nvSpPr>
          <p:cNvPr id="5126" name="Text Box 6"/>
          <p:cNvSpPr txBox="1"/>
          <p:nvPr/>
        </p:nvSpPr>
        <p:spPr>
          <a:xfrm>
            <a:off x="1219200" y="2205038"/>
            <a:ext cx="6934200" cy="1187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a:t>
            </a:r>
            <a:r>
              <a:rPr lang="zh-CN" altLang="en-US" sz="2400" dirty="0">
                <a:latin typeface="华文新魏" panose="02010800040101010101" pitchFamily="2" charset="-122"/>
                <a:ea typeface="华文新魏" panose="02010800040101010101" pitchFamily="2" charset="-122"/>
              </a:rPr>
              <a:t>处理器为</a:t>
            </a:r>
            <a:r>
              <a:rPr lang="en-US" altLang="zh-CN" sz="2400" dirty="0">
                <a:latin typeface="华文新魏" panose="02010800040101010101" pitchFamily="2" charset="-122"/>
                <a:ea typeface="华文新魏" panose="02010800040101010101" pitchFamily="2" charset="-122"/>
              </a:rPr>
              <a:t>RISC</a:t>
            </a:r>
            <a:r>
              <a:rPr lang="zh-CN" altLang="en-US" sz="2400" dirty="0">
                <a:latin typeface="华文新魏" panose="02010800040101010101" pitchFamily="2" charset="-122"/>
                <a:ea typeface="华文新魏" panose="02010800040101010101" pitchFamily="2" charset="-122"/>
              </a:rPr>
              <a:t>芯片，其简单的结构使</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内核非常小，这使得器件的功耗也非常低。它具有经典</a:t>
            </a:r>
            <a:r>
              <a:rPr lang="en-US" altLang="zh-CN" sz="2400" dirty="0">
                <a:latin typeface="华文新魏" panose="02010800040101010101" pitchFamily="2" charset="-122"/>
                <a:ea typeface="华文新魏" panose="02010800040101010101" pitchFamily="2" charset="-122"/>
              </a:rPr>
              <a:t>RISC</a:t>
            </a:r>
            <a:r>
              <a:rPr lang="zh-CN" altLang="en-US" sz="2400" dirty="0">
                <a:latin typeface="华文新魏" panose="02010800040101010101" pitchFamily="2" charset="-122"/>
                <a:ea typeface="华文新魏" panose="02010800040101010101" pitchFamily="2" charset="-122"/>
              </a:rPr>
              <a:t>的特点：</a:t>
            </a:r>
            <a:endParaRPr lang="zh-CN" altLang="en-US" sz="2400" dirty="0">
              <a:latin typeface="华文新魏" panose="02010800040101010101" pitchFamily="2" charset="-122"/>
              <a:ea typeface="华文新魏" panose="02010800040101010101" pitchFamily="2" charset="-122"/>
            </a:endParaRPr>
          </a:p>
        </p:txBody>
      </p:sp>
      <p:grpSp>
        <p:nvGrpSpPr>
          <p:cNvPr id="2" name="Group 13"/>
          <p:cNvGrpSpPr/>
          <p:nvPr/>
        </p:nvGrpSpPr>
        <p:grpSpPr>
          <a:xfrm>
            <a:off x="1219200" y="3424238"/>
            <a:ext cx="7240588" cy="2651125"/>
            <a:chOff x="768" y="2544"/>
            <a:chExt cx="4561" cy="1670"/>
          </a:xfrm>
        </p:grpSpPr>
        <p:sp>
          <p:nvSpPr>
            <p:cNvPr id="12293" name="Text Box 8"/>
            <p:cNvSpPr txBox="1"/>
            <p:nvPr/>
          </p:nvSpPr>
          <p:spPr>
            <a:xfrm>
              <a:off x="768" y="2544"/>
              <a:ext cx="4561" cy="288"/>
            </a:xfrm>
            <a:prstGeom prst="rect">
              <a:avLst/>
            </a:prstGeom>
            <a:noFill/>
            <a:ln w="9525">
              <a:noFill/>
            </a:ln>
          </p:spPr>
          <p:txBody>
            <a:bodyPr anchor="t" anchorCtr="0">
              <a:spAutoFit/>
            </a:bodyPr>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大的、统一的寄存器文件；</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2294" name="Text Box 9"/>
            <p:cNvSpPr txBox="1"/>
            <p:nvPr/>
          </p:nvSpPr>
          <p:spPr>
            <a:xfrm>
              <a:off x="768" y="2832"/>
              <a:ext cx="4561" cy="518"/>
            </a:xfrm>
            <a:prstGeom prst="rect">
              <a:avLst/>
            </a:prstGeom>
            <a:noFill/>
            <a:ln w="9525">
              <a:noFill/>
            </a:ln>
          </p:spPr>
          <p:txBody>
            <a:bodyPr anchor="t" anchorCtr="0">
              <a:spAutoFit/>
            </a:bodyPr>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装载</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保存结构，数据处理 操作只针对寄存器的内容，而不直接对存储器进行操作；</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2295" name="Text Box 10"/>
            <p:cNvSpPr txBox="1"/>
            <p:nvPr/>
          </p:nvSpPr>
          <p:spPr>
            <a:xfrm>
              <a:off x="768" y="3360"/>
              <a:ext cx="4561" cy="288"/>
            </a:xfrm>
            <a:prstGeom prst="rect">
              <a:avLst/>
            </a:prstGeom>
            <a:noFill/>
            <a:ln w="9525">
              <a:noFill/>
            </a:ln>
          </p:spPr>
          <p:txBody>
            <a:bodyPr anchor="t" anchorCtr="0">
              <a:spAutoFit/>
            </a:bodyPr>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简单的寻址模式</a:t>
              </a:r>
              <a:r>
                <a:rPr lang="en-US" altLang="zh-CN" sz="2400" dirty="0">
                  <a:solidFill>
                    <a:schemeClr val="tx1"/>
                  </a:solidFill>
                  <a:latin typeface="华文新魏" panose="02010800040101010101" pitchFamily="2" charset="-122"/>
                  <a:ea typeface="华文新魏" panose="02010800040101010101" pitchFamily="2" charset="-122"/>
                </a:rPr>
                <a:t>;</a:t>
              </a:r>
              <a:endParaRPr lang="en-US" altLang="zh-CN" sz="2400" dirty="0">
                <a:solidFill>
                  <a:schemeClr val="tx1"/>
                </a:solidFill>
                <a:latin typeface="华文新魏" panose="02010800040101010101" pitchFamily="2" charset="-122"/>
                <a:ea typeface="华文新魏" panose="02010800040101010101" pitchFamily="2" charset="-122"/>
              </a:endParaRPr>
            </a:p>
          </p:txBody>
        </p:sp>
        <p:sp>
          <p:nvSpPr>
            <p:cNvPr id="12296" name="Text Box 11"/>
            <p:cNvSpPr txBox="1"/>
            <p:nvPr/>
          </p:nvSpPr>
          <p:spPr>
            <a:xfrm>
              <a:off x="768" y="3696"/>
              <a:ext cx="4561" cy="518"/>
            </a:xfrm>
            <a:prstGeom prst="rect">
              <a:avLst/>
            </a:prstGeom>
            <a:noFill/>
            <a:ln w="9525">
              <a:noFill/>
            </a:ln>
          </p:spPr>
          <p:txBody>
            <a:bodyPr anchor="t" anchorCtr="0">
              <a:spAutoFit/>
            </a:bodyPr>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统一和固定长度的指令域，简化了指令的译码，便于指令流水线设计。</a:t>
              </a:r>
              <a:endParaRPr lang="zh-CN" altLang="en-US" sz="2400"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125">
                                            <p:txEl>
                                              <p:charRg st="0" end="8"/>
                                            </p:txEl>
                                          </p:spTgt>
                                        </p:tgtEl>
                                        <p:attrNameLst>
                                          <p:attrName>style.visibility</p:attrName>
                                        </p:attrNameLst>
                                      </p:cBhvr>
                                      <p:to>
                                        <p:strVal val="visible"/>
                                      </p:to>
                                    </p:set>
                                    <p:anim calcmode="lin" valueType="num">
                                      <p:cBhvr additive="base">
                                        <p:cTn id="7" dur="500" fill="hold"/>
                                        <p:tgtEl>
                                          <p:spTgt spid="5125">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5">
                                            <p:txEl>
                                              <p:charRg st="0" end="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126"/>
                                        </p:tgtEl>
                                        <p:attrNameLst>
                                          <p:attrName>style.visibility</p:attrName>
                                        </p:attrNameLst>
                                      </p:cBhvr>
                                      <p:to>
                                        <p:strVal val="visible"/>
                                      </p:to>
                                    </p:set>
                                    <p:animEffect transition="in" filter="box(in)">
                                      <p:cBhvr>
                                        <p:cTn id="12" dur="500"/>
                                        <p:tgtEl>
                                          <p:spTgt spid="5126"/>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Bottom)">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dvAuto="1000" build="p"/>
      <p:bldP spid="51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4"/>
          <p:cNvSpPr>
            <a:spLocks noGrp="1"/>
          </p:cNvSpPr>
          <p:nvPr>
            <p:ph type="title"/>
          </p:nvPr>
        </p:nvSpPr>
        <p:spPr>
          <a:ln/>
        </p:spPr>
        <p:txBody>
          <a:bodyPr vert="horz" wrap="square" lIns="91440" tIns="45720" rIns="91440" bIns="45720" anchor="ctr" anchorCtr="0"/>
          <a:p>
            <a:pPr eaLnBrk="1" hangingPunct="1"/>
            <a:r>
              <a:rPr lang="en-US" altLang="zh-CN" dirty="0"/>
              <a:t>3.1  ARM</a:t>
            </a:r>
            <a:r>
              <a:rPr lang="zh-CN" altLang="en-US" dirty="0"/>
              <a:t>简介</a:t>
            </a:r>
            <a:endParaRPr lang="zh-CN" altLang="en-US" dirty="0"/>
          </a:p>
        </p:txBody>
      </p:sp>
      <p:sp>
        <p:nvSpPr>
          <p:cNvPr id="13314"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ARM</a:t>
            </a:r>
            <a:r>
              <a:rPr lang="zh-CN" altLang="en-US" dirty="0"/>
              <a:t>体系结构</a:t>
            </a:r>
            <a:endParaRPr lang="zh-CN" altLang="en-US" dirty="0"/>
          </a:p>
        </p:txBody>
      </p:sp>
      <p:sp>
        <p:nvSpPr>
          <p:cNvPr id="6150" name="Text Box 6"/>
          <p:cNvSpPr txBox="1"/>
          <p:nvPr/>
        </p:nvSpPr>
        <p:spPr>
          <a:xfrm>
            <a:off x="1187450" y="2349500"/>
            <a:ext cx="6934200" cy="4572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体系结构的特点：</a:t>
            </a:r>
            <a:endParaRPr lang="zh-CN" altLang="en-US" sz="2400" dirty="0">
              <a:latin typeface="华文新魏" panose="02010800040101010101" pitchFamily="2" charset="-122"/>
              <a:ea typeface="华文新魏" panose="02010800040101010101" pitchFamily="2" charset="-122"/>
            </a:endParaRPr>
          </a:p>
        </p:txBody>
      </p:sp>
      <p:grpSp>
        <p:nvGrpSpPr>
          <p:cNvPr id="2" name="Group 12"/>
          <p:cNvGrpSpPr/>
          <p:nvPr/>
        </p:nvGrpSpPr>
        <p:grpSpPr>
          <a:xfrm>
            <a:off x="1187450" y="3141663"/>
            <a:ext cx="6934200" cy="2438400"/>
            <a:chOff x="768" y="2112"/>
            <a:chExt cx="4368" cy="1536"/>
          </a:xfrm>
        </p:grpSpPr>
        <p:sp>
          <p:nvSpPr>
            <p:cNvPr id="13317" name="Text Box 8"/>
            <p:cNvSpPr txBox="1"/>
            <p:nvPr/>
          </p:nvSpPr>
          <p:spPr>
            <a:xfrm>
              <a:off x="768" y="2112"/>
              <a:ext cx="4368" cy="518"/>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每条数据处理指令都对算术逻辑单元和移位器控制，实现了</a:t>
              </a:r>
              <a:r>
                <a:rPr lang="en-US" altLang="zh-CN" sz="2400" dirty="0">
                  <a:latin typeface="华文新魏" panose="02010800040101010101" pitchFamily="2" charset="-122"/>
                  <a:ea typeface="华文新魏" panose="02010800040101010101" pitchFamily="2" charset="-122"/>
                </a:rPr>
                <a:t>ALU</a:t>
              </a:r>
              <a:r>
                <a:rPr lang="zh-CN" altLang="en-US" sz="2400" dirty="0">
                  <a:latin typeface="华文新魏" panose="02010800040101010101" pitchFamily="2" charset="-122"/>
                  <a:ea typeface="华文新魏" panose="02010800040101010101" pitchFamily="2" charset="-122"/>
                </a:rPr>
                <a:t>和移位器的最大利用；</a:t>
              </a:r>
              <a:endParaRPr lang="zh-CN" altLang="en-US" sz="2400" dirty="0">
                <a:latin typeface="Times New Roman" panose="02020603050405020304" pitchFamily="18" charset="0"/>
                <a:ea typeface="宋体" panose="02010600030101010101" pitchFamily="2" charset="-122"/>
              </a:endParaRPr>
            </a:p>
          </p:txBody>
        </p:sp>
        <p:sp>
          <p:nvSpPr>
            <p:cNvPr id="13318" name="Text Box 9"/>
            <p:cNvSpPr txBox="1"/>
            <p:nvPr/>
          </p:nvSpPr>
          <p:spPr>
            <a:xfrm>
              <a:off x="768" y="2688"/>
              <a:ext cx="4368" cy="288"/>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地址自动增加和减少寻址模式，优化程序循环；</a:t>
              </a:r>
              <a:endParaRPr lang="zh-CN" altLang="en-US" sz="2400" dirty="0">
                <a:latin typeface="华文新魏" panose="02010800040101010101" pitchFamily="2" charset="-122"/>
                <a:ea typeface="华文新魏" panose="02010800040101010101" pitchFamily="2" charset="-122"/>
              </a:endParaRPr>
            </a:p>
          </p:txBody>
        </p:sp>
        <p:sp>
          <p:nvSpPr>
            <p:cNvPr id="13319" name="Text Box 10"/>
            <p:cNvSpPr txBox="1"/>
            <p:nvPr/>
          </p:nvSpPr>
          <p:spPr>
            <a:xfrm>
              <a:off x="768" y="3024"/>
              <a:ext cx="4368" cy="288"/>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多寄存器装载和存储指令实现最大数据吞吐量</a:t>
              </a:r>
              <a:r>
                <a:rPr lang="en-US" altLang="zh-CN" sz="2400" dirty="0">
                  <a:latin typeface="华文新魏" panose="02010800040101010101" pitchFamily="2" charset="-122"/>
                  <a:ea typeface="华文新魏" panose="02010800040101010101" pitchFamily="2" charset="-122"/>
                </a:rPr>
                <a:t>;</a:t>
              </a:r>
              <a:endParaRPr lang="en-US" altLang="zh-CN" sz="2400" dirty="0">
                <a:latin typeface="华文新魏" panose="02010800040101010101" pitchFamily="2" charset="-122"/>
                <a:ea typeface="华文新魏" panose="02010800040101010101" pitchFamily="2" charset="-122"/>
              </a:endParaRPr>
            </a:p>
          </p:txBody>
        </p:sp>
        <p:sp>
          <p:nvSpPr>
            <p:cNvPr id="13320" name="Text Box 11"/>
            <p:cNvSpPr txBox="1"/>
            <p:nvPr/>
          </p:nvSpPr>
          <p:spPr>
            <a:xfrm>
              <a:off x="768" y="3360"/>
              <a:ext cx="4368" cy="288"/>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所有指令的条件执行实现最快速的代码执行。</a:t>
              </a:r>
              <a:endParaRPr lang="zh-CN" altLang="en-US" sz="2400" dirty="0">
                <a:latin typeface="华文新魏" panose="02010800040101010101" pitchFamily="2" charset="-122"/>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box(in)">
                                      <p:cBhvr>
                                        <p:cTn id="7" dur="500"/>
                                        <p:tgtEl>
                                          <p:spTgt spid="615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4"/>
          <p:cNvSpPr>
            <a:spLocks noGrp="1"/>
          </p:cNvSpPr>
          <p:nvPr>
            <p:ph type="title"/>
          </p:nvPr>
        </p:nvSpPr>
        <p:spPr>
          <a:ln/>
        </p:spPr>
        <p:txBody>
          <a:bodyPr vert="horz" wrap="square" lIns="91440" tIns="45720" rIns="91440" bIns="45720" anchor="ctr" anchorCtr="0"/>
          <a:p>
            <a:pPr eaLnBrk="1" hangingPunct="1"/>
            <a:r>
              <a:rPr lang="en-US" altLang="zh-CN" dirty="0"/>
              <a:t>3.1  ARM</a:t>
            </a:r>
            <a:r>
              <a:rPr lang="zh-CN" altLang="en-US" dirty="0"/>
              <a:t>简介</a:t>
            </a:r>
            <a:endParaRPr lang="zh-CN" altLang="en-US" dirty="0"/>
          </a:p>
        </p:txBody>
      </p:sp>
      <p:sp>
        <p:nvSpPr>
          <p:cNvPr id="8197"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各</a:t>
            </a:r>
            <a:r>
              <a:rPr lang="en-US" altLang="zh-CN" dirty="0"/>
              <a:t>ARM</a:t>
            </a:r>
            <a:r>
              <a:rPr lang="zh-CN" altLang="en-US" dirty="0"/>
              <a:t>体系结构版本</a:t>
            </a:r>
            <a:endParaRPr lang="zh-CN" altLang="en-US" dirty="0"/>
          </a:p>
        </p:txBody>
      </p:sp>
      <p:sp>
        <p:nvSpPr>
          <p:cNvPr id="8198" name="Text Box 6"/>
          <p:cNvSpPr txBox="1"/>
          <p:nvPr/>
        </p:nvSpPr>
        <p:spPr>
          <a:xfrm>
            <a:off x="1219200" y="2819400"/>
            <a:ext cx="6934200" cy="19177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a:t>
            </a:r>
            <a:r>
              <a:rPr lang="zh-CN" altLang="en-US" sz="2400" dirty="0">
                <a:latin typeface="华文新魏" panose="02010800040101010101" pitchFamily="2" charset="-122"/>
                <a:ea typeface="华文新魏" panose="02010800040101010101" pitchFamily="2" charset="-122"/>
              </a:rPr>
              <a:t>体系结构从最初开发到现在有了很大的改进，并仍在完善和发展。为了清楚的表达每个</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应用实例所使用的指令集，</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公司定义了</a:t>
            </a:r>
            <a:r>
              <a:rPr lang="en-US" altLang="zh-CN" sz="2400" dirty="0">
                <a:latin typeface="华文新魏" panose="02010800040101010101" pitchFamily="2" charset="-122"/>
                <a:ea typeface="华文新魏" panose="02010800040101010101" pitchFamily="2" charset="-122"/>
              </a:rPr>
              <a:t>6</a:t>
            </a:r>
            <a:r>
              <a:rPr lang="zh-CN" altLang="en-US" sz="2400" dirty="0">
                <a:latin typeface="华文新魏" panose="02010800040101010101" pitchFamily="2" charset="-122"/>
                <a:ea typeface="华文新魏" panose="02010800040101010101" pitchFamily="2" charset="-122"/>
              </a:rPr>
              <a:t>种主要的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指令集体系结构版本，以版本号</a:t>
            </a:r>
            <a:r>
              <a:rPr lang="en-US" altLang="zh-CN" sz="2400" dirty="0">
                <a:latin typeface="华文新魏" panose="02010800040101010101" pitchFamily="2" charset="-122"/>
                <a:ea typeface="华文新魏" panose="02010800040101010101" pitchFamily="2" charset="-122"/>
              </a:rPr>
              <a:t>V1</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V6</a:t>
            </a:r>
            <a:r>
              <a:rPr lang="zh-CN" altLang="en-US" sz="2400" dirty="0">
                <a:latin typeface="华文新魏" panose="02010800040101010101" pitchFamily="2" charset="-122"/>
                <a:ea typeface="华文新魏" panose="02010800040101010101" pitchFamily="2" charset="-122"/>
              </a:rPr>
              <a:t>表示。</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197">
                                            <p:txEl>
                                              <p:charRg st="0" end="11"/>
                                            </p:txEl>
                                          </p:spTgt>
                                        </p:tgtEl>
                                        <p:attrNameLst>
                                          <p:attrName>style.visibility</p:attrName>
                                        </p:attrNameLst>
                                      </p:cBhvr>
                                      <p:to>
                                        <p:strVal val="visible"/>
                                      </p:to>
                                    </p:set>
                                    <p:anim calcmode="lin" valueType="num">
                                      <p:cBhvr additive="base">
                                        <p:cTn id="7" dur="500" fill="hold"/>
                                        <p:tgtEl>
                                          <p:spTgt spid="8197">
                                            <p:txEl>
                                              <p:charRg st="0" end="1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7">
                                            <p:txEl>
                                              <p:charRg st="0" end="1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box(in)">
                                      <p:cBhvr>
                                        <p:cTn id="12"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dvAuto="1000" build="p"/>
      <p:bldP spid="81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9221"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各</a:t>
            </a:r>
            <a:r>
              <a:rPr lang="en-US" altLang="zh-CN" dirty="0"/>
              <a:t>ARM</a:t>
            </a:r>
            <a:r>
              <a:rPr lang="zh-CN" altLang="en-US" dirty="0"/>
              <a:t>体系结构版本</a:t>
            </a:r>
            <a:r>
              <a:rPr lang="en-US" altLang="zh-CN" dirty="0"/>
              <a:t>——</a:t>
            </a:r>
            <a:r>
              <a:rPr lang="en-US" altLang="zh-CN" dirty="0">
                <a:solidFill>
                  <a:srgbClr val="0000FF"/>
                </a:solidFill>
              </a:rPr>
              <a:t>V1</a:t>
            </a:r>
            <a:endParaRPr lang="en-US" altLang="zh-CN" dirty="0">
              <a:solidFill>
                <a:srgbClr val="0000FF"/>
              </a:solidFill>
            </a:endParaRPr>
          </a:p>
        </p:txBody>
      </p:sp>
      <p:sp>
        <p:nvSpPr>
          <p:cNvPr id="9222" name="Text Box 6"/>
          <p:cNvSpPr txBox="1"/>
          <p:nvPr/>
        </p:nvSpPr>
        <p:spPr>
          <a:xfrm>
            <a:off x="1187450" y="2565400"/>
            <a:ext cx="6934200" cy="33782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该版本的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体系结构，只有</a:t>
            </a:r>
            <a:r>
              <a:rPr lang="en-US" altLang="zh-CN" sz="2400" dirty="0">
                <a:latin typeface="华文新魏" panose="02010800040101010101" pitchFamily="2" charset="-122"/>
                <a:ea typeface="华文新魏" panose="02010800040101010101" pitchFamily="2" charset="-122"/>
              </a:rPr>
              <a:t>26</a:t>
            </a:r>
            <a:r>
              <a:rPr lang="zh-CN" altLang="en-US" sz="2400" dirty="0">
                <a:latin typeface="华文新魏" panose="02010800040101010101" pitchFamily="2" charset="-122"/>
                <a:ea typeface="华文新魏" panose="02010800040101010101" pitchFamily="2" charset="-122"/>
              </a:rPr>
              <a:t>位的寻址空间，没有商业化，其特点为：</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基本的数据处理指令（不包括乘法）；</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字节、字和半字加载</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存储指令；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具有分支指令，包括在子程序调用中使用的分支和链接指令；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在操作系统调用中使用的软件中断指令。</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221">
                                            <p:txEl>
                                              <p:charRg st="0" end="15"/>
                                            </p:txEl>
                                          </p:spTgt>
                                        </p:tgtEl>
                                        <p:attrNameLst>
                                          <p:attrName>style.visibility</p:attrName>
                                        </p:attrNameLst>
                                      </p:cBhvr>
                                      <p:to>
                                        <p:strVal val="visible"/>
                                      </p:to>
                                    </p:set>
                                    <p:anim calcmode="lin" valueType="num">
                                      <p:cBhvr additive="base">
                                        <p:cTn id="7" dur="500" fill="hold"/>
                                        <p:tgtEl>
                                          <p:spTgt spid="9221">
                                            <p:txEl>
                                              <p:charRg st="0" end="1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21">
                                            <p:txEl>
                                              <p:charRg st="0" end="1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9222"/>
                                        </p:tgtEl>
                                        <p:attrNameLst>
                                          <p:attrName>style.visibility</p:attrName>
                                        </p:attrNameLst>
                                      </p:cBhvr>
                                      <p:to>
                                        <p:strVal val="visible"/>
                                      </p:to>
                                    </p:set>
                                    <p:animEffect transition="in" filter="box(in)">
                                      <p:cBhvr>
                                        <p:cTn id="12"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dvAuto="1000" build="p"/>
      <p:bldP spid="92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10245"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各</a:t>
            </a:r>
            <a:r>
              <a:rPr lang="en-US" altLang="zh-CN" dirty="0"/>
              <a:t>ARM</a:t>
            </a:r>
            <a:r>
              <a:rPr lang="zh-CN" altLang="en-US" dirty="0"/>
              <a:t>体系结构版本</a:t>
            </a:r>
            <a:r>
              <a:rPr lang="en-US" altLang="zh-CN" dirty="0"/>
              <a:t>——</a:t>
            </a:r>
            <a:r>
              <a:rPr lang="en-US" altLang="zh-CN" dirty="0">
                <a:solidFill>
                  <a:srgbClr val="0000FF"/>
                </a:solidFill>
              </a:rPr>
              <a:t>V2</a:t>
            </a:r>
            <a:endParaRPr lang="en-US" altLang="zh-CN" dirty="0">
              <a:solidFill>
                <a:srgbClr val="0000FF"/>
              </a:solidFill>
            </a:endParaRPr>
          </a:p>
        </p:txBody>
      </p:sp>
      <p:sp>
        <p:nvSpPr>
          <p:cNvPr id="10246" name="Text Box 6"/>
          <p:cNvSpPr txBox="1"/>
          <p:nvPr/>
        </p:nvSpPr>
        <p:spPr>
          <a:xfrm>
            <a:off x="1219200" y="2819400"/>
            <a:ext cx="6934200" cy="30130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同样为</a:t>
            </a:r>
            <a:r>
              <a:rPr lang="en-US" altLang="zh-CN" sz="2400" dirty="0">
                <a:latin typeface="华文新魏" panose="02010800040101010101" pitchFamily="2" charset="-122"/>
                <a:ea typeface="华文新魏" panose="02010800040101010101" pitchFamily="2" charset="-122"/>
              </a:rPr>
              <a:t>26</a:t>
            </a:r>
            <a:r>
              <a:rPr lang="zh-CN" altLang="en-US" sz="2400" dirty="0">
                <a:latin typeface="华文新魏" panose="02010800040101010101" pitchFamily="2" charset="-122"/>
                <a:ea typeface="华文新魏" panose="02010800040101010101" pitchFamily="2" charset="-122"/>
              </a:rPr>
              <a:t>位寻址空间，现在已经废弃不再使用，它相对</a:t>
            </a:r>
            <a:r>
              <a:rPr lang="en-US" altLang="zh-CN" sz="2400" dirty="0">
                <a:latin typeface="华文新魏" panose="02010800040101010101" pitchFamily="2" charset="-122"/>
                <a:ea typeface="华文新魏" panose="02010800040101010101" pitchFamily="2" charset="-122"/>
              </a:rPr>
              <a:t>V1</a:t>
            </a:r>
            <a:r>
              <a:rPr lang="zh-CN" altLang="en-US" sz="2400" dirty="0">
                <a:latin typeface="华文新魏" panose="02010800040101010101" pitchFamily="2" charset="-122"/>
                <a:ea typeface="华文新魏" panose="02010800040101010101" pitchFamily="2" charset="-122"/>
              </a:rPr>
              <a:t>版本有以下改进：</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具有乘法和乘加指令；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支持协处理器；</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快速中断模式中的两个以上的分组寄存器；</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具有原子性加载</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存储指令</a:t>
            </a:r>
            <a:r>
              <a:rPr lang="en-US" altLang="zh-CN" sz="2400" dirty="0">
                <a:solidFill>
                  <a:schemeClr val="tx1"/>
                </a:solidFill>
                <a:latin typeface="华文新魏" panose="02010800040101010101" pitchFamily="2" charset="-122"/>
                <a:ea typeface="华文新魏" panose="02010800040101010101" pitchFamily="2" charset="-122"/>
              </a:rPr>
              <a:t>SWP</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dirty="0">
                <a:solidFill>
                  <a:schemeClr val="tx1"/>
                </a:solidFill>
                <a:latin typeface="华文新魏" panose="02010800040101010101" pitchFamily="2" charset="-122"/>
                <a:ea typeface="华文新魏" panose="02010800040101010101" pitchFamily="2" charset="-122"/>
              </a:rPr>
              <a:t>SWPB</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245">
                                            <p:txEl>
                                              <p:charRg st="0" end="15"/>
                                            </p:txEl>
                                          </p:spTgt>
                                        </p:tgtEl>
                                        <p:attrNameLst>
                                          <p:attrName>style.visibility</p:attrName>
                                        </p:attrNameLst>
                                      </p:cBhvr>
                                      <p:to>
                                        <p:strVal val="visible"/>
                                      </p:to>
                                    </p:set>
                                    <p:anim calcmode="lin" valueType="num">
                                      <p:cBhvr additive="base">
                                        <p:cTn id="7" dur="500" fill="hold"/>
                                        <p:tgtEl>
                                          <p:spTgt spid="10245">
                                            <p:txEl>
                                              <p:charRg st="0" end="1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45">
                                            <p:txEl>
                                              <p:charRg st="0" end="1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box(in)">
                                      <p:cBhvr>
                                        <p:cTn id="12"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dvAuto="1000" build="p"/>
      <p:bldP spid="102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717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各</a:t>
            </a:r>
            <a:r>
              <a:rPr lang="en-US" altLang="zh-CN" dirty="0"/>
              <a:t>ARM</a:t>
            </a:r>
            <a:r>
              <a:rPr lang="zh-CN" altLang="en-US" dirty="0"/>
              <a:t>体系结构版本</a:t>
            </a:r>
            <a:r>
              <a:rPr lang="en-US" altLang="zh-CN" dirty="0"/>
              <a:t>——</a:t>
            </a:r>
            <a:r>
              <a:rPr lang="en-US" altLang="zh-CN" dirty="0">
                <a:solidFill>
                  <a:srgbClr val="0000FF"/>
                </a:solidFill>
              </a:rPr>
              <a:t>V3</a:t>
            </a:r>
            <a:endParaRPr lang="en-US" altLang="zh-CN" dirty="0">
              <a:solidFill>
                <a:srgbClr val="0000FF"/>
              </a:solidFill>
            </a:endParaRPr>
          </a:p>
        </p:txBody>
      </p:sp>
      <p:sp>
        <p:nvSpPr>
          <p:cNvPr id="7174" name="Text Box 6"/>
          <p:cNvSpPr txBox="1"/>
          <p:nvPr/>
        </p:nvSpPr>
        <p:spPr>
          <a:xfrm>
            <a:off x="1258888" y="2565400"/>
            <a:ext cx="7240587" cy="30130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寻址范围扩展到</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位（目前已废弃），具有独立的程序：</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具有乘法和乘加指令；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支持协处理器；</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快速中断模式中具有的两个以上的分组寄存器；</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具有原子性加载</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存储指令</a:t>
            </a:r>
            <a:r>
              <a:rPr lang="en-US" altLang="zh-CN" sz="2400" dirty="0">
                <a:solidFill>
                  <a:schemeClr val="tx1"/>
                </a:solidFill>
                <a:latin typeface="华文新魏" panose="02010800040101010101" pitchFamily="2" charset="-122"/>
                <a:ea typeface="华文新魏" panose="02010800040101010101" pitchFamily="2" charset="-122"/>
              </a:rPr>
              <a:t>SWP</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dirty="0">
                <a:solidFill>
                  <a:schemeClr val="tx1"/>
                </a:solidFill>
                <a:latin typeface="华文新魏" panose="02010800040101010101" pitchFamily="2" charset="-122"/>
                <a:ea typeface="华文新魏" panose="02010800040101010101" pitchFamily="2" charset="-122"/>
              </a:rPr>
              <a:t>SWPB</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173">
                                            <p:txEl>
                                              <p:charRg st="0" end="15"/>
                                            </p:txEl>
                                          </p:spTgt>
                                        </p:tgtEl>
                                        <p:attrNameLst>
                                          <p:attrName>style.visibility</p:attrName>
                                        </p:attrNameLst>
                                      </p:cBhvr>
                                      <p:to>
                                        <p:strVal val="visible"/>
                                      </p:to>
                                    </p:set>
                                    <p:anim calcmode="lin" valueType="num">
                                      <p:cBhvr additive="base">
                                        <p:cTn id="7" dur="500" fill="hold"/>
                                        <p:tgtEl>
                                          <p:spTgt spid="7173">
                                            <p:txEl>
                                              <p:charRg st="0" end="1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73">
                                            <p:txEl>
                                              <p:charRg st="0" end="1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174"/>
                                        </p:tgtEl>
                                        <p:attrNameLst>
                                          <p:attrName>style.visibility</p:attrName>
                                        </p:attrNameLst>
                                      </p:cBhvr>
                                      <p:to>
                                        <p:strVal val="visible"/>
                                      </p:to>
                                    </p:set>
                                    <p:animEffect transition="in" filter="box(in)">
                                      <p:cBhvr>
                                        <p:cTn id="12" dur="5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dvAuto="1000" build="p"/>
      <p:bldP spid="71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11269"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各</a:t>
            </a:r>
            <a:r>
              <a:rPr lang="en-US" altLang="zh-CN" dirty="0"/>
              <a:t>ARM</a:t>
            </a:r>
            <a:r>
              <a:rPr lang="zh-CN" altLang="en-US" dirty="0"/>
              <a:t>体系结构版本</a:t>
            </a:r>
            <a:r>
              <a:rPr lang="en-US" altLang="zh-CN" dirty="0"/>
              <a:t>——</a:t>
            </a:r>
            <a:r>
              <a:rPr lang="en-US" altLang="zh-CN" dirty="0">
                <a:solidFill>
                  <a:srgbClr val="0000FF"/>
                </a:solidFill>
              </a:rPr>
              <a:t>V4</a:t>
            </a:r>
            <a:endParaRPr lang="en-US" altLang="zh-CN" dirty="0">
              <a:solidFill>
                <a:srgbClr val="0000FF"/>
              </a:solidFill>
            </a:endParaRPr>
          </a:p>
        </p:txBody>
      </p:sp>
      <p:sp>
        <p:nvSpPr>
          <p:cNvPr id="11270" name="Text Box 6"/>
          <p:cNvSpPr txBox="1"/>
          <p:nvPr/>
        </p:nvSpPr>
        <p:spPr>
          <a:xfrm>
            <a:off x="755650" y="2420938"/>
            <a:ext cx="7416800" cy="33782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不在为了与以前的版本兼容而支持</a:t>
            </a:r>
            <a:r>
              <a:rPr lang="en-US" altLang="zh-CN" sz="2400" dirty="0">
                <a:latin typeface="华文新魏" panose="02010800040101010101" pitchFamily="2" charset="-122"/>
                <a:ea typeface="华文新魏" panose="02010800040101010101" pitchFamily="2" charset="-122"/>
              </a:rPr>
              <a:t>26</a:t>
            </a:r>
            <a:r>
              <a:rPr lang="zh-CN" altLang="en-US" sz="2400" dirty="0">
                <a:latin typeface="华文新魏" panose="02010800040101010101" pitchFamily="2" charset="-122"/>
                <a:ea typeface="华文新魏" panose="02010800040101010101" pitchFamily="2" charset="-122"/>
              </a:rPr>
              <a:t>位体系结构，并明确了哪些指令会引起未定义指令异常发生，它相对</a:t>
            </a:r>
            <a:r>
              <a:rPr lang="en-US" altLang="zh-CN" sz="2400" dirty="0">
                <a:latin typeface="华文新魏" panose="02010800040101010101" pitchFamily="2" charset="-122"/>
                <a:ea typeface="华文新魏" panose="02010800040101010101" pitchFamily="2" charset="-122"/>
              </a:rPr>
              <a:t>V3</a:t>
            </a:r>
            <a:r>
              <a:rPr lang="zh-CN" altLang="en-US" sz="2400" dirty="0">
                <a:latin typeface="华文新魏" panose="02010800040101010101" pitchFamily="2" charset="-122"/>
                <a:ea typeface="华文新魏" panose="02010800040101010101" pitchFamily="2" charset="-122"/>
              </a:rPr>
              <a:t>版本作了以下的改进：</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半字加载</a:t>
            </a:r>
            <a:r>
              <a:rPr lang="en-US" altLang="zh-CN" sz="2400" dirty="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存储指令；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字节和半字的加载和符号扩展指令；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具有可以转换到</a:t>
            </a: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状态的指令（</a:t>
            </a:r>
            <a:r>
              <a:rPr lang="en-US" altLang="zh-CN" sz="2400" dirty="0">
                <a:solidFill>
                  <a:schemeClr val="tx1"/>
                </a:solidFill>
                <a:latin typeface="华文新魏" panose="02010800040101010101" pitchFamily="2" charset="-122"/>
                <a:ea typeface="华文新魏" panose="02010800040101010101" pitchFamily="2" charset="-122"/>
              </a:rPr>
              <a:t>BX</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增加了用户模式寄存器的新的特权处理器模式。</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1269">
                                            <p:txEl>
                                              <p:charRg st="0" end="15"/>
                                            </p:txEl>
                                          </p:spTgt>
                                        </p:tgtEl>
                                        <p:attrNameLst>
                                          <p:attrName>style.visibility</p:attrName>
                                        </p:attrNameLst>
                                      </p:cBhvr>
                                      <p:to>
                                        <p:strVal val="visible"/>
                                      </p:to>
                                    </p:set>
                                    <p:anim calcmode="lin" valueType="num">
                                      <p:cBhvr additive="base">
                                        <p:cTn id="7" dur="500" fill="hold"/>
                                        <p:tgtEl>
                                          <p:spTgt spid="11269">
                                            <p:txEl>
                                              <p:charRg st="0" end="1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69">
                                            <p:txEl>
                                              <p:charRg st="0" end="1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1270"/>
                                        </p:tgtEl>
                                        <p:attrNameLst>
                                          <p:attrName>style.visibility</p:attrName>
                                        </p:attrNameLst>
                                      </p:cBhvr>
                                      <p:to>
                                        <p:strVal val="visible"/>
                                      </p:to>
                                    </p:set>
                                    <p:animEffect transition="in" filter="box(in)">
                                      <p:cBhvr>
                                        <p:cTn id="12"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dvAuto="1000" build="p"/>
      <p:bldP spid="1127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13317"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各</a:t>
            </a:r>
            <a:r>
              <a:rPr lang="en-US" altLang="zh-CN" dirty="0"/>
              <a:t>ARM</a:t>
            </a:r>
            <a:r>
              <a:rPr lang="zh-CN" altLang="en-US" dirty="0"/>
              <a:t>体系结构版本</a:t>
            </a:r>
            <a:r>
              <a:rPr lang="en-US" altLang="zh-CN" dirty="0"/>
              <a:t>——</a:t>
            </a:r>
            <a:r>
              <a:rPr lang="en-US" altLang="zh-CN" dirty="0">
                <a:solidFill>
                  <a:srgbClr val="0000FF"/>
                </a:solidFill>
              </a:rPr>
              <a:t>V5</a:t>
            </a:r>
            <a:endParaRPr lang="en-US" altLang="zh-CN" dirty="0">
              <a:solidFill>
                <a:srgbClr val="0000FF"/>
              </a:solidFill>
            </a:endParaRPr>
          </a:p>
        </p:txBody>
      </p:sp>
      <p:sp>
        <p:nvSpPr>
          <p:cNvPr id="13318" name="Text Box 6"/>
          <p:cNvSpPr txBox="1"/>
          <p:nvPr/>
        </p:nvSpPr>
        <p:spPr>
          <a:xfrm>
            <a:off x="1042988" y="2492375"/>
            <a:ext cx="6934200" cy="3560763"/>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在</a:t>
            </a:r>
            <a:r>
              <a:rPr lang="en-US" altLang="zh-CN" sz="2400" dirty="0">
                <a:latin typeface="华文新魏" panose="02010800040101010101" pitchFamily="2" charset="-122"/>
                <a:ea typeface="华文新魏" panose="02010800040101010101" pitchFamily="2" charset="-122"/>
              </a:rPr>
              <a:t>V4</a:t>
            </a:r>
            <a:r>
              <a:rPr lang="zh-CN" altLang="en-US" sz="2400" dirty="0">
                <a:latin typeface="华文新魏" panose="02010800040101010101" pitchFamily="2" charset="-122"/>
                <a:ea typeface="华文新魏" panose="02010800040101010101" pitchFamily="2" charset="-122"/>
              </a:rPr>
              <a:t>版本的基础上，对现在指令的定义进行了必要的修正，对</a:t>
            </a:r>
            <a:r>
              <a:rPr lang="en-US" altLang="zh-CN" sz="2400" dirty="0">
                <a:latin typeface="华文新魏" panose="02010800040101010101" pitchFamily="2" charset="-122"/>
                <a:ea typeface="华文新魏" panose="02010800040101010101" pitchFamily="2" charset="-122"/>
              </a:rPr>
              <a:t>V4</a:t>
            </a:r>
            <a:r>
              <a:rPr lang="zh-CN" altLang="en-US" sz="2400" dirty="0">
                <a:latin typeface="华文新魏" panose="02010800040101010101" pitchFamily="2" charset="-122"/>
                <a:ea typeface="华文新魏" panose="02010800040101010101" pitchFamily="2" charset="-122"/>
              </a:rPr>
              <a:t>版本的体系结构进行了扩展并并增加了指令，具体如下：</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改进了</a:t>
            </a:r>
            <a:r>
              <a:rPr lang="en-US" altLang="zh-CN" sz="2400" dirty="0">
                <a:solidFill>
                  <a:schemeClr val="tx1"/>
                </a:solidFill>
                <a:latin typeface="华文新魏" panose="02010800040101010101" pitchFamily="2" charset="-122"/>
                <a:ea typeface="华文新魏" panose="02010800040101010101" pitchFamily="2" charset="-122"/>
              </a:rPr>
              <a:t>ARM/Thumb</a:t>
            </a:r>
            <a:r>
              <a:rPr lang="zh-CN" altLang="en-US" sz="2400" dirty="0">
                <a:solidFill>
                  <a:schemeClr val="tx1"/>
                </a:solidFill>
                <a:latin typeface="华文新魏" panose="02010800040101010101" pitchFamily="2" charset="-122"/>
                <a:ea typeface="华文新魏" panose="02010800040101010101" pitchFamily="2" charset="-122"/>
              </a:rPr>
              <a:t>状态之间的切换效率；</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E---</a:t>
            </a:r>
            <a:r>
              <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增强型</a:t>
            </a:r>
            <a:r>
              <a:rPr lang="en-US" altLang="zh-CN"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DSP</a:t>
            </a:r>
            <a:r>
              <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指令集</a:t>
            </a:r>
            <a:r>
              <a:rPr lang="en-US" altLang="zh-CN"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a:t>
            </a:r>
            <a:r>
              <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包括全部算法操作和</a:t>
            </a:r>
            <a:r>
              <a:rPr lang="en-US" altLang="zh-CN"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16</a:t>
            </a:r>
            <a:r>
              <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位乘法操作；</a:t>
            </a:r>
            <a:endPar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J----</a:t>
            </a:r>
            <a:r>
              <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支持新的</a:t>
            </a:r>
            <a:r>
              <a:rPr lang="en-US" altLang="zh-CN"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JAVA,</a:t>
            </a:r>
            <a:r>
              <a:rPr lang="zh-CN" altLang="en-US" sz="2400" dirty="0">
                <a:solidFill>
                  <a:schemeClr val="tx1"/>
                </a:solidFill>
                <a:latin typeface="华文新魏" panose="02010800040101010101" pitchFamily="2" charset="-122"/>
                <a:ea typeface="华文新魏" panose="02010800040101010101" pitchFamily="2" charset="-122"/>
                <a:sym typeface="Symbol" panose="05050102010706020507" pitchFamily="18" charset="2"/>
              </a:rPr>
              <a:t>提供字节代码执行的硬件和优化软件加速功能。</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3317">
                                            <p:txEl>
                                              <p:charRg st="0" end="15"/>
                                            </p:txEl>
                                          </p:spTgt>
                                        </p:tgtEl>
                                        <p:attrNameLst>
                                          <p:attrName>style.visibility</p:attrName>
                                        </p:attrNameLst>
                                      </p:cBhvr>
                                      <p:to>
                                        <p:strVal val="visible"/>
                                      </p:to>
                                    </p:set>
                                    <p:anim calcmode="lin" valueType="num">
                                      <p:cBhvr additive="base">
                                        <p:cTn id="7" dur="500" fill="hold"/>
                                        <p:tgtEl>
                                          <p:spTgt spid="13317">
                                            <p:txEl>
                                              <p:charRg st="0" end="1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317">
                                            <p:txEl>
                                              <p:charRg st="0" end="1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3318"/>
                                        </p:tgtEl>
                                        <p:attrNameLst>
                                          <p:attrName>style.visibility</p:attrName>
                                        </p:attrNameLst>
                                      </p:cBhvr>
                                      <p:to>
                                        <p:strVal val="visible"/>
                                      </p:to>
                                    </p:set>
                                    <p:animEffect transition="in" filter="box(in)">
                                      <p:cBhvr>
                                        <p:cTn id="12"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advAuto="1000" build="p"/>
      <p:bldP spid="133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4"/>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
        <p:nvSpPr>
          <p:cNvPr id="14341"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ARM</a:t>
            </a:r>
            <a:r>
              <a:rPr lang="zh-CN" altLang="en-US" dirty="0"/>
              <a:t>处理器核简介</a:t>
            </a:r>
            <a:endParaRPr lang="zh-CN" altLang="en-US" dirty="0"/>
          </a:p>
        </p:txBody>
      </p:sp>
      <p:sp>
        <p:nvSpPr>
          <p:cNvPr id="14342" name="Text Box 6"/>
          <p:cNvSpPr txBox="1"/>
          <p:nvPr/>
        </p:nvSpPr>
        <p:spPr>
          <a:xfrm>
            <a:off x="1147763" y="2205038"/>
            <a:ext cx="6934200" cy="15525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a:t>
            </a:r>
            <a:r>
              <a:rPr lang="zh-CN" altLang="en-US" sz="2400" dirty="0">
                <a:latin typeface="华文新魏" panose="02010800040101010101" pitchFamily="2" charset="-122"/>
                <a:ea typeface="华文新魏" panose="02010800040101010101" pitchFamily="2" charset="-122"/>
              </a:rPr>
              <a:t>公司开发了很多系列的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处理器核，目前最新的系列已经是</a:t>
            </a:r>
            <a:r>
              <a:rPr lang="en-US" altLang="zh-CN" sz="2400" dirty="0">
                <a:latin typeface="华文新魏" panose="02010800040101010101" pitchFamily="2" charset="-122"/>
                <a:ea typeface="华文新魏" panose="02010800040101010101" pitchFamily="2" charset="-122"/>
              </a:rPr>
              <a:t>ARM11</a:t>
            </a:r>
            <a:r>
              <a:rPr lang="zh-CN" altLang="en-US" sz="2400" dirty="0">
                <a:latin typeface="华文新魏" panose="02010800040101010101" pitchFamily="2" charset="-122"/>
                <a:ea typeface="华文新魏" panose="02010800040101010101" pitchFamily="2" charset="-122"/>
              </a:rPr>
              <a:t>了，而</a:t>
            </a:r>
            <a:r>
              <a:rPr lang="en-US" altLang="zh-CN" sz="2400" dirty="0">
                <a:latin typeface="华文新魏" panose="02010800040101010101" pitchFamily="2" charset="-122"/>
                <a:ea typeface="华文新魏" panose="02010800040101010101" pitchFamily="2" charset="-122"/>
              </a:rPr>
              <a:t>ARM6</a:t>
            </a:r>
            <a:r>
              <a:rPr lang="zh-CN" altLang="en-US" sz="2400" dirty="0">
                <a:latin typeface="华文新魏" panose="02010800040101010101" pitchFamily="2" charset="-122"/>
                <a:ea typeface="华文新魏" panose="02010800040101010101" pitchFamily="2" charset="-122"/>
              </a:rPr>
              <a:t>核以及更早的系列已经很罕见了。目前应用比较广泛的系列是：</a:t>
            </a:r>
            <a:endParaRPr lang="zh-CN" altLang="en-US" sz="2400" dirty="0">
              <a:latin typeface="华文新魏" panose="02010800040101010101" pitchFamily="2" charset="-122"/>
              <a:ea typeface="华文新魏" panose="02010800040101010101" pitchFamily="2" charset="-122"/>
            </a:endParaRPr>
          </a:p>
        </p:txBody>
      </p:sp>
      <p:sp>
        <p:nvSpPr>
          <p:cNvPr id="20484" name="Rectangle 7"/>
          <p:cNvSpPr/>
          <p:nvPr/>
        </p:nvSpPr>
        <p:spPr>
          <a:xfrm>
            <a:off x="1044575" y="3957638"/>
            <a:ext cx="1371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ARM7</a:t>
            </a:r>
            <a:endParaRPr lang="en-US" altLang="zh-CN" sz="2000" dirty="0">
              <a:latin typeface="Times New Roman" panose="02020603050405020304" pitchFamily="18" charset="0"/>
              <a:ea typeface="宋体" panose="02010600030101010101" pitchFamily="2" charset="-122"/>
            </a:endParaRPr>
          </a:p>
        </p:txBody>
      </p:sp>
      <p:sp>
        <p:nvSpPr>
          <p:cNvPr id="20485" name="Rectangle 8"/>
          <p:cNvSpPr/>
          <p:nvPr/>
        </p:nvSpPr>
        <p:spPr>
          <a:xfrm>
            <a:off x="2568575" y="3957638"/>
            <a:ext cx="1371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ARM9</a:t>
            </a:r>
            <a:endParaRPr lang="en-US" altLang="zh-CN" sz="2000" dirty="0">
              <a:latin typeface="Times New Roman" panose="02020603050405020304" pitchFamily="18" charset="0"/>
              <a:ea typeface="宋体" panose="02010600030101010101" pitchFamily="2" charset="-122"/>
            </a:endParaRPr>
          </a:p>
        </p:txBody>
      </p:sp>
      <p:sp>
        <p:nvSpPr>
          <p:cNvPr id="20486" name="Rectangle 9"/>
          <p:cNvSpPr/>
          <p:nvPr/>
        </p:nvSpPr>
        <p:spPr>
          <a:xfrm>
            <a:off x="4092575" y="3957638"/>
            <a:ext cx="1371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ARM9E</a:t>
            </a:r>
            <a:endParaRPr lang="en-US" altLang="zh-CN" sz="2000" dirty="0">
              <a:latin typeface="Times New Roman" panose="02020603050405020304" pitchFamily="18" charset="0"/>
              <a:ea typeface="宋体" panose="02010600030101010101" pitchFamily="2" charset="-122"/>
            </a:endParaRPr>
          </a:p>
        </p:txBody>
      </p:sp>
      <p:sp>
        <p:nvSpPr>
          <p:cNvPr id="20487" name="Rectangle 10"/>
          <p:cNvSpPr/>
          <p:nvPr/>
        </p:nvSpPr>
        <p:spPr>
          <a:xfrm>
            <a:off x="5616575" y="3957638"/>
            <a:ext cx="1371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ARM10</a:t>
            </a:r>
            <a:endParaRPr lang="en-US" altLang="zh-CN" sz="2000" dirty="0">
              <a:latin typeface="Times New Roman" panose="02020603050405020304" pitchFamily="18" charset="0"/>
              <a:ea typeface="宋体" panose="02010600030101010101" pitchFamily="2" charset="-122"/>
            </a:endParaRPr>
          </a:p>
        </p:txBody>
      </p:sp>
      <p:sp>
        <p:nvSpPr>
          <p:cNvPr id="20488" name="Rectangle 11"/>
          <p:cNvSpPr/>
          <p:nvPr/>
        </p:nvSpPr>
        <p:spPr>
          <a:xfrm>
            <a:off x="1044575" y="4567238"/>
            <a:ext cx="1371600" cy="4572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SecurCore</a:t>
            </a:r>
            <a:endParaRPr lang="en-US" altLang="zh-CN" sz="2000" dirty="0">
              <a:latin typeface="Times New Roman" panose="02020603050405020304" pitchFamily="18" charset="0"/>
              <a:ea typeface="宋体" panose="02010600030101010101" pitchFamily="2" charset="-122"/>
            </a:endParaRPr>
          </a:p>
        </p:txBody>
      </p:sp>
      <p:sp>
        <p:nvSpPr>
          <p:cNvPr id="20489" name="Rectangle 13"/>
          <p:cNvSpPr/>
          <p:nvPr/>
        </p:nvSpPr>
        <p:spPr>
          <a:xfrm>
            <a:off x="1042988" y="5734050"/>
            <a:ext cx="1371600" cy="4572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Xscale</a:t>
            </a:r>
            <a:endParaRPr lang="en-US" altLang="zh-CN" sz="2000" dirty="0">
              <a:latin typeface="Times New Roman" panose="02020603050405020304" pitchFamily="18" charset="0"/>
              <a:ea typeface="宋体" panose="02010600030101010101" pitchFamily="2" charset="-122"/>
            </a:endParaRPr>
          </a:p>
        </p:txBody>
      </p:sp>
      <p:sp>
        <p:nvSpPr>
          <p:cNvPr id="20490" name="Rectangle 15"/>
          <p:cNvSpPr/>
          <p:nvPr/>
        </p:nvSpPr>
        <p:spPr>
          <a:xfrm>
            <a:off x="7161213" y="3967163"/>
            <a:ext cx="1371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宋体" panose="02010600030101010101" pitchFamily="2" charset="-122"/>
              </a:rPr>
              <a:t>ARM11</a:t>
            </a:r>
            <a:endParaRPr lang="en-US" altLang="zh-CN" sz="2000" dirty="0">
              <a:latin typeface="Times New Roman" panose="02020603050405020304" pitchFamily="18" charset="0"/>
              <a:ea typeface="宋体" panose="02010600030101010101" pitchFamily="2" charset="-122"/>
            </a:endParaRPr>
          </a:p>
        </p:txBody>
      </p:sp>
      <p:sp>
        <p:nvSpPr>
          <p:cNvPr id="20491" name="Rectangle 16"/>
          <p:cNvSpPr/>
          <p:nvPr/>
        </p:nvSpPr>
        <p:spPr>
          <a:xfrm>
            <a:off x="1042988" y="5084763"/>
            <a:ext cx="1371600" cy="4572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Times New Roman" panose="02020603050405020304" pitchFamily="18" charset="0"/>
                <a:ea typeface="宋体" panose="02010600030101010101" pitchFamily="2" charset="-122"/>
              </a:rPr>
              <a:t>Cortex</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341">
                                            <p:txEl>
                                              <p:charRg st="0" end="10"/>
                                            </p:txEl>
                                          </p:spTgt>
                                        </p:tgtEl>
                                        <p:attrNameLst>
                                          <p:attrName>style.visibility</p:attrName>
                                        </p:attrNameLst>
                                      </p:cBhvr>
                                      <p:to>
                                        <p:strVal val="visible"/>
                                      </p:to>
                                    </p:set>
                                    <p:anim calcmode="lin" valueType="num">
                                      <p:cBhvr additive="base">
                                        <p:cTn id="7" dur="500" fill="hold"/>
                                        <p:tgtEl>
                                          <p:spTgt spid="14341">
                                            <p:txEl>
                                              <p:charRg st="0" end="1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41">
                                            <p:txEl>
                                              <p:charRg st="0" end="1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box(in)">
                                      <p:cBhvr>
                                        <p:cTn id="12"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dvAuto="1000" build="p"/>
      <p:bldP spid="143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529" name="Group 3"/>
          <p:cNvGrpSpPr/>
          <p:nvPr/>
        </p:nvGrpSpPr>
        <p:grpSpPr>
          <a:xfrm>
            <a:off x="3175" y="2392363"/>
            <a:ext cx="8926513" cy="2722562"/>
            <a:chOff x="2158" y="6494"/>
            <a:chExt cx="8505" cy="2340"/>
          </a:xfrm>
        </p:grpSpPr>
        <p:sp>
          <p:nvSpPr>
            <p:cNvPr id="22530" name="Text Box 4"/>
            <p:cNvSpPr txBox="1"/>
            <p:nvPr/>
          </p:nvSpPr>
          <p:spPr>
            <a:xfrm>
              <a:off x="3103" y="6494"/>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预取</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Fetch</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1" name="Text Box 5"/>
            <p:cNvSpPr txBox="1"/>
            <p:nvPr/>
          </p:nvSpPr>
          <p:spPr>
            <a:xfrm>
              <a:off x="4048" y="6494"/>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译码</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Decode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2" name="Text Box 6"/>
            <p:cNvSpPr txBox="1"/>
            <p:nvPr/>
          </p:nvSpPr>
          <p:spPr>
            <a:xfrm>
              <a:off x="4993" y="6494"/>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执行</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Execute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3" name="Text Box 7"/>
            <p:cNvSpPr txBox="1"/>
            <p:nvPr/>
          </p:nvSpPr>
          <p:spPr>
            <a:xfrm>
              <a:off x="3103" y="7118"/>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预取</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Fetch</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4" name="Text Box 8"/>
            <p:cNvSpPr txBox="1"/>
            <p:nvPr/>
          </p:nvSpPr>
          <p:spPr>
            <a:xfrm>
              <a:off x="4048" y="7118"/>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译码</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Decode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5" name="Text Box 9"/>
            <p:cNvSpPr txBox="1"/>
            <p:nvPr/>
          </p:nvSpPr>
          <p:spPr>
            <a:xfrm>
              <a:off x="4993" y="7118"/>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执行</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Execute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6" name="Text Box 10"/>
            <p:cNvSpPr txBox="1"/>
            <p:nvPr/>
          </p:nvSpPr>
          <p:spPr>
            <a:xfrm>
              <a:off x="5938" y="7118"/>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访存</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Memory</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7" name="Text Box 11"/>
            <p:cNvSpPr txBox="1"/>
            <p:nvPr/>
          </p:nvSpPr>
          <p:spPr>
            <a:xfrm>
              <a:off x="6883" y="7118"/>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写入</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Write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8" name="Text Box 12"/>
            <p:cNvSpPr txBox="1"/>
            <p:nvPr/>
          </p:nvSpPr>
          <p:spPr>
            <a:xfrm>
              <a:off x="3103" y="7742"/>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预取</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Fetch</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39" name="Text Box 13"/>
            <p:cNvSpPr txBox="1"/>
            <p:nvPr/>
          </p:nvSpPr>
          <p:spPr>
            <a:xfrm>
              <a:off x="4993" y="7742"/>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译码</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Decode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0" name="Text Box 14"/>
            <p:cNvSpPr txBox="1"/>
            <p:nvPr/>
          </p:nvSpPr>
          <p:spPr>
            <a:xfrm>
              <a:off x="4048" y="7742"/>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发送</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Issue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1" name="Text Box 15"/>
            <p:cNvSpPr txBox="1"/>
            <p:nvPr/>
          </p:nvSpPr>
          <p:spPr>
            <a:xfrm>
              <a:off x="3103"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预取</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Fetch</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2" name="Text Box 16"/>
            <p:cNvSpPr txBox="1"/>
            <p:nvPr/>
          </p:nvSpPr>
          <p:spPr>
            <a:xfrm>
              <a:off x="4048"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预取</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Fetch</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3" name="Text Box 17"/>
            <p:cNvSpPr txBox="1"/>
            <p:nvPr/>
          </p:nvSpPr>
          <p:spPr>
            <a:xfrm>
              <a:off x="5938" y="7742"/>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执行</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Execute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4" name="Text Box 18"/>
            <p:cNvSpPr txBox="1"/>
            <p:nvPr/>
          </p:nvSpPr>
          <p:spPr>
            <a:xfrm>
              <a:off x="6883" y="7742"/>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访存</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Memory</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5" name="Text Box 19"/>
            <p:cNvSpPr txBox="1"/>
            <p:nvPr/>
          </p:nvSpPr>
          <p:spPr>
            <a:xfrm>
              <a:off x="7828" y="7742"/>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写入</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Write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6" name="Text Box 20"/>
            <p:cNvSpPr txBox="1"/>
            <p:nvPr/>
          </p:nvSpPr>
          <p:spPr>
            <a:xfrm>
              <a:off x="5938"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译码（</a:t>
              </a:r>
              <a:r>
                <a:rPr lang="en-US" altLang="zh-CN" sz="1400" dirty="0">
                  <a:latin typeface="Times New Roman" panose="02020603050405020304" pitchFamily="18" charset="0"/>
                  <a:ea typeface="宋体" panose="02010600030101010101" pitchFamily="2" charset="-122"/>
                </a:rPr>
                <a:t>Decode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7" name="Text Box 21"/>
            <p:cNvSpPr txBox="1"/>
            <p:nvPr/>
          </p:nvSpPr>
          <p:spPr>
            <a:xfrm>
              <a:off x="4993"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发送</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Issue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8" name="Text Box 22"/>
            <p:cNvSpPr txBox="1"/>
            <p:nvPr/>
          </p:nvSpPr>
          <p:spPr>
            <a:xfrm>
              <a:off x="7828"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执行</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Execute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49" name="Text Box 23"/>
            <p:cNvSpPr txBox="1"/>
            <p:nvPr/>
          </p:nvSpPr>
          <p:spPr>
            <a:xfrm>
              <a:off x="6883"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转换</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Snny</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50" name="Text Box 24"/>
            <p:cNvSpPr txBox="1"/>
            <p:nvPr/>
          </p:nvSpPr>
          <p:spPr>
            <a:xfrm>
              <a:off x="8773"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访存</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Memory</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51" name="Text Box 25"/>
            <p:cNvSpPr txBox="1"/>
            <p:nvPr/>
          </p:nvSpPr>
          <p:spPr>
            <a:xfrm>
              <a:off x="9718" y="8366"/>
              <a:ext cx="945" cy="468"/>
            </a:xfrm>
            <a:prstGeom prst="rect">
              <a:avLst/>
            </a:prstGeom>
            <a:noFill/>
            <a:ln w="12700" cap="flat" cmpd="sng">
              <a:solidFill>
                <a:srgbClr val="000000"/>
              </a:solidFill>
              <a:prstDash val="solid"/>
              <a:miter/>
              <a:headEnd type="none" w="med" len="med"/>
              <a:tailEnd type="none" w="med" len="med"/>
            </a:ln>
          </p:spPr>
          <p:txBody>
            <a:bodyPr lIns="0" tIns="0" rIns="0" bIns="0" anchor="t" anchorCtr="0"/>
            <a:p>
              <a:pPr algn="ctr">
                <a:buClrTx/>
                <a:buFontTx/>
              </a:pPr>
              <a:r>
                <a:rPr lang="zh-CN" altLang="en-US" sz="1400" dirty="0">
                  <a:latin typeface="Times New Roman" panose="02020603050405020304" pitchFamily="18" charset="0"/>
                  <a:ea typeface="宋体" panose="02010600030101010101" pitchFamily="2" charset="-122"/>
                </a:rPr>
                <a:t>写入</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Write</a:t>
              </a:r>
              <a:r>
                <a:rPr lang="zh-CN" altLang="en-US" sz="1400" dirty="0">
                  <a:latin typeface="Times New Roman" panose="02020603050405020304" pitchFamily="18" charset="0"/>
                  <a:ea typeface="宋体" panose="02010600030101010101" pitchFamily="2" charset="-122"/>
                </a:rPr>
                <a:t>）</a:t>
              </a:r>
              <a:endParaRPr lang="zh-CN" altLang="en-US" sz="1400" dirty="0">
                <a:latin typeface="Times New Roman" panose="02020603050405020304" pitchFamily="18" charset="0"/>
                <a:ea typeface="宋体" panose="02010600030101010101" pitchFamily="2" charset="-122"/>
              </a:endParaRPr>
            </a:p>
          </p:txBody>
        </p:sp>
        <p:sp>
          <p:nvSpPr>
            <p:cNvPr id="22552" name="Text Box 26"/>
            <p:cNvSpPr txBox="1"/>
            <p:nvPr/>
          </p:nvSpPr>
          <p:spPr>
            <a:xfrm>
              <a:off x="2158" y="6650"/>
              <a:ext cx="945" cy="468"/>
            </a:xfrm>
            <a:prstGeom prst="rect">
              <a:avLst/>
            </a:prstGeom>
            <a:noFill/>
            <a:ln w="12700">
              <a:noFill/>
            </a:ln>
          </p:spPr>
          <p:txBody>
            <a:bodyPr lIns="0" tIns="0" rIns="0" bIns="0" anchor="t" anchorCtr="0"/>
            <a:p>
              <a:pPr algn="ctr">
                <a:buClrTx/>
                <a:buFontTx/>
              </a:pPr>
              <a:r>
                <a:rPr lang="en-US" altLang="zh-CN" sz="1400" dirty="0">
                  <a:latin typeface="Times New Roman" panose="02020603050405020304" pitchFamily="18" charset="0"/>
                  <a:ea typeface="宋体" panose="02010600030101010101" pitchFamily="2" charset="-122"/>
                </a:rPr>
                <a:t>ARM7</a:t>
              </a:r>
              <a:endParaRPr lang="en-US" altLang="zh-CN" sz="1400" dirty="0">
                <a:latin typeface="Times New Roman" panose="02020603050405020304" pitchFamily="18" charset="0"/>
                <a:ea typeface="宋体" panose="02010600030101010101" pitchFamily="2" charset="-122"/>
              </a:endParaRPr>
            </a:p>
          </p:txBody>
        </p:sp>
        <p:sp>
          <p:nvSpPr>
            <p:cNvPr id="22553" name="Text Box 27"/>
            <p:cNvSpPr txBox="1"/>
            <p:nvPr/>
          </p:nvSpPr>
          <p:spPr>
            <a:xfrm>
              <a:off x="2158" y="7274"/>
              <a:ext cx="945" cy="468"/>
            </a:xfrm>
            <a:prstGeom prst="rect">
              <a:avLst/>
            </a:prstGeom>
            <a:noFill/>
            <a:ln w="12700">
              <a:noFill/>
            </a:ln>
          </p:spPr>
          <p:txBody>
            <a:bodyPr lIns="0" tIns="0" rIns="0" bIns="0" anchor="t" anchorCtr="0"/>
            <a:p>
              <a:pPr algn="ctr">
                <a:buClrTx/>
                <a:buFontTx/>
              </a:pPr>
              <a:r>
                <a:rPr lang="en-US" altLang="zh-CN" sz="1400" dirty="0">
                  <a:latin typeface="Times New Roman" panose="02020603050405020304" pitchFamily="18" charset="0"/>
                  <a:ea typeface="宋体" panose="02010600030101010101" pitchFamily="2" charset="-122"/>
                </a:rPr>
                <a:t>ARM9</a:t>
              </a:r>
              <a:endParaRPr lang="en-US" altLang="zh-CN" sz="1400" dirty="0">
                <a:latin typeface="Times New Roman" panose="02020603050405020304" pitchFamily="18" charset="0"/>
                <a:ea typeface="宋体" panose="02010600030101010101" pitchFamily="2" charset="-122"/>
              </a:endParaRPr>
            </a:p>
          </p:txBody>
        </p:sp>
        <p:sp>
          <p:nvSpPr>
            <p:cNvPr id="22554" name="Text Box 28"/>
            <p:cNvSpPr txBox="1"/>
            <p:nvPr/>
          </p:nvSpPr>
          <p:spPr>
            <a:xfrm>
              <a:off x="2158" y="7898"/>
              <a:ext cx="945" cy="468"/>
            </a:xfrm>
            <a:prstGeom prst="rect">
              <a:avLst/>
            </a:prstGeom>
            <a:noFill/>
            <a:ln w="12700">
              <a:noFill/>
            </a:ln>
          </p:spPr>
          <p:txBody>
            <a:bodyPr lIns="0" tIns="0" rIns="0" bIns="0" anchor="t" anchorCtr="0"/>
            <a:p>
              <a:pPr algn="ctr">
                <a:buClrTx/>
                <a:buFontTx/>
              </a:pPr>
              <a:r>
                <a:rPr lang="en-US" altLang="zh-CN" sz="1400" dirty="0">
                  <a:latin typeface="Times New Roman" panose="02020603050405020304" pitchFamily="18" charset="0"/>
                  <a:ea typeface="宋体" panose="02010600030101010101" pitchFamily="2" charset="-122"/>
                </a:rPr>
                <a:t>ARM10</a:t>
              </a:r>
              <a:endParaRPr lang="en-US" altLang="zh-CN" sz="1400" dirty="0">
                <a:latin typeface="Times New Roman" panose="02020603050405020304" pitchFamily="18" charset="0"/>
                <a:ea typeface="宋体" panose="02010600030101010101" pitchFamily="2" charset="-122"/>
              </a:endParaRPr>
            </a:p>
          </p:txBody>
        </p:sp>
        <p:sp>
          <p:nvSpPr>
            <p:cNvPr id="22555" name="Text Box 29"/>
            <p:cNvSpPr txBox="1"/>
            <p:nvPr/>
          </p:nvSpPr>
          <p:spPr>
            <a:xfrm>
              <a:off x="2158" y="8522"/>
              <a:ext cx="945" cy="312"/>
            </a:xfrm>
            <a:prstGeom prst="rect">
              <a:avLst/>
            </a:prstGeom>
            <a:noFill/>
            <a:ln w="12700">
              <a:noFill/>
            </a:ln>
          </p:spPr>
          <p:txBody>
            <a:bodyPr lIns="0" tIns="0" rIns="0" bIns="0" anchor="t" anchorCtr="0"/>
            <a:p>
              <a:pPr algn="ctr">
                <a:buClrTx/>
                <a:buFontTx/>
              </a:pPr>
              <a:r>
                <a:rPr lang="en-US" altLang="zh-CN" sz="1400" dirty="0">
                  <a:latin typeface="Times New Roman" panose="02020603050405020304" pitchFamily="18" charset="0"/>
                  <a:ea typeface="宋体" panose="02010600030101010101" pitchFamily="2" charset="-122"/>
                </a:rPr>
                <a:t>ARM11</a:t>
              </a:r>
              <a:endParaRPr lang="en-US" altLang="zh-CN" sz="1400" dirty="0">
                <a:latin typeface="Times New Roman" panose="02020603050405020304" pitchFamily="18" charset="0"/>
                <a:ea typeface="宋体" panose="02010600030101010101" pitchFamily="2" charset="-122"/>
              </a:endParaRPr>
            </a:p>
          </p:txBody>
        </p:sp>
      </p:grpSp>
      <p:sp>
        <p:nvSpPr>
          <p:cNvPr id="22556" name="Rectangle 31"/>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9548" name="Group 60"/>
          <p:cNvGraphicFramePr>
            <a:graphicFrameLocks noGrp="1"/>
          </p:cNvGraphicFramePr>
          <p:nvPr>
            <p:ph idx="1"/>
          </p:nvPr>
        </p:nvGraphicFramePr>
        <p:xfrm>
          <a:off x="539750" y="1773238"/>
          <a:ext cx="8043863" cy="3632200"/>
        </p:xfrm>
        <a:graphic>
          <a:graphicData uri="http://schemas.openxmlformats.org/drawingml/2006/table">
            <a:tbl>
              <a:tblPr/>
              <a:tblGrid>
                <a:gridCol w="1876425"/>
                <a:gridCol w="1389063"/>
                <a:gridCol w="1619250"/>
                <a:gridCol w="1576387"/>
                <a:gridCol w="1582738"/>
              </a:tblGrid>
              <a:tr h="587231">
                <a:tc>
                  <a:txBody>
                    <a:bodyPr/>
                    <a:lstStyle/>
                    <a:p>
                      <a:pPr marL="254000" marR="0" lvl="0" indent="-254000" algn="l"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ARM7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ARM9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ARM10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ARM11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8819">
                <a:tc>
                  <a:txBody>
                    <a:bodyPr/>
                    <a:lstStyle/>
                    <a:p>
                      <a:pPr marL="254000" marR="0" lvl="0" indent="-254000" algn="l"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流水线</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87231">
                <a:tc>
                  <a:txBody>
                    <a:bodyPr/>
                    <a:lstStyle/>
                    <a:p>
                      <a:pPr marL="254000" marR="0" lvl="0" indent="-254000" algn="l"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典型频率（</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MHz</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260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335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40049">
                <a:tc>
                  <a:txBody>
                    <a:bodyPr/>
                    <a:lstStyle/>
                    <a:p>
                      <a:pPr marL="254000" marR="0" lvl="0" indent="-254000" algn="l"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功耗（</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mW/MHz</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0.19</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+cache</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+cache</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+cache</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40049">
                <a:tc>
                  <a:txBody>
                    <a:bodyPr/>
                    <a:lstStyle/>
                    <a:p>
                      <a:pPr marL="254000" marR="0" lvl="0" indent="-254000" algn="l"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性能</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MIPS**/MHz</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0.97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88819">
                <a:tc>
                  <a:txBody>
                    <a:bodyPr/>
                    <a:lstStyle/>
                    <a:p>
                      <a:pPr marL="254000" marR="0" lvl="0" indent="-254000" algn="l"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架构</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冯</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诺伊曼</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哈佛</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哈佛</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254000" marR="0" lvl="0" indent="-254000" algn="ctr" defTabSz="678180" rtl="0" eaLnBrk="1" fontAlgn="base" latinLnBrk="0" hangingPunct="1">
                        <a:lnSpc>
                          <a:spcPct val="100000"/>
                        </a:lnSpc>
                        <a:spcBef>
                          <a:spcPct val="0"/>
                        </a:spcBef>
                        <a:spcAft>
                          <a:spcPct val="0"/>
                        </a:spcAft>
                        <a:buClr>
                          <a:schemeClr val="folHlink"/>
                        </a:buClr>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哈佛</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9" marB="45709"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3597" name="Rectangle 59"/>
          <p:cNvSpPr>
            <a:spLocks noGrp="1"/>
          </p:cNvSpPr>
          <p:nvPr>
            <p:ph type="title"/>
          </p:nvPr>
        </p:nvSpPr>
        <p:spPr>
          <a:ln/>
        </p:spPr>
        <p:txBody>
          <a:bodyPr vert="horz" wrap="square" lIns="91440" tIns="45720" rIns="91440" bIns="45720" anchor="ctr" anchorCtr="0"/>
          <a:p>
            <a:pPr eaLnBrk="1" hangingPunct="1"/>
            <a:r>
              <a:rPr lang="en-US" altLang="zh-CN" dirty="0"/>
              <a:t>4.1  ARM</a:t>
            </a:r>
            <a:r>
              <a:rPr lang="zh-CN" altLang="en-US" dirty="0"/>
              <a:t>简介</a:t>
            </a:r>
            <a:endParaRPr lang="zh-CN"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4</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24578"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2.ARM7TDMI</a:t>
            </a:r>
            <a:endParaRPr lang="en-US" altLang="zh-CN"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24579"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4"/>
          <p:cNvSpPr>
            <a:spLocks noGrp="1"/>
          </p:cNvSpPr>
          <p:nvPr>
            <p:ph type="title"/>
          </p:nvPr>
        </p:nvSpPr>
        <p:spPr>
          <a:ln/>
        </p:spPr>
        <p:txBody>
          <a:bodyPr vert="horz" wrap="square" lIns="91440" tIns="45720" rIns="91440" bIns="45720" anchor="ctr" anchorCtr="0"/>
          <a:p>
            <a:pPr eaLnBrk="1" hangingPunct="1"/>
            <a:r>
              <a:rPr lang="en-US" altLang="zh-CN" dirty="0"/>
              <a:t>4.2  ARM7TDMI</a:t>
            </a:r>
            <a:endParaRPr lang="en-US" altLang="zh-CN" dirty="0"/>
          </a:p>
        </p:txBody>
      </p:sp>
      <p:sp>
        <p:nvSpPr>
          <p:cNvPr id="2253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2534" name="Text Box 6"/>
          <p:cNvSpPr txBox="1"/>
          <p:nvPr/>
        </p:nvSpPr>
        <p:spPr>
          <a:xfrm>
            <a:off x="1187450" y="2492375"/>
            <a:ext cx="6934200" cy="1187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基于</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体系结构</a:t>
            </a:r>
            <a:r>
              <a:rPr lang="en-US" altLang="zh-CN" sz="2400" dirty="0">
                <a:latin typeface="华文新魏" panose="02010800040101010101" pitchFamily="2" charset="-122"/>
                <a:ea typeface="华文新魏" panose="02010800040101010101" pitchFamily="2" charset="-122"/>
              </a:rPr>
              <a:t>V4</a:t>
            </a:r>
            <a:r>
              <a:rPr lang="zh-CN" altLang="en-US" sz="2400" dirty="0">
                <a:latin typeface="华文新魏" panose="02010800040101010101" pitchFamily="2" charset="-122"/>
                <a:ea typeface="华文新魏" panose="02010800040101010101" pitchFamily="2" charset="-122"/>
              </a:rPr>
              <a:t>版本，是目前低端的</a:t>
            </a:r>
            <a:r>
              <a:rPr lang="en-US" altLang="zh-CN" sz="2400" dirty="0">
                <a:solidFill>
                  <a:srgbClr val="0000FF"/>
                </a:solidFill>
                <a:latin typeface="华文新魏" panose="02010800040101010101" pitchFamily="2" charset="-122"/>
                <a:ea typeface="华文新魏" panose="02010800040101010101" pitchFamily="2" charset="-122"/>
              </a:rPr>
              <a:t>ARM</a:t>
            </a:r>
            <a:r>
              <a:rPr lang="zh-CN" altLang="en-US" sz="2400" dirty="0">
                <a:solidFill>
                  <a:srgbClr val="0000FF"/>
                </a:solidFill>
                <a:latin typeface="华文新魏" panose="02010800040101010101" pitchFamily="2" charset="-122"/>
                <a:ea typeface="华文新魏" panose="02010800040101010101" pitchFamily="2" charset="-122"/>
              </a:rPr>
              <a:t>核</a:t>
            </a:r>
            <a:r>
              <a:rPr lang="zh-CN" altLang="en-US" sz="2400" dirty="0">
                <a:latin typeface="华文新魏" panose="02010800040101010101" pitchFamily="2" charset="-122"/>
                <a:ea typeface="华文新魏" panose="02010800040101010101" pitchFamily="2" charset="-122"/>
              </a:rPr>
              <a:t>。具有广泛的应用，其最显著的应用为数字移动电话。</a:t>
            </a:r>
            <a:endParaRPr lang="zh-CN" altLang="en-US" sz="2400" dirty="0">
              <a:latin typeface="华文新魏" panose="02010800040101010101" pitchFamily="2" charset="-122"/>
              <a:ea typeface="华文新魏" panose="02010800040101010101" pitchFamily="2" charset="-122"/>
            </a:endParaRPr>
          </a:p>
        </p:txBody>
      </p:sp>
      <p:sp>
        <p:nvSpPr>
          <p:cNvPr id="22542" name="Text Box 14"/>
          <p:cNvSpPr txBox="1"/>
          <p:nvPr/>
        </p:nvSpPr>
        <p:spPr>
          <a:xfrm>
            <a:off x="1187450" y="3933825"/>
            <a:ext cx="6934200" cy="1187450"/>
          </a:xfrm>
          <a:prstGeom prst="rect">
            <a:avLst/>
          </a:prstGeom>
          <a:noFill/>
          <a:ln w="9525">
            <a:noFill/>
          </a:ln>
        </p:spPr>
        <p:txBody>
          <a:bodyPr anchor="t" anchorCtr="0">
            <a:spAutoFit/>
          </a:bodyPr>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a:t>
            </a:r>
            <a:r>
              <a:rPr lang="zh-CN" altLang="en-US" sz="2400" dirty="0">
                <a:latin typeface="Times New Roman" panose="02020603050405020304" pitchFamily="18" charset="0"/>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核</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并不是芯片，</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核与其它部件如</a:t>
            </a:r>
            <a:r>
              <a:rPr lang="en-US" altLang="zh-CN" sz="2400" dirty="0">
                <a:latin typeface="华文新魏" panose="02010800040101010101" pitchFamily="2" charset="-122"/>
                <a:ea typeface="华文新魏" panose="02010800040101010101" pitchFamily="2" charset="-122"/>
              </a:rPr>
              <a:t>RAM</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ROM</a:t>
            </a:r>
            <a:r>
              <a:rPr lang="zh-CN" altLang="en-US" sz="2400" dirty="0">
                <a:latin typeface="华文新魏" panose="02010800040101010101" pitchFamily="2" charset="-122"/>
                <a:ea typeface="华文新魏" panose="02010800040101010101" pitchFamily="2" charset="-122"/>
              </a:rPr>
              <a:t>、片内外设组合在一起才能构成现实的芯片。</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2533">
                                            <p:txEl>
                                              <p:charRg st="0" end="3"/>
                                            </p:txEl>
                                          </p:spTgt>
                                        </p:tgtEl>
                                        <p:attrNameLst>
                                          <p:attrName>style.visibility</p:attrName>
                                        </p:attrNameLst>
                                      </p:cBhvr>
                                      <p:to>
                                        <p:strVal val="visible"/>
                                      </p:to>
                                    </p:set>
                                    <p:anim calcmode="lin" valueType="num">
                                      <p:cBhvr additive="base">
                                        <p:cTn id="7" dur="500" fill="hold"/>
                                        <p:tgtEl>
                                          <p:spTgt spid="22533">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2533">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box(in)">
                                      <p:cBhvr>
                                        <p:cTn id="12" dur="500"/>
                                        <p:tgtEl>
                                          <p:spTgt spid="22534"/>
                                        </p:tgtEl>
                                      </p:cBhvr>
                                    </p:animEffect>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22542"/>
                                        </p:tgtEl>
                                        <p:attrNameLst>
                                          <p:attrName>style.visibility</p:attrName>
                                        </p:attrNameLst>
                                      </p:cBhvr>
                                      <p:to>
                                        <p:strVal val="visible"/>
                                      </p:to>
                                    </p:set>
                                    <p:animEffect transition="in" filter="box(in)">
                                      <p:cBhvr>
                                        <p:cTn id="16" dur="500"/>
                                        <p:tgtEl>
                                          <p:spTgt spid="22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dvAuto="1000" build="p"/>
      <p:bldP spid="22534" grpId="0"/>
      <p:bldP spid="225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4"/>
          <p:cNvSpPr>
            <a:spLocks noGrp="1"/>
          </p:cNvSpPr>
          <p:nvPr>
            <p:ph type="title"/>
          </p:nvPr>
        </p:nvSpPr>
        <p:spPr>
          <a:ln/>
        </p:spPr>
        <p:txBody>
          <a:bodyPr vert="horz" wrap="square" lIns="91440" tIns="45720" rIns="91440" bIns="45720" anchor="ctr" anchorCtr="0"/>
          <a:p>
            <a:pPr eaLnBrk="1" hangingPunct="1"/>
            <a:r>
              <a:rPr lang="en-US" altLang="zh-CN" dirty="0"/>
              <a:t>4.2  ARM7TDMI</a:t>
            </a:r>
            <a:endParaRPr lang="en-US" altLang="zh-CN" dirty="0"/>
          </a:p>
        </p:txBody>
      </p:sp>
      <p:sp>
        <p:nvSpPr>
          <p:cNvPr id="26626"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4582" name="Text Box 6"/>
          <p:cNvSpPr txBox="1"/>
          <p:nvPr/>
        </p:nvSpPr>
        <p:spPr>
          <a:xfrm>
            <a:off x="1187450" y="2205038"/>
            <a:ext cx="6934200" cy="1187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支持</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位寻址范围，并弥补了</a:t>
            </a:r>
            <a:r>
              <a:rPr lang="en-US" altLang="zh-CN" sz="2400" dirty="0">
                <a:latin typeface="华文新魏" panose="02010800040101010101" pitchFamily="2" charset="-122"/>
                <a:ea typeface="华文新魏" panose="02010800040101010101" pitchFamily="2" charset="-122"/>
              </a:rPr>
              <a:t>ARM6</a:t>
            </a:r>
            <a:r>
              <a:rPr lang="zh-CN" altLang="en-US" sz="2400" dirty="0">
                <a:latin typeface="华文新魏" panose="02010800040101010101" pitchFamily="2" charset="-122"/>
                <a:ea typeface="华文新魏" panose="02010800040101010101" pitchFamily="2" charset="-122"/>
              </a:rPr>
              <a:t>不能在低于</a:t>
            </a:r>
            <a:r>
              <a:rPr lang="en-US" altLang="zh-CN" sz="2400" dirty="0">
                <a:latin typeface="华文新魏" panose="02010800040101010101" pitchFamily="2" charset="-122"/>
                <a:ea typeface="华文新魏" panose="02010800040101010101" pitchFamily="2" charset="-122"/>
              </a:rPr>
              <a:t>5V</a:t>
            </a:r>
            <a:r>
              <a:rPr lang="zh-CN" altLang="en-US" sz="2400" dirty="0">
                <a:latin typeface="华文新魏" panose="02010800040101010101" pitchFamily="2" charset="-122"/>
                <a:ea typeface="华文新魏" panose="02010800040101010101" pitchFamily="2" charset="-122"/>
              </a:rPr>
              <a:t>电源电压下工作的不足。</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的后缀意义为：</a:t>
            </a:r>
            <a:endParaRPr lang="zh-CN" altLang="en-US" sz="2400" dirty="0">
              <a:latin typeface="华文新魏" panose="02010800040101010101" pitchFamily="2" charset="-122"/>
              <a:ea typeface="华文新魏" panose="02010800040101010101" pitchFamily="2" charset="-122"/>
            </a:endParaRPr>
          </a:p>
        </p:txBody>
      </p:sp>
      <p:sp>
        <p:nvSpPr>
          <p:cNvPr id="24586" name="Line 10"/>
          <p:cNvSpPr/>
          <p:nvPr/>
        </p:nvSpPr>
        <p:spPr>
          <a:xfrm>
            <a:off x="3048000" y="4351338"/>
            <a:ext cx="0" cy="685800"/>
          </a:xfrm>
          <a:prstGeom prst="line">
            <a:avLst/>
          </a:prstGeom>
          <a:ln w="9525" cap="flat" cmpd="sng">
            <a:solidFill>
              <a:schemeClr val="tx1"/>
            </a:solidFill>
            <a:prstDash val="solid"/>
            <a:round/>
            <a:headEnd type="none" w="med" len="med"/>
            <a:tailEnd type="none" w="med" len="med"/>
          </a:ln>
        </p:spPr>
      </p:sp>
      <p:sp>
        <p:nvSpPr>
          <p:cNvPr id="24588" name="Line 12"/>
          <p:cNvSpPr/>
          <p:nvPr/>
        </p:nvSpPr>
        <p:spPr>
          <a:xfrm>
            <a:off x="2797175" y="4351338"/>
            <a:ext cx="0" cy="1066800"/>
          </a:xfrm>
          <a:prstGeom prst="line">
            <a:avLst/>
          </a:prstGeom>
          <a:ln w="9525" cap="flat" cmpd="sng">
            <a:solidFill>
              <a:schemeClr val="tx1"/>
            </a:solidFill>
            <a:prstDash val="solid"/>
            <a:round/>
            <a:headEnd type="none" w="med" len="med"/>
            <a:tailEnd type="none" w="med" len="med"/>
          </a:ln>
        </p:spPr>
      </p:sp>
      <p:sp>
        <p:nvSpPr>
          <p:cNvPr id="24590" name="Line 14"/>
          <p:cNvSpPr/>
          <p:nvPr/>
        </p:nvSpPr>
        <p:spPr>
          <a:xfrm>
            <a:off x="2438400" y="4351338"/>
            <a:ext cx="0" cy="1524000"/>
          </a:xfrm>
          <a:prstGeom prst="line">
            <a:avLst/>
          </a:prstGeom>
          <a:ln w="9525" cap="flat" cmpd="sng">
            <a:solidFill>
              <a:schemeClr val="tx1"/>
            </a:solidFill>
            <a:prstDash val="solid"/>
            <a:round/>
            <a:headEnd type="none" w="med" len="med"/>
            <a:tailEnd type="none" w="med" len="med"/>
          </a:ln>
        </p:spPr>
      </p:sp>
      <p:sp>
        <p:nvSpPr>
          <p:cNvPr id="24592" name="Line 16"/>
          <p:cNvSpPr/>
          <p:nvPr/>
        </p:nvSpPr>
        <p:spPr>
          <a:xfrm>
            <a:off x="2149475" y="4427538"/>
            <a:ext cx="0" cy="1828800"/>
          </a:xfrm>
          <a:prstGeom prst="line">
            <a:avLst/>
          </a:prstGeom>
          <a:ln w="9525" cap="flat" cmpd="sng">
            <a:solidFill>
              <a:schemeClr val="tx1"/>
            </a:solidFill>
            <a:prstDash val="solid"/>
            <a:round/>
            <a:headEnd type="none" w="med" len="med"/>
            <a:tailEnd type="none" w="med" len="med"/>
          </a:ln>
        </p:spPr>
      </p:sp>
      <p:grpSp>
        <p:nvGrpSpPr>
          <p:cNvPr id="2" name="Group 27"/>
          <p:cNvGrpSpPr/>
          <p:nvPr/>
        </p:nvGrpSpPr>
        <p:grpSpPr>
          <a:xfrm>
            <a:off x="2149475" y="6027738"/>
            <a:ext cx="6156325" cy="366712"/>
            <a:chOff x="1354" y="3888"/>
            <a:chExt cx="3878" cy="231"/>
          </a:xfrm>
        </p:grpSpPr>
        <p:sp>
          <p:nvSpPr>
            <p:cNvPr id="26633" name="Line 17"/>
            <p:cNvSpPr/>
            <p:nvPr/>
          </p:nvSpPr>
          <p:spPr>
            <a:xfrm>
              <a:off x="1354" y="4032"/>
              <a:ext cx="1142" cy="0"/>
            </a:xfrm>
            <a:prstGeom prst="line">
              <a:avLst/>
            </a:prstGeom>
            <a:ln w="9525" cap="flat" cmpd="sng">
              <a:solidFill>
                <a:schemeClr val="tx1"/>
              </a:solidFill>
              <a:prstDash val="solid"/>
              <a:round/>
              <a:headEnd type="none" w="med" len="med"/>
              <a:tailEnd type="none" w="med" len="med"/>
            </a:ln>
          </p:spPr>
        </p:sp>
        <p:sp>
          <p:nvSpPr>
            <p:cNvPr id="26634" name="Text Box 18"/>
            <p:cNvSpPr txBox="1"/>
            <p:nvPr/>
          </p:nvSpPr>
          <p:spPr>
            <a:xfrm>
              <a:off x="2496" y="3888"/>
              <a:ext cx="2736" cy="231"/>
            </a:xfrm>
            <a:prstGeom prst="rect">
              <a:avLst/>
            </a:prstGeom>
            <a:noFill/>
            <a:ln w="9525">
              <a:noFill/>
            </a:ln>
          </p:spPr>
          <p:txBody>
            <a:bodyPr anchor="t" anchorCtr="0">
              <a:spAutoFit/>
            </a:bodyPr>
            <a:p>
              <a:pPr>
                <a:spcBef>
                  <a:spcPct val="50000"/>
                </a:spcBef>
                <a:buClrTx/>
                <a:buFontTx/>
              </a:pPr>
              <a:r>
                <a:rPr lang="zh-CN" altLang="en-US" dirty="0">
                  <a:latin typeface="Times New Roman" panose="02020603050405020304" pitchFamily="18" charset="0"/>
                  <a:ea typeface="华文新魏" panose="02010800040101010101" pitchFamily="2" charset="-122"/>
                </a:rPr>
                <a:t>支持高密度</a:t>
              </a:r>
              <a:r>
                <a:rPr lang="en-US" altLang="zh-CN" dirty="0">
                  <a:latin typeface="Times New Roman" panose="02020603050405020304" pitchFamily="18" charset="0"/>
                  <a:ea typeface="华文新魏" panose="02010800040101010101" pitchFamily="2" charset="-122"/>
                </a:rPr>
                <a:t>16</a:t>
              </a:r>
              <a:r>
                <a:rPr lang="zh-CN" altLang="en-US" dirty="0">
                  <a:latin typeface="Times New Roman" panose="02020603050405020304" pitchFamily="18" charset="0"/>
                  <a:ea typeface="华文新魏" panose="02010800040101010101" pitchFamily="2" charset="-122"/>
                </a:rPr>
                <a:t>位的</a:t>
              </a:r>
              <a:r>
                <a:rPr lang="en-US" altLang="zh-CN" dirty="0">
                  <a:latin typeface="Times New Roman" panose="02020603050405020304" pitchFamily="18" charset="0"/>
                  <a:ea typeface="华文新魏" panose="02010800040101010101" pitchFamily="2" charset="-122"/>
                </a:rPr>
                <a:t>Thumb</a:t>
              </a:r>
              <a:r>
                <a:rPr lang="zh-CN" altLang="en-US" dirty="0">
                  <a:latin typeface="Times New Roman" panose="02020603050405020304" pitchFamily="18" charset="0"/>
                  <a:ea typeface="华文新魏" panose="02010800040101010101" pitchFamily="2" charset="-122"/>
                </a:rPr>
                <a:t>指令集；</a:t>
              </a:r>
              <a:endParaRPr lang="zh-CN" altLang="en-US" dirty="0">
                <a:latin typeface="Times New Roman" panose="02020603050405020304" pitchFamily="18" charset="0"/>
                <a:ea typeface="华文新魏" panose="02010800040101010101" pitchFamily="2" charset="-122"/>
              </a:endParaRPr>
            </a:p>
          </p:txBody>
        </p:sp>
      </p:grpSp>
      <p:grpSp>
        <p:nvGrpSpPr>
          <p:cNvPr id="3" name="Group 28"/>
          <p:cNvGrpSpPr/>
          <p:nvPr/>
        </p:nvGrpSpPr>
        <p:grpSpPr>
          <a:xfrm>
            <a:off x="2438400" y="5646738"/>
            <a:ext cx="4114800" cy="366712"/>
            <a:chOff x="1536" y="3648"/>
            <a:chExt cx="2592" cy="231"/>
          </a:xfrm>
        </p:grpSpPr>
        <p:sp>
          <p:nvSpPr>
            <p:cNvPr id="26636" name="Line 15"/>
            <p:cNvSpPr/>
            <p:nvPr/>
          </p:nvSpPr>
          <p:spPr>
            <a:xfrm>
              <a:off x="1536" y="3792"/>
              <a:ext cx="960" cy="0"/>
            </a:xfrm>
            <a:prstGeom prst="line">
              <a:avLst/>
            </a:prstGeom>
            <a:ln w="9525" cap="flat" cmpd="sng">
              <a:solidFill>
                <a:schemeClr val="tx1"/>
              </a:solidFill>
              <a:prstDash val="solid"/>
              <a:round/>
              <a:headEnd type="none" w="med" len="med"/>
              <a:tailEnd type="none" w="med" len="med"/>
            </a:ln>
          </p:spPr>
        </p:sp>
        <p:sp>
          <p:nvSpPr>
            <p:cNvPr id="26637" name="Text Box 19"/>
            <p:cNvSpPr txBox="1"/>
            <p:nvPr/>
          </p:nvSpPr>
          <p:spPr>
            <a:xfrm>
              <a:off x="2496" y="3648"/>
              <a:ext cx="1632" cy="231"/>
            </a:xfrm>
            <a:prstGeom prst="rect">
              <a:avLst/>
            </a:prstGeom>
            <a:noFill/>
            <a:ln w="9525">
              <a:noFill/>
            </a:ln>
          </p:spPr>
          <p:txBody>
            <a:bodyPr anchor="t" anchorCtr="0">
              <a:spAutoFit/>
            </a:bodyPr>
            <a:p>
              <a:pPr>
                <a:spcBef>
                  <a:spcPct val="50000"/>
                </a:spcBef>
                <a:buClrTx/>
                <a:buFontTx/>
              </a:pPr>
              <a:r>
                <a:rPr lang="zh-CN" altLang="en-US" dirty="0">
                  <a:latin typeface="Times New Roman" panose="02020603050405020304" pitchFamily="18" charset="0"/>
                  <a:ea typeface="华文新魏" panose="02010800040101010101" pitchFamily="2" charset="-122"/>
                </a:rPr>
                <a:t>支持片上调试；</a:t>
              </a:r>
              <a:endParaRPr lang="zh-CN" altLang="en-US" dirty="0">
                <a:latin typeface="Times New Roman" panose="02020603050405020304" pitchFamily="18" charset="0"/>
                <a:ea typeface="华文新魏" panose="02010800040101010101" pitchFamily="2" charset="-122"/>
              </a:endParaRPr>
            </a:p>
          </p:txBody>
        </p:sp>
      </p:grpSp>
      <p:grpSp>
        <p:nvGrpSpPr>
          <p:cNvPr id="4" name="Group 29"/>
          <p:cNvGrpSpPr/>
          <p:nvPr/>
        </p:nvGrpSpPr>
        <p:grpSpPr>
          <a:xfrm>
            <a:off x="2797175" y="5265738"/>
            <a:ext cx="5432425" cy="366712"/>
            <a:chOff x="1762" y="3408"/>
            <a:chExt cx="3422" cy="231"/>
          </a:xfrm>
        </p:grpSpPr>
        <p:sp>
          <p:nvSpPr>
            <p:cNvPr id="26639" name="Line 13"/>
            <p:cNvSpPr/>
            <p:nvPr/>
          </p:nvSpPr>
          <p:spPr>
            <a:xfrm>
              <a:off x="1762" y="3504"/>
              <a:ext cx="734" cy="0"/>
            </a:xfrm>
            <a:prstGeom prst="line">
              <a:avLst/>
            </a:prstGeom>
            <a:ln w="9525" cap="flat" cmpd="sng">
              <a:solidFill>
                <a:schemeClr val="tx1"/>
              </a:solidFill>
              <a:prstDash val="solid"/>
              <a:round/>
              <a:headEnd type="none" w="med" len="med"/>
              <a:tailEnd type="none" w="med" len="med"/>
            </a:ln>
          </p:spPr>
        </p:sp>
        <p:sp>
          <p:nvSpPr>
            <p:cNvPr id="26640" name="Text Box 20"/>
            <p:cNvSpPr txBox="1"/>
            <p:nvPr/>
          </p:nvSpPr>
          <p:spPr>
            <a:xfrm>
              <a:off x="2496" y="3408"/>
              <a:ext cx="2688" cy="231"/>
            </a:xfrm>
            <a:prstGeom prst="rect">
              <a:avLst/>
            </a:prstGeom>
            <a:noFill/>
            <a:ln w="9525">
              <a:noFill/>
            </a:ln>
          </p:spPr>
          <p:txBody>
            <a:bodyPr anchor="t" anchorCtr="0">
              <a:spAutoFit/>
            </a:bodyPr>
            <a:p>
              <a:pPr>
                <a:spcBef>
                  <a:spcPct val="50000"/>
                </a:spcBef>
                <a:buClrTx/>
                <a:buFontTx/>
              </a:pPr>
              <a:r>
                <a:rPr lang="zh-CN" altLang="en-US" dirty="0">
                  <a:latin typeface="Times New Roman" panose="02020603050405020304" pitchFamily="18" charset="0"/>
                  <a:ea typeface="华文新魏" panose="02010800040101010101" pitchFamily="2" charset="-122"/>
                </a:rPr>
                <a:t>支持</a:t>
              </a:r>
              <a:r>
                <a:rPr lang="en-US" altLang="zh-CN" dirty="0">
                  <a:latin typeface="Times New Roman" panose="02020603050405020304" pitchFamily="18" charset="0"/>
                  <a:ea typeface="华文新魏" panose="02010800040101010101" pitchFamily="2" charset="-122"/>
                </a:rPr>
                <a:t>64</a:t>
              </a:r>
              <a:r>
                <a:rPr lang="zh-CN" altLang="en-US" dirty="0">
                  <a:latin typeface="Times New Roman" panose="02020603050405020304" pitchFamily="18" charset="0"/>
                  <a:ea typeface="华文新魏" panose="02010800040101010101" pitchFamily="2" charset="-122"/>
                </a:rPr>
                <a:t>位乘法；</a:t>
              </a:r>
              <a:endParaRPr lang="zh-CN" altLang="en-US" dirty="0">
                <a:latin typeface="Times New Roman" panose="02020603050405020304" pitchFamily="18" charset="0"/>
                <a:ea typeface="华文新魏" panose="02010800040101010101" pitchFamily="2" charset="-122"/>
              </a:endParaRPr>
            </a:p>
          </p:txBody>
        </p:sp>
      </p:grpSp>
      <p:grpSp>
        <p:nvGrpSpPr>
          <p:cNvPr id="5" name="Group 30"/>
          <p:cNvGrpSpPr/>
          <p:nvPr/>
        </p:nvGrpSpPr>
        <p:grpSpPr>
          <a:xfrm>
            <a:off x="3048000" y="4884738"/>
            <a:ext cx="4114800" cy="366712"/>
            <a:chOff x="1920" y="3168"/>
            <a:chExt cx="2592" cy="231"/>
          </a:xfrm>
        </p:grpSpPr>
        <p:sp>
          <p:nvSpPr>
            <p:cNvPr id="26642" name="Line 11"/>
            <p:cNvSpPr/>
            <p:nvPr/>
          </p:nvSpPr>
          <p:spPr>
            <a:xfrm>
              <a:off x="1920" y="3264"/>
              <a:ext cx="576" cy="0"/>
            </a:xfrm>
            <a:prstGeom prst="line">
              <a:avLst/>
            </a:prstGeom>
            <a:ln w="9525" cap="flat" cmpd="sng">
              <a:solidFill>
                <a:schemeClr val="tx1"/>
              </a:solidFill>
              <a:prstDash val="solid"/>
              <a:round/>
              <a:headEnd type="none" w="med" len="med"/>
              <a:tailEnd type="none" w="med" len="med"/>
            </a:ln>
          </p:spPr>
        </p:sp>
        <p:sp>
          <p:nvSpPr>
            <p:cNvPr id="26643" name="Text Box 21"/>
            <p:cNvSpPr txBox="1"/>
            <p:nvPr/>
          </p:nvSpPr>
          <p:spPr>
            <a:xfrm>
              <a:off x="2496" y="3168"/>
              <a:ext cx="2016" cy="231"/>
            </a:xfrm>
            <a:prstGeom prst="rect">
              <a:avLst/>
            </a:prstGeom>
            <a:noFill/>
            <a:ln w="9525">
              <a:noFill/>
            </a:ln>
          </p:spPr>
          <p:txBody>
            <a:bodyPr anchor="t" anchorCtr="0">
              <a:spAutoFit/>
            </a:bodyPr>
            <a:p>
              <a:pPr>
                <a:spcBef>
                  <a:spcPct val="50000"/>
                </a:spcBef>
                <a:buClrTx/>
                <a:buFontTx/>
              </a:pPr>
              <a:r>
                <a:rPr lang="zh-CN" altLang="en-US" dirty="0">
                  <a:latin typeface="Times New Roman" panose="02020603050405020304" pitchFamily="18" charset="0"/>
                  <a:ea typeface="华文新魏" panose="02010800040101010101" pitchFamily="2" charset="-122"/>
                </a:rPr>
                <a:t>支持</a:t>
              </a:r>
              <a:r>
                <a:rPr lang="en-US" altLang="zh-CN" dirty="0">
                  <a:latin typeface="Times New Roman" panose="02020603050405020304" pitchFamily="18" charset="0"/>
                  <a:ea typeface="华文新魏" panose="02010800040101010101" pitchFamily="2" charset="-122"/>
                </a:rPr>
                <a:t>Embeded-ICE</a:t>
              </a:r>
              <a:r>
                <a:rPr lang="zh-CN" altLang="en-US" dirty="0">
                  <a:latin typeface="Times New Roman" panose="02020603050405020304" pitchFamily="18" charset="0"/>
                  <a:ea typeface="华文新魏" panose="02010800040101010101" pitchFamily="2" charset="-122"/>
                </a:rPr>
                <a:t>观察硬件；</a:t>
              </a:r>
              <a:endParaRPr lang="zh-CN" altLang="en-US" dirty="0">
                <a:latin typeface="Times New Roman" panose="02020603050405020304" pitchFamily="18" charset="0"/>
                <a:ea typeface="华文新魏" panose="02010800040101010101" pitchFamily="2" charset="-122"/>
              </a:endParaRPr>
            </a:p>
          </p:txBody>
        </p:sp>
      </p:grpSp>
      <p:grpSp>
        <p:nvGrpSpPr>
          <p:cNvPr id="6" name="Group 31"/>
          <p:cNvGrpSpPr/>
          <p:nvPr/>
        </p:nvGrpSpPr>
        <p:grpSpPr>
          <a:xfrm>
            <a:off x="3429000" y="3970338"/>
            <a:ext cx="4953000" cy="915987"/>
            <a:chOff x="2160" y="2592"/>
            <a:chExt cx="3120" cy="577"/>
          </a:xfrm>
        </p:grpSpPr>
        <p:sp>
          <p:nvSpPr>
            <p:cNvPr id="26645" name="Text Box 22"/>
            <p:cNvSpPr txBox="1"/>
            <p:nvPr/>
          </p:nvSpPr>
          <p:spPr>
            <a:xfrm>
              <a:off x="2496" y="2592"/>
              <a:ext cx="2784" cy="577"/>
            </a:xfrm>
            <a:prstGeom prst="rect">
              <a:avLst/>
            </a:prstGeom>
            <a:noFill/>
            <a:ln w="9525">
              <a:noFill/>
            </a:ln>
          </p:spPr>
          <p:txBody>
            <a:bodyPr anchor="t" anchorCtr="0">
              <a:spAutoFit/>
            </a:bodyPr>
            <a:p>
              <a:pPr>
                <a:spcBef>
                  <a:spcPct val="50000"/>
                </a:spcBef>
                <a:buClrTx/>
                <a:buFontTx/>
              </a:pPr>
              <a:r>
                <a:rPr lang="en-US" altLang="zh-CN" dirty="0">
                  <a:latin typeface="Times New Roman" panose="02020603050405020304" pitchFamily="18" charset="0"/>
                  <a:ea typeface="华文新魏" panose="02010800040101010101" pitchFamily="2" charset="-122"/>
                </a:rPr>
                <a:t>ARM7TDMI </a:t>
              </a:r>
              <a:r>
                <a:rPr lang="zh-CN" altLang="en-US" dirty="0">
                  <a:latin typeface="Times New Roman" panose="02020603050405020304" pitchFamily="18" charset="0"/>
                  <a:ea typeface="华文新魏" panose="02010800040101010101" pitchFamily="2" charset="-122"/>
                </a:rPr>
                <a:t>的可综合（</a:t>
              </a:r>
              <a:r>
                <a:rPr lang="en-US" altLang="zh-CN" dirty="0">
                  <a:latin typeface="Times New Roman" panose="02020603050405020304" pitchFamily="18" charset="0"/>
                  <a:ea typeface="华文新魏" panose="02010800040101010101" pitchFamily="2" charset="-122"/>
                </a:rPr>
                <a:t>synthesizable</a:t>
              </a:r>
              <a:r>
                <a:rPr lang="zh-CN" altLang="en-US" dirty="0">
                  <a:latin typeface="Times New Roman" panose="02020603050405020304" pitchFamily="18" charset="0"/>
                  <a:ea typeface="华文新魏" panose="02010800040101010101" pitchFamily="2" charset="-122"/>
                </a:rPr>
                <a:t>）版本（软核），对应用工程师来说其编程模型与</a:t>
              </a:r>
              <a:r>
                <a:rPr lang="en-US" altLang="zh-CN" dirty="0">
                  <a:latin typeface="Times New Roman" panose="02020603050405020304" pitchFamily="18" charset="0"/>
                  <a:ea typeface="华文新魏" panose="02010800040101010101" pitchFamily="2" charset="-122"/>
                </a:rPr>
                <a:t>ARM7TDMI </a:t>
              </a:r>
              <a:r>
                <a:rPr lang="zh-CN" altLang="en-US" dirty="0">
                  <a:latin typeface="Times New Roman" panose="02020603050405020304" pitchFamily="18" charset="0"/>
                  <a:ea typeface="华文新魏" panose="02010800040101010101" pitchFamily="2" charset="-122"/>
                </a:rPr>
                <a:t>一致；</a:t>
              </a:r>
              <a:endParaRPr lang="zh-CN" altLang="en-US" dirty="0">
                <a:latin typeface="Times New Roman" panose="02020603050405020304" pitchFamily="18" charset="0"/>
                <a:ea typeface="华文新魏" panose="02010800040101010101" pitchFamily="2" charset="-122"/>
              </a:endParaRPr>
            </a:p>
          </p:txBody>
        </p:sp>
        <p:sp>
          <p:nvSpPr>
            <p:cNvPr id="26646" name="Line 23"/>
            <p:cNvSpPr/>
            <p:nvPr/>
          </p:nvSpPr>
          <p:spPr>
            <a:xfrm>
              <a:off x="2160" y="2928"/>
              <a:ext cx="336" cy="0"/>
            </a:xfrm>
            <a:prstGeom prst="line">
              <a:avLst/>
            </a:prstGeom>
            <a:ln w="9525" cap="flat" cmpd="sng">
              <a:solidFill>
                <a:schemeClr val="tx1"/>
              </a:solidFill>
              <a:prstDash val="solid"/>
              <a:round/>
              <a:headEnd type="none" w="med" len="med"/>
              <a:tailEnd type="none" w="med" len="med"/>
            </a:ln>
          </p:spPr>
        </p:sp>
      </p:grpSp>
      <p:sp>
        <p:nvSpPr>
          <p:cNvPr id="24600" name="Line 24"/>
          <p:cNvSpPr/>
          <p:nvPr/>
        </p:nvSpPr>
        <p:spPr>
          <a:xfrm>
            <a:off x="3429000" y="4351338"/>
            <a:ext cx="0" cy="152400"/>
          </a:xfrm>
          <a:prstGeom prst="line">
            <a:avLst/>
          </a:prstGeom>
          <a:ln w="9525" cap="flat" cmpd="sng">
            <a:solidFill>
              <a:schemeClr val="tx1"/>
            </a:solidFill>
            <a:prstDash val="solid"/>
            <a:round/>
            <a:headEnd type="none" w="med" len="med"/>
            <a:tailEnd type="none" w="med" len="med"/>
          </a:ln>
        </p:spPr>
      </p:sp>
      <p:grpSp>
        <p:nvGrpSpPr>
          <p:cNvPr id="7" name="Group 26"/>
          <p:cNvGrpSpPr/>
          <p:nvPr/>
        </p:nvGrpSpPr>
        <p:grpSpPr>
          <a:xfrm>
            <a:off x="914400" y="3817938"/>
            <a:ext cx="7620000" cy="2667000"/>
            <a:chOff x="576" y="2496"/>
            <a:chExt cx="4800" cy="1680"/>
          </a:xfrm>
        </p:grpSpPr>
        <p:sp>
          <p:nvSpPr>
            <p:cNvPr id="26649" name="Text Box 7"/>
            <p:cNvSpPr txBox="1"/>
            <p:nvPr/>
          </p:nvSpPr>
          <p:spPr>
            <a:xfrm>
              <a:off x="672" y="2592"/>
              <a:ext cx="1872" cy="288"/>
            </a:xfrm>
            <a:prstGeom prst="rect">
              <a:avLst/>
            </a:prstGeom>
            <a:noFill/>
            <a:ln w="9525">
              <a:noFill/>
            </a:ln>
          </p:spPr>
          <p:txBody>
            <a:bodyPr anchor="t" anchorCtr="0">
              <a:spAutoFit/>
            </a:bodyPr>
            <a:p>
              <a:pPr>
                <a:spcBef>
                  <a:spcPct val="50000"/>
                </a:spcBef>
                <a:buClrTx/>
                <a:buFontTx/>
              </a:pPr>
              <a:r>
                <a:rPr lang="en-US" altLang="zh-CN" sz="2400" dirty="0">
                  <a:solidFill>
                    <a:srgbClr val="FF0000"/>
                  </a:solidFill>
                  <a:latin typeface="华文新魏" panose="02010800040101010101" pitchFamily="2" charset="-122"/>
                  <a:ea typeface="华文新魏" panose="02010800040101010101" pitchFamily="2" charset="-122"/>
                </a:rPr>
                <a:t>ARM7 </a:t>
              </a:r>
              <a:r>
                <a:rPr lang="en-US" altLang="zh-CN" sz="2400" dirty="0">
                  <a:solidFill>
                    <a:srgbClr val="0000FF"/>
                  </a:solidFill>
                  <a:latin typeface="华文新魏" panose="02010800040101010101" pitchFamily="2" charset="-122"/>
                  <a:ea typeface="华文新魏" panose="02010800040101010101" pitchFamily="2" charset="-122"/>
                </a:rPr>
                <a:t>T D M I - S</a:t>
              </a:r>
              <a:endParaRPr lang="en-US" altLang="zh-CN" sz="2400" dirty="0">
                <a:solidFill>
                  <a:srgbClr val="0000FF"/>
                </a:solidFill>
                <a:latin typeface="华文新魏" panose="02010800040101010101" pitchFamily="2" charset="-122"/>
                <a:ea typeface="华文新魏" panose="02010800040101010101" pitchFamily="2" charset="-122"/>
              </a:endParaRPr>
            </a:p>
          </p:txBody>
        </p:sp>
        <p:sp>
          <p:nvSpPr>
            <p:cNvPr id="26650" name="Rectangle 25"/>
            <p:cNvSpPr/>
            <p:nvPr/>
          </p:nvSpPr>
          <p:spPr>
            <a:xfrm>
              <a:off x="576" y="2496"/>
              <a:ext cx="4800" cy="1680"/>
            </a:xfrm>
            <a:prstGeom prst="rect">
              <a:avLst/>
            </a:prstGeom>
            <a:no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box(in)">
                                      <p:cBhvr>
                                        <p:cTn id="7" dur="500"/>
                                        <p:tgtEl>
                                          <p:spTgt spid="24582"/>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To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4592"/>
                                        </p:tgtEl>
                                        <p:attrNameLst>
                                          <p:attrName>style.visibility</p:attrName>
                                        </p:attrNameLst>
                                      </p:cBhvr>
                                      <p:to>
                                        <p:strVal val="visible"/>
                                      </p:to>
                                    </p:set>
                                    <p:animEffect transition="in" filter="wipe(up)">
                                      <p:cBhvr>
                                        <p:cTn id="15" dur="500"/>
                                        <p:tgtEl>
                                          <p:spTgt spid="2459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4590"/>
                                        </p:tgtEl>
                                        <p:attrNameLst>
                                          <p:attrName>style.visibility</p:attrName>
                                        </p:attrNameLst>
                                      </p:cBhvr>
                                      <p:to>
                                        <p:strVal val="visible"/>
                                      </p:to>
                                    </p:set>
                                    <p:animEffect transition="in" filter="wipe(up)">
                                      <p:cBhvr>
                                        <p:cTn id="24" dur="500"/>
                                        <p:tgtEl>
                                          <p:spTgt spid="24590"/>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4588"/>
                                        </p:tgtEl>
                                        <p:attrNameLst>
                                          <p:attrName>style.visibility</p:attrName>
                                        </p:attrNameLst>
                                      </p:cBhvr>
                                      <p:to>
                                        <p:strVal val="visible"/>
                                      </p:to>
                                    </p:set>
                                    <p:animEffect transition="in" filter="wipe(up)">
                                      <p:cBhvr>
                                        <p:cTn id="33" dur="500"/>
                                        <p:tgtEl>
                                          <p:spTgt spid="24588"/>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4586"/>
                                        </p:tgtEl>
                                        <p:attrNameLst>
                                          <p:attrName>style.visibility</p:attrName>
                                        </p:attrNameLst>
                                      </p:cBhvr>
                                      <p:to>
                                        <p:strVal val="visible"/>
                                      </p:to>
                                    </p:set>
                                    <p:animEffect transition="in" filter="wipe(up)">
                                      <p:cBhvr>
                                        <p:cTn id="42" dur="500"/>
                                        <p:tgtEl>
                                          <p:spTgt spid="24586"/>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4600"/>
                                        </p:tgtEl>
                                        <p:attrNameLst>
                                          <p:attrName>style.visibility</p:attrName>
                                        </p:attrNameLst>
                                      </p:cBhvr>
                                      <p:to>
                                        <p:strVal val="visible"/>
                                      </p:to>
                                    </p:set>
                                    <p:animEffect transition="in" filter="wipe(up)">
                                      <p:cBhvr>
                                        <p:cTn id="51" dur="500"/>
                                        <p:tgtEl>
                                          <p:spTgt spid="24600"/>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left)">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4"/>
          <p:cNvSpPr>
            <a:spLocks noGrp="1"/>
          </p:cNvSpPr>
          <p:nvPr>
            <p:ph type="title"/>
          </p:nvPr>
        </p:nvSpPr>
        <p:spPr>
          <a:ln/>
        </p:spPr>
        <p:txBody>
          <a:bodyPr vert="horz" wrap="square" lIns="91440" tIns="45720" rIns="91440" bIns="45720" anchor="ctr" anchorCtr="0"/>
          <a:p>
            <a:pPr eaLnBrk="1" hangingPunct="1"/>
            <a:r>
              <a:rPr lang="en-US" altLang="zh-CN" dirty="0"/>
              <a:t>4.2  ARM7TDMI</a:t>
            </a:r>
            <a:endParaRPr lang="en-US" altLang="zh-CN" dirty="0"/>
          </a:p>
        </p:txBody>
      </p:sp>
      <p:sp>
        <p:nvSpPr>
          <p:cNvPr id="27650"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9702" name="Text Box 6"/>
          <p:cNvSpPr txBox="1"/>
          <p:nvPr/>
        </p:nvSpPr>
        <p:spPr>
          <a:xfrm>
            <a:off x="1219200" y="2276475"/>
            <a:ext cx="6934200" cy="19177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处理器是</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通用</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位微处理器家族的成员之一。它具有优异的性能，但功耗却很低，使用门的数量也很少。它属于精简指令集计算机（</a:t>
            </a:r>
            <a:r>
              <a:rPr lang="en-US" altLang="zh-CN" sz="2400" dirty="0">
                <a:latin typeface="华文新魏" panose="02010800040101010101" pitchFamily="2" charset="-122"/>
                <a:ea typeface="华文新魏" panose="02010800040101010101" pitchFamily="2" charset="-122"/>
              </a:rPr>
              <a:t>RISC</a:t>
            </a:r>
            <a:r>
              <a:rPr lang="zh-CN" altLang="en-US" sz="2400" dirty="0">
                <a:latin typeface="华文新魏" panose="02010800040101010101" pitchFamily="2" charset="-122"/>
                <a:ea typeface="华文新魏" panose="02010800040101010101" pitchFamily="2" charset="-122"/>
              </a:rPr>
              <a:t>），比复杂指令集计算机（</a:t>
            </a:r>
            <a:r>
              <a:rPr lang="en-US" altLang="zh-CN" sz="2400" dirty="0">
                <a:latin typeface="华文新魏" panose="02010800040101010101" pitchFamily="2" charset="-122"/>
                <a:ea typeface="华文新魏" panose="02010800040101010101" pitchFamily="2" charset="-122"/>
              </a:rPr>
              <a:t>CISC</a:t>
            </a:r>
            <a:r>
              <a:rPr lang="zh-CN" altLang="en-US" sz="2400" dirty="0">
                <a:latin typeface="华文新魏" panose="02010800040101010101" pitchFamily="2" charset="-122"/>
                <a:ea typeface="华文新魏" panose="02010800040101010101" pitchFamily="2" charset="-122"/>
              </a:rPr>
              <a:t>）要简单得多。这样的简化实现了：</a:t>
            </a:r>
            <a:endParaRPr lang="zh-CN" altLang="en-US" sz="2400" dirty="0">
              <a:latin typeface="华文新魏" panose="02010800040101010101" pitchFamily="2" charset="-122"/>
              <a:ea typeface="华文新魏" panose="02010800040101010101" pitchFamily="2" charset="-122"/>
            </a:endParaRPr>
          </a:p>
        </p:txBody>
      </p:sp>
      <p:sp>
        <p:nvSpPr>
          <p:cNvPr id="29726" name="Text Box 30"/>
          <p:cNvSpPr txBox="1"/>
          <p:nvPr/>
        </p:nvSpPr>
        <p:spPr>
          <a:xfrm>
            <a:off x="1752600" y="4257675"/>
            <a:ext cx="5334000" cy="1552575"/>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高的指令吞吐量；</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出色的实时中断响应；</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小的、高性价比的处理器宏单元。</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box(in)">
                                      <p:cBhvr>
                                        <p:cTn id="7" dur="500"/>
                                        <p:tgtEl>
                                          <p:spTgt spid="29702"/>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9726"/>
                                        </p:tgtEl>
                                        <p:attrNameLst>
                                          <p:attrName>style.visibility</p:attrName>
                                        </p:attrNameLst>
                                      </p:cBhvr>
                                      <p:to>
                                        <p:strVal val="visible"/>
                                      </p:to>
                                    </p:set>
                                    <p:anim calcmode="lin" valueType="num">
                                      <p:cBhvr additive="base">
                                        <p:cTn id="11" dur="500" fill="hold"/>
                                        <p:tgtEl>
                                          <p:spTgt spid="29726"/>
                                        </p:tgtEl>
                                        <p:attrNameLst>
                                          <p:attrName>ppt_x</p:attrName>
                                        </p:attrNameLst>
                                      </p:cBhvr>
                                      <p:tavLst>
                                        <p:tav tm="0">
                                          <p:val>
                                            <p:strVal val="0-#ppt_w/2"/>
                                          </p:val>
                                        </p:tav>
                                        <p:tav tm="100000">
                                          <p:val>
                                            <p:strVal val="#ppt_x"/>
                                          </p:val>
                                        </p:tav>
                                      </p:tavLst>
                                    </p:anim>
                                    <p:anim calcmode="lin" valueType="num">
                                      <p:cBhvr additive="base">
                                        <p:cTn id="12" dur="500" fill="hold"/>
                                        <p:tgtEl>
                                          <p:spTgt spid="297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p:bldP spid="297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4"/>
          <p:cNvSpPr>
            <a:spLocks noGrp="1"/>
          </p:cNvSpPr>
          <p:nvPr>
            <p:ph type="title"/>
          </p:nvPr>
        </p:nvSpPr>
        <p:spPr>
          <a:ln/>
        </p:spPr>
        <p:txBody>
          <a:bodyPr vert="horz" wrap="square" lIns="91440" tIns="45720" rIns="91440" bIns="45720" anchor="ctr" anchorCtr="0"/>
          <a:p>
            <a:pPr eaLnBrk="1" hangingPunct="1"/>
            <a:r>
              <a:rPr lang="en-US" altLang="zh-CN" dirty="0"/>
              <a:t>4.2  ARM7TDMI</a:t>
            </a:r>
            <a:endParaRPr lang="en-US" altLang="zh-CN" dirty="0"/>
          </a:p>
        </p:txBody>
      </p:sp>
      <p:sp>
        <p:nvSpPr>
          <p:cNvPr id="30725"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三级流水线</a:t>
            </a:r>
            <a:endParaRPr lang="zh-CN" altLang="en-US" dirty="0"/>
          </a:p>
        </p:txBody>
      </p:sp>
      <p:sp>
        <p:nvSpPr>
          <p:cNvPr id="30726" name="Text Box 6"/>
          <p:cNvSpPr txBox="1"/>
          <p:nvPr/>
        </p:nvSpPr>
        <p:spPr>
          <a:xfrm>
            <a:off x="1187450" y="2565400"/>
            <a:ext cx="7010400" cy="26479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处理器使用流水线来增加处理器指令流的速度。这样可使几个操作同时进行，并使处理和存储器系统连续操作，能提供</a:t>
            </a:r>
            <a:r>
              <a:rPr lang="en-US" altLang="zh-CN" sz="2400" dirty="0">
                <a:latin typeface="华文新魏" panose="02010800040101010101" pitchFamily="2" charset="-122"/>
                <a:ea typeface="华文新魏" panose="02010800040101010101" pitchFamily="2" charset="-122"/>
              </a:rPr>
              <a:t>0.9MIPS/MHz</a:t>
            </a:r>
            <a:r>
              <a:rPr lang="zh-CN" altLang="en-US" sz="2400" dirty="0">
                <a:latin typeface="华文新魏" panose="02010800040101010101" pitchFamily="2" charset="-122"/>
                <a:ea typeface="华文新魏" panose="02010800040101010101" pitchFamily="2" charset="-122"/>
              </a:rPr>
              <a:t>的指令执行速度。</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的流水线分</a:t>
            </a:r>
            <a:r>
              <a:rPr lang="en-US" altLang="zh-CN" sz="2400" dirty="0">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级，分别为：</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zh-CN" altLang="en-US" sz="2400" dirty="0">
                <a:solidFill>
                  <a:srgbClr val="0000FF"/>
                </a:solidFill>
                <a:latin typeface="华文新魏" panose="02010800040101010101" pitchFamily="2" charset="-122"/>
                <a:ea typeface="华文新魏" panose="02010800040101010101" pitchFamily="2" charset="-122"/>
              </a:rPr>
              <a:t>取指</a:t>
            </a:r>
            <a:r>
              <a:rPr lang="zh-CN" altLang="en-US" sz="2400" dirty="0">
                <a:latin typeface="华文新魏" panose="02010800040101010101" pitchFamily="2" charset="-122"/>
                <a:ea typeface="华文新魏" panose="02010800040101010101" pitchFamily="2" charset="-122"/>
                <a:sym typeface="Wingdings" panose="05000000000000000000" pitchFamily="2" charset="2"/>
              </a:rPr>
              <a:t></a:t>
            </a:r>
            <a:r>
              <a:rPr lang="zh-CN" altLang="en-US" sz="2400" dirty="0">
                <a:solidFill>
                  <a:srgbClr val="0000FF"/>
                </a:solidFill>
                <a:latin typeface="华文新魏" panose="02010800040101010101" pitchFamily="2" charset="-122"/>
                <a:ea typeface="华文新魏" panose="02010800040101010101" pitchFamily="2" charset="-122"/>
                <a:sym typeface="Wingdings" panose="05000000000000000000" pitchFamily="2" charset="2"/>
              </a:rPr>
              <a:t>译码</a:t>
            </a:r>
            <a:r>
              <a:rPr lang="zh-CN" altLang="en-US" sz="2400" dirty="0">
                <a:latin typeface="华文新魏" panose="02010800040101010101" pitchFamily="2" charset="-122"/>
                <a:ea typeface="华文新魏" panose="02010800040101010101" pitchFamily="2" charset="-122"/>
                <a:sym typeface="Wingdings" panose="05000000000000000000" pitchFamily="2" charset="2"/>
              </a:rPr>
              <a:t></a:t>
            </a:r>
            <a:r>
              <a:rPr lang="zh-CN" altLang="en-US" sz="2400" dirty="0">
                <a:solidFill>
                  <a:srgbClr val="0000FF"/>
                </a:solidFill>
                <a:latin typeface="华文新魏" panose="02010800040101010101" pitchFamily="2" charset="-122"/>
                <a:ea typeface="华文新魏" panose="02010800040101010101" pitchFamily="2" charset="-122"/>
                <a:sym typeface="Wingdings" panose="05000000000000000000" pitchFamily="2" charset="2"/>
              </a:rPr>
              <a:t>执行</a:t>
            </a:r>
            <a:endParaRPr lang="zh-CN" altLang="en-US" sz="2400"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0725">
                                            <p:txEl>
                                              <p:charRg st="0" end="6"/>
                                            </p:txEl>
                                          </p:spTgt>
                                        </p:tgtEl>
                                        <p:attrNameLst>
                                          <p:attrName>style.visibility</p:attrName>
                                        </p:attrNameLst>
                                      </p:cBhvr>
                                      <p:to>
                                        <p:strVal val="visible"/>
                                      </p:to>
                                    </p:set>
                                    <p:anim calcmode="lin" valueType="num">
                                      <p:cBhvr additive="base">
                                        <p:cTn id="7" dur="500" fill="hold"/>
                                        <p:tgtEl>
                                          <p:spTgt spid="30725">
                                            <p:txEl>
                                              <p:charRg st="0" end="6"/>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725">
                                            <p:txEl>
                                              <p:charRg st="0" end="6"/>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box(in)">
                                      <p:cBhvr>
                                        <p:cTn id="12" dur="5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dvAuto="1000" build="p"/>
      <p:bldP spid="3072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4"/>
          <p:cNvSpPr>
            <a:spLocks noGrp="1"/>
          </p:cNvSpPr>
          <p:nvPr>
            <p:ph type="title"/>
          </p:nvPr>
        </p:nvSpPr>
        <p:spPr>
          <a:ln/>
        </p:spPr>
        <p:txBody>
          <a:bodyPr vert="horz" wrap="square" lIns="91440" tIns="45720" rIns="91440" bIns="45720" anchor="ctr" anchorCtr="0"/>
          <a:p>
            <a:pPr eaLnBrk="1" hangingPunct="1"/>
            <a:r>
              <a:rPr lang="en-US" altLang="zh-CN" dirty="0"/>
              <a:t>3.2  ARM7TDMI</a:t>
            </a:r>
            <a:endParaRPr lang="en-US" altLang="zh-CN" dirty="0"/>
          </a:p>
        </p:txBody>
      </p:sp>
      <p:sp>
        <p:nvSpPr>
          <p:cNvPr id="3277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存储器访问</a:t>
            </a:r>
            <a:endParaRPr lang="zh-CN" altLang="en-US" dirty="0"/>
          </a:p>
        </p:txBody>
      </p:sp>
      <p:sp>
        <p:nvSpPr>
          <p:cNvPr id="32774" name="Text Box 6"/>
          <p:cNvSpPr txBox="1"/>
          <p:nvPr/>
        </p:nvSpPr>
        <p:spPr>
          <a:xfrm>
            <a:off x="1219200" y="2667000"/>
            <a:ext cx="7010400" cy="2465388"/>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处理器使用了</a:t>
            </a:r>
            <a:r>
              <a:rPr lang="zh-CN" altLang="en-US" sz="2400" dirty="0">
                <a:solidFill>
                  <a:srgbClr val="0000FF"/>
                </a:solidFill>
                <a:latin typeface="华文新魏" panose="02010800040101010101" pitchFamily="2" charset="-122"/>
                <a:ea typeface="华文新魏" panose="02010800040101010101" pitchFamily="2" charset="-122"/>
              </a:rPr>
              <a:t>冯</a:t>
            </a:r>
            <a:r>
              <a:rPr lang="en-US" altLang="zh-CN" sz="2400" dirty="0">
                <a:solidFill>
                  <a:srgbClr val="0000FF"/>
                </a:solidFill>
                <a:latin typeface="Times New Roman" panose="02020603050405020304" pitchFamily="18" charset="0"/>
                <a:ea typeface="华文新魏" panose="02010800040101010101" pitchFamily="2" charset="-122"/>
              </a:rPr>
              <a:t>·</a:t>
            </a:r>
            <a:r>
              <a:rPr lang="zh-CN" altLang="en-US" sz="2400" dirty="0">
                <a:solidFill>
                  <a:srgbClr val="0000FF"/>
                </a:solidFill>
                <a:latin typeface="华文新魏" panose="02010800040101010101" pitchFamily="2" charset="-122"/>
                <a:ea typeface="华文新魏" panose="02010800040101010101" pitchFamily="2" charset="-122"/>
              </a:rPr>
              <a:t>诺依曼</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Von Neumann</a:t>
            </a:r>
            <a:r>
              <a:rPr lang="zh-CN" altLang="en-US" sz="2400" dirty="0">
                <a:latin typeface="华文新魏" panose="02010800040101010101" pitchFamily="2" charset="-122"/>
                <a:ea typeface="华文新魏" panose="02010800040101010101" pitchFamily="2" charset="-122"/>
              </a:rPr>
              <a:t>）结构，指令和数据共用一条</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位总线。只有装载、存储和交换指令可以对存储器中的数据进行访问。</a:t>
            </a:r>
            <a:endParaRPr lang="zh-CN" altLang="en-US" sz="2400" dirty="0">
              <a:solidFill>
                <a:srgbClr val="0000FF"/>
              </a:solidFill>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数据可以是字节（ </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位）、半字（ </a:t>
            </a:r>
            <a:r>
              <a:rPr lang="en-US" altLang="zh-CN" sz="2400" dirty="0">
                <a:latin typeface="华文新魏" panose="02010800040101010101" pitchFamily="2" charset="-122"/>
                <a:ea typeface="华文新魏" panose="02010800040101010101" pitchFamily="2" charset="-122"/>
              </a:rPr>
              <a:t>16</a:t>
            </a:r>
            <a:r>
              <a:rPr lang="zh-CN" altLang="en-US" sz="2400" dirty="0">
                <a:latin typeface="华文新魏" panose="02010800040101010101" pitchFamily="2" charset="-122"/>
                <a:ea typeface="华文新魏" panose="02010800040101010101" pitchFamily="2" charset="-122"/>
              </a:rPr>
              <a:t>位）或者字（</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2773">
                                            <p:txEl>
                                              <p:charRg st="0" end="6"/>
                                            </p:txEl>
                                          </p:spTgt>
                                        </p:tgtEl>
                                        <p:attrNameLst>
                                          <p:attrName>style.visibility</p:attrName>
                                        </p:attrNameLst>
                                      </p:cBhvr>
                                      <p:to>
                                        <p:strVal val="visible"/>
                                      </p:to>
                                    </p:set>
                                    <p:anim calcmode="lin" valueType="num">
                                      <p:cBhvr additive="base">
                                        <p:cTn id="7" dur="500" fill="hold"/>
                                        <p:tgtEl>
                                          <p:spTgt spid="32773">
                                            <p:txEl>
                                              <p:charRg st="0" end="6"/>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2773">
                                            <p:txEl>
                                              <p:charRg st="0" end="6"/>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box(in)">
                                      <p:cBhvr>
                                        <p:cTn id="12" dur="50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advAuto="1000" build="p"/>
      <p:bldP spid="3277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30722"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3.ARM7TDMI</a:t>
            </a:r>
            <a:r>
              <a:rPr lang="zh-CN" altLang="en-US" sz="2800" dirty="0">
                <a:solidFill>
                  <a:srgbClr val="0000FF"/>
                </a:solidFill>
                <a:latin typeface="Times New Roman" panose="02020603050405020304" pitchFamily="18" charset="0"/>
                <a:ea typeface="宋体" panose="02010600030101010101" pitchFamily="2" charset="-122"/>
              </a:rPr>
              <a:t>的模块和内部框图</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30723"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ln/>
        </p:spPr>
        <p:txBody>
          <a:bodyPr vert="horz" wrap="square" lIns="91440" tIns="45720" rIns="91440" bIns="45720" anchor="b" anchorCtr="0"/>
          <a:p>
            <a:pPr eaLnBrk="1" hangingPunct="1"/>
            <a:r>
              <a:rPr lang="en-US" altLang="zh-CN" dirty="0"/>
              <a:t>3.3 </a:t>
            </a:r>
            <a:r>
              <a:rPr lang="zh-CN" altLang="en-US" dirty="0"/>
              <a:t>系统内部结构图 </a:t>
            </a:r>
            <a:endParaRPr lang="zh-CN" altLang="en-US" dirty="0"/>
          </a:p>
        </p:txBody>
      </p:sp>
      <p:sp>
        <p:nvSpPr>
          <p:cNvPr id="31746" name="Rectangle 3"/>
          <p:cNvSpPr>
            <a:spLocks noGrp="1"/>
          </p:cNvSpPr>
          <p:nvPr>
            <p:ph type="body" sz="half" idx="1"/>
          </p:nvPr>
        </p:nvSpPr>
        <p:spPr>
          <a:xfrm>
            <a:off x="395288" y="1412875"/>
            <a:ext cx="2408237" cy="5040313"/>
          </a:xfrm>
          <a:ln/>
        </p:spPr>
        <p:txBody>
          <a:bodyPr vert="horz" wrap="square" lIns="91440" tIns="45720" rIns="91440" bIns="45720" anchor="t" anchorCtr="0"/>
          <a:p>
            <a:pPr eaLnBrk="1" hangingPunct="1">
              <a:lnSpc>
                <a:spcPct val="80000"/>
              </a:lnSpc>
              <a:buClr>
                <a:schemeClr val="folHlink"/>
              </a:buClr>
              <a:buSzPct val="60000"/>
              <a:buFont typeface="Wingdings" panose="05000000000000000000" pitchFamily="2" charset="2"/>
            </a:pPr>
            <a:r>
              <a:rPr lang="en-US" altLang="zh-CN" sz="2400" dirty="0"/>
              <a:t>ARM7TDMI</a:t>
            </a:r>
            <a:r>
              <a:rPr lang="zh-CN" altLang="en-US" sz="2400" dirty="0"/>
              <a:t>处理器部件和主要信号路径的框图如图所示。它内部由处理器核、用于边界扫描的</a:t>
            </a:r>
            <a:r>
              <a:rPr lang="en-US" altLang="zh-CN" sz="2400" dirty="0"/>
              <a:t>TAP</a:t>
            </a:r>
            <a:r>
              <a:rPr lang="zh-CN" altLang="en-US" sz="2400" dirty="0"/>
              <a:t>控制器和在线仿真器</a:t>
            </a:r>
            <a:r>
              <a:rPr lang="en-US" altLang="zh-CN" sz="2400" dirty="0"/>
              <a:t>ICE</a:t>
            </a:r>
            <a:r>
              <a:rPr lang="zh-CN" altLang="en-US" sz="2400" dirty="0"/>
              <a:t>组成。双向数据总线</a:t>
            </a:r>
            <a:r>
              <a:rPr lang="en-US" altLang="zh-CN" sz="2400" dirty="0"/>
              <a:t>D[31</a:t>
            </a:r>
            <a:r>
              <a:rPr lang="zh-CN" altLang="en-US" sz="2400" dirty="0"/>
              <a:t>：</a:t>
            </a:r>
            <a:r>
              <a:rPr lang="en-US" altLang="zh-CN" sz="2400" dirty="0"/>
              <a:t>0]</a:t>
            </a:r>
            <a:r>
              <a:rPr lang="zh-CN" altLang="en-US" sz="2400" dirty="0"/>
              <a:t>被分割成单向输入和输出总线，以便于与外部存储器兼容。 </a:t>
            </a:r>
            <a:endParaRPr lang="zh-CN" altLang="en-US" sz="2400" dirty="0"/>
          </a:p>
        </p:txBody>
      </p:sp>
      <p:graphicFrame>
        <p:nvGraphicFramePr>
          <p:cNvPr id="31747" name="Object 6"/>
          <p:cNvGraphicFramePr>
            <a:graphicFrameLocks noGrp="1" noChangeAspect="1"/>
          </p:cNvGraphicFramePr>
          <p:nvPr>
            <p:ph sz="half" idx="2"/>
          </p:nvPr>
        </p:nvGraphicFramePr>
        <p:xfrm>
          <a:off x="2987675" y="1125538"/>
          <a:ext cx="5895975" cy="5110162"/>
        </p:xfrm>
        <a:graphic>
          <a:graphicData uri="http://schemas.openxmlformats.org/presentationml/2006/ole">
            <mc:AlternateContent xmlns:mc="http://schemas.openxmlformats.org/markup-compatibility/2006">
              <mc:Choice xmlns:v="urn:schemas-microsoft-com:vml" Requires="v">
                <p:oleObj spid="_x0000_s3076" name="" r:id="rId1" imgW="6486525" imgH="5619750" progId="Paint.Picture">
                  <p:embed/>
                </p:oleObj>
              </mc:Choice>
              <mc:Fallback>
                <p:oleObj name="" r:id="rId1" imgW="6486525" imgH="5619750" progId="Paint.Picture">
                  <p:embed/>
                  <p:pic>
                    <p:nvPicPr>
                      <p:cNvPr id="0" name="图片 3075"/>
                      <p:cNvPicPr/>
                      <p:nvPr/>
                    </p:nvPicPr>
                    <p:blipFill>
                      <a:blip r:embed="rId2"/>
                      <a:stretch>
                        <a:fillRect/>
                      </a:stretch>
                    </p:blipFill>
                    <p:spPr>
                      <a:xfrm>
                        <a:off x="2987675" y="1125538"/>
                        <a:ext cx="5895975" cy="5110162"/>
                      </a:xfrm>
                      <a:prstGeom prst="rect">
                        <a:avLst/>
                      </a:prstGeom>
                      <a:noFill/>
                      <a:ln w="38100">
                        <a:miter/>
                      </a:ln>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4"/>
          <p:cNvSpPr>
            <a:spLocks noGrp="1"/>
          </p:cNvSpPr>
          <p:nvPr>
            <p:ph idx="1"/>
          </p:nvPr>
        </p:nvSpPr>
        <p:spPr>
          <a:xfrm>
            <a:off x="1116013" y="333375"/>
            <a:ext cx="7772400" cy="685800"/>
          </a:xfrm>
          <a:ln/>
        </p:spPr>
        <p:txBody>
          <a:bodyPr vert="horz" wrap="square" lIns="91440" tIns="45720" rIns="91440" bIns="45720" anchor="t" anchorCtr="0"/>
          <a:p>
            <a:pPr algn="ctr" eaLnBrk="1" hangingPunct="1">
              <a:buNone/>
            </a:pPr>
            <a:r>
              <a:rPr lang="en-US" altLang="zh-CN" sz="3600" dirty="0">
                <a:solidFill>
                  <a:schemeClr val="tx2"/>
                </a:solidFill>
                <a:ea typeface="黑体" panose="02010609060101010101" pitchFamily="49" charset="-122"/>
              </a:rPr>
              <a:t>3.3  ARM7TDMI</a:t>
            </a:r>
            <a:r>
              <a:rPr lang="zh-CN" altLang="en-US" sz="3600" dirty="0">
                <a:solidFill>
                  <a:schemeClr val="tx2"/>
                </a:solidFill>
                <a:ea typeface="黑体" panose="02010609060101010101" pitchFamily="49" charset="-122"/>
              </a:rPr>
              <a:t>的模块和内核框图</a:t>
            </a:r>
            <a:endParaRPr lang="zh-CN" altLang="en-US" sz="3600" dirty="0">
              <a:solidFill>
                <a:schemeClr val="tx2"/>
              </a:solidFill>
              <a:ea typeface="黑体" panose="02010609060101010101" pitchFamily="49" charset="-122"/>
            </a:endParaRPr>
          </a:p>
        </p:txBody>
      </p:sp>
      <p:sp>
        <p:nvSpPr>
          <p:cNvPr id="33794" name="Text Box 7"/>
          <p:cNvSpPr txBox="1"/>
          <p:nvPr/>
        </p:nvSpPr>
        <p:spPr>
          <a:xfrm>
            <a:off x="3657600" y="6248400"/>
            <a:ext cx="1676400" cy="366713"/>
          </a:xfrm>
          <a:prstGeom prst="rect">
            <a:avLst/>
          </a:prstGeom>
          <a:noFill/>
          <a:ln w="9525">
            <a:noFill/>
          </a:ln>
        </p:spPr>
        <p:txBody>
          <a:bodyPr anchor="t" anchorCtr="0">
            <a:spAutoFit/>
          </a:bodyPr>
          <a:p>
            <a:pPr algn="ctr">
              <a:spcBef>
                <a:spcPct val="50000"/>
              </a:spcBef>
              <a:buClrTx/>
              <a:buFontTx/>
            </a:pPr>
            <a:r>
              <a:rPr lang="en-US" altLang="zh-CN" dirty="0">
                <a:latin typeface="宋体" panose="02010600030101010101" pitchFamily="2" charset="-122"/>
                <a:ea typeface="宋体" panose="02010600030101010101" pitchFamily="2" charset="-122"/>
              </a:rPr>
              <a:t>ARM7TDMI</a:t>
            </a:r>
            <a:r>
              <a:rPr lang="zh-CN" altLang="en-US" dirty="0">
                <a:latin typeface="宋体" panose="02010600030101010101" pitchFamily="2" charset="-122"/>
                <a:ea typeface="宋体" panose="02010600030101010101" pitchFamily="2" charset="-122"/>
              </a:rPr>
              <a:t>模块</a:t>
            </a:r>
            <a:endParaRPr lang="zh-CN" altLang="en-US" dirty="0">
              <a:latin typeface="宋体" panose="02010600030101010101" pitchFamily="2" charset="-122"/>
              <a:ea typeface="宋体" panose="02010600030101010101" pitchFamily="2" charset="-122"/>
            </a:endParaRPr>
          </a:p>
        </p:txBody>
      </p:sp>
      <p:sp>
        <p:nvSpPr>
          <p:cNvPr id="33795" name="Rectangle 9"/>
          <p:cNvSpPr/>
          <p:nvPr/>
        </p:nvSpPr>
        <p:spPr>
          <a:xfrm>
            <a:off x="2071688" y="-762000"/>
            <a:ext cx="9144000" cy="0"/>
          </a:xfrm>
          <a:prstGeom prst="rect">
            <a:avLst/>
          </a:prstGeom>
          <a:noFill/>
          <a:ln w="9525">
            <a:noFill/>
          </a:ln>
        </p:spPr>
        <p:txBody>
          <a:bodyPr anchor="t" anchorCtr="0">
            <a:spAutoFit/>
          </a:bodyPr>
          <a:p>
            <a:pPr>
              <a:buClrTx/>
              <a:buFontTx/>
            </a:pPr>
            <a:endParaRPr lang="zh-CN" altLang="en-US" dirty="0">
              <a:latin typeface="Tahoma" panose="020B0604030504040204" pitchFamily="34" charset="0"/>
              <a:ea typeface="宋体" panose="02010600030101010101" pitchFamily="2" charset="-122"/>
            </a:endParaRPr>
          </a:p>
        </p:txBody>
      </p:sp>
      <p:sp>
        <p:nvSpPr>
          <p:cNvPr id="33796" name="Rectangle 10"/>
          <p:cNvSpPr/>
          <p:nvPr/>
        </p:nvSpPr>
        <p:spPr>
          <a:xfrm>
            <a:off x="1295400" y="1828800"/>
            <a:ext cx="1447800" cy="381000"/>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400" dirty="0">
                <a:latin typeface="Times New Roman" panose="02020603050405020304" pitchFamily="18" charset="0"/>
                <a:ea typeface="宋体" panose="02010600030101010101" pitchFamily="2" charset="-122"/>
              </a:rPr>
              <a:t>地址寄存器</a:t>
            </a:r>
            <a:endParaRPr lang="zh-CN" altLang="en-US" sz="1400" dirty="0">
              <a:latin typeface="Times New Roman" panose="02020603050405020304" pitchFamily="18" charset="0"/>
              <a:ea typeface="宋体" panose="02010600030101010101" pitchFamily="2" charset="-122"/>
            </a:endParaRPr>
          </a:p>
        </p:txBody>
      </p:sp>
      <p:sp>
        <p:nvSpPr>
          <p:cNvPr id="33797" name="Rectangle 11"/>
          <p:cNvSpPr/>
          <p:nvPr/>
        </p:nvSpPr>
        <p:spPr>
          <a:xfrm>
            <a:off x="1295400" y="3200400"/>
            <a:ext cx="1524000" cy="838200"/>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400" dirty="0">
                <a:latin typeface="Times New Roman" panose="02020603050405020304" pitchFamily="18" charset="0"/>
                <a:ea typeface="宋体" panose="02010600030101010101" pitchFamily="2" charset="-122"/>
              </a:rPr>
              <a:t>寄存器组</a:t>
            </a:r>
            <a:endParaRPr lang="zh-CN" altLang="en-US" sz="1400" dirty="0">
              <a:latin typeface="Times New Roman" panose="02020603050405020304" pitchFamily="18" charset="0"/>
              <a:ea typeface="宋体" panose="02010600030101010101" pitchFamily="2" charset="-122"/>
            </a:endParaRPr>
          </a:p>
          <a:p>
            <a:pPr algn="ctr">
              <a:buClrTx/>
              <a:buFontTx/>
            </a:pPr>
            <a:r>
              <a:rPr lang="en-US" altLang="zh-CN" sz="1400" dirty="0">
                <a:latin typeface="Times New Roman" panose="02020603050405020304" pitchFamily="18" charset="0"/>
                <a:ea typeface="宋体" panose="02010600030101010101" pitchFamily="2" charset="-122"/>
              </a:rPr>
              <a:t>31*32</a:t>
            </a:r>
            <a:r>
              <a:rPr lang="zh-CN" altLang="en-US" sz="1400" dirty="0">
                <a:latin typeface="Times New Roman" panose="02020603050405020304" pitchFamily="18" charset="0"/>
                <a:ea typeface="宋体" panose="02010600030101010101" pitchFamily="2" charset="-122"/>
              </a:rPr>
              <a:t>位寄存器</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6</a:t>
            </a:r>
            <a:r>
              <a:rPr lang="zh-CN" altLang="en-US" sz="1400" dirty="0">
                <a:latin typeface="Times New Roman" panose="02020603050405020304" pitchFamily="18" charset="0"/>
                <a:ea typeface="宋体" panose="02010600030101010101" pitchFamily="2" charset="-122"/>
              </a:rPr>
              <a:t>个状态寄存器）</a:t>
            </a:r>
            <a:endParaRPr lang="zh-CN" altLang="en-US" sz="1400" dirty="0">
              <a:latin typeface="Times New Roman" panose="02020603050405020304" pitchFamily="18" charset="0"/>
              <a:ea typeface="宋体" panose="02010600030101010101" pitchFamily="2" charset="-122"/>
            </a:endParaRPr>
          </a:p>
        </p:txBody>
      </p:sp>
      <p:sp>
        <p:nvSpPr>
          <p:cNvPr id="33798" name="Rectangle 12"/>
          <p:cNvSpPr/>
          <p:nvPr/>
        </p:nvSpPr>
        <p:spPr>
          <a:xfrm>
            <a:off x="1752600" y="2514600"/>
            <a:ext cx="990600" cy="304800"/>
          </a:xfrm>
          <a:prstGeom prst="rect">
            <a:avLst/>
          </a:prstGeom>
          <a:solidFill>
            <a:srgbClr val="FFFFCC"/>
          </a:solidFill>
          <a:ln w="9525" cap="flat" cmpd="sng">
            <a:solidFill>
              <a:schemeClr val="tx1"/>
            </a:solidFill>
            <a:prstDash val="solid"/>
            <a:miter/>
            <a:headEnd type="none" w="med" len="med"/>
            <a:tailEnd type="none" w="med" len="med"/>
          </a:ln>
        </p:spPr>
        <p:txBody>
          <a:bodyPr wrap="none" lIns="0" rIns="0" anchor="ctr" anchorCtr="0"/>
          <a:p>
            <a:pPr algn="ctr">
              <a:buClrTx/>
              <a:buFontTx/>
            </a:pPr>
            <a:r>
              <a:rPr lang="zh-CN" altLang="en-US" sz="1400" dirty="0">
                <a:latin typeface="Times New Roman" panose="02020603050405020304" pitchFamily="18" charset="0"/>
                <a:ea typeface="宋体" panose="02010600030101010101" pitchFamily="2" charset="-122"/>
              </a:rPr>
              <a:t>地址增量器</a:t>
            </a:r>
            <a:endParaRPr lang="zh-CN" altLang="en-US" sz="1400" dirty="0">
              <a:latin typeface="Times New Roman" panose="02020603050405020304" pitchFamily="18" charset="0"/>
              <a:ea typeface="宋体" panose="02010600030101010101" pitchFamily="2" charset="-122"/>
            </a:endParaRPr>
          </a:p>
        </p:txBody>
      </p:sp>
      <p:sp>
        <p:nvSpPr>
          <p:cNvPr id="33799" name="Rectangle 13"/>
          <p:cNvSpPr/>
          <p:nvPr/>
        </p:nvSpPr>
        <p:spPr>
          <a:xfrm>
            <a:off x="1752600" y="4343400"/>
            <a:ext cx="990600" cy="304800"/>
          </a:xfrm>
          <a:prstGeom prst="rect">
            <a:avLst/>
          </a:prstGeom>
          <a:solidFill>
            <a:srgbClr val="FFFFCC"/>
          </a:solidFill>
          <a:ln w="9525" cap="flat" cmpd="sng">
            <a:solidFill>
              <a:schemeClr val="tx1"/>
            </a:solidFill>
            <a:prstDash val="solid"/>
            <a:miter/>
            <a:headEnd type="none" w="med" len="med"/>
            <a:tailEnd type="none" w="med" len="med"/>
          </a:ln>
        </p:spPr>
        <p:txBody>
          <a:bodyPr wrap="none" lIns="0" rIns="0" anchor="ctr" anchorCtr="0"/>
          <a:p>
            <a:pPr algn="ctr">
              <a:buClrTx/>
              <a:buFontTx/>
            </a:pPr>
            <a:r>
              <a:rPr lang="zh-CN" altLang="en-US" sz="1400" dirty="0">
                <a:latin typeface="Times New Roman" panose="02020603050405020304" pitchFamily="18" charset="0"/>
                <a:ea typeface="宋体" panose="02010600030101010101" pitchFamily="2" charset="-122"/>
              </a:rPr>
              <a:t>乘法器</a:t>
            </a:r>
            <a:endParaRPr lang="zh-CN" altLang="en-US" sz="1400" dirty="0">
              <a:latin typeface="Times New Roman" panose="02020603050405020304" pitchFamily="18" charset="0"/>
              <a:ea typeface="宋体" panose="02010600030101010101" pitchFamily="2" charset="-122"/>
            </a:endParaRPr>
          </a:p>
        </p:txBody>
      </p:sp>
      <p:sp>
        <p:nvSpPr>
          <p:cNvPr id="33800" name="Rectangle 14"/>
          <p:cNvSpPr/>
          <p:nvPr/>
        </p:nvSpPr>
        <p:spPr>
          <a:xfrm>
            <a:off x="1752600" y="4953000"/>
            <a:ext cx="990600" cy="304800"/>
          </a:xfrm>
          <a:prstGeom prst="rect">
            <a:avLst/>
          </a:prstGeom>
          <a:solidFill>
            <a:srgbClr val="FFFFCC"/>
          </a:solidFill>
          <a:ln w="9525" cap="flat" cmpd="sng">
            <a:solidFill>
              <a:schemeClr val="tx1"/>
            </a:solidFill>
            <a:prstDash val="solid"/>
            <a:miter/>
            <a:headEnd type="none" w="med" len="med"/>
            <a:tailEnd type="none" w="med" len="med"/>
          </a:ln>
        </p:spPr>
        <p:txBody>
          <a:bodyPr wrap="none" lIns="0" rIns="0" anchor="ctr" anchorCtr="0"/>
          <a:p>
            <a:pPr algn="ctr">
              <a:buClrTx/>
              <a:buFontTx/>
            </a:pPr>
            <a:r>
              <a:rPr lang="zh-CN" altLang="en-US" sz="1400" dirty="0">
                <a:latin typeface="Times New Roman" panose="02020603050405020304" pitchFamily="18" charset="0"/>
                <a:ea typeface="宋体" panose="02010600030101010101" pitchFamily="2" charset="-122"/>
              </a:rPr>
              <a:t>桶形移位器</a:t>
            </a:r>
            <a:endParaRPr lang="zh-CN" altLang="en-US" sz="1400" dirty="0">
              <a:latin typeface="Times New Roman" panose="02020603050405020304" pitchFamily="18" charset="0"/>
              <a:ea typeface="宋体" panose="02010600030101010101" pitchFamily="2" charset="-122"/>
            </a:endParaRPr>
          </a:p>
        </p:txBody>
      </p:sp>
      <p:sp>
        <p:nvSpPr>
          <p:cNvPr id="33801" name="Rectangle 15"/>
          <p:cNvSpPr/>
          <p:nvPr/>
        </p:nvSpPr>
        <p:spPr>
          <a:xfrm>
            <a:off x="1295400" y="5486400"/>
            <a:ext cx="1447800" cy="381000"/>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400" dirty="0">
                <a:latin typeface="Times New Roman" panose="02020603050405020304" pitchFamily="18" charset="0"/>
                <a:ea typeface="宋体" panose="02010600030101010101" pitchFamily="2" charset="-122"/>
              </a:rPr>
              <a:t>32</a:t>
            </a:r>
            <a:r>
              <a:rPr lang="zh-CN" altLang="en-US" sz="1400" dirty="0">
                <a:latin typeface="Times New Roman" panose="02020603050405020304" pitchFamily="18" charset="0"/>
                <a:ea typeface="宋体" panose="02010600030101010101" pitchFamily="2" charset="-122"/>
              </a:rPr>
              <a:t>位</a:t>
            </a:r>
            <a:r>
              <a:rPr lang="en-US" altLang="zh-CN" sz="1400" dirty="0">
                <a:latin typeface="Times New Roman" panose="02020603050405020304" pitchFamily="18" charset="0"/>
                <a:ea typeface="宋体" panose="02010600030101010101" pitchFamily="2" charset="-122"/>
              </a:rPr>
              <a:t>ALU</a:t>
            </a:r>
            <a:endParaRPr lang="en-US" altLang="zh-CN" sz="1400" dirty="0">
              <a:latin typeface="Times New Roman" panose="02020603050405020304" pitchFamily="18" charset="0"/>
              <a:ea typeface="宋体" panose="02010600030101010101" pitchFamily="2" charset="-122"/>
            </a:endParaRPr>
          </a:p>
        </p:txBody>
      </p:sp>
      <p:sp>
        <p:nvSpPr>
          <p:cNvPr id="33802" name="Line 16"/>
          <p:cNvSpPr/>
          <p:nvPr/>
        </p:nvSpPr>
        <p:spPr>
          <a:xfrm flipV="1">
            <a:off x="1676400" y="2209800"/>
            <a:ext cx="0" cy="990600"/>
          </a:xfrm>
          <a:prstGeom prst="line">
            <a:avLst/>
          </a:prstGeom>
          <a:ln w="9525" cap="flat" cmpd="sng">
            <a:solidFill>
              <a:schemeClr val="tx1"/>
            </a:solidFill>
            <a:prstDash val="solid"/>
            <a:round/>
            <a:headEnd type="none" w="med" len="med"/>
            <a:tailEnd type="triangle" w="med" len="med"/>
          </a:ln>
        </p:spPr>
      </p:sp>
      <p:sp>
        <p:nvSpPr>
          <p:cNvPr id="33803" name="Line 17"/>
          <p:cNvSpPr/>
          <p:nvPr/>
        </p:nvSpPr>
        <p:spPr>
          <a:xfrm>
            <a:off x="2260600" y="2209800"/>
            <a:ext cx="0" cy="304800"/>
          </a:xfrm>
          <a:prstGeom prst="line">
            <a:avLst/>
          </a:prstGeom>
          <a:ln w="9525" cap="flat" cmpd="sng">
            <a:solidFill>
              <a:schemeClr val="tx1"/>
            </a:solidFill>
            <a:prstDash val="solid"/>
            <a:round/>
            <a:headEnd type="none" w="med" len="med"/>
            <a:tailEnd type="triangle" w="med" len="med"/>
          </a:ln>
        </p:spPr>
      </p:sp>
      <p:sp>
        <p:nvSpPr>
          <p:cNvPr id="33804" name="Line 18"/>
          <p:cNvSpPr/>
          <p:nvPr/>
        </p:nvSpPr>
        <p:spPr>
          <a:xfrm>
            <a:off x="2743200" y="2667000"/>
            <a:ext cx="304800" cy="0"/>
          </a:xfrm>
          <a:prstGeom prst="line">
            <a:avLst/>
          </a:prstGeom>
          <a:ln w="9525" cap="flat" cmpd="sng">
            <a:solidFill>
              <a:schemeClr val="tx1"/>
            </a:solidFill>
            <a:prstDash val="solid"/>
            <a:round/>
            <a:headEnd type="none" w="med" len="med"/>
            <a:tailEnd type="triangle" w="med" len="med"/>
          </a:ln>
        </p:spPr>
      </p:sp>
      <p:sp>
        <p:nvSpPr>
          <p:cNvPr id="33805" name="Line 19"/>
          <p:cNvSpPr/>
          <p:nvPr/>
        </p:nvSpPr>
        <p:spPr>
          <a:xfrm>
            <a:off x="3048000" y="1600200"/>
            <a:ext cx="0" cy="2057400"/>
          </a:xfrm>
          <a:prstGeom prst="line">
            <a:avLst/>
          </a:prstGeom>
          <a:ln w="9525" cap="flat" cmpd="sng">
            <a:solidFill>
              <a:schemeClr val="tx1"/>
            </a:solidFill>
            <a:prstDash val="solid"/>
            <a:round/>
            <a:headEnd type="none" w="med" len="med"/>
            <a:tailEnd type="none" w="med" len="med"/>
          </a:ln>
        </p:spPr>
      </p:sp>
      <p:sp>
        <p:nvSpPr>
          <p:cNvPr id="33806" name="Line 20"/>
          <p:cNvSpPr/>
          <p:nvPr/>
        </p:nvSpPr>
        <p:spPr>
          <a:xfrm flipH="1">
            <a:off x="2819400" y="3657600"/>
            <a:ext cx="228600" cy="0"/>
          </a:xfrm>
          <a:prstGeom prst="line">
            <a:avLst/>
          </a:prstGeom>
          <a:ln w="9525" cap="flat" cmpd="sng">
            <a:solidFill>
              <a:schemeClr val="tx1"/>
            </a:solidFill>
            <a:prstDash val="solid"/>
            <a:round/>
            <a:headEnd type="none" w="med" len="med"/>
            <a:tailEnd type="triangle" w="med" len="med"/>
          </a:ln>
        </p:spPr>
      </p:sp>
      <p:sp>
        <p:nvSpPr>
          <p:cNvPr id="33807" name="Line 21"/>
          <p:cNvSpPr/>
          <p:nvPr/>
        </p:nvSpPr>
        <p:spPr>
          <a:xfrm flipH="1">
            <a:off x="2514600" y="1600200"/>
            <a:ext cx="533400" cy="0"/>
          </a:xfrm>
          <a:prstGeom prst="line">
            <a:avLst/>
          </a:prstGeom>
          <a:ln w="9525" cap="flat" cmpd="sng">
            <a:solidFill>
              <a:schemeClr val="tx1"/>
            </a:solidFill>
            <a:prstDash val="solid"/>
            <a:round/>
            <a:headEnd type="none" w="med" len="med"/>
            <a:tailEnd type="none" w="med" len="med"/>
          </a:ln>
        </p:spPr>
      </p:sp>
      <p:sp>
        <p:nvSpPr>
          <p:cNvPr id="33808" name="Line 22"/>
          <p:cNvSpPr/>
          <p:nvPr/>
        </p:nvSpPr>
        <p:spPr>
          <a:xfrm>
            <a:off x="2514600" y="1600200"/>
            <a:ext cx="0" cy="228600"/>
          </a:xfrm>
          <a:prstGeom prst="line">
            <a:avLst/>
          </a:prstGeom>
          <a:ln w="9525" cap="flat" cmpd="sng">
            <a:solidFill>
              <a:schemeClr val="tx1"/>
            </a:solidFill>
            <a:prstDash val="solid"/>
            <a:round/>
            <a:headEnd type="none" w="med" len="med"/>
            <a:tailEnd type="triangle" w="med" len="med"/>
          </a:ln>
        </p:spPr>
      </p:sp>
      <p:sp>
        <p:nvSpPr>
          <p:cNvPr id="33809" name="Line 23"/>
          <p:cNvSpPr/>
          <p:nvPr/>
        </p:nvSpPr>
        <p:spPr>
          <a:xfrm flipV="1">
            <a:off x="2057400" y="1600200"/>
            <a:ext cx="0" cy="228600"/>
          </a:xfrm>
          <a:prstGeom prst="line">
            <a:avLst/>
          </a:prstGeom>
          <a:ln w="9525" cap="flat" cmpd="sng">
            <a:solidFill>
              <a:schemeClr val="tx1"/>
            </a:solidFill>
            <a:prstDash val="solid"/>
            <a:round/>
            <a:headEnd type="none" w="med" len="med"/>
            <a:tailEnd type="triangle" w="med" len="med"/>
          </a:ln>
        </p:spPr>
      </p:sp>
      <p:sp>
        <p:nvSpPr>
          <p:cNvPr id="33810" name="Line 24"/>
          <p:cNvSpPr/>
          <p:nvPr/>
        </p:nvSpPr>
        <p:spPr>
          <a:xfrm>
            <a:off x="1600200" y="1600200"/>
            <a:ext cx="0" cy="228600"/>
          </a:xfrm>
          <a:prstGeom prst="line">
            <a:avLst/>
          </a:prstGeom>
          <a:ln w="9525" cap="flat" cmpd="sng">
            <a:solidFill>
              <a:schemeClr val="tx1"/>
            </a:solidFill>
            <a:prstDash val="solid"/>
            <a:round/>
            <a:headEnd type="none" w="med" len="med"/>
            <a:tailEnd type="triangle" w="med" len="med"/>
          </a:ln>
        </p:spPr>
      </p:sp>
      <p:sp>
        <p:nvSpPr>
          <p:cNvPr id="33811" name="Line 25"/>
          <p:cNvSpPr/>
          <p:nvPr/>
        </p:nvSpPr>
        <p:spPr>
          <a:xfrm flipH="1">
            <a:off x="914400" y="1600200"/>
            <a:ext cx="685800" cy="0"/>
          </a:xfrm>
          <a:prstGeom prst="line">
            <a:avLst/>
          </a:prstGeom>
          <a:ln w="9525" cap="flat" cmpd="sng">
            <a:solidFill>
              <a:schemeClr val="tx1"/>
            </a:solidFill>
            <a:prstDash val="solid"/>
            <a:round/>
            <a:headEnd type="none" w="med" len="med"/>
            <a:tailEnd type="none" w="med" len="med"/>
          </a:ln>
        </p:spPr>
      </p:sp>
      <p:sp>
        <p:nvSpPr>
          <p:cNvPr id="33812" name="Line 26"/>
          <p:cNvSpPr/>
          <p:nvPr/>
        </p:nvSpPr>
        <p:spPr>
          <a:xfrm>
            <a:off x="914400" y="1600200"/>
            <a:ext cx="0" cy="4419600"/>
          </a:xfrm>
          <a:prstGeom prst="line">
            <a:avLst/>
          </a:prstGeom>
          <a:ln w="9525" cap="flat" cmpd="sng">
            <a:solidFill>
              <a:schemeClr val="tx1"/>
            </a:solidFill>
            <a:prstDash val="solid"/>
            <a:round/>
            <a:headEnd type="none" w="med" len="med"/>
            <a:tailEnd type="none" w="med" len="med"/>
          </a:ln>
        </p:spPr>
      </p:sp>
      <p:sp>
        <p:nvSpPr>
          <p:cNvPr id="33813" name="Line 27"/>
          <p:cNvSpPr/>
          <p:nvPr/>
        </p:nvSpPr>
        <p:spPr>
          <a:xfrm>
            <a:off x="914400" y="2971800"/>
            <a:ext cx="533400" cy="0"/>
          </a:xfrm>
          <a:prstGeom prst="line">
            <a:avLst/>
          </a:prstGeom>
          <a:ln w="9525" cap="flat" cmpd="sng">
            <a:solidFill>
              <a:schemeClr val="tx1"/>
            </a:solidFill>
            <a:prstDash val="solid"/>
            <a:round/>
            <a:headEnd type="none" w="med" len="med"/>
            <a:tailEnd type="none" w="med" len="med"/>
          </a:ln>
        </p:spPr>
      </p:sp>
      <p:sp>
        <p:nvSpPr>
          <p:cNvPr id="33814" name="Line 28"/>
          <p:cNvSpPr/>
          <p:nvPr/>
        </p:nvSpPr>
        <p:spPr>
          <a:xfrm>
            <a:off x="1447800" y="2971800"/>
            <a:ext cx="0" cy="228600"/>
          </a:xfrm>
          <a:prstGeom prst="line">
            <a:avLst/>
          </a:prstGeom>
          <a:ln w="9525" cap="flat" cmpd="sng">
            <a:solidFill>
              <a:schemeClr val="tx1"/>
            </a:solidFill>
            <a:prstDash val="solid"/>
            <a:round/>
            <a:headEnd type="none" w="med" len="med"/>
            <a:tailEnd type="triangle" w="med" len="med"/>
          </a:ln>
        </p:spPr>
      </p:sp>
      <p:sp>
        <p:nvSpPr>
          <p:cNvPr id="33815" name="Line 29"/>
          <p:cNvSpPr/>
          <p:nvPr/>
        </p:nvSpPr>
        <p:spPr>
          <a:xfrm>
            <a:off x="1447800" y="4038600"/>
            <a:ext cx="0" cy="1447800"/>
          </a:xfrm>
          <a:prstGeom prst="line">
            <a:avLst/>
          </a:prstGeom>
          <a:ln w="9525" cap="flat" cmpd="sng">
            <a:solidFill>
              <a:schemeClr val="tx1"/>
            </a:solidFill>
            <a:prstDash val="solid"/>
            <a:round/>
            <a:headEnd type="none" w="med" len="med"/>
            <a:tailEnd type="triangle" w="med" len="med"/>
          </a:ln>
        </p:spPr>
      </p:sp>
      <p:sp>
        <p:nvSpPr>
          <p:cNvPr id="33816" name="Line 30"/>
          <p:cNvSpPr/>
          <p:nvPr/>
        </p:nvSpPr>
        <p:spPr>
          <a:xfrm>
            <a:off x="1447800" y="4495800"/>
            <a:ext cx="304800" cy="0"/>
          </a:xfrm>
          <a:prstGeom prst="line">
            <a:avLst/>
          </a:prstGeom>
          <a:ln w="9525" cap="flat" cmpd="sng">
            <a:solidFill>
              <a:schemeClr val="tx1"/>
            </a:solidFill>
            <a:prstDash val="solid"/>
            <a:round/>
            <a:headEnd type="triangle" w="med" len="med"/>
            <a:tailEnd type="triangle" w="med" len="med"/>
          </a:ln>
        </p:spPr>
      </p:sp>
      <p:sp>
        <p:nvSpPr>
          <p:cNvPr id="33817" name="Line 31"/>
          <p:cNvSpPr/>
          <p:nvPr/>
        </p:nvSpPr>
        <p:spPr>
          <a:xfrm>
            <a:off x="2209800" y="5257800"/>
            <a:ext cx="0" cy="228600"/>
          </a:xfrm>
          <a:prstGeom prst="line">
            <a:avLst/>
          </a:prstGeom>
          <a:ln w="9525" cap="flat" cmpd="sng">
            <a:solidFill>
              <a:schemeClr val="tx1"/>
            </a:solidFill>
            <a:prstDash val="solid"/>
            <a:round/>
            <a:headEnd type="none" w="med" len="med"/>
            <a:tailEnd type="triangle" w="med" len="med"/>
          </a:ln>
        </p:spPr>
      </p:sp>
      <p:sp>
        <p:nvSpPr>
          <p:cNvPr id="33818" name="Line 32"/>
          <p:cNvSpPr/>
          <p:nvPr/>
        </p:nvSpPr>
        <p:spPr>
          <a:xfrm>
            <a:off x="2209800" y="4800600"/>
            <a:ext cx="1524000" cy="0"/>
          </a:xfrm>
          <a:prstGeom prst="line">
            <a:avLst/>
          </a:prstGeom>
          <a:ln w="9525" cap="flat" cmpd="sng">
            <a:solidFill>
              <a:schemeClr val="tx1"/>
            </a:solidFill>
            <a:prstDash val="solid"/>
            <a:round/>
            <a:headEnd type="none" w="med" len="med"/>
            <a:tailEnd type="triangle" w="med" len="med"/>
          </a:ln>
        </p:spPr>
      </p:sp>
      <p:sp>
        <p:nvSpPr>
          <p:cNvPr id="33819" name="Line 33"/>
          <p:cNvSpPr/>
          <p:nvPr/>
        </p:nvSpPr>
        <p:spPr>
          <a:xfrm flipV="1">
            <a:off x="2209800" y="4800600"/>
            <a:ext cx="0" cy="152400"/>
          </a:xfrm>
          <a:prstGeom prst="line">
            <a:avLst/>
          </a:prstGeom>
          <a:ln w="9525" cap="flat" cmpd="sng">
            <a:solidFill>
              <a:schemeClr val="tx1"/>
            </a:solidFill>
            <a:prstDash val="solid"/>
            <a:round/>
            <a:headEnd type="none" w="med" len="med"/>
            <a:tailEnd type="none" w="med" len="med"/>
          </a:ln>
        </p:spPr>
      </p:sp>
      <p:sp>
        <p:nvSpPr>
          <p:cNvPr id="33820" name="Line 34"/>
          <p:cNvSpPr/>
          <p:nvPr/>
        </p:nvSpPr>
        <p:spPr>
          <a:xfrm flipH="1" flipV="1">
            <a:off x="3733800" y="4191000"/>
            <a:ext cx="0" cy="990600"/>
          </a:xfrm>
          <a:prstGeom prst="line">
            <a:avLst/>
          </a:prstGeom>
          <a:ln w="9525" cap="flat" cmpd="sng">
            <a:solidFill>
              <a:schemeClr val="tx1"/>
            </a:solidFill>
            <a:prstDash val="solid"/>
            <a:round/>
            <a:headEnd type="triangle" w="med" len="med"/>
            <a:tailEnd type="none" w="med" len="med"/>
          </a:ln>
        </p:spPr>
      </p:sp>
      <p:sp>
        <p:nvSpPr>
          <p:cNvPr id="33821" name="Line 35"/>
          <p:cNvSpPr/>
          <p:nvPr/>
        </p:nvSpPr>
        <p:spPr>
          <a:xfrm>
            <a:off x="2209800" y="4038600"/>
            <a:ext cx="0" cy="152400"/>
          </a:xfrm>
          <a:prstGeom prst="line">
            <a:avLst/>
          </a:prstGeom>
          <a:ln w="9525" cap="flat" cmpd="sng">
            <a:solidFill>
              <a:schemeClr val="tx1"/>
            </a:solidFill>
            <a:prstDash val="solid"/>
            <a:round/>
            <a:headEnd type="none" w="med" len="med"/>
            <a:tailEnd type="none" w="med" len="med"/>
          </a:ln>
        </p:spPr>
      </p:sp>
      <p:sp>
        <p:nvSpPr>
          <p:cNvPr id="33822" name="Line 37"/>
          <p:cNvSpPr/>
          <p:nvPr/>
        </p:nvSpPr>
        <p:spPr>
          <a:xfrm>
            <a:off x="914400" y="6019800"/>
            <a:ext cx="1143000" cy="0"/>
          </a:xfrm>
          <a:prstGeom prst="line">
            <a:avLst/>
          </a:prstGeom>
          <a:ln w="9525" cap="flat" cmpd="sng">
            <a:solidFill>
              <a:schemeClr val="tx1"/>
            </a:solidFill>
            <a:prstDash val="solid"/>
            <a:round/>
            <a:headEnd type="none" w="med" len="med"/>
            <a:tailEnd type="none" w="med" len="med"/>
          </a:ln>
        </p:spPr>
      </p:sp>
      <p:sp>
        <p:nvSpPr>
          <p:cNvPr id="33823" name="Line 38"/>
          <p:cNvSpPr/>
          <p:nvPr/>
        </p:nvSpPr>
        <p:spPr>
          <a:xfrm flipV="1">
            <a:off x="2057400" y="5867400"/>
            <a:ext cx="0" cy="152400"/>
          </a:xfrm>
          <a:prstGeom prst="line">
            <a:avLst/>
          </a:prstGeom>
          <a:ln w="9525" cap="flat" cmpd="sng">
            <a:solidFill>
              <a:schemeClr val="tx1"/>
            </a:solidFill>
            <a:prstDash val="solid"/>
            <a:round/>
            <a:headEnd type="none" w="med" len="med"/>
            <a:tailEnd type="none" w="med" len="med"/>
          </a:ln>
        </p:spPr>
      </p:sp>
      <p:sp>
        <p:nvSpPr>
          <p:cNvPr id="33824" name="Rectangle 39"/>
          <p:cNvSpPr/>
          <p:nvPr/>
        </p:nvSpPr>
        <p:spPr>
          <a:xfrm>
            <a:off x="2971800" y="5181600"/>
            <a:ext cx="1447800" cy="457200"/>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400" dirty="0">
                <a:latin typeface="Times New Roman" panose="02020603050405020304" pitchFamily="18" charset="0"/>
                <a:ea typeface="宋体" panose="02010600030101010101" pitchFamily="2" charset="-122"/>
              </a:rPr>
              <a:t>写数据寄存器</a:t>
            </a:r>
            <a:endParaRPr lang="zh-CN" altLang="en-US" sz="1400" dirty="0">
              <a:latin typeface="Times New Roman" panose="02020603050405020304" pitchFamily="18" charset="0"/>
              <a:ea typeface="宋体" panose="02010600030101010101" pitchFamily="2" charset="-122"/>
            </a:endParaRPr>
          </a:p>
        </p:txBody>
      </p:sp>
      <p:sp>
        <p:nvSpPr>
          <p:cNvPr id="33825" name="Rectangle 40"/>
          <p:cNvSpPr/>
          <p:nvPr/>
        </p:nvSpPr>
        <p:spPr>
          <a:xfrm>
            <a:off x="4724400" y="5181600"/>
            <a:ext cx="2008188" cy="479425"/>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400" dirty="0">
                <a:latin typeface="Times New Roman" panose="02020603050405020304" pitchFamily="18" charset="0"/>
                <a:ea typeface="宋体" panose="02010600030101010101" pitchFamily="2" charset="-122"/>
              </a:rPr>
              <a:t>指令流水线读数据寄存器</a:t>
            </a:r>
            <a:endParaRPr lang="zh-CN" altLang="en-US" sz="1400" dirty="0">
              <a:latin typeface="Times New Roman" panose="02020603050405020304" pitchFamily="18" charset="0"/>
              <a:ea typeface="宋体" panose="02010600030101010101" pitchFamily="2" charset="-122"/>
            </a:endParaRPr>
          </a:p>
          <a:p>
            <a:pPr algn="ctr">
              <a:buClrTx/>
              <a:buFontTx/>
            </a:pPr>
            <a:r>
              <a:rPr lang="en-US" altLang="zh-CN" sz="1400" dirty="0">
                <a:latin typeface="Times New Roman" panose="02020603050405020304" pitchFamily="18" charset="0"/>
                <a:ea typeface="宋体" panose="02010600030101010101" pitchFamily="2" charset="-122"/>
              </a:rPr>
              <a:t>Thumb</a:t>
            </a:r>
            <a:r>
              <a:rPr lang="zh-CN" altLang="en-US" sz="1400" dirty="0">
                <a:latin typeface="Times New Roman" panose="02020603050405020304" pitchFamily="18" charset="0"/>
                <a:ea typeface="宋体" panose="02010600030101010101" pitchFamily="2" charset="-122"/>
              </a:rPr>
              <a:t>指令译码器</a:t>
            </a:r>
            <a:endParaRPr lang="zh-CN" altLang="en-US" sz="1400" dirty="0">
              <a:latin typeface="Times New Roman" panose="02020603050405020304" pitchFamily="18" charset="0"/>
              <a:ea typeface="宋体" panose="02010600030101010101" pitchFamily="2" charset="-122"/>
            </a:endParaRPr>
          </a:p>
        </p:txBody>
      </p:sp>
      <p:sp>
        <p:nvSpPr>
          <p:cNvPr id="33826" name="Line 41"/>
          <p:cNvSpPr/>
          <p:nvPr/>
        </p:nvSpPr>
        <p:spPr>
          <a:xfrm>
            <a:off x="3733800" y="5638800"/>
            <a:ext cx="0" cy="228600"/>
          </a:xfrm>
          <a:prstGeom prst="line">
            <a:avLst/>
          </a:prstGeom>
          <a:ln w="9525" cap="flat" cmpd="sng">
            <a:solidFill>
              <a:schemeClr val="tx1"/>
            </a:solidFill>
            <a:prstDash val="solid"/>
            <a:round/>
            <a:headEnd type="none" w="med" len="med"/>
            <a:tailEnd type="triangle" w="med" len="med"/>
          </a:ln>
        </p:spPr>
      </p:sp>
      <p:sp>
        <p:nvSpPr>
          <p:cNvPr id="33827" name="Line 42"/>
          <p:cNvSpPr/>
          <p:nvPr/>
        </p:nvSpPr>
        <p:spPr>
          <a:xfrm flipH="1">
            <a:off x="3733800" y="4800600"/>
            <a:ext cx="1371600" cy="0"/>
          </a:xfrm>
          <a:prstGeom prst="line">
            <a:avLst/>
          </a:prstGeom>
          <a:ln w="9525" cap="flat" cmpd="sng">
            <a:solidFill>
              <a:schemeClr val="tx1"/>
            </a:solidFill>
            <a:prstDash val="solid"/>
            <a:round/>
            <a:headEnd type="none" w="med" len="med"/>
            <a:tailEnd type="triangle" w="med" len="med"/>
          </a:ln>
        </p:spPr>
      </p:sp>
      <p:sp>
        <p:nvSpPr>
          <p:cNvPr id="33828" name="Line 43"/>
          <p:cNvSpPr/>
          <p:nvPr/>
        </p:nvSpPr>
        <p:spPr>
          <a:xfrm flipV="1">
            <a:off x="5105400" y="4800600"/>
            <a:ext cx="0" cy="381000"/>
          </a:xfrm>
          <a:prstGeom prst="line">
            <a:avLst/>
          </a:prstGeom>
          <a:ln w="9525" cap="flat" cmpd="sng">
            <a:solidFill>
              <a:schemeClr val="tx1"/>
            </a:solidFill>
            <a:prstDash val="solid"/>
            <a:round/>
            <a:headEnd type="none" w="med" len="med"/>
            <a:tailEnd type="none" w="med" len="med"/>
          </a:ln>
        </p:spPr>
      </p:sp>
      <p:sp>
        <p:nvSpPr>
          <p:cNvPr id="33829" name="Line 44"/>
          <p:cNvSpPr/>
          <p:nvPr/>
        </p:nvSpPr>
        <p:spPr>
          <a:xfrm flipV="1">
            <a:off x="5715000" y="5638800"/>
            <a:ext cx="0" cy="228600"/>
          </a:xfrm>
          <a:prstGeom prst="line">
            <a:avLst/>
          </a:prstGeom>
          <a:ln w="9525" cap="flat" cmpd="sng">
            <a:solidFill>
              <a:schemeClr val="tx1"/>
            </a:solidFill>
            <a:prstDash val="solid"/>
            <a:round/>
            <a:headEnd type="none" w="med" len="med"/>
            <a:tailEnd type="triangle" w="med" len="med"/>
          </a:ln>
        </p:spPr>
      </p:sp>
      <p:sp>
        <p:nvSpPr>
          <p:cNvPr id="33830" name="Line 45"/>
          <p:cNvSpPr/>
          <p:nvPr/>
        </p:nvSpPr>
        <p:spPr>
          <a:xfrm flipV="1">
            <a:off x="6019800" y="4876800"/>
            <a:ext cx="0" cy="304800"/>
          </a:xfrm>
          <a:prstGeom prst="line">
            <a:avLst/>
          </a:prstGeom>
          <a:ln w="9525" cap="flat" cmpd="sng">
            <a:solidFill>
              <a:schemeClr val="tx1"/>
            </a:solidFill>
            <a:prstDash val="solid"/>
            <a:round/>
            <a:headEnd type="none" w="med" len="med"/>
            <a:tailEnd type="triangle" w="med" len="med"/>
          </a:ln>
        </p:spPr>
      </p:sp>
      <p:sp>
        <p:nvSpPr>
          <p:cNvPr id="33831" name="Rectangle 46"/>
          <p:cNvSpPr/>
          <p:nvPr/>
        </p:nvSpPr>
        <p:spPr>
          <a:xfrm>
            <a:off x="5562600" y="990600"/>
            <a:ext cx="838200" cy="3886200"/>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400" dirty="0">
                <a:latin typeface="Times New Roman" panose="02020603050405020304" pitchFamily="18" charset="0"/>
                <a:ea typeface="宋体" panose="02010600030101010101" pitchFamily="2" charset="-122"/>
              </a:rPr>
              <a:t>指令译码</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和</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逻辑控制</a:t>
            </a:r>
            <a:endParaRPr lang="zh-CN" altLang="en-US" sz="1400" dirty="0">
              <a:latin typeface="Times New Roman" panose="02020603050405020304" pitchFamily="18" charset="0"/>
              <a:ea typeface="宋体" panose="02010600030101010101" pitchFamily="2" charset="-122"/>
            </a:endParaRPr>
          </a:p>
        </p:txBody>
      </p:sp>
      <p:sp>
        <p:nvSpPr>
          <p:cNvPr id="33832" name="Line 47"/>
          <p:cNvSpPr/>
          <p:nvPr/>
        </p:nvSpPr>
        <p:spPr>
          <a:xfrm flipH="1">
            <a:off x="6400800" y="1600200"/>
            <a:ext cx="533400" cy="0"/>
          </a:xfrm>
          <a:prstGeom prst="line">
            <a:avLst/>
          </a:prstGeom>
          <a:ln w="9525" cap="flat" cmpd="sng">
            <a:solidFill>
              <a:schemeClr val="tx1"/>
            </a:solidFill>
            <a:prstDash val="solid"/>
            <a:round/>
            <a:headEnd type="none" w="med" len="med"/>
            <a:tailEnd type="triangle" w="med" len="med"/>
          </a:ln>
        </p:spPr>
      </p:sp>
      <p:sp>
        <p:nvSpPr>
          <p:cNvPr id="33833" name="Line 48"/>
          <p:cNvSpPr/>
          <p:nvPr/>
        </p:nvSpPr>
        <p:spPr>
          <a:xfrm flipH="1">
            <a:off x="6400800" y="1828800"/>
            <a:ext cx="533400" cy="0"/>
          </a:xfrm>
          <a:prstGeom prst="line">
            <a:avLst/>
          </a:prstGeom>
          <a:ln w="9525" cap="flat" cmpd="sng">
            <a:solidFill>
              <a:schemeClr val="tx1"/>
            </a:solidFill>
            <a:prstDash val="solid"/>
            <a:round/>
            <a:headEnd type="none" w="med" len="med"/>
            <a:tailEnd type="triangle" w="med" len="med"/>
          </a:ln>
        </p:spPr>
      </p:sp>
      <p:sp>
        <p:nvSpPr>
          <p:cNvPr id="33834" name="Line 49"/>
          <p:cNvSpPr/>
          <p:nvPr/>
        </p:nvSpPr>
        <p:spPr>
          <a:xfrm flipH="1">
            <a:off x="6400800" y="2057400"/>
            <a:ext cx="533400" cy="0"/>
          </a:xfrm>
          <a:prstGeom prst="line">
            <a:avLst/>
          </a:prstGeom>
          <a:ln w="9525" cap="flat" cmpd="sng">
            <a:solidFill>
              <a:schemeClr val="tx1"/>
            </a:solidFill>
            <a:prstDash val="solid"/>
            <a:round/>
            <a:headEnd type="none" w="med" len="med"/>
            <a:tailEnd type="triangle" w="med" len="med"/>
          </a:ln>
        </p:spPr>
      </p:sp>
      <p:sp>
        <p:nvSpPr>
          <p:cNvPr id="33835" name="Line 50"/>
          <p:cNvSpPr/>
          <p:nvPr/>
        </p:nvSpPr>
        <p:spPr>
          <a:xfrm flipH="1">
            <a:off x="6400800" y="2286000"/>
            <a:ext cx="533400" cy="0"/>
          </a:xfrm>
          <a:prstGeom prst="line">
            <a:avLst/>
          </a:prstGeom>
          <a:ln w="9525" cap="flat" cmpd="sng">
            <a:solidFill>
              <a:schemeClr val="tx1"/>
            </a:solidFill>
            <a:prstDash val="solid"/>
            <a:round/>
            <a:headEnd type="none" w="med" len="med"/>
            <a:tailEnd type="triangle" w="med" len="med"/>
          </a:ln>
        </p:spPr>
      </p:sp>
      <p:sp>
        <p:nvSpPr>
          <p:cNvPr id="33836" name="Line 51"/>
          <p:cNvSpPr/>
          <p:nvPr/>
        </p:nvSpPr>
        <p:spPr>
          <a:xfrm flipH="1">
            <a:off x="6400800" y="2514600"/>
            <a:ext cx="533400" cy="0"/>
          </a:xfrm>
          <a:prstGeom prst="line">
            <a:avLst/>
          </a:prstGeom>
          <a:ln w="9525" cap="flat" cmpd="sng">
            <a:solidFill>
              <a:schemeClr val="tx1"/>
            </a:solidFill>
            <a:prstDash val="solid"/>
            <a:round/>
            <a:headEnd type="none" w="med" len="med"/>
            <a:tailEnd type="triangle" w="med" len="med"/>
          </a:ln>
        </p:spPr>
      </p:sp>
      <p:sp>
        <p:nvSpPr>
          <p:cNvPr id="33837" name="Line 52"/>
          <p:cNvSpPr/>
          <p:nvPr/>
        </p:nvSpPr>
        <p:spPr>
          <a:xfrm flipH="1">
            <a:off x="6400800" y="2743200"/>
            <a:ext cx="533400" cy="0"/>
          </a:xfrm>
          <a:prstGeom prst="line">
            <a:avLst/>
          </a:prstGeom>
          <a:ln w="9525" cap="flat" cmpd="sng">
            <a:solidFill>
              <a:schemeClr val="tx1"/>
            </a:solidFill>
            <a:prstDash val="solid"/>
            <a:round/>
            <a:headEnd type="triangle" w="med" len="med"/>
            <a:tailEnd type="none" w="med" len="med"/>
          </a:ln>
        </p:spPr>
      </p:sp>
      <p:sp>
        <p:nvSpPr>
          <p:cNvPr id="33838" name="Line 53"/>
          <p:cNvSpPr/>
          <p:nvPr/>
        </p:nvSpPr>
        <p:spPr>
          <a:xfrm flipH="1">
            <a:off x="6400800" y="2971800"/>
            <a:ext cx="533400" cy="0"/>
          </a:xfrm>
          <a:prstGeom prst="line">
            <a:avLst/>
          </a:prstGeom>
          <a:ln w="9525" cap="flat" cmpd="sng">
            <a:solidFill>
              <a:schemeClr val="tx1"/>
            </a:solidFill>
            <a:prstDash val="solid"/>
            <a:round/>
            <a:headEnd type="triangle" w="med" len="med"/>
            <a:tailEnd type="none" w="med" len="med"/>
          </a:ln>
        </p:spPr>
      </p:sp>
      <p:sp>
        <p:nvSpPr>
          <p:cNvPr id="33839" name="Line 55"/>
          <p:cNvSpPr/>
          <p:nvPr/>
        </p:nvSpPr>
        <p:spPr>
          <a:xfrm flipH="1">
            <a:off x="6400800" y="3200400"/>
            <a:ext cx="533400" cy="0"/>
          </a:xfrm>
          <a:prstGeom prst="line">
            <a:avLst/>
          </a:prstGeom>
          <a:ln w="28575" cap="flat" cmpd="sng">
            <a:solidFill>
              <a:schemeClr val="tx1"/>
            </a:solidFill>
            <a:prstDash val="solid"/>
            <a:round/>
            <a:headEnd type="triangle" w="med" len="med"/>
            <a:tailEnd type="none" w="med" len="med"/>
          </a:ln>
        </p:spPr>
      </p:sp>
      <p:sp>
        <p:nvSpPr>
          <p:cNvPr id="33840" name="Line 56"/>
          <p:cNvSpPr/>
          <p:nvPr/>
        </p:nvSpPr>
        <p:spPr>
          <a:xfrm flipH="1">
            <a:off x="6400800" y="3429000"/>
            <a:ext cx="533400" cy="0"/>
          </a:xfrm>
          <a:prstGeom prst="line">
            <a:avLst/>
          </a:prstGeom>
          <a:ln w="28575" cap="flat" cmpd="sng">
            <a:solidFill>
              <a:schemeClr val="tx1"/>
            </a:solidFill>
            <a:prstDash val="solid"/>
            <a:round/>
            <a:headEnd type="triangle" w="med" len="med"/>
            <a:tailEnd type="none" w="med" len="med"/>
          </a:ln>
        </p:spPr>
      </p:sp>
      <p:sp>
        <p:nvSpPr>
          <p:cNvPr id="33841" name="Line 57"/>
          <p:cNvSpPr/>
          <p:nvPr/>
        </p:nvSpPr>
        <p:spPr>
          <a:xfrm flipH="1">
            <a:off x="6400800" y="3657600"/>
            <a:ext cx="533400" cy="0"/>
          </a:xfrm>
          <a:prstGeom prst="line">
            <a:avLst/>
          </a:prstGeom>
          <a:ln w="28575" cap="flat" cmpd="sng">
            <a:solidFill>
              <a:schemeClr val="tx1"/>
            </a:solidFill>
            <a:prstDash val="solid"/>
            <a:round/>
            <a:headEnd type="triangle" w="med" len="med"/>
            <a:tailEnd type="none" w="med" len="med"/>
          </a:ln>
        </p:spPr>
      </p:sp>
      <p:sp>
        <p:nvSpPr>
          <p:cNvPr id="33842" name="Line 58"/>
          <p:cNvSpPr/>
          <p:nvPr/>
        </p:nvSpPr>
        <p:spPr>
          <a:xfrm flipH="1">
            <a:off x="6400800" y="4038600"/>
            <a:ext cx="533400" cy="0"/>
          </a:xfrm>
          <a:prstGeom prst="line">
            <a:avLst/>
          </a:prstGeom>
          <a:ln w="28575" cap="flat" cmpd="sng">
            <a:solidFill>
              <a:schemeClr val="tx1"/>
            </a:solidFill>
            <a:prstDash val="solid"/>
            <a:round/>
            <a:headEnd type="triangle" w="med" len="med"/>
            <a:tailEnd type="none" w="med" len="med"/>
          </a:ln>
        </p:spPr>
      </p:sp>
      <p:sp>
        <p:nvSpPr>
          <p:cNvPr id="33843" name="Line 59"/>
          <p:cNvSpPr/>
          <p:nvPr/>
        </p:nvSpPr>
        <p:spPr>
          <a:xfrm flipH="1">
            <a:off x="6400800" y="4267200"/>
            <a:ext cx="533400" cy="0"/>
          </a:xfrm>
          <a:prstGeom prst="line">
            <a:avLst/>
          </a:prstGeom>
          <a:ln w="28575" cap="flat" cmpd="sng">
            <a:solidFill>
              <a:schemeClr val="tx1"/>
            </a:solidFill>
            <a:prstDash val="solid"/>
            <a:round/>
            <a:headEnd type="none" w="med" len="med"/>
            <a:tailEnd type="triangle" w="med" len="med"/>
          </a:ln>
        </p:spPr>
      </p:sp>
      <p:sp>
        <p:nvSpPr>
          <p:cNvPr id="33844" name="Line 60"/>
          <p:cNvSpPr/>
          <p:nvPr/>
        </p:nvSpPr>
        <p:spPr>
          <a:xfrm flipH="1">
            <a:off x="6400800" y="4495800"/>
            <a:ext cx="533400" cy="0"/>
          </a:xfrm>
          <a:prstGeom prst="line">
            <a:avLst/>
          </a:prstGeom>
          <a:ln w="9525" cap="flat" cmpd="sng">
            <a:solidFill>
              <a:schemeClr val="tx1"/>
            </a:solidFill>
            <a:prstDash val="solid"/>
            <a:round/>
            <a:headEnd type="triangle" w="med" len="med"/>
            <a:tailEnd type="none" w="med" len="med"/>
          </a:ln>
        </p:spPr>
      </p:sp>
      <p:sp>
        <p:nvSpPr>
          <p:cNvPr id="33845" name="Line 61"/>
          <p:cNvSpPr/>
          <p:nvPr/>
        </p:nvSpPr>
        <p:spPr>
          <a:xfrm flipH="1">
            <a:off x="6400800" y="4724400"/>
            <a:ext cx="533400" cy="0"/>
          </a:xfrm>
          <a:prstGeom prst="line">
            <a:avLst/>
          </a:prstGeom>
          <a:ln w="9525" cap="flat" cmpd="sng">
            <a:solidFill>
              <a:schemeClr val="tx1"/>
            </a:solidFill>
            <a:prstDash val="solid"/>
            <a:round/>
            <a:headEnd type="none" w="med" len="med"/>
            <a:tailEnd type="triangle" w="med" len="med"/>
          </a:ln>
        </p:spPr>
      </p:sp>
      <p:sp>
        <p:nvSpPr>
          <p:cNvPr id="33846" name="Text Box 62"/>
          <p:cNvSpPr txBox="1"/>
          <p:nvPr/>
        </p:nvSpPr>
        <p:spPr>
          <a:xfrm>
            <a:off x="1600200" y="1295400"/>
            <a:ext cx="10668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ADDR[31:0]</a:t>
            </a:r>
            <a:endParaRPr lang="en-US" altLang="zh-CN" sz="1400" dirty="0">
              <a:latin typeface="Times New Roman" panose="02020603050405020304" pitchFamily="18" charset="0"/>
              <a:ea typeface="宋体" panose="02010600030101010101" pitchFamily="2" charset="-122"/>
            </a:endParaRPr>
          </a:p>
        </p:txBody>
      </p:sp>
      <p:sp>
        <p:nvSpPr>
          <p:cNvPr id="33847" name="Text Box 63"/>
          <p:cNvSpPr txBox="1"/>
          <p:nvPr/>
        </p:nvSpPr>
        <p:spPr>
          <a:xfrm>
            <a:off x="7010400" y="990600"/>
            <a:ext cx="10668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CLK</a:t>
            </a:r>
            <a:endParaRPr lang="en-US" altLang="zh-CN" sz="1400" dirty="0">
              <a:latin typeface="Times New Roman" panose="02020603050405020304" pitchFamily="18" charset="0"/>
              <a:ea typeface="宋体" panose="02010600030101010101" pitchFamily="2" charset="-122"/>
            </a:endParaRPr>
          </a:p>
        </p:txBody>
      </p:sp>
      <p:sp>
        <p:nvSpPr>
          <p:cNvPr id="33848" name="Text Box 64"/>
          <p:cNvSpPr txBox="1"/>
          <p:nvPr/>
        </p:nvSpPr>
        <p:spPr>
          <a:xfrm>
            <a:off x="7010400" y="1203325"/>
            <a:ext cx="10668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CLEN</a:t>
            </a:r>
            <a:endParaRPr lang="en-US" altLang="zh-CN" sz="1400" dirty="0">
              <a:latin typeface="Times New Roman" panose="02020603050405020304" pitchFamily="18" charset="0"/>
              <a:ea typeface="宋体" panose="02010600030101010101" pitchFamily="2" charset="-122"/>
            </a:endParaRPr>
          </a:p>
        </p:txBody>
      </p:sp>
      <p:sp>
        <p:nvSpPr>
          <p:cNvPr id="33849" name="Text Box 65"/>
          <p:cNvSpPr txBox="1"/>
          <p:nvPr/>
        </p:nvSpPr>
        <p:spPr>
          <a:xfrm>
            <a:off x="7010400" y="1431925"/>
            <a:ext cx="17526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CFGBIGEND</a:t>
            </a:r>
            <a:endParaRPr lang="en-US" altLang="zh-CN" sz="1400" dirty="0">
              <a:latin typeface="Times New Roman" panose="02020603050405020304" pitchFamily="18" charset="0"/>
              <a:ea typeface="宋体" panose="02010600030101010101" pitchFamily="2" charset="-122"/>
            </a:endParaRPr>
          </a:p>
        </p:txBody>
      </p:sp>
      <p:sp>
        <p:nvSpPr>
          <p:cNvPr id="33850" name="Text Box 66"/>
          <p:cNvSpPr txBox="1"/>
          <p:nvPr/>
        </p:nvSpPr>
        <p:spPr>
          <a:xfrm>
            <a:off x="7010400" y="16605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nIRQ</a:t>
            </a:r>
            <a:endParaRPr lang="en-US" altLang="zh-CN" sz="1400" dirty="0">
              <a:latin typeface="Times New Roman" panose="02020603050405020304" pitchFamily="18" charset="0"/>
              <a:ea typeface="宋体" panose="02010600030101010101" pitchFamily="2" charset="-122"/>
            </a:endParaRPr>
          </a:p>
        </p:txBody>
      </p:sp>
      <p:sp>
        <p:nvSpPr>
          <p:cNvPr id="33851" name="Text Box 67"/>
          <p:cNvSpPr txBox="1"/>
          <p:nvPr/>
        </p:nvSpPr>
        <p:spPr>
          <a:xfrm>
            <a:off x="7010400" y="18891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nFIQ</a:t>
            </a:r>
            <a:endParaRPr lang="en-US" altLang="zh-CN" sz="1400" dirty="0">
              <a:latin typeface="Times New Roman" panose="02020603050405020304" pitchFamily="18" charset="0"/>
              <a:ea typeface="宋体" panose="02010600030101010101" pitchFamily="2" charset="-122"/>
            </a:endParaRPr>
          </a:p>
        </p:txBody>
      </p:sp>
      <p:sp>
        <p:nvSpPr>
          <p:cNvPr id="33852" name="Text Box 68"/>
          <p:cNvSpPr txBox="1"/>
          <p:nvPr/>
        </p:nvSpPr>
        <p:spPr>
          <a:xfrm>
            <a:off x="7010400" y="21177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nRESET</a:t>
            </a:r>
            <a:endParaRPr lang="en-US" altLang="zh-CN" sz="1400" dirty="0">
              <a:latin typeface="Times New Roman" panose="02020603050405020304" pitchFamily="18" charset="0"/>
              <a:ea typeface="宋体" panose="02010600030101010101" pitchFamily="2" charset="-122"/>
            </a:endParaRPr>
          </a:p>
        </p:txBody>
      </p:sp>
      <p:sp>
        <p:nvSpPr>
          <p:cNvPr id="33853" name="Text Box 69"/>
          <p:cNvSpPr txBox="1"/>
          <p:nvPr/>
        </p:nvSpPr>
        <p:spPr>
          <a:xfrm>
            <a:off x="7010400" y="23463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ABORT</a:t>
            </a:r>
            <a:endParaRPr lang="en-US" altLang="zh-CN" sz="1400" dirty="0">
              <a:latin typeface="Times New Roman" panose="02020603050405020304" pitchFamily="18" charset="0"/>
              <a:ea typeface="宋体" panose="02010600030101010101" pitchFamily="2" charset="-122"/>
            </a:endParaRPr>
          </a:p>
        </p:txBody>
      </p:sp>
      <p:sp>
        <p:nvSpPr>
          <p:cNvPr id="33854" name="Text Box 70"/>
          <p:cNvSpPr txBox="1"/>
          <p:nvPr/>
        </p:nvSpPr>
        <p:spPr>
          <a:xfrm>
            <a:off x="7010400" y="25749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LOCK</a:t>
            </a:r>
            <a:endParaRPr lang="en-US" altLang="zh-CN" sz="1400" dirty="0">
              <a:latin typeface="Times New Roman" panose="02020603050405020304" pitchFamily="18" charset="0"/>
              <a:ea typeface="宋体" panose="02010600030101010101" pitchFamily="2" charset="-122"/>
            </a:endParaRPr>
          </a:p>
        </p:txBody>
      </p:sp>
      <p:sp>
        <p:nvSpPr>
          <p:cNvPr id="33855" name="Text Box 71"/>
          <p:cNvSpPr txBox="1"/>
          <p:nvPr/>
        </p:nvSpPr>
        <p:spPr>
          <a:xfrm>
            <a:off x="7010400" y="28035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WRITE</a:t>
            </a:r>
            <a:endParaRPr lang="en-US" altLang="zh-CN" sz="1400" dirty="0">
              <a:latin typeface="Times New Roman" panose="02020603050405020304" pitchFamily="18" charset="0"/>
              <a:ea typeface="宋体" panose="02010600030101010101" pitchFamily="2" charset="-122"/>
            </a:endParaRPr>
          </a:p>
        </p:txBody>
      </p:sp>
      <p:sp>
        <p:nvSpPr>
          <p:cNvPr id="33856" name="Text Box 72"/>
          <p:cNvSpPr txBox="1"/>
          <p:nvPr/>
        </p:nvSpPr>
        <p:spPr>
          <a:xfrm>
            <a:off x="7010400" y="3124200"/>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SIZE[1:0]</a:t>
            </a:r>
            <a:endParaRPr lang="en-US" altLang="zh-CN" sz="1400" dirty="0">
              <a:latin typeface="Times New Roman" panose="02020603050405020304" pitchFamily="18" charset="0"/>
              <a:ea typeface="宋体" panose="02010600030101010101" pitchFamily="2" charset="-122"/>
            </a:endParaRPr>
          </a:p>
        </p:txBody>
      </p:sp>
      <p:sp>
        <p:nvSpPr>
          <p:cNvPr id="33857" name="Text Box 73"/>
          <p:cNvSpPr txBox="1"/>
          <p:nvPr/>
        </p:nvSpPr>
        <p:spPr>
          <a:xfrm>
            <a:off x="7010400" y="3284538"/>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PROT[1:0]</a:t>
            </a:r>
            <a:endParaRPr lang="en-US" altLang="zh-CN" sz="1400" dirty="0">
              <a:latin typeface="Times New Roman" panose="02020603050405020304" pitchFamily="18" charset="0"/>
              <a:ea typeface="宋体" panose="02010600030101010101" pitchFamily="2" charset="-122"/>
            </a:endParaRPr>
          </a:p>
        </p:txBody>
      </p:sp>
      <p:sp>
        <p:nvSpPr>
          <p:cNvPr id="33858" name="Text Box 74"/>
          <p:cNvSpPr txBox="1"/>
          <p:nvPr/>
        </p:nvSpPr>
        <p:spPr>
          <a:xfrm>
            <a:off x="7010400" y="34893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TRANS[1:0]</a:t>
            </a:r>
            <a:endParaRPr lang="en-US" altLang="zh-CN" sz="1400" dirty="0">
              <a:latin typeface="Times New Roman" panose="02020603050405020304" pitchFamily="18" charset="0"/>
              <a:ea typeface="宋体" panose="02010600030101010101" pitchFamily="2" charset="-122"/>
            </a:endParaRPr>
          </a:p>
        </p:txBody>
      </p:sp>
      <p:sp>
        <p:nvSpPr>
          <p:cNvPr id="33859" name="Text Box 75"/>
          <p:cNvSpPr txBox="1"/>
          <p:nvPr/>
        </p:nvSpPr>
        <p:spPr>
          <a:xfrm>
            <a:off x="7010400" y="38703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DBG</a:t>
            </a:r>
            <a:r>
              <a:rPr lang="zh-CN" altLang="en-US" sz="1400" dirty="0">
                <a:latin typeface="Times New Roman" panose="02020603050405020304" pitchFamily="18" charset="0"/>
                <a:ea typeface="宋体" panose="02010600030101010101" pitchFamily="2" charset="-122"/>
              </a:rPr>
              <a:t>输出</a:t>
            </a:r>
            <a:endParaRPr lang="zh-CN" altLang="en-US" sz="1400" dirty="0">
              <a:latin typeface="Times New Roman" panose="02020603050405020304" pitchFamily="18" charset="0"/>
              <a:ea typeface="宋体" panose="02010600030101010101" pitchFamily="2" charset="-122"/>
            </a:endParaRPr>
          </a:p>
        </p:txBody>
      </p:sp>
      <p:sp>
        <p:nvSpPr>
          <p:cNvPr id="33860" name="Text Box 76"/>
          <p:cNvSpPr txBox="1"/>
          <p:nvPr/>
        </p:nvSpPr>
        <p:spPr>
          <a:xfrm>
            <a:off x="7010400" y="40989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DBG</a:t>
            </a:r>
            <a:r>
              <a:rPr lang="zh-CN" altLang="en-US" sz="1400" dirty="0">
                <a:latin typeface="Times New Roman" panose="02020603050405020304" pitchFamily="18" charset="0"/>
                <a:ea typeface="宋体" panose="02010600030101010101" pitchFamily="2" charset="-122"/>
              </a:rPr>
              <a:t>输入</a:t>
            </a:r>
            <a:endParaRPr lang="zh-CN" altLang="en-US" sz="1400" dirty="0">
              <a:latin typeface="Times New Roman" panose="02020603050405020304" pitchFamily="18" charset="0"/>
              <a:ea typeface="宋体" panose="02010600030101010101" pitchFamily="2" charset="-122"/>
            </a:endParaRPr>
          </a:p>
        </p:txBody>
      </p:sp>
      <p:sp>
        <p:nvSpPr>
          <p:cNvPr id="33861" name="Text Box 77"/>
          <p:cNvSpPr txBox="1"/>
          <p:nvPr/>
        </p:nvSpPr>
        <p:spPr>
          <a:xfrm>
            <a:off x="7010400" y="43275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CP</a:t>
            </a:r>
            <a:r>
              <a:rPr lang="zh-CN" altLang="en-US" sz="1400" dirty="0">
                <a:latin typeface="Times New Roman" panose="02020603050405020304" pitchFamily="18" charset="0"/>
                <a:ea typeface="宋体" panose="02010600030101010101" pitchFamily="2" charset="-122"/>
              </a:rPr>
              <a:t>控制</a:t>
            </a:r>
            <a:endParaRPr lang="zh-CN" altLang="en-US" sz="1400" dirty="0">
              <a:latin typeface="Times New Roman" panose="02020603050405020304" pitchFamily="18" charset="0"/>
              <a:ea typeface="宋体" panose="02010600030101010101" pitchFamily="2" charset="-122"/>
            </a:endParaRPr>
          </a:p>
        </p:txBody>
      </p:sp>
      <p:sp>
        <p:nvSpPr>
          <p:cNvPr id="33862" name="Text Box 78"/>
          <p:cNvSpPr txBox="1"/>
          <p:nvPr/>
        </p:nvSpPr>
        <p:spPr>
          <a:xfrm>
            <a:off x="7010400" y="4556125"/>
            <a:ext cx="1600200" cy="30480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CP</a:t>
            </a:r>
            <a:r>
              <a:rPr lang="zh-CN" altLang="en-US" sz="1400" dirty="0">
                <a:latin typeface="Times New Roman" panose="02020603050405020304" pitchFamily="18" charset="0"/>
                <a:ea typeface="宋体" panose="02010600030101010101" pitchFamily="2" charset="-122"/>
              </a:rPr>
              <a:t>握手</a:t>
            </a:r>
            <a:endParaRPr lang="zh-CN" altLang="en-US" sz="1400" dirty="0">
              <a:latin typeface="Times New Roman" panose="02020603050405020304" pitchFamily="18" charset="0"/>
              <a:ea typeface="宋体" panose="02010600030101010101" pitchFamily="2" charset="-122"/>
            </a:endParaRPr>
          </a:p>
        </p:txBody>
      </p:sp>
      <p:sp>
        <p:nvSpPr>
          <p:cNvPr id="33863" name="Line 79"/>
          <p:cNvSpPr/>
          <p:nvPr/>
        </p:nvSpPr>
        <p:spPr>
          <a:xfrm flipH="1">
            <a:off x="6400800" y="1143000"/>
            <a:ext cx="533400" cy="0"/>
          </a:xfrm>
          <a:prstGeom prst="line">
            <a:avLst/>
          </a:prstGeom>
          <a:ln w="9525" cap="flat" cmpd="sng">
            <a:solidFill>
              <a:schemeClr val="tx1"/>
            </a:solidFill>
            <a:prstDash val="solid"/>
            <a:round/>
            <a:headEnd type="none" w="med" len="med"/>
            <a:tailEnd type="triangle" w="med" len="med"/>
          </a:ln>
        </p:spPr>
      </p:sp>
      <p:sp>
        <p:nvSpPr>
          <p:cNvPr id="33864" name="Line 80"/>
          <p:cNvSpPr/>
          <p:nvPr/>
        </p:nvSpPr>
        <p:spPr>
          <a:xfrm flipH="1">
            <a:off x="6400800" y="1371600"/>
            <a:ext cx="533400" cy="0"/>
          </a:xfrm>
          <a:prstGeom prst="line">
            <a:avLst/>
          </a:prstGeom>
          <a:ln w="9525" cap="flat" cmpd="sng">
            <a:solidFill>
              <a:schemeClr val="tx1"/>
            </a:solidFill>
            <a:prstDash val="solid"/>
            <a:round/>
            <a:headEnd type="none" w="med" len="med"/>
            <a:tailEnd type="triangle" w="med" len="med"/>
          </a:ln>
        </p:spPr>
      </p:sp>
      <p:sp>
        <p:nvSpPr>
          <p:cNvPr id="33865" name="Text Box 81"/>
          <p:cNvSpPr txBox="1"/>
          <p:nvPr/>
        </p:nvSpPr>
        <p:spPr>
          <a:xfrm>
            <a:off x="2971800" y="5867400"/>
            <a:ext cx="1600200" cy="304800"/>
          </a:xfrm>
          <a:prstGeom prst="rect">
            <a:avLst/>
          </a:prstGeom>
          <a:noFill/>
          <a:ln w="9525">
            <a:noFill/>
          </a:ln>
        </p:spPr>
        <p:txBody>
          <a:bodyPr anchor="t" anchorCtr="0">
            <a:spAutoFit/>
          </a:bodyPr>
          <a:p>
            <a:pPr algn="ctr">
              <a:spcBef>
                <a:spcPct val="50000"/>
              </a:spcBef>
              <a:buClrTx/>
              <a:buFontTx/>
            </a:pPr>
            <a:r>
              <a:rPr lang="en-US" altLang="zh-CN" sz="1400" dirty="0">
                <a:latin typeface="Times New Roman" panose="02020603050405020304" pitchFamily="18" charset="0"/>
                <a:ea typeface="宋体" panose="02010600030101010101" pitchFamily="2" charset="-122"/>
              </a:rPr>
              <a:t>WDATA[31:0]</a:t>
            </a:r>
            <a:endParaRPr lang="en-US" altLang="zh-CN" sz="1400" dirty="0">
              <a:latin typeface="Times New Roman" panose="02020603050405020304" pitchFamily="18" charset="0"/>
              <a:ea typeface="宋体" panose="02010600030101010101" pitchFamily="2" charset="-122"/>
            </a:endParaRPr>
          </a:p>
        </p:txBody>
      </p:sp>
      <p:sp>
        <p:nvSpPr>
          <p:cNvPr id="33866" name="Text Box 82"/>
          <p:cNvSpPr txBox="1"/>
          <p:nvPr/>
        </p:nvSpPr>
        <p:spPr>
          <a:xfrm>
            <a:off x="4953000" y="5867400"/>
            <a:ext cx="1600200" cy="304800"/>
          </a:xfrm>
          <a:prstGeom prst="rect">
            <a:avLst/>
          </a:prstGeom>
          <a:noFill/>
          <a:ln w="9525">
            <a:noFill/>
          </a:ln>
        </p:spPr>
        <p:txBody>
          <a:bodyPr anchor="t" anchorCtr="0">
            <a:spAutoFit/>
          </a:bodyPr>
          <a:p>
            <a:pPr algn="ctr">
              <a:spcBef>
                <a:spcPct val="50000"/>
              </a:spcBef>
              <a:buClrTx/>
              <a:buFontTx/>
            </a:pPr>
            <a:r>
              <a:rPr lang="en-US" altLang="zh-CN" sz="1400" dirty="0">
                <a:latin typeface="Times New Roman" panose="02020603050405020304" pitchFamily="18" charset="0"/>
                <a:ea typeface="宋体" panose="02010600030101010101" pitchFamily="2" charset="-122"/>
              </a:rPr>
              <a:t>RDATA[31:0]</a:t>
            </a:r>
            <a:endParaRPr lang="en-US" altLang="zh-CN" sz="1400" dirty="0">
              <a:latin typeface="Times New Roman" panose="02020603050405020304" pitchFamily="18" charset="0"/>
              <a:ea typeface="宋体" panose="02010600030101010101" pitchFamily="2" charset="-122"/>
            </a:endParaRPr>
          </a:p>
        </p:txBody>
      </p:sp>
      <p:sp>
        <p:nvSpPr>
          <p:cNvPr id="33867" name="Rectangle 83"/>
          <p:cNvSpPr/>
          <p:nvPr/>
        </p:nvSpPr>
        <p:spPr>
          <a:xfrm>
            <a:off x="4356100" y="1484313"/>
            <a:ext cx="1066800" cy="587375"/>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400" dirty="0">
                <a:latin typeface="Times New Roman" panose="02020603050405020304" pitchFamily="18" charset="0"/>
                <a:ea typeface="宋体" panose="02010600030101010101" pitchFamily="2" charset="-122"/>
              </a:rPr>
              <a:t>扫描调试</a:t>
            </a:r>
            <a:endParaRPr lang="zh-CN" altLang="en-US" sz="1400" dirty="0">
              <a:latin typeface="Times New Roman" panose="02020603050405020304" pitchFamily="18" charset="0"/>
              <a:ea typeface="宋体" panose="02010600030101010101" pitchFamily="2" charset="-122"/>
            </a:endParaRPr>
          </a:p>
          <a:p>
            <a:pPr algn="ctr">
              <a:buClrTx/>
              <a:buFontTx/>
            </a:pPr>
            <a:r>
              <a:rPr lang="zh-CN" altLang="en-US" sz="1400" dirty="0">
                <a:latin typeface="Times New Roman" panose="02020603050405020304" pitchFamily="18" charset="0"/>
                <a:ea typeface="宋体" panose="02010600030101010101" pitchFamily="2" charset="-122"/>
              </a:rPr>
              <a:t>控制</a:t>
            </a:r>
            <a:endParaRPr lang="zh-CN" altLang="en-US" sz="1400" dirty="0">
              <a:latin typeface="Times New Roman" panose="02020603050405020304" pitchFamily="18" charset="0"/>
              <a:ea typeface="宋体" panose="02010600030101010101" pitchFamily="2" charset="-122"/>
            </a:endParaRPr>
          </a:p>
        </p:txBody>
      </p:sp>
      <p:sp>
        <p:nvSpPr>
          <p:cNvPr id="33868" name="Line 84"/>
          <p:cNvSpPr/>
          <p:nvPr/>
        </p:nvSpPr>
        <p:spPr>
          <a:xfrm>
            <a:off x="2209800" y="4191000"/>
            <a:ext cx="1524000" cy="0"/>
          </a:xfrm>
          <a:prstGeom prst="line">
            <a:avLst/>
          </a:prstGeom>
          <a:ln w="9525" cap="flat" cmpd="sng">
            <a:solidFill>
              <a:schemeClr val="tx1"/>
            </a:solidFill>
            <a:prstDash val="solid"/>
            <a:round/>
            <a:headEnd type="none" w="med" len="med"/>
            <a:tailEnd type="triangle" w="med" len="med"/>
          </a:ln>
        </p:spPr>
      </p:sp>
      <p:sp>
        <p:nvSpPr>
          <p:cNvPr id="33869" name="Text Box 85"/>
          <p:cNvSpPr txBox="1"/>
          <p:nvPr/>
        </p:nvSpPr>
        <p:spPr>
          <a:xfrm>
            <a:off x="971550" y="4365625"/>
            <a:ext cx="360363" cy="825500"/>
          </a:xfrm>
          <a:prstGeom prst="rect">
            <a:avLst/>
          </a:prstGeom>
          <a:noFill/>
          <a:ln w="9525">
            <a:noFill/>
          </a:ln>
        </p:spPr>
        <p:txBody>
          <a:bodyPr anchor="t" anchorCtr="0">
            <a:spAutoFit/>
          </a:bodyPr>
          <a:p>
            <a:pPr>
              <a:spcBef>
                <a:spcPct val="50000"/>
              </a:spcBef>
              <a:buClrTx/>
              <a:buFontTx/>
            </a:pPr>
            <a:r>
              <a:rPr lang="en-US" altLang="zh-CN" sz="1600" dirty="0">
                <a:latin typeface="Tahoma" panose="020B0604030504040204" pitchFamily="34" charset="0"/>
                <a:ea typeface="宋体" panose="02010600030101010101" pitchFamily="2" charset="-122"/>
              </a:rPr>
              <a:t>A</a:t>
            </a:r>
            <a:r>
              <a:rPr lang="zh-CN" altLang="en-US" sz="1600" dirty="0">
                <a:latin typeface="Tahoma" panose="020B0604030504040204" pitchFamily="34" charset="0"/>
                <a:ea typeface="宋体" panose="02010600030101010101" pitchFamily="2" charset="-122"/>
              </a:rPr>
              <a:t>总线</a:t>
            </a:r>
            <a:endParaRPr lang="zh-CN" altLang="en-US" sz="1600" dirty="0">
              <a:latin typeface="Tahoma" panose="020B0604030504040204" pitchFamily="34" charset="0"/>
              <a:ea typeface="宋体" panose="02010600030101010101" pitchFamily="2" charset="-122"/>
            </a:endParaRPr>
          </a:p>
        </p:txBody>
      </p:sp>
      <p:sp>
        <p:nvSpPr>
          <p:cNvPr id="33870" name="Text Box 86"/>
          <p:cNvSpPr txBox="1"/>
          <p:nvPr/>
        </p:nvSpPr>
        <p:spPr>
          <a:xfrm>
            <a:off x="3995738" y="3860800"/>
            <a:ext cx="287337" cy="825500"/>
          </a:xfrm>
          <a:prstGeom prst="rect">
            <a:avLst/>
          </a:prstGeom>
          <a:noFill/>
          <a:ln w="9525">
            <a:noFill/>
          </a:ln>
        </p:spPr>
        <p:txBody>
          <a:bodyPr anchor="t" anchorCtr="0">
            <a:spAutoFit/>
          </a:bodyPr>
          <a:p>
            <a:pPr>
              <a:spcBef>
                <a:spcPct val="50000"/>
              </a:spcBef>
              <a:buClrTx/>
              <a:buFontTx/>
            </a:pPr>
            <a:r>
              <a:rPr lang="en-US" altLang="zh-CN" sz="1600" dirty="0">
                <a:latin typeface="Tahoma" panose="020B0604030504040204" pitchFamily="34" charset="0"/>
                <a:ea typeface="宋体" panose="02010600030101010101" pitchFamily="2" charset="-122"/>
              </a:rPr>
              <a:t>B</a:t>
            </a:r>
            <a:r>
              <a:rPr lang="zh-CN" altLang="en-US" sz="1600" dirty="0">
                <a:latin typeface="Tahoma" panose="020B0604030504040204" pitchFamily="34" charset="0"/>
                <a:ea typeface="宋体" panose="02010600030101010101" pitchFamily="2" charset="-122"/>
              </a:rPr>
              <a:t>总线</a:t>
            </a:r>
            <a:endParaRPr lang="zh-CN" altLang="en-US" sz="1600" dirty="0">
              <a:latin typeface="Tahoma" panose="020B0604030504040204" pitchFamily="34" charset="0"/>
              <a:ea typeface="宋体" panose="02010600030101010101" pitchFamily="2" charset="-122"/>
            </a:endParaRPr>
          </a:p>
        </p:txBody>
      </p:sp>
      <p:sp>
        <p:nvSpPr>
          <p:cNvPr id="33871" name="Line 87"/>
          <p:cNvSpPr/>
          <p:nvPr/>
        </p:nvSpPr>
        <p:spPr>
          <a:xfrm>
            <a:off x="2771775" y="4508500"/>
            <a:ext cx="971550" cy="0"/>
          </a:xfrm>
          <a:prstGeom prst="line">
            <a:avLst/>
          </a:prstGeom>
          <a:ln w="9525" cap="flat" cmpd="sng">
            <a:solidFill>
              <a:schemeClr val="tx1"/>
            </a:solidFill>
            <a:prstDash val="solid"/>
            <a:round/>
            <a:headEnd type="triangle" w="med" len="med"/>
            <a:tailEnd type="triangle" w="med" len="med"/>
          </a:ln>
        </p:spPr>
      </p:sp>
      <p:sp>
        <p:nvSpPr>
          <p:cNvPr id="33872" name="Text Box 89"/>
          <p:cNvSpPr txBox="1"/>
          <p:nvPr/>
        </p:nvSpPr>
        <p:spPr>
          <a:xfrm>
            <a:off x="250825" y="4076700"/>
            <a:ext cx="576263" cy="793750"/>
          </a:xfrm>
          <a:prstGeom prst="rect">
            <a:avLst/>
          </a:prstGeom>
          <a:noFill/>
          <a:ln w="9525">
            <a:noFill/>
          </a:ln>
        </p:spPr>
        <p:txBody>
          <a:bodyPr anchor="t" anchorCtr="0">
            <a:spAutoFit/>
          </a:bodyPr>
          <a:p>
            <a:pPr>
              <a:spcBef>
                <a:spcPct val="50000"/>
              </a:spcBef>
              <a:buClrTx/>
              <a:buFontTx/>
            </a:pPr>
            <a:r>
              <a:rPr lang="en-US" altLang="zh-CN" sz="1400" dirty="0">
                <a:latin typeface="Times New Roman" panose="02020603050405020304" pitchFamily="18" charset="0"/>
                <a:ea typeface="宋体" panose="02010600030101010101" pitchFamily="2" charset="-122"/>
              </a:rPr>
              <a:t>ALU</a:t>
            </a:r>
            <a:r>
              <a:rPr lang="zh-CN" altLang="en-US" sz="1600" dirty="0">
                <a:latin typeface="Tahoma" panose="020B0604030504040204" pitchFamily="34" charset="0"/>
                <a:ea typeface="宋体" panose="02010600030101010101" pitchFamily="2" charset="-122"/>
              </a:rPr>
              <a:t>总线</a:t>
            </a:r>
            <a:endParaRPr lang="zh-CN" altLang="en-US" sz="1600" dirty="0">
              <a:latin typeface="Tahoma" panose="020B0604030504040204" pitchFamily="34" charset="0"/>
              <a:ea typeface="宋体" panose="02010600030101010101" pitchFamily="2" charset="-122"/>
            </a:endParaRPr>
          </a:p>
        </p:txBody>
      </p:sp>
      <p:sp>
        <p:nvSpPr>
          <p:cNvPr id="33873" name="Text Box 90"/>
          <p:cNvSpPr txBox="1"/>
          <p:nvPr/>
        </p:nvSpPr>
        <p:spPr>
          <a:xfrm>
            <a:off x="3276600" y="2565400"/>
            <a:ext cx="1295400" cy="336550"/>
          </a:xfrm>
          <a:prstGeom prst="rect">
            <a:avLst/>
          </a:prstGeom>
          <a:noFill/>
          <a:ln w="9525">
            <a:noFill/>
          </a:ln>
        </p:spPr>
        <p:txBody>
          <a:bodyPr anchor="t" anchorCtr="0">
            <a:spAutoFit/>
          </a:bodyPr>
          <a:p>
            <a:pPr>
              <a:spcBef>
                <a:spcPct val="50000"/>
              </a:spcBef>
              <a:buClrTx/>
              <a:buFontTx/>
            </a:pPr>
            <a:r>
              <a:rPr lang="zh-CN" altLang="en-US" sz="1600" dirty="0">
                <a:latin typeface="Tahoma" panose="020B0604030504040204" pitchFamily="34" charset="0"/>
                <a:ea typeface="宋体" panose="02010600030101010101" pitchFamily="2" charset="-122"/>
              </a:rPr>
              <a:t>增量器总线</a:t>
            </a:r>
            <a:endParaRPr lang="zh-CN" altLang="en-US" sz="1600" dirty="0">
              <a:latin typeface="Tahoma" panose="020B0604030504040204" pitchFamily="34" charset="0"/>
              <a:ea typeface="宋体" panose="02010600030101010101" pitchFamily="2" charset="-122"/>
            </a:endParaRPr>
          </a:p>
        </p:txBody>
      </p:sp>
      <p:sp>
        <p:nvSpPr>
          <p:cNvPr id="33874" name="Text Box 91"/>
          <p:cNvSpPr txBox="1"/>
          <p:nvPr/>
        </p:nvSpPr>
        <p:spPr>
          <a:xfrm>
            <a:off x="898525" y="2349500"/>
            <a:ext cx="865188" cy="336550"/>
          </a:xfrm>
          <a:prstGeom prst="rect">
            <a:avLst/>
          </a:prstGeom>
          <a:noFill/>
          <a:ln w="9525">
            <a:noFill/>
          </a:ln>
        </p:spPr>
        <p:txBody>
          <a:bodyPr anchor="t" anchorCtr="0">
            <a:spAutoFit/>
          </a:bodyPr>
          <a:p>
            <a:pPr>
              <a:spcBef>
                <a:spcPct val="50000"/>
              </a:spcBef>
              <a:buClrTx/>
              <a:buFontTx/>
            </a:pPr>
            <a:r>
              <a:rPr lang="en-US" altLang="zh-CN" sz="1600" dirty="0">
                <a:latin typeface="Times New Roman" panose="02020603050405020304" pitchFamily="18" charset="0"/>
                <a:ea typeface="宋体" panose="02010600030101010101" pitchFamily="2" charset="-122"/>
              </a:rPr>
              <a:t>PC</a:t>
            </a:r>
            <a:r>
              <a:rPr lang="zh-CN" altLang="en-US" sz="1600" dirty="0">
                <a:latin typeface="Tahoma" panose="020B0604030504040204" pitchFamily="34" charset="0"/>
                <a:ea typeface="宋体" panose="02010600030101010101" pitchFamily="2" charset="-122"/>
              </a:rPr>
              <a:t>总线</a:t>
            </a:r>
            <a:endParaRPr lang="zh-CN" altLang="en-US" sz="1600" dirty="0">
              <a:latin typeface="Tahoma" panose="020B060403050404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ln/>
        </p:spPr>
        <p:txBody>
          <a:bodyPr vert="horz" wrap="square" lIns="91440" tIns="45720" rIns="91440" bIns="45720" anchor="b" anchorCtr="0"/>
          <a:p>
            <a:pPr eaLnBrk="1" hangingPunct="1"/>
            <a:r>
              <a:rPr lang="en-US" altLang="zh-CN" dirty="0"/>
              <a:t>3.3 ARM7TDMI</a:t>
            </a:r>
            <a:r>
              <a:rPr lang="zh-CN" altLang="en-US" dirty="0"/>
              <a:t>功能信号图 </a:t>
            </a:r>
            <a:endParaRPr lang="zh-CN" altLang="en-US" dirty="0"/>
          </a:p>
        </p:txBody>
      </p:sp>
      <p:graphicFrame>
        <p:nvGraphicFramePr>
          <p:cNvPr id="34818" name="Object 9"/>
          <p:cNvGraphicFramePr>
            <a:graphicFrameLocks noGrp="1" noChangeAspect="1"/>
          </p:cNvGraphicFramePr>
          <p:nvPr>
            <p:ph idx="1"/>
          </p:nvPr>
        </p:nvGraphicFramePr>
        <p:xfrm>
          <a:off x="971550" y="1341438"/>
          <a:ext cx="7434263" cy="5243512"/>
        </p:xfrm>
        <a:graphic>
          <a:graphicData uri="http://schemas.openxmlformats.org/presentationml/2006/ole">
            <mc:AlternateContent xmlns:mc="http://schemas.openxmlformats.org/markup-compatibility/2006">
              <mc:Choice xmlns:v="urn:schemas-microsoft-com:vml" Requires="v">
                <p:oleObj spid="_x0000_s3077" name="" r:id="rId1" imgW="8048625" imgH="5676900" progId="Paint.Picture">
                  <p:embed/>
                </p:oleObj>
              </mc:Choice>
              <mc:Fallback>
                <p:oleObj name="" r:id="rId1" imgW="8048625" imgH="5676900" progId="Paint.Picture">
                  <p:embed/>
                  <p:pic>
                    <p:nvPicPr>
                      <p:cNvPr id="0" name="图片 3076"/>
                      <p:cNvPicPr/>
                      <p:nvPr/>
                    </p:nvPicPr>
                    <p:blipFill>
                      <a:blip r:embed="rId2"/>
                      <a:stretch>
                        <a:fillRect/>
                      </a:stretch>
                    </p:blipFill>
                    <p:spPr>
                      <a:xfrm>
                        <a:off x="971550" y="1341438"/>
                        <a:ext cx="7434263" cy="5243512"/>
                      </a:xfrm>
                      <a:prstGeom prst="rect">
                        <a:avLst/>
                      </a:prstGeom>
                      <a:noFill/>
                      <a:ln w="38100">
                        <a:miter/>
                      </a:ln>
                    </p:spPr>
                  </p:pic>
                </p:oleObj>
              </mc:Fallback>
            </mc:AlternateContent>
          </a:graphicData>
        </a:graphic>
      </p:graphicFrame>
      <p:sp>
        <p:nvSpPr>
          <p:cNvPr id="34819" name="Text Box 11"/>
          <p:cNvSpPr txBox="1"/>
          <p:nvPr/>
        </p:nvSpPr>
        <p:spPr>
          <a:xfrm>
            <a:off x="3995738" y="3357563"/>
            <a:ext cx="1296987" cy="336550"/>
          </a:xfrm>
          <a:prstGeom prst="rect">
            <a:avLst/>
          </a:prstGeom>
          <a:noFill/>
          <a:ln w="9525">
            <a:noFill/>
          </a:ln>
        </p:spPr>
        <p:txBody>
          <a:bodyPr anchor="t" anchorCtr="0">
            <a:spAutoFit/>
          </a:bodyPr>
          <a:p>
            <a:pPr>
              <a:spcBef>
                <a:spcPct val="50000"/>
              </a:spcBef>
              <a:buClrTx/>
              <a:buFontTx/>
            </a:pPr>
            <a:r>
              <a:rPr lang="en-US" altLang="zh-CN" sz="1600" dirty="0">
                <a:latin typeface="Times New Roman" panose="02020603050405020304" pitchFamily="18" charset="0"/>
                <a:ea typeface="宋体" panose="02010600030101010101" pitchFamily="2" charset="-122"/>
              </a:rPr>
              <a:t>ARM7TDMI</a:t>
            </a:r>
            <a:endParaRPr lang="en-US" altLang="zh-CN" sz="16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35842"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4.</a:t>
            </a:r>
            <a:r>
              <a:rPr lang="zh-CN" altLang="en-US" sz="2800" dirty="0">
                <a:solidFill>
                  <a:srgbClr val="0000FF"/>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35843"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4"/>
          <p:cNvSpPr>
            <a:spLocks noGrp="1"/>
          </p:cNvSpPr>
          <p:nvPr>
            <p:ph type="title"/>
          </p:nvPr>
        </p:nvSpPr>
        <p:spPr>
          <a:ln/>
        </p:spPr>
        <p:txBody>
          <a:bodyPr vert="horz" wrap="square" lIns="91440" tIns="45720" rIns="91440" bIns="45720" anchor="ctr" anchorCtr="0"/>
          <a:p>
            <a:pPr eaLnBrk="1" hangingPunct="1"/>
            <a:r>
              <a:rPr lang="en-US" altLang="zh-CN" sz="4000" dirty="0"/>
              <a:t>3.4  </a:t>
            </a:r>
            <a:r>
              <a:rPr lang="zh-CN" altLang="en-US" sz="4000" dirty="0"/>
              <a:t>体系结构直接支持的数据类型</a:t>
            </a:r>
            <a:endParaRPr lang="zh-CN" altLang="en-US" sz="4000" dirty="0"/>
          </a:p>
        </p:txBody>
      </p:sp>
      <p:sp>
        <p:nvSpPr>
          <p:cNvPr id="3789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体系结构直接支持的数据类型</a:t>
            </a:r>
            <a:endParaRPr lang="zh-CN" altLang="en-US" dirty="0"/>
          </a:p>
        </p:txBody>
      </p:sp>
      <p:sp>
        <p:nvSpPr>
          <p:cNvPr id="37894" name="Text Box 6"/>
          <p:cNvSpPr txBox="1"/>
          <p:nvPr/>
        </p:nvSpPr>
        <p:spPr>
          <a:xfrm>
            <a:off x="990600" y="2743200"/>
            <a:ext cx="7010400" cy="2100263"/>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处理器支持下列数据类型：</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字节  </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位</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半字  </a:t>
            </a:r>
            <a:r>
              <a:rPr lang="en-US" altLang="zh-CN" sz="2400" dirty="0">
                <a:latin typeface="华文新魏" panose="02010800040101010101" pitchFamily="2" charset="-122"/>
                <a:ea typeface="华文新魏" panose="02010800040101010101" pitchFamily="2" charset="-122"/>
              </a:rPr>
              <a:t>16</a:t>
            </a:r>
            <a:r>
              <a:rPr lang="zh-CN" altLang="en-US" sz="2400" dirty="0">
                <a:latin typeface="华文新魏" panose="02010800040101010101" pitchFamily="2" charset="-122"/>
                <a:ea typeface="华文新魏" panose="02010800040101010101" pitchFamily="2" charset="-122"/>
              </a:rPr>
              <a:t>位（必须分配为占用两个字节）</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字      </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位（必须分配为占用</a:t>
            </a:r>
            <a:r>
              <a:rPr lang="en-US" altLang="zh-CN" sz="2400" dirty="0">
                <a:latin typeface="华文新魏" panose="02010800040101010101" pitchFamily="2" charset="-122"/>
                <a:ea typeface="华文新魏" panose="02010800040101010101" pitchFamily="2" charset="-122"/>
              </a:rPr>
              <a:t>4</a:t>
            </a:r>
            <a:r>
              <a:rPr lang="zh-CN" altLang="en-US" sz="2400" dirty="0">
                <a:latin typeface="华文新魏" panose="02010800040101010101" pitchFamily="2" charset="-122"/>
                <a:ea typeface="华文新魏" panose="02010800040101010101" pitchFamily="2" charset="-122"/>
              </a:rPr>
              <a:t>各字节）</a:t>
            </a:r>
            <a:endParaRPr lang="zh-CN" altLang="en-US" sz="2400" dirty="0">
              <a:latin typeface="华文新魏" panose="02010800040101010101" pitchFamily="2" charset="-122"/>
              <a:ea typeface="华文新魏" panose="02010800040101010101" pitchFamily="2" charset="-122"/>
            </a:endParaRPr>
          </a:p>
        </p:txBody>
      </p:sp>
      <p:grpSp>
        <p:nvGrpSpPr>
          <p:cNvPr id="2" name="Group 59"/>
          <p:cNvGrpSpPr/>
          <p:nvPr/>
        </p:nvGrpSpPr>
        <p:grpSpPr>
          <a:xfrm>
            <a:off x="6553200" y="3352800"/>
            <a:ext cx="2133600" cy="1371600"/>
            <a:chOff x="4128" y="2112"/>
            <a:chExt cx="1344" cy="864"/>
          </a:xfrm>
        </p:grpSpPr>
        <p:sp>
          <p:nvSpPr>
            <p:cNvPr id="36869" name="Rectangle 47"/>
            <p:cNvSpPr/>
            <p:nvPr/>
          </p:nvSpPr>
          <p:spPr>
            <a:xfrm>
              <a:off x="4128" y="2112"/>
              <a:ext cx="1344" cy="864"/>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36870" name="Rectangle 36"/>
            <p:cNvSpPr/>
            <p:nvPr/>
          </p:nvSpPr>
          <p:spPr>
            <a:xfrm>
              <a:off x="4128" y="2112"/>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1</a:t>
              </a:r>
              <a:endParaRPr lang="en-US" altLang="zh-CN" sz="1600" b="1" dirty="0">
                <a:latin typeface="Times New Roman" panose="02020603050405020304" pitchFamily="18" charset="0"/>
                <a:ea typeface="宋体" panose="02010600030101010101" pitchFamily="2" charset="-122"/>
              </a:endParaRPr>
            </a:p>
          </p:txBody>
        </p:sp>
        <p:sp>
          <p:nvSpPr>
            <p:cNvPr id="36871" name="Rectangle 41"/>
            <p:cNvSpPr/>
            <p:nvPr/>
          </p:nvSpPr>
          <p:spPr>
            <a:xfrm>
              <a:off x="4128" y="2448"/>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1</a:t>
              </a:r>
              <a:endParaRPr lang="en-US" altLang="zh-CN" sz="1600" b="1" dirty="0">
                <a:latin typeface="Times New Roman" panose="02020603050405020304" pitchFamily="18" charset="0"/>
                <a:ea typeface="宋体" panose="02010600030101010101" pitchFamily="2" charset="-122"/>
              </a:endParaRPr>
            </a:p>
          </p:txBody>
        </p:sp>
        <p:sp>
          <p:nvSpPr>
            <p:cNvPr id="36872" name="Rectangle 42"/>
            <p:cNvSpPr/>
            <p:nvPr/>
          </p:nvSpPr>
          <p:spPr>
            <a:xfrm>
              <a:off x="4128" y="2784"/>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1</a:t>
              </a:r>
              <a:endParaRPr lang="en-US" altLang="zh-CN" sz="1600" b="1" dirty="0">
                <a:latin typeface="Times New Roman" panose="02020603050405020304" pitchFamily="18" charset="0"/>
                <a:ea typeface="宋体" panose="02010600030101010101" pitchFamily="2" charset="-122"/>
              </a:endParaRPr>
            </a:p>
          </p:txBody>
        </p:sp>
        <p:sp>
          <p:nvSpPr>
            <p:cNvPr id="36873" name="Rectangle 43"/>
            <p:cNvSpPr/>
            <p:nvPr/>
          </p:nvSpPr>
          <p:spPr>
            <a:xfrm>
              <a:off x="4464" y="2784"/>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2</a:t>
              </a:r>
              <a:endParaRPr lang="en-US" altLang="zh-CN" sz="1600" b="1" dirty="0">
                <a:latin typeface="Times New Roman" panose="02020603050405020304" pitchFamily="18" charset="0"/>
                <a:ea typeface="宋体" panose="02010600030101010101" pitchFamily="2" charset="-122"/>
              </a:endParaRPr>
            </a:p>
          </p:txBody>
        </p:sp>
        <p:sp>
          <p:nvSpPr>
            <p:cNvPr id="36874" name="Rectangle 44"/>
            <p:cNvSpPr/>
            <p:nvPr/>
          </p:nvSpPr>
          <p:spPr>
            <a:xfrm>
              <a:off x="4800" y="2784"/>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3</a:t>
              </a:r>
              <a:endParaRPr lang="en-US" altLang="zh-CN" sz="1600" b="1" dirty="0">
                <a:latin typeface="Times New Roman" panose="02020603050405020304" pitchFamily="18" charset="0"/>
                <a:ea typeface="宋体" panose="02010600030101010101" pitchFamily="2" charset="-122"/>
              </a:endParaRPr>
            </a:p>
          </p:txBody>
        </p:sp>
        <p:sp>
          <p:nvSpPr>
            <p:cNvPr id="36875" name="Rectangle 45"/>
            <p:cNvSpPr/>
            <p:nvPr/>
          </p:nvSpPr>
          <p:spPr>
            <a:xfrm>
              <a:off x="5136" y="2784"/>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4</a:t>
              </a:r>
              <a:endParaRPr lang="en-US" altLang="zh-CN" sz="1600" b="1" dirty="0">
                <a:latin typeface="Times New Roman" panose="02020603050405020304" pitchFamily="18" charset="0"/>
                <a:ea typeface="宋体" panose="02010600030101010101" pitchFamily="2" charset="-122"/>
              </a:endParaRPr>
            </a:p>
          </p:txBody>
        </p:sp>
        <p:sp>
          <p:nvSpPr>
            <p:cNvPr id="36876" name="Rectangle 46"/>
            <p:cNvSpPr/>
            <p:nvPr/>
          </p:nvSpPr>
          <p:spPr>
            <a:xfrm>
              <a:off x="4464" y="2448"/>
              <a:ext cx="33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b="1" dirty="0">
                  <a:latin typeface="Times New Roman" panose="02020603050405020304" pitchFamily="18" charset="0"/>
                  <a:ea typeface="宋体" panose="02010600030101010101" pitchFamily="2" charset="-122"/>
                </a:rPr>
                <a:t>2</a:t>
              </a:r>
              <a:endParaRPr lang="en-US" altLang="zh-CN" sz="1600" b="1" dirty="0">
                <a:latin typeface="Times New Roman" panose="02020603050405020304" pitchFamily="18" charset="0"/>
                <a:ea typeface="宋体" panose="02010600030101010101" pitchFamily="2" charset="-122"/>
              </a:endParaRPr>
            </a:p>
          </p:txBody>
        </p:sp>
        <p:sp>
          <p:nvSpPr>
            <p:cNvPr id="36877" name="Rectangle 52"/>
            <p:cNvSpPr/>
            <p:nvPr/>
          </p:nvSpPr>
          <p:spPr>
            <a:xfrm>
              <a:off x="4464" y="2112"/>
              <a:ext cx="336" cy="192"/>
            </a:xfrm>
            <a:prstGeom prst="rect">
              <a:avLst/>
            </a:prstGeom>
            <a:solidFill>
              <a:srgbClr val="FFFF99"/>
            </a:solidFill>
            <a:ln w="9525" cap="flat" cmpd="sng">
              <a:solidFill>
                <a:schemeClr val="tx1"/>
              </a:solidFill>
              <a:prstDash val="dash"/>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36878" name="Rectangle 55"/>
            <p:cNvSpPr/>
            <p:nvPr/>
          </p:nvSpPr>
          <p:spPr>
            <a:xfrm>
              <a:off x="4800" y="2112"/>
              <a:ext cx="336" cy="192"/>
            </a:xfrm>
            <a:prstGeom prst="rect">
              <a:avLst/>
            </a:prstGeom>
            <a:solidFill>
              <a:srgbClr val="FFFF99"/>
            </a:solidFill>
            <a:ln w="9525" cap="flat" cmpd="sng">
              <a:solidFill>
                <a:schemeClr val="tx1"/>
              </a:solidFill>
              <a:prstDash val="dash"/>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36879" name="Rectangle 56"/>
            <p:cNvSpPr/>
            <p:nvPr/>
          </p:nvSpPr>
          <p:spPr>
            <a:xfrm>
              <a:off x="5136" y="2112"/>
              <a:ext cx="336" cy="192"/>
            </a:xfrm>
            <a:prstGeom prst="rect">
              <a:avLst/>
            </a:prstGeom>
            <a:solidFill>
              <a:srgbClr val="FFFF99"/>
            </a:solidFill>
            <a:ln w="9525" cap="flat" cmpd="sng">
              <a:solidFill>
                <a:schemeClr val="tx1"/>
              </a:solidFill>
              <a:prstDash val="dash"/>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36880" name="Rectangle 57"/>
            <p:cNvSpPr/>
            <p:nvPr/>
          </p:nvSpPr>
          <p:spPr>
            <a:xfrm>
              <a:off x="4800" y="2448"/>
              <a:ext cx="336" cy="192"/>
            </a:xfrm>
            <a:prstGeom prst="rect">
              <a:avLst/>
            </a:prstGeom>
            <a:solidFill>
              <a:srgbClr val="FFFF99"/>
            </a:solidFill>
            <a:ln w="9525" cap="flat" cmpd="sng">
              <a:solidFill>
                <a:schemeClr val="tx1"/>
              </a:solidFill>
              <a:prstDash val="dash"/>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36881" name="Rectangle 58"/>
            <p:cNvSpPr/>
            <p:nvPr/>
          </p:nvSpPr>
          <p:spPr>
            <a:xfrm>
              <a:off x="5136" y="2448"/>
              <a:ext cx="336" cy="192"/>
            </a:xfrm>
            <a:prstGeom prst="rect">
              <a:avLst/>
            </a:prstGeom>
            <a:solidFill>
              <a:srgbClr val="FFFF99"/>
            </a:solidFill>
            <a:ln w="9525" cap="flat" cmpd="sng">
              <a:solidFill>
                <a:schemeClr val="tx1"/>
              </a:solidFill>
              <a:prstDash val="dash"/>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7893">
                                            <p:txEl>
                                              <p:charRg st="0" end="14"/>
                                            </p:txEl>
                                          </p:spTgt>
                                        </p:tgtEl>
                                        <p:attrNameLst>
                                          <p:attrName>style.visibility</p:attrName>
                                        </p:attrNameLst>
                                      </p:cBhvr>
                                      <p:to>
                                        <p:strVal val="visible"/>
                                      </p:to>
                                    </p:set>
                                    <p:anim calcmode="lin" valueType="num">
                                      <p:cBhvr additive="base">
                                        <p:cTn id="7" dur="500" fill="hold"/>
                                        <p:tgtEl>
                                          <p:spTgt spid="37893">
                                            <p:txEl>
                                              <p:charRg st="0" end="14"/>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7893">
                                            <p:txEl>
                                              <p:charRg st="0" end="14"/>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box(in)">
                                      <p:cBhvr>
                                        <p:cTn id="12" dur="500"/>
                                        <p:tgtEl>
                                          <p:spTgt spid="37894"/>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advAuto="1000" build="p"/>
      <p:bldP spid="3789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体系结构直接支持的数据类型</a:t>
            </a:r>
            <a:endParaRPr lang="zh-CN" altLang="en-US" dirty="0"/>
          </a:p>
        </p:txBody>
      </p:sp>
      <p:sp>
        <p:nvSpPr>
          <p:cNvPr id="38918" name="Text Box 6"/>
          <p:cNvSpPr txBox="1"/>
          <p:nvPr/>
        </p:nvSpPr>
        <p:spPr>
          <a:xfrm>
            <a:off x="971550" y="2420938"/>
            <a:ext cx="7010400" cy="3195637"/>
          </a:xfrm>
          <a:prstGeom prst="rect">
            <a:avLst/>
          </a:prstGeom>
          <a:noFill/>
          <a:ln w="9525">
            <a:noFill/>
          </a:ln>
        </p:spPr>
        <p:txBody>
          <a:bodyPr anchor="t" anchorCtr="0">
            <a:spAutoFit/>
          </a:bodyPr>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V4</a:t>
            </a:r>
            <a:r>
              <a:rPr lang="zh-CN" altLang="en-US" sz="2400" dirty="0">
                <a:latin typeface="华文新魏" panose="02010800040101010101" pitchFamily="2" charset="-122"/>
                <a:ea typeface="华文新魏" panose="02010800040101010101" pitchFamily="2" charset="-122"/>
              </a:rPr>
              <a:t>版本之后的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结构都支持这</a:t>
            </a:r>
            <a:r>
              <a:rPr lang="en-US" altLang="zh-CN" sz="2400" dirty="0">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种结构（包括</a:t>
            </a:r>
            <a:r>
              <a:rPr lang="en-US" altLang="zh-CN" sz="2400" dirty="0">
                <a:latin typeface="华文新魏" panose="02010800040101010101" pitchFamily="2" charset="-122"/>
                <a:ea typeface="华文新魏" panose="02010800040101010101" pitchFamily="2" charset="-122"/>
              </a:rPr>
              <a:t>V4</a:t>
            </a:r>
            <a:r>
              <a:rPr lang="zh-CN" altLang="en-US" sz="2400" dirty="0">
                <a:latin typeface="华文新魏" panose="02010800040101010101" pitchFamily="2" charset="-122"/>
                <a:ea typeface="华文新魏" panose="02010800040101010101" pitchFamily="2" charset="-122"/>
              </a:rPr>
              <a:t>版本），而以前的版本只支持字节和字；</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当数据类型定义为无符号型时，</a:t>
            </a:r>
            <a:r>
              <a:rPr lang="en-US" altLang="zh-CN" sz="2400" dirty="0">
                <a:latin typeface="华文新魏" panose="02010800040101010101" pitchFamily="2" charset="-122"/>
                <a:ea typeface="华文新魏" panose="02010800040101010101" pitchFamily="2" charset="-122"/>
              </a:rPr>
              <a:t>N</a:t>
            </a:r>
            <a:r>
              <a:rPr lang="zh-CN" altLang="en-US" sz="2400" dirty="0">
                <a:latin typeface="华文新魏" panose="02010800040101010101" pitchFamily="2" charset="-122"/>
                <a:ea typeface="华文新魏" panose="02010800040101010101" pitchFamily="2" charset="-122"/>
              </a:rPr>
              <a:t>位数据值使用正常的二进制格式表示范围为</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N</a:t>
            </a: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的非负整数；</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当数据类型定义为有符号型时，</a:t>
            </a:r>
            <a:r>
              <a:rPr lang="en-US" altLang="zh-CN" sz="2400" dirty="0">
                <a:latin typeface="华文新魏" panose="02010800040101010101" pitchFamily="2" charset="-122"/>
                <a:ea typeface="华文新魏" panose="02010800040101010101" pitchFamily="2" charset="-122"/>
              </a:rPr>
              <a:t>N</a:t>
            </a:r>
            <a:r>
              <a:rPr lang="zh-CN" altLang="en-US" sz="2400" dirty="0">
                <a:latin typeface="华文新魏" panose="02010800040101010101" pitchFamily="2" charset="-122"/>
                <a:ea typeface="华文新魏" panose="02010800040101010101" pitchFamily="2" charset="-122"/>
              </a:rPr>
              <a:t>位数据值使用</a:t>
            </a:r>
            <a:r>
              <a:rPr lang="en-US" altLang="zh-CN" sz="2400" dirty="0">
                <a:latin typeface="华文新魏" panose="02010800040101010101" pitchFamily="2" charset="-122"/>
                <a:ea typeface="华文新魏" panose="02010800040101010101" pitchFamily="2" charset="-122"/>
              </a:rPr>
              <a:t>2</a:t>
            </a:r>
            <a:r>
              <a:rPr lang="zh-CN" altLang="en-US" sz="2400" dirty="0">
                <a:latin typeface="华文新魏" panose="02010800040101010101" pitchFamily="2" charset="-122"/>
                <a:ea typeface="华文新魏" panose="02010800040101010101" pitchFamily="2" charset="-122"/>
              </a:rPr>
              <a:t>的补码格式表示范围为</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N-1</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N-1</a:t>
            </a: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的整数；</a:t>
            </a:r>
            <a:endParaRPr lang="zh-CN" altLang="en-US" sz="2400" dirty="0">
              <a:latin typeface="华文新魏" panose="02010800040101010101" pitchFamily="2" charset="-122"/>
              <a:ea typeface="华文新魏" panose="02010800040101010101" pitchFamily="2" charset="-122"/>
            </a:endParaRPr>
          </a:p>
        </p:txBody>
      </p:sp>
      <p:sp>
        <p:nvSpPr>
          <p:cNvPr id="37891" name="Rectangle 22"/>
          <p:cNvSpPr>
            <a:spLocks noGrp="1"/>
          </p:cNvSpPr>
          <p:nvPr>
            <p:ph type="title"/>
          </p:nvPr>
        </p:nvSpPr>
        <p:spPr>
          <a:ln/>
        </p:spPr>
        <p:txBody>
          <a:bodyPr vert="horz" wrap="square" lIns="91440" tIns="45720" rIns="91440" bIns="45720" anchor="ctr" anchorCtr="0"/>
          <a:p>
            <a:pPr eaLnBrk="1" hangingPunct="1"/>
            <a:r>
              <a:rPr lang="en-US" altLang="zh-CN" sz="4000" dirty="0"/>
              <a:t>3.4  </a:t>
            </a:r>
            <a:r>
              <a:rPr lang="zh-CN" altLang="en-US" sz="4000" dirty="0"/>
              <a:t>体系结构直接支持的数据类型</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wipe(up)">
                                      <p:cBhvr>
                                        <p:cTn id="7"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体系结构直接支持的数据类型</a:t>
            </a:r>
            <a:endParaRPr lang="zh-CN" altLang="en-US" dirty="0"/>
          </a:p>
        </p:txBody>
      </p:sp>
      <p:sp>
        <p:nvSpPr>
          <p:cNvPr id="39942" name="Text Box 6"/>
          <p:cNvSpPr txBox="1"/>
          <p:nvPr/>
        </p:nvSpPr>
        <p:spPr>
          <a:xfrm>
            <a:off x="971550" y="2349500"/>
            <a:ext cx="7253288" cy="3195638"/>
          </a:xfrm>
          <a:prstGeom prst="rect">
            <a:avLst/>
          </a:prstGeom>
          <a:noFill/>
          <a:ln w="9525">
            <a:noFill/>
          </a:ln>
        </p:spPr>
        <p:txBody>
          <a:bodyPr anchor="t" anchorCtr="0">
            <a:spAutoFit/>
          </a:bodyPr>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所有数据操作，例如</a:t>
            </a:r>
            <a:r>
              <a:rPr lang="en-US" altLang="zh-CN" sz="2400" dirty="0">
                <a:latin typeface="华文新魏" panose="02010800040101010101" pitchFamily="2" charset="-122"/>
                <a:ea typeface="华文新魏" panose="02010800040101010101" pitchFamily="2" charset="-122"/>
              </a:rPr>
              <a:t>ADD</a:t>
            </a:r>
            <a:r>
              <a:rPr lang="zh-CN" altLang="en-US" sz="2400" dirty="0">
                <a:latin typeface="华文新魏" panose="02010800040101010101" pitchFamily="2" charset="-122"/>
                <a:ea typeface="华文新魏" panose="02010800040101010101" pitchFamily="2" charset="-122"/>
              </a:rPr>
              <a:t>，都以字为单位；</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装载和保存指令可以对字节、半字和字进行操作，当装载字节或半字时自动实现零扩展或符号扩展；</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指令的长度刚好是</a:t>
            </a: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个字（分配为占用</a:t>
            </a:r>
            <a:r>
              <a:rPr lang="en-US" altLang="zh-CN" sz="2400" dirty="0">
                <a:latin typeface="华文新魏" panose="02010800040101010101" pitchFamily="2" charset="-122"/>
                <a:ea typeface="华文新魏" panose="02010800040101010101" pitchFamily="2" charset="-122"/>
              </a:rPr>
              <a:t>4</a:t>
            </a:r>
            <a:r>
              <a:rPr lang="zh-CN" altLang="en-US" sz="2400" dirty="0">
                <a:latin typeface="华文新魏" panose="02010800040101010101" pitchFamily="2" charset="-122"/>
                <a:ea typeface="华文新魏" panose="02010800040101010101" pitchFamily="2" charset="-122"/>
              </a:rPr>
              <a:t>个字节），</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指令的长度刚好是半字（占用</a:t>
            </a:r>
            <a:r>
              <a:rPr lang="en-US" altLang="zh-CN" sz="2400" dirty="0">
                <a:latin typeface="华文新魏" panose="02010800040101010101" pitchFamily="2" charset="-122"/>
                <a:ea typeface="华文新魏" panose="02010800040101010101" pitchFamily="2" charset="-122"/>
              </a:rPr>
              <a:t>2</a:t>
            </a:r>
            <a:r>
              <a:rPr lang="zh-CN" altLang="en-US" sz="2400" dirty="0">
                <a:latin typeface="华文新魏" panose="02010800040101010101" pitchFamily="2" charset="-122"/>
                <a:ea typeface="华文新魏" panose="02010800040101010101" pitchFamily="2" charset="-122"/>
              </a:rPr>
              <a:t>个字节）。</a:t>
            </a:r>
            <a:endParaRPr lang="zh-CN" altLang="en-US" sz="2400" dirty="0">
              <a:latin typeface="华文新魏" panose="02010800040101010101" pitchFamily="2" charset="-122"/>
              <a:ea typeface="华文新魏" panose="02010800040101010101" pitchFamily="2" charset="-122"/>
            </a:endParaRPr>
          </a:p>
        </p:txBody>
      </p:sp>
      <p:sp>
        <p:nvSpPr>
          <p:cNvPr id="38915" name="Rectangle 8"/>
          <p:cNvSpPr>
            <a:spLocks noGrp="1"/>
          </p:cNvSpPr>
          <p:nvPr>
            <p:ph type="title"/>
          </p:nvPr>
        </p:nvSpPr>
        <p:spPr>
          <a:ln/>
        </p:spPr>
        <p:txBody>
          <a:bodyPr vert="horz" wrap="square" lIns="91440" tIns="45720" rIns="91440" bIns="45720" anchor="ctr" anchorCtr="0"/>
          <a:p>
            <a:pPr eaLnBrk="1" hangingPunct="1"/>
            <a:r>
              <a:rPr lang="en-US" altLang="zh-CN" sz="4000" dirty="0"/>
              <a:t>3.4  </a:t>
            </a:r>
            <a:r>
              <a:rPr lang="zh-CN" altLang="en-US" sz="4000" dirty="0"/>
              <a:t>体系结构直接支持的数据类型</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wipe(up)">
                                      <p:cBhvr>
                                        <p:cTn id="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40962"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5.</a:t>
            </a:r>
            <a:r>
              <a:rPr lang="zh-CN" altLang="en-US" sz="2800" dirty="0">
                <a:solidFill>
                  <a:srgbClr val="0000FF"/>
                </a:solidFill>
                <a:latin typeface="Times New Roman" panose="02020603050405020304" pitchFamily="18" charset="0"/>
                <a:ea typeface="宋体" panose="02010600030101010101" pitchFamily="2" charset="-122"/>
              </a:rPr>
              <a:t>处理器状态</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40963"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4"/>
          <p:cNvSpPr>
            <a:spLocks noGrp="1"/>
          </p:cNvSpPr>
          <p:nvPr>
            <p:ph type="title"/>
          </p:nvPr>
        </p:nvSpPr>
        <p:spPr>
          <a:ln/>
        </p:spPr>
        <p:txBody>
          <a:bodyPr vert="horz" wrap="square" lIns="91440" tIns="45720" rIns="91440" bIns="45720" anchor="ctr" anchorCtr="0"/>
          <a:p>
            <a:pPr eaLnBrk="1" hangingPunct="1"/>
            <a:r>
              <a:rPr lang="en-US" altLang="zh-CN" dirty="0"/>
              <a:t>3.5  </a:t>
            </a:r>
            <a:r>
              <a:rPr lang="zh-CN" altLang="en-US" dirty="0"/>
              <a:t>处理器状态</a:t>
            </a:r>
            <a:endParaRPr lang="zh-CN" altLang="en-US" dirty="0"/>
          </a:p>
        </p:txBody>
      </p:sp>
      <p:sp>
        <p:nvSpPr>
          <p:cNvPr id="40965"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处理器状态</a:t>
            </a:r>
            <a:endParaRPr lang="zh-CN" altLang="en-US" dirty="0"/>
          </a:p>
        </p:txBody>
      </p:sp>
      <p:sp>
        <p:nvSpPr>
          <p:cNvPr id="40967" name="Text Box 7"/>
          <p:cNvSpPr txBox="1"/>
          <p:nvPr/>
        </p:nvSpPr>
        <p:spPr>
          <a:xfrm>
            <a:off x="1116013" y="2276475"/>
            <a:ext cx="7146925" cy="30130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处理器内核使用</a:t>
            </a:r>
            <a:r>
              <a:rPr lang="en-US" altLang="zh-CN" sz="2400" dirty="0">
                <a:latin typeface="华文新魏" panose="02010800040101010101" pitchFamily="2" charset="-122"/>
                <a:ea typeface="华文新魏" panose="02010800040101010101" pitchFamily="2" charset="-122"/>
              </a:rPr>
              <a:t>V4T</a:t>
            </a:r>
            <a:r>
              <a:rPr lang="zh-CN" altLang="en-US" sz="2400" dirty="0">
                <a:latin typeface="华文新魏" panose="02010800040101010101" pitchFamily="2" charset="-122"/>
                <a:ea typeface="华文新魏" panose="02010800040101010101" pitchFamily="2" charset="-122"/>
              </a:rPr>
              <a:t>版本的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结构，该结构包含</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指令集和</a:t>
            </a:r>
            <a:r>
              <a:rPr lang="en-US" altLang="zh-CN" sz="2400" dirty="0">
                <a:latin typeface="华文新魏" panose="02010800040101010101" pitchFamily="2" charset="-122"/>
                <a:ea typeface="华文新魏" panose="02010800040101010101" pitchFamily="2" charset="-122"/>
              </a:rPr>
              <a:t>16</a:t>
            </a:r>
            <a:r>
              <a:rPr lang="zh-CN" altLang="en-US" sz="2400" dirty="0">
                <a:latin typeface="华文新魏" panose="02010800040101010101" pitchFamily="2" charset="-122"/>
                <a:ea typeface="华文新魏" panose="02010800040101010101" pitchFamily="2" charset="-122"/>
              </a:rPr>
              <a:t>位</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指令集。因此</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处理器有两种操作状态：</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状态：</a:t>
            </a:r>
            <a:r>
              <a:rPr lang="en-US" altLang="zh-CN" sz="2400" dirty="0">
                <a:solidFill>
                  <a:schemeClr val="tx1"/>
                </a:solidFill>
                <a:latin typeface="华文新魏" panose="02010800040101010101" pitchFamily="2" charset="-122"/>
                <a:ea typeface="华文新魏" panose="02010800040101010101" pitchFamily="2" charset="-122"/>
              </a:rPr>
              <a:t>32</a:t>
            </a:r>
            <a:r>
              <a:rPr lang="zh-CN" altLang="en-US" sz="2400" dirty="0">
                <a:solidFill>
                  <a:schemeClr val="tx1"/>
                </a:solidFill>
                <a:latin typeface="华文新魏" panose="02010800040101010101" pitchFamily="2" charset="-122"/>
                <a:ea typeface="华文新魏" panose="02010800040101010101" pitchFamily="2" charset="-122"/>
              </a:rPr>
              <a:t>位，这种状态下执行的是字方式的</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指令；</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状态：</a:t>
            </a:r>
            <a:r>
              <a:rPr lang="en-US" altLang="zh-CN" sz="2400" dirty="0">
                <a:solidFill>
                  <a:schemeClr val="tx1"/>
                </a:solidFill>
                <a:latin typeface="华文新魏" panose="02010800040101010101" pitchFamily="2" charset="-122"/>
                <a:ea typeface="华文新魏" panose="02010800040101010101" pitchFamily="2" charset="-122"/>
              </a:rPr>
              <a:t>16</a:t>
            </a:r>
            <a:r>
              <a:rPr lang="zh-CN" altLang="en-US" sz="2400" dirty="0">
                <a:solidFill>
                  <a:schemeClr val="tx1"/>
                </a:solidFill>
                <a:latin typeface="华文新魏" panose="02010800040101010101" pitchFamily="2" charset="-122"/>
                <a:ea typeface="华文新魏" panose="02010800040101010101" pitchFamily="2" charset="-122"/>
              </a:rPr>
              <a:t>位，这种状态下执行半字方式的</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指令。</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40968" name="Text Box 8"/>
          <p:cNvSpPr txBox="1"/>
          <p:nvPr/>
        </p:nvSpPr>
        <p:spPr>
          <a:xfrm>
            <a:off x="1258888" y="5589588"/>
            <a:ext cx="7010400" cy="822325"/>
          </a:xfrm>
          <a:prstGeom prst="rect">
            <a:avLst/>
          </a:prstGeom>
          <a:noFill/>
          <a:ln w="9525">
            <a:noFill/>
          </a:ln>
        </p:spPr>
        <p:txBody>
          <a:bodyPr anchor="t" anchorCtr="0">
            <a:spAutoFit/>
          </a:bodyPr>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：两个状态之间的切换并不影响处理器模式或寄存器内容。</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0965">
                                            <p:txEl>
                                              <p:charRg st="0" end="6"/>
                                            </p:txEl>
                                          </p:spTgt>
                                        </p:tgtEl>
                                        <p:attrNameLst>
                                          <p:attrName>style.visibility</p:attrName>
                                        </p:attrNameLst>
                                      </p:cBhvr>
                                      <p:to>
                                        <p:strVal val="visible"/>
                                      </p:to>
                                    </p:set>
                                    <p:anim calcmode="lin" valueType="num">
                                      <p:cBhvr additive="base">
                                        <p:cTn id="7" dur="500" fill="hold"/>
                                        <p:tgtEl>
                                          <p:spTgt spid="40965">
                                            <p:txEl>
                                              <p:charRg st="0" end="6"/>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965">
                                            <p:txEl>
                                              <p:charRg st="0" end="6"/>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40967"/>
                                        </p:tgtEl>
                                        <p:attrNameLst>
                                          <p:attrName>style.visibility</p:attrName>
                                        </p:attrNameLst>
                                      </p:cBhvr>
                                      <p:to>
                                        <p:strVal val="visible"/>
                                      </p:to>
                                    </p:set>
                                    <p:animEffect transition="in" filter="box(in)">
                                      <p:cBhvr>
                                        <p:cTn id="12" dur="500"/>
                                        <p:tgtEl>
                                          <p:spTgt spid="4096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0968"/>
                                        </p:tgtEl>
                                        <p:attrNameLst>
                                          <p:attrName>style.visibility</p:attrName>
                                        </p:attrNameLst>
                                      </p:cBhvr>
                                      <p:to>
                                        <p:strVal val="visible"/>
                                      </p:to>
                                    </p:set>
                                    <p:anim calcmode="lin" valueType="num">
                                      <p:cBhvr additive="base">
                                        <p:cTn id="17" dur="500" fill="hold"/>
                                        <p:tgtEl>
                                          <p:spTgt spid="40968"/>
                                        </p:tgtEl>
                                        <p:attrNameLst>
                                          <p:attrName>ppt_x</p:attrName>
                                        </p:attrNameLst>
                                      </p:cBhvr>
                                      <p:tavLst>
                                        <p:tav tm="0">
                                          <p:val>
                                            <p:strVal val="0-#ppt_w/2"/>
                                          </p:val>
                                        </p:tav>
                                        <p:tav tm="100000">
                                          <p:val>
                                            <p:strVal val="#ppt_x"/>
                                          </p:val>
                                        </p:tav>
                                      </p:tavLst>
                                    </p:anim>
                                    <p:anim calcmode="lin" valueType="num">
                                      <p:cBhvr additive="base">
                                        <p:cTn id="18" dur="500" fill="hold"/>
                                        <p:tgtEl>
                                          <p:spTgt spid="409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dvAuto="1000" build="p"/>
      <p:bldP spid="40967" grpId="0"/>
      <p:bldP spid="4096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4"/>
          <p:cNvSpPr>
            <a:spLocks noGrp="1"/>
          </p:cNvSpPr>
          <p:nvPr>
            <p:ph type="title"/>
          </p:nvPr>
        </p:nvSpPr>
        <p:spPr>
          <a:ln/>
        </p:spPr>
        <p:txBody>
          <a:bodyPr vert="horz" wrap="square" lIns="91440" tIns="45720" rIns="91440" bIns="45720" anchor="ctr" anchorCtr="0"/>
          <a:p>
            <a:pPr eaLnBrk="1" hangingPunct="1"/>
            <a:r>
              <a:rPr lang="en-US" altLang="zh-CN" dirty="0"/>
              <a:t>3.5  </a:t>
            </a:r>
            <a:r>
              <a:rPr lang="zh-CN" altLang="en-US" dirty="0"/>
              <a:t>处理器状态</a:t>
            </a:r>
            <a:endParaRPr lang="zh-CN" altLang="en-US" dirty="0"/>
          </a:p>
        </p:txBody>
      </p:sp>
      <p:sp>
        <p:nvSpPr>
          <p:cNvPr id="43010"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处理器状态</a:t>
            </a:r>
            <a:endParaRPr lang="zh-CN" altLang="en-US" dirty="0"/>
          </a:p>
        </p:txBody>
      </p:sp>
      <p:sp>
        <p:nvSpPr>
          <p:cNvPr id="41990" name="Text Box 6"/>
          <p:cNvSpPr txBox="1"/>
          <p:nvPr/>
        </p:nvSpPr>
        <p:spPr>
          <a:xfrm>
            <a:off x="1219200" y="2325688"/>
            <a:ext cx="7086600" cy="12001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使用</a:t>
            </a:r>
            <a:r>
              <a:rPr lang="en-US" altLang="zh-CN" sz="2400" dirty="0">
                <a:latin typeface="华文新魏" panose="02010800040101010101" pitchFamily="2" charset="-122"/>
                <a:ea typeface="华文新魏" panose="02010800040101010101" pitchFamily="2" charset="-122"/>
              </a:rPr>
              <a:t>BX</a:t>
            </a:r>
            <a:r>
              <a:rPr lang="zh-CN" altLang="en-US" sz="2400" dirty="0">
                <a:latin typeface="华文新魏" panose="02010800040101010101" pitchFamily="2" charset="-122"/>
                <a:ea typeface="华文新魏" panose="02010800040101010101" pitchFamily="2" charset="-122"/>
              </a:rPr>
              <a:t>指令将</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内核的操作状态在</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状态和</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状态之间进行切换 ，程序如下所示。</a:t>
            </a:r>
            <a:endParaRPr lang="zh-CN" altLang="en-US" sz="2400" dirty="0">
              <a:latin typeface="华文新魏" panose="02010800040101010101" pitchFamily="2" charset="-122"/>
              <a:ea typeface="华文新魏" panose="02010800040101010101" pitchFamily="2" charset="-122"/>
            </a:endParaRPr>
          </a:p>
        </p:txBody>
      </p:sp>
      <p:sp>
        <p:nvSpPr>
          <p:cNvPr id="41992" name="Text Box 8"/>
          <p:cNvSpPr txBox="1"/>
          <p:nvPr/>
        </p:nvSpPr>
        <p:spPr>
          <a:xfrm>
            <a:off x="2819400" y="3697288"/>
            <a:ext cx="3352800" cy="2179637"/>
          </a:xfrm>
          <a:prstGeom prst="rect">
            <a:avLst/>
          </a:prstGeom>
          <a:solidFill>
            <a:schemeClr val="bg1"/>
          </a:solidFill>
          <a:ln w="9525" cap="flat" cmpd="sng">
            <a:solidFill>
              <a:srgbClr val="000000"/>
            </a:solidFill>
            <a:prstDash val="solid"/>
            <a:miter/>
            <a:headEnd type="none" w="med" len="med"/>
            <a:tailEnd type="none" w="med" len="med"/>
          </a:ln>
        </p:spPr>
        <p:txBody>
          <a:bodyPr anchor="t" anchorCtr="0">
            <a:spAutoFit/>
          </a:bodyPr>
          <a:p>
            <a:pPr algn="just">
              <a:spcBef>
                <a:spcPct val="50000"/>
              </a:spcBef>
              <a:buClrTx/>
              <a:buFontTx/>
            </a:pPr>
            <a:r>
              <a:rPr lang="en-US" altLang="zh-CN" sz="1600" dirty="0">
                <a:latin typeface="Courier New" panose="02070309020205020404" pitchFamily="49" charset="0"/>
                <a:ea typeface="华文新魏" panose="02010800040101010101" pitchFamily="2" charset="-122"/>
              </a:rPr>
              <a:t>;</a:t>
            </a:r>
            <a:r>
              <a:rPr lang="zh-CN" altLang="en-US" sz="1600" dirty="0">
                <a:latin typeface="Courier New" panose="02070309020205020404" pitchFamily="49" charset="0"/>
                <a:ea typeface="华文新魏" panose="02010800040101010101" pitchFamily="2" charset="-122"/>
              </a:rPr>
              <a:t>从</a:t>
            </a:r>
            <a:r>
              <a:rPr lang="en-US" altLang="zh-CN" sz="1600" dirty="0">
                <a:latin typeface="Courier New" panose="02070309020205020404" pitchFamily="49" charset="0"/>
                <a:ea typeface="华文新魏" panose="02010800040101010101" pitchFamily="2" charset="-122"/>
              </a:rPr>
              <a:t>Arm</a:t>
            </a:r>
            <a:r>
              <a:rPr lang="zh-CN" altLang="en-US" sz="1600" dirty="0">
                <a:latin typeface="Courier New" panose="02070309020205020404" pitchFamily="49" charset="0"/>
                <a:ea typeface="华文新魏" panose="02010800040101010101" pitchFamily="2" charset="-122"/>
              </a:rPr>
              <a:t>状态切换到</a:t>
            </a:r>
            <a:r>
              <a:rPr lang="en-US" altLang="zh-CN" sz="1600" dirty="0">
                <a:latin typeface="Courier New" panose="02070309020205020404" pitchFamily="49" charset="0"/>
                <a:ea typeface="华文新魏" panose="02010800040101010101" pitchFamily="2" charset="-122"/>
              </a:rPr>
              <a:t>Thumb</a:t>
            </a:r>
            <a:r>
              <a:rPr lang="zh-CN" altLang="en-US" sz="1600" dirty="0">
                <a:latin typeface="Courier New" panose="02070309020205020404" pitchFamily="49" charset="0"/>
                <a:ea typeface="华文新魏" panose="02010800040101010101" pitchFamily="2" charset="-122"/>
              </a:rPr>
              <a:t>状态</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zh-CN" altLang="en-US" sz="1600" dirty="0">
                <a:latin typeface="Courier New" panose="02070309020205020404" pitchFamily="49" charset="0"/>
                <a:ea typeface="华文新魏" panose="02010800040101010101" pitchFamily="2" charset="-122"/>
              </a:rPr>
              <a:t>    </a:t>
            </a:r>
            <a:r>
              <a:rPr lang="en-US" altLang="zh-CN" sz="1600" dirty="0">
                <a:latin typeface="Courier New" panose="02070309020205020404" pitchFamily="49" charset="0"/>
                <a:ea typeface="华文新魏" panose="02010800040101010101" pitchFamily="2" charset="-122"/>
              </a:rPr>
              <a:t>LDR    R0,=Lable+1</a:t>
            </a:r>
            <a:endParaRPr lang="en-US" altLang="zh-CN"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    BX     R0</a:t>
            </a:r>
            <a:endParaRPr lang="en-US" altLang="zh-CN"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a:t>
            </a:r>
            <a:r>
              <a:rPr lang="zh-CN" altLang="en-US" sz="1600" dirty="0">
                <a:latin typeface="Courier New" panose="02070309020205020404" pitchFamily="49" charset="0"/>
                <a:ea typeface="华文新魏" panose="02010800040101010101" pitchFamily="2" charset="-122"/>
              </a:rPr>
              <a:t>从</a:t>
            </a:r>
            <a:r>
              <a:rPr lang="en-US" altLang="zh-CN" sz="1600" dirty="0">
                <a:latin typeface="Courier New" panose="02070309020205020404" pitchFamily="49" charset="0"/>
                <a:ea typeface="华文新魏" panose="02010800040101010101" pitchFamily="2" charset="-122"/>
              </a:rPr>
              <a:t>Thumb</a:t>
            </a:r>
            <a:r>
              <a:rPr lang="zh-CN" altLang="en-US" sz="1600" dirty="0">
                <a:latin typeface="Courier New" panose="02070309020205020404" pitchFamily="49" charset="0"/>
                <a:ea typeface="华文新魏" panose="02010800040101010101" pitchFamily="2" charset="-122"/>
              </a:rPr>
              <a:t>状态切换到</a:t>
            </a:r>
            <a:r>
              <a:rPr lang="en-US" altLang="zh-CN" sz="1600" dirty="0">
                <a:latin typeface="Courier New" panose="02070309020205020404" pitchFamily="49" charset="0"/>
                <a:ea typeface="华文新魏" panose="02010800040101010101" pitchFamily="2" charset="-122"/>
              </a:rPr>
              <a:t>ARM</a:t>
            </a:r>
            <a:r>
              <a:rPr lang="zh-CN" altLang="en-US" sz="1600" dirty="0">
                <a:latin typeface="Courier New" panose="02070309020205020404" pitchFamily="49" charset="0"/>
                <a:ea typeface="华文新魏" panose="02010800040101010101" pitchFamily="2" charset="-122"/>
              </a:rPr>
              <a:t>状态</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zh-CN" altLang="en-US" sz="1600" dirty="0">
                <a:latin typeface="Courier New" panose="02070309020205020404" pitchFamily="49" charset="0"/>
                <a:ea typeface="华文新魏" panose="02010800040101010101" pitchFamily="2" charset="-122"/>
              </a:rPr>
              <a:t>    </a:t>
            </a:r>
            <a:r>
              <a:rPr lang="en-US" altLang="zh-CN" sz="1600" dirty="0">
                <a:latin typeface="Courier New" panose="02070309020205020404" pitchFamily="49" charset="0"/>
                <a:ea typeface="华文新魏" panose="02010800040101010101" pitchFamily="2" charset="-122"/>
              </a:rPr>
              <a:t>LDR    R0,=Lable</a:t>
            </a:r>
            <a:endParaRPr lang="en-US" altLang="zh-CN"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    BX     R0</a:t>
            </a:r>
            <a:endParaRPr lang="en-US" altLang="zh-CN" sz="1600" dirty="0">
              <a:latin typeface="Courier New" panose="02070309020205020404" pitchFamily="49" charset="0"/>
              <a:ea typeface="华文新魏" panose="02010800040101010101" pitchFamily="2" charset="-122"/>
            </a:endParaRPr>
          </a:p>
        </p:txBody>
      </p:sp>
      <p:sp>
        <p:nvSpPr>
          <p:cNvPr id="41993" name="Oval 9"/>
          <p:cNvSpPr/>
          <p:nvPr/>
        </p:nvSpPr>
        <p:spPr>
          <a:xfrm>
            <a:off x="5468938" y="4078288"/>
            <a:ext cx="152400" cy="304800"/>
          </a:xfrm>
          <a:prstGeom prst="ellipse">
            <a:avLst/>
          </a:prstGeom>
          <a:noFill/>
          <a:ln w="19050"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41994" name="Line 10"/>
          <p:cNvSpPr/>
          <p:nvPr/>
        </p:nvSpPr>
        <p:spPr>
          <a:xfrm flipH="1">
            <a:off x="5638800" y="4230688"/>
            <a:ext cx="838200" cy="0"/>
          </a:xfrm>
          <a:prstGeom prst="line">
            <a:avLst/>
          </a:prstGeom>
          <a:ln w="19050" cap="flat" cmpd="sng">
            <a:solidFill>
              <a:srgbClr val="FF0000"/>
            </a:solidFill>
            <a:prstDash val="solid"/>
            <a:round/>
            <a:headEnd type="none" w="med" len="med"/>
            <a:tailEnd type="triangle" w="med" len="med"/>
          </a:ln>
        </p:spPr>
      </p:sp>
      <p:sp>
        <p:nvSpPr>
          <p:cNvPr id="41995" name="Text Box 11"/>
          <p:cNvSpPr txBox="1"/>
          <p:nvPr/>
        </p:nvSpPr>
        <p:spPr>
          <a:xfrm>
            <a:off x="6477000" y="3849688"/>
            <a:ext cx="1600200" cy="915987"/>
          </a:xfrm>
          <a:prstGeom prst="rect">
            <a:avLst/>
          </a:prstGeom>
          <a:solidFill>
            <a:srgbClr val="CCCCFF">
              <a:alpha val="50195"/>
            </a:srgbClr>
          </a:solidFill>
          <a:ln w="9525">
            <a:noFill/>
          </a:ln>
        </p:spPr>
        <p:txBody>
          <a:bodyPr anchor="t" anchorCtr="0">
            <a:spAutoFit/>
          </a:bodyPr>
          <a:p>
            <a:pPr>
              <a:spcBef>
                <a:spcPct val="50000"/>
              </a:spcBef>
              <a:buClrTx/>
              <a:buFontTx/>
            </a:pPr>
            <a:r>
              <a:rPr lang="zh-CN" altLang="en-US" dirty="0">
                <a:latin typeface="华文新魏" panose="02010800040101010101" pitchFamily="2" charset="-122"/>
                <a:ea typeface="华文新魏" panose="02010800040101010101" pitchFamily="2" charset="-122"/>
              </a:rPr>
              <a:t>地址最低位为</a:t>
            </a:r>
            <a:r>
              <a:rPr lang="en-US" altLang="zh-CN" dirty="0">
                <a:latin typeface="华文新魏" panose="02010800040101010101" pitchFamily="2" charset="-122"/>
                <a:ea typeface="华文新魏" panose="02010800040101010101" pitchFamily="2" charset="-122"/>
              </a:rPr>
              <a:t>1</a:t>
            </a:r>
            <a:r>
              <a:rPr lang="zh-CN" altLang="en-US" dirty="0">
                <a:latin typeface="华文新魏" panose="02010800040101010101" pitchFamily="2" charset="-122"/>
                <a:ea typeface="华文新魏" panose="02010800040101010101" pitchFamily="2" charset="-122"/>
              </a:rPr>
              <a:t>，表示切换到</a:t>
            </a:r>
            <a:r>
              <a:rPr lang="en-US" altLang="zh-CN" dirty="0">
                <a:latin typeface="华文新魏" panose="02010800040101010101" pitchFamily="2" charset="-122"/>
                <a:ea typeface="华文新魏" panose="02010800040101010101" pitchFamily="2" charset="-122"/>
              </a:rPr>
              <a:t>Thumb</a:t>
            </a:r>
            <a:r>
              <a:rPr lang="zh-CN" altLang="en-US" dirty="0">
                <a:latin typeface="华文新魏" panose="02010800040101010101" pitchFamily="2" charset="-122"/>
                <a:ea typeface="华文新魏" panose="02010800040101010101" pitchFamily="2" charset="-122"/>
              </a:rPr>
              <a:t>状态</a:t>
            </a:r>
            <a:endParaRPr lang="zh-CN" altLang="en-US" dirty="0">
              <a:latin typeface="华文新魏" panose="02010800040101010101" pitchFamily="2" charset="-122"/>
              <a:ea typeface="华文新魏" panose="02010800040101010101" pitchFamily="2" charset="-122"/>
            </a:endParaRPr>
          </a:p>
        </p:txBody>
      </p:sp>
      <p:sp>
        <p:nvSpPr>
          <p:cNvPr id="41996" name="Text Box 12"/>
          <p:cNvSpPr txBox="1"/>
          <p:nvPr/>
        </p:nvSpPr>
        <p:spPr>
          <a:xfrm>
            <a:off x="6477000" y="4916488"/>
            <a:ext cx="1600200" cy="915987"/>
          </a:xfrm>
          <a:prstGeom prst="rect">
            <a:avLst/>
          </a:prstGeom>
          <a:solidFill>
            <a:srgbClr val="CCCCFF">
              <a:alpha val="50195"/>
            </a:srgbClr>
          </a:solidFill>
          <a:ln w="9525">
            <a:noFill/>
          </a:ln>
        </p:spPr>
        <p:txBody>
          <a:bodyPr anchor="t" anchorCtr="0">
            <a:spAutoFit/>
          </a:bodyPr>
          <a:p>
            <a:pPr>
              <a:spcBef>
                <a:spcPct val="50000"/>
              </a:spcBef>
              <a:buClrTx/>
              <a:buFontTx/>
            </a:pPr>
            <a:r>
              <a:rPr lang="zh-CN" altLang="en-US" dirty="0">
                <a:latin typeface="华文新魏" panose="02010800040101010101" pitchFamily="2" charset="-122"/>
                <a:ea typeface="华文新魏" panose="02010800040101010101" pitchFamily="2" charset="-122"/>
              </a:rPr>
              <a:t>地址最低位为</a:t>
            </a:r>
            <a:r>
              <a:rPr lang="en-US" altLang="zh-CN" dirty="0">
                <a:latin typeface="华文新魏" panose="02010800040101010101" pitchFamily="2" charset="-122"/>
                <a:ea typeface="华文新魏" panose="02010800040101010101" pitchFamily="2" charset="-122"/>
              </a:rPr>
              <a:t>0</a:t>
            </a:r>
            <a:r>
              <a:rPr lang="zh-CN" altLang="en-US" dirty="0">
                <a:latin typeface="华文新魏" panose="02010800040101010101" pitchFamily="2" charset="-122"/>
                <a:ea typeface="华文新魏" panose="02010800040101010101" pitchFamily="2" charset="-122"/>
              </a:rPr>
              <a:t>，表示切换到</a:t>
            </a:r>
            <a:r>
              <a:rPr lang="en-US" altLang="zh-CN" dirty="0">
                <a:latin typeface="华文新魏" panose="02010800040101010101" pitchFamily="2" charset="-122"/>
                <a:ea typeface="华文新魏" panose="02010800040101010101" pitchFamily="2" charset="-122"/>
              </a:rPr>
              <a:t>ARM</a:t>
            </a:r>
            <a:r>
              <a:rPr lang="zh-CN" altLang="en-US" dirty="0">
                <a:latin typeface="华文新魏" panose="02010800040101010101" pitchFamily="2" charset="-122"/>
                <a:ea typeface="华文新魏" panose="02010800040101010101" pitchFamily="2" charset="-122"/>
              </a:rPr>
              <a:t>状态</a:t>
            </a:r>
            <a:endParaRPr lang="zh-CN" altLang="en-US" dirty="0">
              <a:latin typeface="华文新魏" panose="02010800040101010101" pitchFamily="2" charset="-122"/>
              <a:ea typeface="华文新魏" panose="02010800040101010101" pitchFamily="2" charset="-122"/>
            </a:endParaRPr>
          </a:p>
        </p:txBody>
      </p:sp>
      <p:sp>
        <p:nvSpPr>
          <p:cNvPr id="41997" name="Line 13"/>
          <p:cNvSpPr/>
          <p:nvPr/>
        </p:nvSpPr>
        <p:spPr>
          <a:xfrm flipH="1">
            <a:off x="5410200" y="5373688"/>
            <a:ext cx="990600" cy="0"/>
          </a:xfrm>
          <a:prstGeom prst="line">
            <a:avLst/>
          </a:prstGeom>
          <a:ln w="19050" cap="flat" cmpd="sng">
            <a:solidFill>
              <a:srgbClr val="FF0000"/>
            </a:solidFill>
            <a:prstDash val="solid"/>
            <a:round/>
            <a:headEnd type="none" w="med" len="med"/>
            <a:tailEnd type="triangle" w="med" len="med"/>
          </a:ln>
        </p:spPr>
      </p:sp>
      <p:sp>
        <p:nvSpPr>
          <p:cNvPr id="41998" name="Text Box 14"/>
          <p:cNvSpPr txBox="1"/>
          <p:nvPr/>
        </p:nvSpPr>
        <p:spPr>
          <a:xfrm>
            <a:off x="6477000" y="3392488"/>
            <a:ext cx="1600200" cy="366712"/>
          </a:xfrm>
          <a:prstGeom prst="rect">
            <a:avLst/>
          </a:prstGeom>
          <a:solidFill>
            <a:srgbClr val="CCCCFF">
              <a:alpha val="50195"/>
            </a:srgbClr>
          </a:solidFill>
          <a:ln w="9525">
            <a:noFill/>
          </a:ln>
        </p:spPr>
        <p:txBody>
          <a:bodyPr anchor="t" anchorCtr="0">
            <a:spAutoFit/>
          </a:bodyPr>
          <a:p>
            <a:pPr>
              <a:spcBef>
                <a:spcPct val="50000"/>
              </a:spcBef>
              <a:buClrTx/>
              <a:buFontTx/>
            </a:pPr>
            <a:r>
              <a:rPr lang="zh-CN" altLang="en-US" dirty="0">
                <a:latin typeface="华文新魏" panose="02010800040101010101" pitchFamily="2" charset="-122"/>
                <a:ea typeface="华文新魏" panose="02010800040101010101" pitchFamily="2" charset="-122"/>
              </a:rPr>
              <a:t>跳转地址标号</a:t>
            </a:r>
            <a:endParaRPr lang="zh-CN" altLang="en-US" dirty="0">
              <a:latin typeface="华文新魏" panose="02010800040101010101" pitchFamily="2" charset="-122"/>
              <a:ea typeface="华文新魏" panose="02010800040101010101" pitchFamily="2" charset="-122"/>
            </a:endParaRPr>
          </a:p>
        </p:txBody>
      </p:sp>
      <p:sp>
        <p:nvSpPr>
          <p:cNvPr id="42000" name="Freeform 16"/>
          <p:cNvSpPr/>
          <p:nvPr/>
        </p:nvSpPr>
        <p:spPr>
          <a:xfrm>
            <a:off x="4949825" y="3524250"/>
            <a:ext cx="1479550" cy="485775"/>
          </a:xfrm>
          <a:custGeom>
            <a:avLst/>
            <a:gdLst/>
            <a:ahLst/>
            <a:cxnLst>
              <a:cxn ang="0">
                <a:pos x="0" y="2147483646"/>
              </a:cxn>
              <a:cxn ang="0">
                <a:pos x="2147483646" y="2147483646"/>
              </a:cxn>
              <a:cxn ang="0">
                <a:pos x="2147483646" y="2147483646"/>
              </a:cxn>
            </a:cxnLst>
            <a:pathLst>
              <a:path w="932" h="306">
                <a:moveTo>
                  <a:pt x="0" y="306"/>
                </a:moveTo>
                <a:cubicBezTo>
                  <a:pt x="50" y="263"/>
                  <a:pt x="146" y="100"/>
                  <a:pt x="301" y="50"/>
                </a:cubicBezTo>
                <a:cubicBezTo>
                  <a:pt x="456" y="0"/>
                  <a:pt x="801" y="14"/>
                  <a:pt x="932" y="4"/>
                </a:cubicBezTo>
              </a:path>
            </a:pathLst>
          </a:custGeom>
          <a:noFill/>
          <a:ln w="19050" cap="flat" cmpd="sng">
            <a:solidFill>
              <a:srgbClr val="FF0000"/>
            </a:solidFill>
            <a:prstDash val="solid"/>
            <a:round/>
            <a:headEnd type="triangle" w="med" len="med"/>
            <a:tailEnd type="none" w="med" len="med"/>
          </a:ln>
        </p:spPr>
        <p:txBody>
          <a:bodyPr/>
          <a:p>
            <a:endParaRPr lang="zh-CN" altLang="en-US"/>
          </a:p>
        </p:txBody>
      </p:sp>
      <p:sp>
        <p:nvSpPr>
          <p:cNvPr id="42001" name="Oval 17"/>
          <p:cNvSpPr/>
          <p:nvPr/>
        </p:nvSpPr>
        <p:spPr>
          <a:xfrm>
            <a:off x="4724400" y="4002088"/>
            <a:ext cx="609600" cy="381000"/>
          </a:xfrm>
          <a:prstGeom prst="ellipse">
            <a:avLst/>
          </a:prstGeom>
          <a:noFill/>
          <a:ln w="19050"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41990"/>
                                        </p:tgtEl>
                                        <p:attrNameLst>
                                          <p:attrName>style.visibility</p:attrName>
                                        </p:attrNameLst>
                                      </p:cBhvr>
                                      <p:to>
                                        <p:strVal val="visible"/>
                                      </p:to>
                                    </p:set>
                                    <p:animEffect transition="in" filter="box(in)">
                                      <p:cBhvr>
                                        <p:cTn id="7" dur="500"/>
                                        <p:tgtEl>
                                          <p:spTgt spid="41990"/>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41992"/>
                                        </p:tgtEl>
                                        <p:attrNameLst>
                                          <p:attrName>style.visibility</p:attrName>
                                        </p:attrNameLst>
                                      </p:cBhvr>
                                      <p:to>
                                        <p:strVal val="visible"/>
                                      </p:to>
                                    </p:set>
                                    <p:animEffect transition="in" filter="slide(fromTop)">
                                      <p:cBhvr>
                                        <p:cTn id="11" dur="500"/>
                                        <p:tgtEl>
                                          <p:spTgt spid="4199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grpId="0" nodeType="clickEffect">
                                  <p:stCondLst>
                                    <p:cond delay="0"/>
                                  </p:stCondLst>
                                  <p:childTnLst>
                                    <p:set>
                                      <p:cBhvr>
                                        <p:cTn id="15" dur="1" fill="hold">
                                          <p:stCondLst>
                                            <p:cond delay="0"/>
                                          </p:stCondLst>
                                        </p:cTn>
                                        <p:tgtEl>
                                          <p:spTgt spid="41998"/>
                                        </p:tgtEl>
                                        <p:attrNameLst>
                                          <p:attrName>style.visibility</p:attrName>
                                        </p:attrNameLst>
                                      </p:cBhvr>
                                      <p:to>
                                        <p:strVal val="visible"/>
                                      </p:to>
                                    </p:set>
                                    <p:animEffect transition="in" filter="slide(fromRight)">
                                      <p:cBhvr>
                                        <p:cTn id="16" dur="500"/>
                                        <p:tgtEl>
                                          <p:spTgt spid="41998"/>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2000"/>
                                        </p:tgtEl>
                                        <p:attrNameLst>
                                          <p:attrName>style.visibility</p:attrName>
                                        </p:attrNameLst>
                                      </p:cBhvr>
                                      <p:to>
                                        <p:strVal val="visible"/>
                                      </p:to>
                                    </p:set>
                                    <p:animEffect transition="in" filter="wipe(right)">
                                      <p:cBhvr>
                                        <p:cTn id="20" dur="500"/>
                                        <p:tgtEl>
                                          <p:spTgt spid="42000"/>
                                        </p:tgtEl>
                                      </p:cBhvr>
                                    </p:animEffec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499"/>
                                          </p:stCondLst>
                                        </p:cTn>
                                        <p:tgtEl>
                                          <p:spTgt spid="4200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2" presetClass="entr" presetSubtype="2" fill="hold" grpId="0" nodeType="clickEffect">
                                  <p:stCondLst>
                                    <p:cond delay="0"/>
                                  </p:stCondLst>
                                  <p:childTnLst>
                                    <p:set>
                                      <p:cBhvr>
                                        <p:cTn id="27" dur="1" fill="hold">
                                          <p:stCondLst>
                                            <p:cond delay="0"/>
                                          </p:stCondLst>
                                        </p:cTn>
                                        <p:tgtEl>
                                          <p:spTgt spid="41995"/>
                                        </p:tgtEl>
                                        <p:attrNameLst>
                                          <p:attrName>style.visibility</p:attrName>
                                        </p:attrNameLst>
                                      </p:cBhvr>
                                      <p:to>
                                        <p:strVal val="visible"/>
                                      </p:to>
                                    </p:set>
                                    <p:animEffect transition="in" filter="slide(fromRight)">
                                      <p:cBhvr>
                                        <p:cTn id="28" dur="500"/>
                                        <p:tgtEl>
                                          <p:spTgt spid="41995"/>
                                        </p:tgtEl>
                                      </p:cBhvr>
                                    </p:animEffect>
                                  </p:childTnLst>
                                </p:cTn>
                              </p:par>
                            </p:childTnLst>
                          </p:cTn>
                        </p:par>
                        <p:par>
                          <p:cTn id="29" fill="hold">
                            <p:stCondLst>
                              <p:cond delay="500"/>
                            </p:stCondLst>
                            <p:childTnLst>
                              <p:par>
                                <p:cTn id="30" presetID="12" presetClass="entr" presetSubtype="2" fill="hold" nodeType="afterEffect">
                                  <p:stCondLst>
                                    <p:cond delay="0"/>
                                  </p:stCondLst>
                                  <p:childTnLst>
                                    <p:set>
                                      <p:cBhvr>
                                        <p:cTn id="31" dur="1" fill="hold">
                                          <p:stCondLst>
                                            <p:cond delay="0"/>
                                          </p:stCondLst>
                                        </p:cTn>
                                        <p:tgtEl>
                                          <p:spTgt spid="41994"/>
                                        </p:tgtEl>
                                        <p:attrNameLst>
                                          <p:attrName>style.visibility</p:attrName>
                                        </p:attrNameLst>
                                      </p:cBhvr>
                                      <p:to>
                                        <p:strVal val="visible"/>
                                      </p:to>
                                    </p:set>
                                    <p:animEffect transition="in" filter="slide(fromRight)">
                                      <p:cBhvr>
                                        <p:cTn id="32" dur="500"/>
                                        <p:tgtEl>
                                          <p:spTgt spid="41994"/>
                                        </p:tgtEl>
                                      </p:cBhvr>
                                    </p:animEffect>
                                  </p:childTnLst>
                                </p:cTn>
                              </p:par>
                            </p:childTnLst>
                          </p:cTn>
                        </p:par>
                        <p:par>
                          <p:cTn id="33" fill="hold">
                            <p:stCondLst>
                              <p:cond delay="1000"/>
                            </p:stCondLst>
                            <p:childTnLst>
                              <p:par>
                                <p:cTn id="34" presetID="1" presetClass="entr" presetSubtype="0" fill="hold" grpId="0" nodeType="afterEffect">
                                  <p:stCondLst>
                                    <p:cond delay="0"/>
                                  </p:stCondLst>
                                  <p:childTnLst>
                                    <p:set>
                                      <p:cBhvr>
                                        <p:cTn id="35" dur="1" fill="hold">
                                          <p:stCondLst>
                                            <p:cond delay="499"/>
                                          </p:stCondLst>
                                        </p:cTn>
                                        <p:tgtEl>
                                          <p:spTgt spid="4199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41996"/>
                                        </p:tgtEl>
                                        <p:attrNameLst>
                                          <p:attrName>style.visibility</p:attrName>
                                        </p:attrNameLst>
                                      </p:cBhvr>
                                      <p:to>
                                        <p:strVal val="visible"/>
                                      </p:to>
                                    </p:set>
                                    <p:animEffect transition="in" filter="slide(fromRight)">
                                      <p:cBhvr>
                                        <p:cTn id="40" dur="500"/>
                                        <p:tgtEl>
                                          <p:spTgt spid="41996"/>
                                        </p:tgtEl>
                                      </p:cBhvr>
                                    </p:animEffect>
                                  </p:childTnLst>
                                </p:cTn>
                              </p:par>
                            </p:childTnLst>
                          </p:cTn>
                        </p:par>
                        <p:par>
                          <p:cTn id="41" fill="hold">
                            <p:stCondLst>
                              <p:cond delay="500"/>
                            </p:stCondLst>
                            <p:childTnLst>
                              <p:par>
                                <p:cTn id="42" presetID="12" presetClass="entr" presetSubtype="2" fill="hold" nodeType="afterEffect">
                                  <p:stCondLst>
                                    <p:cond delay="0"/>
                                  </p:stCondLst>
                                  <p:childTnLst>
                                    <p:set>
                                      <p:cBhvr>
                                        <p:cTn id="43" dur="1" fill="hold">
                                          <p:stCondLst>
                                            <p:cond delay="0"/>
                                          </p:stCondLst>
                                        </p:cTn>
                                        <p:tgtEl>
                                          <p:spTgt spid="41997"/>
                                        </p:tgtEl>
                                        <p:attrNameLst>
                                          <p:attrName>style.visibility</p:attrName>
                                        </p:attrNameLst>
                                      </p:cBhvr>
                                      <p:to>
                                        <p:strVal val="visible"/>
                                      </p:to>
                                    </p:set>
                                    <p:animEffect transition="in" filter="slide(fromRight)">
                                      <p:cBhvr>
                                        <p:cTn id="44" dur="500"/>
                                        <p:tgtEl>
                                          <p:spTgt spid="41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p:bldP spid="41992" grpId="0" animBg="1"/>
      <p:bldP spid="41993" grpId="0" animBg="1"/>
      <p:bldP spid="41995" grpId="0" animBg="1"/>
      <p:bldP spid="41996" grpId="0" animBg="1"/>
      <p:bldP spid="41998" grpId="0" animBg="1"/>
      <p:bldP spid="4200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44034"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6.</a:t>
            </a:r>
            <a:r>
              <a:rPr lang="zh-CN" altLang="en-US" sz="2800" dirty="0">
                <a:solidFill>
                  <a:srgbClr val="0000FF"/>
                </a:solidFill>
                <a:latin typeface="Times New Roman" panose="02020603050405020304" pitchFamily="18" charset="0"/>
                <a:ea typeface="宋体" panose="02010600030101010101" pitchFamily="2" charset="-122"/>
              </a:rPr>
              <a:t>处理器模式</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44035"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4102" name="Group 70"/>
          <p:cNvGraphicFramePr>
            <a:graphicFrameLocks noGrp="1"/>
          </p:cNvGraphicFramePr>
          <p:nvPr/>
        </p:nvGraphicFramePr>
        <p:xfrm>
          <a:off x="1331913" y="2276475"/>
          <a:ext cx="6781800" cy="3902075"/>
        </p:xfrm>
        <a:graphic>
          <a:graphicData uri="http://schemas.openxmlformats.org/drawingml/2006/table">
            <a:tbl>
              <a:tblPr/>
              <a:tblGrid>
                <a:gridCol w="1524000"/>
                <a:gridCol w="2362200"/>
                <a:gridCol w="2895600"/>
              </a:tblGrid>
              <a:tr h="33533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处理器模式</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说明</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备注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(usr)</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正常程序执行模式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不能直接切换到其它模式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(sys)</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运行操作系统的特权任务</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与用户模式类似，但具有可以直接切换到其它模式等特权</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支持高速数据传输及通道处理</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FIQ</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用于通用中断处理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(svc)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操作系统保护模式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系统复位和软件中断响应时进入此模式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用于支持虚拟内存和</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或存储器保护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ARM7TDMI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没有大用处</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(und)</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支持硬件协处理器的软件仿真</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未定义指令异常响应时进入此模式</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bl>
          </a:graphicData>
        </a:graphic>
      </p:graphicFrame>
      <p:sp>
        <p:nvSpPr>
          <p:cNvPr id="45095" name="Rectangle 50"/>
          <p:cNvSpPr>
            <a:spLocks noGrp="1"/>
          </p:cNvSpPr>
          <p:nvPr>
            <p:ph type="title"/>
          </p:nvPr>
        </p:nvSpPr>
        <p:spPr>
          <a:ln/>
        </p:spPr>
        <p:txBody>
          <a:bodyPr vert="horz" wrap="square" lIns="91440" tIns="45720" rIns="91440" bIns="45720" anchor="ctr" anchorCtr="0"/>
          <a:p>
            <a:pPr eaLnBrk="1" hangingPunct="1"/>
            <a:r>
              <a:rPr lang="en-US" altLang="zh-CN" dirty="0"/>
              <a:t>3.6  </a:t>
            </a:r>
            <a:r>
              <a:rPr lang="zh-CN" altLang="en-US" dirty="0"/>
              <a:t>处理器模式</a:t>
            </a:r>
            <a:endParaRPr lang="zh-CN" altLang="en-US" dirty="0"/>
          </a:p>
        </p:txBody>
      </p:sp>
      <p:sp>
        <p:nvSpPr>
          <p:cNvPr id="44083" name="Rectangle 51"/>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处理器</a:t>
            </a:r>
            <a:r>
              <a:rPr lang="en-US" altLang="zh-CN" dirty="0"/>
              <a:t>7</a:t>
            </a:r>
            <a:r>
              <a:rPr lang="zh-CN" altLang="en-US" dirty="0"/>
              <a:t>种模式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4083">
                                            <p:txEl>
                                              <p:charRg st="0" end="8"/>
                                            </p:txEl>
                                          </p:spTgt>
                                        </p:tgtEl>
                                        <p:attrNameLst>
                                          <p:attrName>style.visibility</p:attrName>
                                        </p:attrNameLst>
                                      </p:cBhvr>
                                      <p:to>
                                        <p:strVal val="visible"/>
                                      </p:to>
                                    </p:set>
                                    <p:anim calcmode="lin" valueType="num">
                                      <p:cBhvr additive="base">
                                        <p:cTn id="7" dur="500" fill="hold"/>
                                        <p:tgtEl>
                                          <p:spTgt spid="44083">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4083">
                                            <p:txEl>
                                              <p:charRg st="0" end="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44102"/>
                                        </p:tgtEl>
                                        <p:attrNameLst>
                                          <p:attrName>style.visibility</p:attrName>
                                        </p:attrNameLst>
                                      </p:cBhvr>
                                      <p:to>
                                        <p:strVal val="visible"/>
                                      </p:to>
                                    </p:set>
                                    <p:animEffect transition="in" filter="slide(fromBottom)">
                                      <p:cBhvr>
                                        <p:cTn id="12" dur="500"/>
                                        <p:tgtEl>
                                          <p:spTgt spid="4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83" grpId="0" advAuto="100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40"/>
          <p:cNvSpPr>
            <a:spLocks noGrp="1"/>
          </p:cNvSpPr>
          <p:nvPr>
            <p:ph type="title"/>
          </p:nvPr>
        </p:nvSpPr>
        <p:spPr>
          <a:ln/>
        </p:spPr>
        <p:txBody>
          <a:bodyPr vert="horz" wrap="square" lIns="91440" tIns="45720" rIns="91440" bIns="45720" anchor="ctr" anchorCtr="0"/>
          <a:p>
            <a:pPr eaLnBrk="1" hangingPunct="1"/>
            <a:r>
              <a:rPr lang="en-US" altLang="zh-CN" dirty="0"/>
              <a:t>3.6  </a:t>
            </a:r>
            <a:r>
              <a:rPr lang="zh-CN" altLang="en-US" dirty="0"/>
              <a:t>处理器模式</a:t>
            </a:r>
            <a:endParaRPr lang="zh-CN" altLang="en-US" dirty="0"/>
          </a:p>
        </p:txBody>
      </p:sp>
      <p:sp>
        <p:nvSpPr>
          <p:cNvPr id="49193" name="Rectangle 41"/>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特权模式</a:t>
            </a:r>
            <a:endParaRPr lang="zh-CN" altLang="en-US" dirty="0"/>
          </a:p>
        </p:txBody>
      </p:sp>
      <p:graphicFrame>
        <p:nvGraphicFramePr>
          <p:cNvPr id="49303" name="Group 151"/>
          <p:cNvGraphicFramePr>
            <a:graphicFrameLocks noGrp="1"/>
          </p:cNvGraphicFramePr>
          <p:nvPr/>
        </p:nvGraphicFramePr>
        <p:xfrm>
          <a:off x="1371600" y="2667000"/>
          <a:ext cx="6781800" cy="3902075"/>
        </p:xfrm>
        <a:graphic>
          <a:graphicData uri="http://schemas.openxmlformats.org/drawingml/2006/table">
            <a:tbl>
              <a:tblPr/>
              <a:tblGrid>
                <a:gridCol w="1524000"/>
                <a:gridCol w="2362200"/>
                <a:gridCol w="2895600"/>
              </a:tblGrid>
              <a:tr h="33533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处理器模式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说明</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备注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(usr)</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正常程序工作模式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不能直接切换到其它模式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(sys)</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用于支持操作系统的特权任务等</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与用户模式类似，但具有可以直接切换到其它模式等特权</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支持高速数据传输及通道处理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用于通用中断处理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(svc)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操作系统保护代码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系统复位和软件中断响应时进入此模式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用于支持虚拟内存和</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或存储器保护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ARM7TDMI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没有大用处</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(und)</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支持硬件协处理器的软件仿真</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未定义指令异常响应时进入此模式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bl>
          </a:graphicData>
        </a:graphic>
      </p:graphicFrame>
      <p:sp>
        <p:nvSpPr>
          <p:cNvPr id="49201" name="AutoShape 49"/>
          <p:cNvSpPr/>
          <p:nvPr/>
        </p:nvSpPr>
        <p:spPr>
          <a:xfrm>
            <a:off x="3048000" y="3352800"/>
            <a:ext cx="4876800" cy="3200400"/>
          </a:xfrm>
          <a:prstGeom prst="roundRect">
            <a:avLst>
              <a:gd name="adj" fmla="val 5704"/>
            </a:avLst>
          </a:prstGeom>
          <a:solidFill>
            <a:srgbClr val="99CCFF"/>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除用户模式外，其它模式均为</a:t>
            </a:r>
            <a:r>
              <a:rPr lang="zh-CN" altLang="en-US" sz="2400" dirty="0">
                <a:solidFill>
                  <a:srgbClr val="FF0000"/>
                </a:solidFill>
                <a:latin typeface="华文新魏" panose="02010800040101010101" pitchFamily="2" charset="-122"/>
                <a:ea typeface="华文新魏" panose="02010800040101010101" pitchFamily="2" charset="-122"/>
              </a:rPr>
              <a:t>特权模式</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内部寄存器和一些片内外设在硬件设计上只允许（或者可选为只允许）特权模式下访问。此外，特权模式可以自由的切换处理器模式，而用户模式不能直接切换到别的模式。</a:t>
            </a:r>
            <a:endParaRPr lang="zh-CN" altLang="en-US" sz="2400" dirty="0">
              <a:latin typeface="华文新魏" panose="02010800040101010101" pitchFamily="2" charset="-122"/>
              <a:ea typeface="华文新魏" panose="02010800040101010101" pitchFamily="2" charset="-122"/>
            </a:endParaRPr>
          </a:p>
        </p:txBody>
      </p:sp>
      <p:grpSp>
        <p:nvGrpSpPr>
          <p:cNvPr id="2" name="Group 209"/>
          <p:cNvGrpSpPr/>
          <p:nvPr/>
        </p:nvGrpSpPr>
        <p:grpSpPr>
          <a:xfrm>
            <a:off x="1371600" y="3338513"/>
            <a:ext cx="1524000" cy="3232150"/>
            <a:chOff x="192" y="1680"/>
            <a:chExt cx="960" cy="2036"/>
          </a:xfrm>
        </p:grpSpPr>
        <p:sp>
          <p:nvSpPr>
            <p:cNvPr id="46123" name="Rectangle 195"/>
            <p:cNvSpPr/>
            <p:nvPr/>
          </p:nvSpPr>
          <p:spPr>
            <a:xfrm>
              <a:off x="192" y="3351"/>
              <a:ext cx="960" cy="365"/>
            </a:xfrm>
            <a:prstGeom prst="rect">
              <a:avLst/>
            </a:prstGeom>
            <a:solidFill>
              <a:srgbClr val="99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未定义    </a:t>
              </a:r>
              <a:r>
                <a:rPr lang="en-US" altLang="zh-CN" sz="1600" dirty="0">
                  <a:latin typeface="Times New Roman" panose="02020603050405020304" pitchFamily="18" charset="0"/>
                  <a:ea typeface="宋体" panose="02010600030101010101" pitchFamily="2" charset="-122"/>
                </a:rPr>
                <a:t>(und)</a:t>
              </a:r>
              <a:endParaRPr lang="en-US" altLang="zh-CN" sz="1600" dirty="0">
                <a:latin typeface="Times New Roman" panose="02020603050405020304" pitchFamily="18" charset="0"/>
                <a:ea typeface="宋体" panose="02010600030101010101" pitchFamily="2" charset="-122"/>
              </a:endParaRPr>
            </a:p>
          </p:txBody>
        </p:sp>
        <p:sp>
          <p:nvSpPr>
            <p:cNvPr id="46124" name="Rectangle 194"/>
            <p:cNvSpPr/>
            <p:nvPr/>
          </p:nvSpPr>
          <p:spPr>
            <a:xfrm>
              <a:off x="192" y="2986"/>
              <a:ext cx="960" cy="365"/>
            </a:xfrm>
            <a:prstGeom prst="rect">
              <a:avLst/>
            </a:prstGeom>
            <a:solidFill>
              <a:srgbClr val="99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中止        </a:t>
              </a:r>
              <a:r>
                <a:rPr lang="en-US" altLang="zh-CN" sz="1600" dirty="0">
                  <a:latin typeface="Times New Roman" panose="02020603050405020304" pitchFamily="18" charset="0"/>
                  <a:ea typeface="宋体" panose="02010600030101010101" pitchFamily="2" charset="-122"/>
                </a:rPr>
                <a:t>(abt)</a:t>
              </a:r>
              <a:endParaRPr lang="en-US" altLang="zh-CN" sz="1600" dirty="0">
                <a:latin typeface="Times New Roman" panose="02020603050405020304" pitchFamily="18" charset="0"/>
                <a:ea typeface="宋体" panose="02010600030101010101" pitchFamily="2" charset="-122"/>
              </a:endParaRPr>
            </a:p>
          </p:txBody>
        </p:sp>
        <p:sp>
          <p:nvSpPr>
            <p:cNvPr id="46125" name="Rectangle 193"/>
            <p:cNvSpPr/>
            <p:nvPr/>
          </p:nvSpPr>
          <p:spPr>
            <a:xfrm>
              <a:off x="192" y="2621"/>
              <a:ext cx="960" cy="365"/>
            </a:xfrm>
            <a:prstGeom prst="rect">
              <a:avLst/>
            </a:prstGeom>
            <a:solidFill>
              <a:srgbClr val="99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管理        </a:t>
              </a:r>
              <a:r>
                <a:rPr lang="en-US" altLang="zh-CN" sz="1600" dirty="0">
                  <a:latin typeface="Times New Roman" panose="02020603050405020304" pitchFamily="18" charset="0"/>
                  <a:ea typeface="宋体" panose="02010600030101010101" pitchFamily="2" charset="-122"/>
                </a:rPr>
                <a:t>(svc)</a:t>
              </a:r>
              <a:endParaRPr lang="en-US" altLang="zh-CN" sz="1600" dirty="0">
                <a:latin typeface="Times New Roman" panose="02020603050405020304" pitchFamily="18" charset="0"/>
                <a:ea typeface="宋体" panose="02010600030101010101" pitchFamily="2" charset="-122"/>
              </a:endParaRPr>
            </a:p>
          </p:txBody>
        </p:sp>
        <p:sp>
          <p:nvSpPr>
            <p:cNvPr id="46126" name="Rectangle 192"/>
            <p:cNvSpPr/>
            <p:nvPr/>
          </p:nvSpPr>
          <p:spPr>
            <a:xfrm>
              <a:off x="192" y="2410"/>
              <a:ext cx="960" cy="211"/>
            </a:xfrm>
            <a:prstGeom prst="rect">
              <a:avLst/>
            </a:prstGeom>
            <a:solidFill>
              <a:srgbClr val="99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中断        </a:t>
              </a:r>
              <a:r>
                <a:rPr lang="en-US" altLang="zh-CN" sz="1600" dirty="0">
                  <a:latin typeface="Times New Roman" panose="02020603050405020304" pitchFamily="18" charset="0"/>
                  <a:ea typeface="宋体" panose="02010600030101010101" pitchFamily="2" charset="-122"/>
                </a:rPr>
                <a:t>(irq)</a:t>
              </a:r>
              <a:endParaRPr lang="en-US" altLang="zh-CN" sz="1600" dirty="0">
                <a:latin typeface="Times New Roman" panose="02020603050405020304" pitchFamily="18" charset="0"/>
                <a:ea typeface="宋体" panose="02010600030101010101" pitchFamily="2" charset="-122"/>
              </a:endParaRPr>
            </a:p>
          </p:txBody>
        </p:sp>
        <p:sp>
          <p:nvSpPr>
            <p:cNvPr id="46127" name="Rectangle 191"/>
            <p:cNvSpPr/>
            <p:nvPr/>
          </p:nvSpPr>
          <p:spPr>
            <a:xfrm>
              <a:off x="192" y="2045"/>
              <a:ext cx="960" cy="365"/>
            </a:xfrm>
            <a:prstGeom prst="rect">
              <a:avLst/>
            </a:prstGeom>
            <a:solidFill>
              <a:srgbClr val="99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快中断    </a:t>
              </a:r>
              <a:r>
                <a:rPr lang="en-US" altLang="zh-CN" sz="1600" dirty="0">
                  <a:latin typeface="Times New Roman" panose="02020603050405020304" pitchFamily="18" charset="0"/>
                  <a:ea typeface="宋体" panose="02010600030101010101" pitchFamily="2" charset="-122"/>
                </a:rPr>
                <a:t>(fiq)</a:t>
              </a:r>
              <a:endParaRPr lang="en-US" altLang="zh-CN" sz="1600" dirty="0">
                <a:latin typeface="Times New Roman" panose="02020603050405020304" pitchFamily="18" charset="0"/>
                <a:ea typeface="宋体" panose="02010600030101010101" pitchFamily="2" charset="-122"/>
              </a:endParaRPr>
            </a:p>
          </p:txBody>
        </p:sp>
        <p:sp>
          <p:nvSpPr>
            <p:cNvPr id="46128" name="Rectangle 190"/>
            <p:cNvSpPr/>
            <p:nvPr/>
          </p:nvSpPr>
          <p:spPr>
            <a:xfrm>
              <a:off x="192" y="1680"/>
              <a:ext cx="960" cy="365"/>
            </a:xfrm>
            <a:prstGeom prst="rect">
              <a:avLst/>
            </a:prstGeom>
            <a:solidFill>
              <a:srgbClr val="99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系统        </a:t>
              </a:r>
              <a:r>
                <a:rPr lang="en-US" altLang="zh-CN" sz="1600" dirty="0">
                  <a:latin typeface="Times New Roman" panose="02020603050405020304" pitchFamily="18" charset="0"/>
                  <a:ea typeface="宋体" panose="02010600030101010101" pitchFamily="2" charset="-122"/>
                </a:rPr>
                <a:t>(sys)</a:t>
              </a:r>
              <a:endParaRPr lang="en-US" altLang="zh-CN" sz="1600" dirty="0">
                <a:latin typeface="Times New Roman" panose="02020603050405020304" pitchFamily="18" charset="0"/>
                <a:ea typeface="宋体" panose="02010600030101010101" pitchFamily="2" charset="-122"/>
              </a:endParaRPr>
            </a:p>
          </p:txBody>
        </p:sp>
        <p:sp>
          <p:nvSpPr>
            <p:cNvPr id="46129" name="Line 196"/>
            <p:cNvSpPr/>
            <p:nvPr/>
          </p:nvSpPr>
          <p:spPr>
            <a:xfrm>
              <a:off x="192" y="1680"/>
              <a:ext cx="960" cy="0"/>
            </a:xfrm>
            <a:prstGeom prst="line">
              <a:avLst/>
            </a:prstGeom>
            <a:ln w="28575" cap="sq" cmpd="sng">
              <a:solidFill>
                <a:schemeClr val="tx1"/>
              </a:solidFill>
              <a:prstDash val="solid"/>
              <a:round/>
              <a:headEnd type="none" w="med" len="med"/>
              <a:tailEnd type="none" w="med" len="med"/>
            </a:ln>
          </p:spPr>
        </p:sp>
        <p:sp>
          <p:nvSpPr>
            <p:cNvPr id="46130" name="Line 197"/>
            <p:cNvSpPr/>
            <p:nvPr/>
          </p:nvSpPr>
          <p:spPr>
            <a:xfrm>
              <a:off x="192" y="2045"/>
              <a:ext cx="960" cy="0"/>
            </a:xfrm>
            <a:prstGeom prst="line">
              <a:avLst/>
            </a:prstGeom>
            <a:ln w="12700" cap="flat" cmpd="sng">
              <a:solidFill>
                <a:schemeClr val="tx1"/>
              </a:solidFill>
              <a:prstDash val="solid"/>
              <a:round/>
              <a:headEnd type="none" w="med" len="med"/>
              <a:tailEnd type="none" w="med" len="med"/>
            </a:ln>
          </p:spPr>
        </p:sp>
        <p:sp>
          <p:nvSpPr>
            <p:cNvPr id="46131" name="Line 198"/>
            <p:cNvSpPr/>
            <p:nvPr/>
          </p:nvSpPr>
          <p:spPr>
            <a:xfrm>
              <a:off x="192" y="2410"/>
              <a:ext cx="960" cy="0"/>
            </a:xfrm>
            <a:prstGeom prst="line">
              <a:avLst/>
            </a:prstGeom>
            <a:ln w="12700" cap="flat" cmpd="sng">
              <a:solidFill>
                <a:schemeClr val="tx1"/>
              </a:solidFill>
              <a:prstDash val="solid"/>
              <a:round/>
              <a:headEnd type="none" w="med" len="med"/>
              <a:tailEnd type="none" w="med" len="med"/>
            </a:ln>
          </p:spPr>
        </p:sp>
        <p:sp>
          <p:nvSpPr>
            <p:cNvPr id="46132" name="Line 199"/>
            <p:cNvSpPr/>
            <p:nvPr/>
          </p:nvSpPr>
          <p:spPr>
            <a:xfrm>
              <a:off x="192" y="2621"/>
              <a:ext cx="960" cy="0"/>
            </a:xfrm>
            <a:prstGeom prst="line">
              <a:avLst/>
            </a:prstGeom>
            <a:ln w="12700" cap="flat" cmpd="sng">
              <a:solidFill>
                <a:schemeClr val="tx1"/>
              </a:solidFill>
              <a:prstDash val="solid"/>
              <a:round/>
              <a:headEnd type="none" w="med" len="med"/>
              <a:tailEnd type="none" w="med" len="med"/>
            </a:ln>
          </p:spPr>
        </p:sp>
        <p:sp>
          <p:nvSpPr>
            <p:cNvPr id="46133" name="Line 200"/>
            <p:cNvSpPr/>
            <p:nvPr/>
          </p:nvSpPr>
          <p:spPr>
            <a:xfrm>
              <a:off x="192" y="2986"/>
              <a:ext cx="960" cy="0"/>
            </a:xfrm>
            <a:prstGeom prst="line">
              <a:avLst/>
            </a:prstGeom>
            <a:ln w="12700" cap="flat" cmpd="sng">
              <a:solidFill>
                <a:schemeClr val="tx1"/>
              </a:solidFill>
              <a:prstDash val="solid"/>
              <a:round/>
              <a:headEnd type="none" w="med" len="med"/>
              <a:tailEnd type="none" w="med" len="med"/>
            </a:ln>
          </p:spPr>
        </p:sp>
        <p:sp>
          <p:nvSpPr>
            <p:cNvPr id="46134" name="Line 201"/>
            <p:cNvSpPr/>
            <p:nvPr/>
          </p:nvSpPr>
          <p:spPr>
            <a:xfrm>
              <a:off x="192" y="3351"/>
              <a:ext cx="960" cy="0"/>
            </a:xfrm>
            <a:prstGeom prst="line">
              <a:avLst/>
            </a:prstGeom>
            <a:ln w="12700" cap="flat" cmpd="sng">
              <a:solidFill>
                <a:schemeClr val="tx1"/>
              </a:solidFill>
              <a:prstDash val="solid"/>
              <a:round/>
              <a:headEnd type="none" w="med" len="med"/>
              <a:tailEnd type="none" w="med" len="med"/>
            </a:ln>
          </p:spPr>
        </p:sp>
        <p:sp>
          <p:nvSpPr>
            <p:cNvPr id="46135" name="Line 202"/>
            <p:cNvSpPr/>
            <p:nvPr/>
          </p:nvSpPr>
          <p:spPr>
            <a:xfrm>
              <a:off x="192" y="3716"/>
              <a:ext cx="960" cy="0"/>
            </a:xfrm>
            <a:prstGeom prst="line">
              <a:avLst/>
            </a:prstGeom>
            <a:ln w="28575" cap="sq" cmpd="sng">
              <a:solidFill>
                <a:schemeClr val="tx1"/>
              </a:solidFill>
              <a:prstDash val="solid"/>
              <a:round/>
              <a:headEnd type="none" w="med" len="med"/>
              <a:tailEnd type="none" w="med" len="med"/>
            </a:ln>
          </p:spPr>
        </p:sp>
        <p:sp>
          <p:nvSpPr>
            <p:cNvPr id="46136" name="Line 203"/>
            <p:cNvSpPr/>
            <p:nvPr/>
          </p:nvSpPr>
          <p:spPr>
            <a:xfrm>
              <a:off x="192" y="1680"/>
              <a:ext cx="0" cy="2036"/>
            </a:xfrm>
            <a:prstGeom prst="line">
              <a:avLst/>
            </a:prstGeom>
            <a:ln w="28575" cap="sq" cmpd="sng">
              <a:solidFill>
                <a:schemeClr val="tx1"/>
              </a:solidFill>
              <a:prstDash val="solid"/>
              <a:round/>
              <a:headEnd type="none" w="med" len="med"/>
              <a:tailEnd type="none" w="med" len="med"/>
            </a:ln>
          </p:spPr>
        </p:sp>
        <p:sp>
          <p:nvSpPr>
            <p:cNvPr id="46137" name="Line 204"/>
            <p:cNvSpPr/>
            <p:nvPr/>
          </p:nvSpPr>
          <p:spPr>
            <a:xfrm>
              <a:off x="1152" y="1680"/>
              <a:ext cx="0" cy="2036"/>
            </a:xfrm>
            <a:prstGeom prst="line">
              <a:avLst/>
            </a:prstGeom>
            <a:ln w="28575" cap="sq" cmpd="sng">
              <a:solidFill>
                <a:schemeClr val="tx1"/>
              </a:solidFill>
              <a:prstDash val="solid"/>
              <a:round/>
              <a:headEnd type="none" w="med" len="med"/>
              <a:tailEnd type="none" w="med" len="med"/>
            </a:ln>
          </p:spPr>
        </p:sp>
      </p:grpSp>
      <p:sp>
        <p:nvSpPr>
          <p:cNvPr id="49206" name="AutoShape 54"/>
          <p:cNvSpPr/>
          <p:nvPr/>
        </p:nvSpPr>
        <p:spPr>
          <a:xfrm>
            <a:off x="2743200" y="3657600"/>
            <a:ext cx="457200" cy="2667000"/>
          </a:xfrm>
          <a:prstGeom prst="rightBrace">
            <a:avLst>
              <a:gd name="adj1" fmla="val 48530"/>
              <a:gd name="adj2" fmla="val 50000"/>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9193">
                                            <p:txEl>
                                              <p:charRg st="0" end="5"/>
                                            </p:txEl>
                                          </p:spTgt>
                                        </p:tgtEl>
                                        <p:attrNameLst>
                                          <p:attrName>style.visibility</p:attrName>
                                        </p:attrNameLst>
                                      </p:cBhvr>
                                      <p:to>
                                        <p:strVal val="visible"/>
                                      </p:to>
                                    </p:set>
                                    <p:anim calcmode="lin" valueType="num">
                                      <p:cBhvr additive="base">
                                        <p:cTn id="7" dur="500" fill="hold"/>
                                        <p:tgtEl>
                                          <p:spTgt spid="49193">
                                            <p:txEl>
                                              <p:charRg st="0"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9193">
                                            <p:txEl>
                                              <p:charRg st="0" end="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49206"/>
                                        </p:tgtEl>
                                        <p:attrNameLst>
                                          <p:attrName>style.visibility</p:attrName>
                                        </p:attrNameLst>
                                      </p:cBhvr>
                                      <p:to>
                                        <p:strVal val="visible"/>
                                      </p:to>
                                    </p:set>
                                    <p:animEffect transition="in" filter="slide(fromLeft)">
                                      <p:cBhvr>
                                        <p:cTn id="16" dur="500"/>
                                        <p:tgtEl>
                                          <p:spTgt spid="4920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49201"/>
                                        </p:tgtEl>
                                        <p:attrNameLst>
                                          <p:attrName>style.visibility</p:attrName>
                                        </p:attrNameLst>
                                      </p:cBhvr>
                                      <p:to>
                                        <p:strVal val="visible"/>
                                      </p:to>
                                    </p:set>
                                    <p:animEffect transition="in" filter="wipe(left)">
                                      <p:cBhvr>
                                        <p:cTn id="20" dur="500"/>
                                        <p:tgtEl>
                                          <p:spTgt spid="49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93" grpId="0" advAuto="1000" build="p"/>
      <p:bldP spid="49201" grpId="0" animBg="1"/>
      <p:bldP spid="4920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42"/>
          <p:cNvSpPr>
            <a:spLocks noGrp="1"/>
          </p:cNvSpPr>
          <p:nvPr>
            <p:ph type="title"/>
          </p:nvPr>
        </p:nvSpPr>
        <p:spPr>
          <a:ln/>
        </p:spPr>
        <p:txBody>
          <a:bodyPr vert="horz" wrap="square" lIns="91440" tIns="45720" rIns="91440" bIns="45720" anchor="ctr" anchorCtr="0"/>
          <a:p>
            <a:pPr eaLnBrk="1" hangingPunct="1"/>
            <a:r>
              <a:rPr lang="en-US" altLang="zh-CN" dirty="0"/>
              <a:t>3.6  </a:t>
            </a:r>
            <a:r>
              <a:rPr lang="zh-CN" altLang="en-US" dirty="0"/>
              <a:t>处理器模式</a:t>
            </a:r>
            <a:endParaRPr lang="zh-CN" altLang="en-US" dirty="0"/>
          </a:p>
        </p:txBody>
      </p:sp>
      <p:sp>
        <p:nvSpPr>
          <p:cNvPr id="46123" name="Rectangle 4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异常模式</a:t>
            </a:r>
            <a:endParaRPr lang="zh-CN" altLang="en-US" dirty="0"/>
          </a:p>
        </p:txBody>
      </p:sp>
      <p:graphicFrame>
        <p:nvGraphicFramePr>
          <p:cNvPr id="46224" name="Group 144"/>
          <p:cNvGraphicFramePr>
            <a:graphicFrameLocks noGrp="1"/>
          </p:cNvGraphicFramePr>
          <p:nvPr/>
        </p:nvGraphicFramePr>
        <p:xfrm>
          <a:off x="1371600" y="2667000"/>
          <a:ext cx="6781800" cy="3902075"/>
        </p:xfrm>
        <a:graphic>
          <a:graphicData uri="http://schemas.openxmlformats.org/drawingml/2006/table">
            <a:tbl>
              <a:tblPr/>
              <a:tblGrid>
                <a:gridCol w="1524000"/>
                <a:gridCol w="2362200"/>
                <a:gridCol w="2895600"/>
              </a:tblGrid>
              <a:tr h="33533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处理器模式</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说明</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备注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(usr)</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正常程序工作模式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不能直接切换到其它模式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系统        </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(sys)</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用于支持操作系统的特权任务等</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与用户模式类似，但具有可以直接切换到其它模式等特权</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支持高速数据传输及通道处理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用于通用中断处理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(svc)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操作系统保护代码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系统复位和软件中断响应时进入此模式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用于支持虚拟内存和</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或存储器保护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ARM7TDMI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没有大用处</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(und)</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支持硬件协处理器的软件仿真</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未定义指令异常响应时进入此模式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bl>
          </a:graphicData>
        </a:graphic>
      </p:graphicFrame>
      <p:grpSp>
        <p:nvGrpSpPr>
          <p:cNvPr id="2" name="Group 199"/>
          <p:cNvGrpSpPr/>
          <p:nvPr/>
        </p:nvGrpSpPr>
        <p:grpSpPr>
          <a:xfrm>
            <a:off x="1366838" y="3917950"/>
            <a:ext cx="1524000" cy="2652713"/>
            <a:chOff x="864" y="2468"/>
            <a:chExt cx="960" cy="1671"/>
          </a:xfrm>
        </p:grpSpPr>
        <p:sp>
          <p:nvSpPr>
            <p:cNvPr id="47146" name="Rectangle 183"/>
            <p:cNvSpPr/>
            <p:nvPr/>
          </p:nvSpPr>
          <p:spPr>
            <a:xfrm>
              <a:off x="864" y="3774"/>
              <a:ext cx="960" cy="365"/>
            </a:xfrm>
            <a:prstGeom prst="rect">
              <a:avLst/>
            </a:prstGeom>
            <a:solidFill>
              <a:srgbClr val="CCFFCC"/>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未定义    </a:t>
              </a:r>
              <a:r>
                <a:rPr lang="en-US" altLang="zh-CN" sz="1600" dirty="0">
                  <a:latin typeface="Times New Roman" panose="02020603050405020304" pitchFamily="18" charset="0"/>
                  <a:ea typeface="宋体" panose="02010600030101010101" pitchFamily="2" charset="-122"/>
                </a:rPr>
                <a:t>(und)</a:t>
              </a:r>
              <a:endParaRPr lang="en-US" altLang="zh-CN" sz="1600" dirty="0">
                <a:latin typeface="Times New Roman" panose="02020603050405020304" pitchFamily="18" charset="0"/>
                <a:ea typeface="宋体" panose="02010600030101010101" pitchFamily="2" charset="-122"/>
              </a:endParaRPr>
            </a:p>
          </p:txBody>
        </p:sp>
        <p:sp>
          <p:nvSpPr>
            <p:cNvPr id="47147" name="Rectangle 184"/>
            <p:cNvSpPr/>
            <p:nvPr/>
          </p:nvSpPr>
          <p:spPr>
            <a:xfrm>
              <a:off x="864" y="3409"/>
              <a:ext cx="960" cy="365"/>
            </a:xfrm>
            <a:prstGeom prst="rect">
              <a:avLst/>
            </a:prstGeom>
            <a:solidFill>
              <a:srgbClr val="CCFFCC"/>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中止        </a:t>
              </a:r>
              <a:r>
                <a:rPr lang="en-US" altLang="zh-CN" sz="1600" dirty="0">
                  <a:latin typeface="Times New Roman" panose="02020603050405020304" pitchFamily="18" charset="0"/>
                  <a:ea typeface="宋体" panose="02010600030101010101" pitchFamily="2" charset="-122"/>
                </a:rPr>
                <a:t>(abt)</a:t>
              </a:r>
              <a:endParaRPr lang="en-US" altLang="zh-CN" sz="1600" dirty="0">
                <a:latin typeface="Times New Roman" panose="02020603050405020304" pitchFamily="18" charset="0"/>
                <a:ea typeface="宋体" panose="02010600030101010101" pitchFamily="2" charset="-122"/>
              </a:endParaRPr>
            </a:p>
          </p:txBody>
        </p:sp>
        <p:sp>
          <p:nvSpPr>
            <p:cNvPr id="47148" name="Rectangle 185"/>
            <p:cNvSpPr/>
            <p:nvPr/>
          </p:nvSpPr>
          <p:spPr>
            <a:xfrm>
              <a:off x="864" y="3044"/>
              <a:ext cx="960" cy="365"/>
            </a:xfrm>
            <a:prstGeom prst="rect">
              <a:avLst/>
            </a:prstGeom>
            <a:solidFill>
              <a:srgbClr val="CCFFCC"/>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管理        </a:t>
              </a:r>
              <a:r>
                <a:rPr lang="en-US" altLang="zh-CN" sz="1600" dirty="0">
                  <a:latin typeface="Times New Roman" panose="02020603050405020304" pitchFamily="18" charset="0"/>
                  <a:ea typeface="宋体" panose="02010600030101010101" pitchFamily="2" charset="-122"/>
                </a:rPr>
                <a:t>(svc)</a:t>
              </a:r>
              <a:endParaRPr lang="en-US" altLang="zh-CN" sz="1600" dirty="0">
                <a:latin typeface="Times New Roman" panose="02020603050405020304" pitchFamily="18" charset="0"/>
                <a:ea typeface="宋体" panose="02010600030101010101" pitchFamily="2" charset="-122"/>
              </a:endParaRPr>
            </a:p>
          </p:txBody>
        </p:sp>
        <p:sp>
          <p:nvSpPr>
            <p:cNvPr id="47149" name="Rectangle 186"/>
            <p:cNvSpPr/>
            <p:nvPr/>
          </p:nvSpPr>
          <p:spPr>
            <a:xfrm>
              <a:off x="864" y="2833"/>
              <a:ext cx="960" cy="211"/>
            </a:xfrm>
            <a:prstGeom prst="rect">
              <a:avLst/>
            </a:prstGeom>
            <a:solidFill>
              <a:srgbClr val="CCFFCC"/>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中断        </a:t>
              </a:r>
              <a:r>
                <a:rPr lang="en-US" altLang="zh-CN" sz="1600" dirty="0">
                  <a:latin typeface="Times New Roman" panose="02020603050405020304" pitchFamily="18" charset="0"/>
                  <a:ea typeface="宋体" panose="02010600030101010101" pitchFamily="2" charset="-122"/>
                </a:rPr>
                <a:t>(irq)</a:t>
              </a:r>
              <a:endParaRPr lang="en-US" altLang="zh-CN" sz="1600" dirty="0">
                <a:latin typeface="Times New Roman" panose="02020603050405020304" pitchFamily="18" charset="0"/>
                <a:ea typeface="宋体" panose="02010600030101010101" pitchFamily="2" charset="-122"/>
              </a:endParaRPr>
            </a:p>
          </p:txBody>
        </p:sp>
        <p:sp>
          <p:nvSpPr>
            <p:cNvPr id="47150" name="Rectangle 187"/>
            <p:cNvSpPr/>
            <p:nvPr/>
          </p:nvSpPr>
          <p:spPr>
            <a:xfrm>
              <a:off x="864" y="2468"/>
              <a:ext cx="960" cy="365"/>
            </a:xfrm>
            <a:prstGeom prst="rect">
              <a:avLst/>
            </a:prstGeom>
            <a:solidFill>
              <a:srgbClr val="CCFFCC"/>
            </a:solidFill>
            <a:ln w="9525" cap="flat" cmpd="sng">
              <a:solidFill>
                <a:schemeClr val="tx1"/>
              </a:solidFill>
              <a:prstDash val="solid"/>
              <a:miter/>
              <a:headEnd type="none" w="med" len="med"/>
              <a:tailEnd type="none" w="med" len="med"/>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快中断    </a:t>
              </a:r>
              <a:r>
                <a:rPr lang="en-US" altLang="zh-CN" sz="1600" dirty="0">
                  <a:latin typeface="Times New Roman" panose="02020603050405020304" pitchFamily="18" charset="0"/>
                  <a:ea typeface="宋体" panose="02010600030101010101" pitchFamily="2" charset="-122"/>
                </a:rPr>
                <a:t>(fiq)</a:t>
              </a:r>
              <a:endParaRPr lang="en-US" altLang="zh-CN" sz="1600" dirty="0">
                <a:latin typeface="Times New Roman" panose="02020603050405020304" pitchFamily="18" charset="0"/>
                <a:ea typeface="宋体" panose="02010600030101010101" pitchFamily="2" charset="-122"/>
              </a:endParaRPr>
            </a:p>
          </p:txBody>
        </p:sp>
        <p:sp>
          <p:nvSpPr>
            <p:cNvPr id="47151" name="Line 191"/>
            <p:cNvSpPr/>
            <p:nvPr/>
          </p:nvSpPr>
          <p:spPr>
            <a:xfrm>
              <a:off x="864" y="2833"/>
              <a:ext cx="960" cy="0"/>
            </a:xfrm>
            <a:prstGeom prst="line">
              <a:avLst/>
            </a:prstGeom>
            <a:ln w="12700" cap="flat" cmpd="sng">
              <a:solidFill>
                <a:schemeClr val="tx1"/>
              </a:solidFill>
              <a:prstDash val="solid"/>
              <a:round/>
              <a:headEnd type="none" w="med" len="med"/>
              <a:tailEnd type="none" w="med" len="med"/>
            </a:ln>
          </p:spPr>
        </p:sp>
        <p:sp>
          <p:nvSpPr>
            <p:cNvPr id="47152" name="Line 192"/>
            <p:cNvSpPr/>
            <p:nvPr/>
          </p:nvSpPr>
          <p:spPr>
            <a:xfrm>
              <a:off x="864" y="3044"/>
              <a:ext cx="960" cy="0"/>
            </a:xfrm>
            <a:prstGeom prst="line">
              <a:avLst/>
            </a:prstGeom>
            <a:ln w="12700" cap="flat" cmpd="sng">
              <a:solidFill>
                <a:schemeClr val="tx1"/>
              </a:solidFill>
              <a:prstDash val="solid"/>
              <a:round/>
              <a:headEnd type="none" w="med" len="med"/>
              <a:tailEnd type="none" w="med" len="med"/>
            </a:ln>
          </p:spPr>
        </p:sp>
        <p:sp>
          <p:nvSpPr>
            <p:cNvPr id="47153" name="Line 193"/>
            <p:cNvSpPr/>
            <p:nvPr/>
          </p:nvSpPr>
          <p:spPr>
            <a:xfrm>
              <a:off x="864" y="3409"/>
              <a:ext cx="960" cy="0"/>
            </a:xfrm>
            <a:prstGeom prst="line">
              <a:avLst/>
            </a:prstGeom>
            <a:ln w="12700" cap="flat" cmpd="sng">
              <a:solidFill>
                <a:schemeClr val="tx1"/>
              </a:solidFill>
              <a:prstDash val="solid"/>
              <a:round/>
              <a:headEnd type="none" w="med" len="med"/>
              <a:tailEnd type="none" w="med" len="med"/>
            </a:ln>
          </p:spPr>
        </p:sp>
        <p:sp>
          <p:nvSpPr>
            <p:cNvPr id="47154" name="Line 194"/>
            <p:cNvSpPr/>
            <p:nvPr/>
          </p:nvSpPr>
          <p:spPr>
            <a:xfrm>
              <a:off x="864" y="3774"/>
              <a:ext cx="960" cy="0"/>
            </a:xfrm>
            <a:prstGeom prst="line">
              <a:avLst/>
            </a:prstGeom>
            <a:ln w="12700" cap="flat" cmpd="sng">
              <a:solidFill>
                <a:schemeClr val="tx1"/>
              </a:solidFill>
              <a:prstDash val="solid"/>
              <a:round/>
              <a:headEnd type="none" w="med" len="med"/>
              <a:tailEnd type="none" w="med" len="med"/>
            </a:ln>
          </p:spPr>
        </p:sp>
        <p:sp>
          <p:nvSpPr>
            <p:cNvPr id="47155" name="Line 195"/>
            <p:cNvSpPr/>
            <p:nvPr/>
          </p:nvSpPr>
          <p:spPr>
            <a:xfrm>
              <a:off x="864" y="4139"/>
              <a:ext cx="960" cy="0"/>
            </a:xfrm>
            <a:prstGeom prst="line">
              <a:avLst/>
            </a:prstGeom>
            <a:ln w="28575" cap="sq" cmpd="sng">
              <a:solidFill>
                <a:schemeClr val="tx1"/>
              </a:solidFill>
              <a:prstDash val="solid"/>
              <a:round/>
              <a:headEnd type="none" w="med" len="med"/>
              <a:tailEnd type="none" w="med" len="med"/>
            </a:ln>
          </p:spPr>
        </p:sp>
      </p:grpSp>
      <p:sp>
        <p:nvSpPr>
          <p:cNvPr id="47156" name="Line 196"/>
          <p:cNvSpPr/>
          <p:nvPr/>
        </p:nvSpPr>
        <p:spPr>
          <a:xfrm>
            <a:off x="1371600" y="3338513"/>
            <a:ext cx="0" cy="3232150"/>
          </a:xfrm>
          <a:prstGeom prst="line">
            <a:avLst/>
          </a:prstGeom>
          <a:ln w="28575" cap="sq" cmpd="sng">
            <a:solidFill>
              <a:schemeClr val="tx1"/>
            </a:solidFill>
            <a:prstDash val="solid"/>
            <a:round/>
            <a:headEnd type="none" w="med" len="med"/>
            <a:tailEnd type="none" w="med" len="med"/>
          </a:ln>
        </p:spPr>
      </p:sp>
      <p:sp>
        <p:nvSpPr>
          <p:cNvPr id="47157" name="Line 197"/>
          <p:cNvSpPr/>
          <p:nvPr/>
        </p:nvSpPr>
        <p:spPr>
          <a:xfrm>
            <a:off x="2895600" y="3338513"/>
            <a:ext cx="0" cy="3232150"/>
          </a:xfrm>
          <a:prstGeom prst="line">
            <a:avLst/>
          </a:prstGeom>
          <a:ln w="28575" cap="sq" cmpd="sng">
            <a:solidFill>
              <a:schemeClr val="tx1"/>
            </a:solidFill>
            <a:prstDash val="solid"/>
            <a:round/>
            <a:headEnd type="none" w="med" len="med"/>
            <a:tailEnd type="none" w="med" len="med"/>
          </a:ln>
        </p:spPr>
      </p:sp>
      <p:sp>
        <p:nvSpPr>
          <p:cNvPr id="46125" name="AutoShape 45"/>
          <p:cNvSpPr/>
          <p:nvPr/>
        </p:nvSpPr>
        <p:spPr>
          <a:xfrm>
            <a:off x="3048000" y="3352800"/>
            <a:ext cx="4876800" cy="3200400"/>
          </a:xfrm>
          <a:prstGeom prst="roundRect">
            <a:avLst>
              <a:gd name="adj" fmla="val 5704"/>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这五种模式称为</a:t>
            </a:r>
            <a:r>
              <a:rPr lang="zh-CN" altLang="en-US" sz="2400" dirty="0">
                <a:solidFill>
                  <a:srgbClr val="FF0000"/>
                </a:solidFill>
                <a:latin typeface="华文新魏" panose="02010800040101010101" pitchFamily="2" charset="-122"/>
                <a:ea typeface="华文新魏" panose="02010800040101010101" pitchFamily="2" charset="-122"/>
              </a:rPr>
              <a:t>异常模式</a:t>
            </a:r>
            <a:r>
              <a:rPr lang="zh-CN" altLang="en-US" sz="2400" dirty="0">
                <a:latin typeface="华文新魏" panose="02010800040101010101" pitchFamily="2" charset="-122"/>
                <a:ea typeface="华文新魏" panose="02010800040101010101" pitchFamily="2" charset="-122"/>
              </a:rPr>
              <a:t>。它们除了可以通过程序切换进入外，也可以由特定的异常进入。当特定的异常出现时，处理器进入相应的模式。每种异常模式都有一些独立的寄存器，以避免异常退出时用户模式的状态不可靠。</a:t>
            </a:r>
            <a:endParaRPr lang="zh-CN" altLang="en-US" sz="2400" dirty="0">
              <a:latin typeface="华文新魏" panose="02010800040101010101" pitchFamily="2" charset="-122"/>
              <a:ea typeface="华文新魏" panose="02010800040101010101" pitchFamily="2" charset="-122"/>
            </a:endParaRPr>
          </a:p>
        </p:txBody>
      </p:sp>
      <p:sp>
        <p:nvSpPr>
          <p:cNvPr id="46126" name="AutoShape 46"/>
          <p:cNvSpPr/>
          <p:nvPr/>
        </p:nvSpPr>
        <p:spPr>
          <a:xfrm>
            <a:off x="2743200" y="4191000"/>
            <a:ext cx="457200" cy="2209800"/>
          </a:xfrm>
          <a:prstGeom prst="rightBrace">
            <a:avLst>
              <a:gd name="adj1" fmla="val 40210"/>
              <a:gd name="adj2" fmla="val 50000"/>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6123">
                                            <p:txEl>
                                              <p:charRg st="0" end="5"/>
                                            </p:txEl>
                                          </p:spTgt>
                                        </p:tgtEl>
                                        <p:attrNameLst>
                                          <p:attrName>style.visibility</p:attrName>
                                        </p:attrNameLst>
                                      </p:cBhvr>
                                      <p:to>
                                        <p:strVal val="visible"/>
                                      </p:to>
                                    </p:set>
                                    <p:anim calcmode="lin" valueType="num">
                                      <p:cBhvr additive="base">
                                        <p:cTn id="7" dur="500" fill="hold"/>
                                        <p:tgtEl>
                                          <p:spTgt spid="46123">
                                            <p:txEl>
                                              <p:charRg st="0"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6123">
                                            <p:txEl>
                                              <p:charRg st="0" end="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46126"/>
                                        </p:tgtEl>
                                        <p:attrNameLst>
                                          <p:attrName>style.visibility</p:attrName>
                                        </p:attrNameLst>
                                      </p:cBhvr>
                                      <p:to>
                                        <p:strVal val="visible"/>
                                      </p:to>
                                    </p:set>
                                    <p:animEffect transition="in" filter="slide(fromLeft)">
                                      <p:cBhvr>
                                        <p:cTn id="16" dur="500"/>
                                        <p:tgtEl>
                                          <p:spTgt spid="4612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46125"/>
                                        </p:tgtEl>
                                        <p:attrNameLst>
                                          <p:attrName>style.visibility</p:attrName>
                                        </p:attrNameLst>
                                      </p:cBhvr>
                                      <p:to>
                                        <p:strVal val="visible"/>
                                      </p:to>
                                    </p:set>
                                    <p:animEffect transition="in" filter="wipe(left)">
                                      <p:cBhvr>
                                        <p:cTn id="20" dur="500"/>
                                        <p:tgtEl>
                                          <p:spTgt spid="46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23" grpId="0" advAuto="1000" build="p"/>
      <p:bldP spid="46125" grpId="0" animBg="1"/>
      <p:bldP spid="4612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40"/>
          <p:cNvSpPr>
            <a:spLocks noGrp="1"/>
          </p:cNvSpPr>
          <p:nvPr>
            <p:ph type="title"/>
          </p:nvPr>
        </p:nvSpPr>
        <p:spPr>
          <a:ln/>
        </p:spPr>
        <p:txBody>
          <a:bodyPr vert="horz" wrap="square" lIns="91440" tIns="45720" rIns="91440" bIns="45720" anchor="ctr" anchorCtr="0"/>
          <a:p>
            <a:pPr eaLnBrk="1" hangingPunct="1"/>
            <a:r>
              <a:rPr lang="en-US" altLang="zh-CN" dirty="0"/>
              <a:t>3.6  </a:t>
            </a:r>
            <a:r>
              <a:rPr lang="zh-CN" altLang="en-US" dirty="0"/>
              <a:t>处理器模式</a:t>
            </a:r>
            <a:endParaRPr lang="zh-CN" altLang="en-US" dirty="0"/>
          </a:p>
        </p:txBody>
      </p:sp>
      <p:sp>
        <p:nvSpPr>
          <p:cNvPr id="54313" name="Rectangle 41"/>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用户和系统模式</a:t>
            </a:r>
            <a:endParaRPr lang="zh-CN" altLang="en-US" dirty="0"/>
          </a:p>
        </p:txBody>
      </p:sp>
      <p:graphicFrame>
        <p:nvGraphicFramePr>
          <p:cNvPr id="54384" name="Group 112"/>
          <p:cNvGraphicFramePr>
            <a:graphicFrameLocks noGrp="1"/>
          </p:cNvGraphicFramePr>
          <p:nvPr/>
        </p:nvGraphicFramePr>
        <p:xfrm>
          <a:off x="1371600" y="2667000"/>
          <a:ext cx="6781800" cy="3902075"/>
        </p:xfrm>
        <a:graphic>
          <a:graphicData uri="http://schemas.openxmlformats.org/drawingml/2006/table">
            <a:tbl>
              <a:tblPr/>
              <a:tblGrid>
                <a:gridCol w="1524000"/>
                <a:gridCol w="2362200"/>
                <a:gridCol w="2895600"/>
              </a:tblGrid>
              <a:tr h="33533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处理器模式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说明</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备注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99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(usr)</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正常程序工作模式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不能直接切换到其它模式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(sys)</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用于支持操作系统的特权任务等</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与用户模式类似，但具有可以直接切换到其它模式等特权</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支持高速数据传输及通道处理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3353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用于通用中断处理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(svc)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操作系统保护代码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系统复位和软件中断响应时进入此模式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用于支持虚拟内存和</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或存储器保护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ARM7TDMI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没有大用处</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57921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(und)</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支持硬件协处理器的软件仿真</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未定义指令异常响应时进入此模式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alpha val="50000"/>
                      </a:srgbClr>
                    </a:solidFill>
                  </a:tcPr>
                </a:tc>
              </a:tr>
            </a:tbl>
          </a:graphicData>
        </a:graphic>
      </p:graphicFrame>
      <p:sp>
        <p:nvSpPr>
          <p:cNvPr id="48169" name="Line 161"/>
          <p:cNvSpPr/>
          <p:nvPr/>
        </p:nvSpPr>
        <p:spPr>
          <a:xfrm>
            <a:off x="1371600" y="3338513"/>
            <a:ext cx="0" cy="3232150"/>
          </a:xfrm>
          <a:prstGeom prst="line">
            <a:avLst/>
          </a:prstGeom>
          <a:ln w="28575" cap="sq" cmpd="sng">
            <a:solidFill>
              <a:schemeClr val="tx1"/>
            </a:solidFill>
            <a:prstDash val="solid"/>
            <a:round/>
            <a:headEnd type="none" w="med" len="med"/>
            <a:tailEnd type="none" w="med" len="med"/>
          </a:ln>
        </p:spPr>
      </p:sp>
      <p:sp>
        <p:nvSpPr>
          <p:cNvPr id="48170" name="Line 162"/>
          <p:cNvSpPr/>
          <p:nvPr/>
        </p:nvSpPr>
        <p:spPr>
          <a:xfrm>
            <a:off x="2895600" y="3338513"/>
            <a:ext cx="0" cy="3232150"/>
          </a:xfrm>
          <a:prstGeom prst="line">
            <a:avLst/>
          </a:prstGeom>
          <a:ln w="28575" cap="sq" cmpd="sng">
            <a:solidFill>
              <a:schemeClr val="tx1"/>
            </a:solidFill>
            <a:prstDash val="solid"/>
            <a:round/>
            <a:headEnd type="none" w="med" len="med"/>
            <a:tailEnd type="none" w="med" len="med"/>
          </a:ln>
        </p:spPr>
      </p:sp>
      <p:sp>
        <p:nvSpPr>
          <p:cNvPr id="54435" name="AutoShape 163"/>
          <p:cNvSpPr/>
          <p:nvPr/>
        </p:nvSpPr>
        <p:spPr>
          <a:xfrm>
            <a:off x="3048000" y="3048000"/>
            <a:ext cx="4953000" cy="3200400"/>
          </a:xfrm>
          <a:prstGeom prst="roundRect">
            <a:avLst>
              <a:gd name="adj" fmla="val 5704"/>
            </a:avLst>
          </a:prstGeom>
          <a:solidFill>
            <a:srgbClr val="FFCCFF"/>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这两种模式都不能由异常进入，而且它们使用完全相同的寄存器组。</a:t>
            </a:r>
            <a:endParaRPr lang="zh-CN" altLang="en-US" sz="2400" dirty="0">
              <a:latin typeface="华文新魏" panose="02010800040101010101" pitchFamily="2" charset="-122"/>
              <a:ea typeface="华文新魏" panose="02010800040101010101" pitchFamily="2" charset="-122"/>
            </a:endParaRPr>
          </a:p>
          <a:p>
            <a:pPr>
              <a:buClrTx/>
              <a:buFontTx/>
            </a:pPr>
            <a:r>
              <a:rPr lang="zh-CN" altLang="en-US" sz="2400" dirty="0">
                <a:latin typeface="华文新魏" panose="02010800040101010101" pitchFamily="2" charset="-122"/>
                <a:ea typeface="华文新魏" panose="02010800040101010101" pitchFamily="2" charset="-122"/>
              </a:rPr>
              <a:t>        系统模式是特权模式，不受用户模式的限制。操作系统在该模式下访问用户模式的寄存器就比较方便，而且操作系统的一些特权任务可以使用这个模式访问一些受控的资源。</a:t>
            </a:r>
            <a:endParaRPr lang="zh-CN" altLang="en-US" sz="2400" dirty="0">
              <a:latin typeface="华文新魏" panose="02010800040101010101" pitchFamily="2" charset="-122"/>
              <a:ea typeface="华文新魏" panose="02010800040101010101" pitchFamily="2" charset="-122"/>
            </a:endParaRPr>
          </a:p>
        </p:txBody>
      </p:sp>
      <p:grpSp>
        <p:nvGrpSpPr>
          <p:cNvPr id="2" name="Group 179"/>
          <p:cNvGrpSpPr/>
          <p:nvPr/>
        </p:nvGrpSpPr>
        <p:grpSpPr>
          <a:xfrm>
            <a:off x="1370013" y="3003550"/>
            <a:ext cx="1524000" cy="914400"/>
            <a:chOff x="864" y="1872"/>
            <a:chExt cx="960" cy="576"/>
          </a:xfrm>
        </p:grpSpPr>
        <p:sp>
          <p:nvSpPr>
            <p:cNvPr id="48173" name="Rectangle 167"/>
            <p:cNvSpPr/>
            <p:nvPr/>
          </p:nvSpPr>
          <p:spPr>
            <a:xfrm>
              <a:off x="864" y="2083"/>
              <a:ext cx="960" cy="365"/>
            </a:xfrm>
            <a:prstGeom prst="rect">
              <a:avLst/>
            </a:prstGeom>
            <a:solidFill>
              <a:srgbClr val="FF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系统        </a:t>
              </a:r>
              <a:r>
                <a:rPr lang="en-US" altLang="zh-CN" sz="1600" dirty="0">
                  <a:latin typeface="Times New Roman" panose="02020603050405020304" pitchFamily="18" charset="0"/>
                  <a:ea typeface="宋体" panose="02010600030101010101" pitchFamily="2" charset="-122"/>
                </a:rPr>
                <a:t>(sys)</a:t>
              </a:r>
              <a:endParaRPr lang="en-US" altLang="zh-CN" sz="1600" dirty="0">
                <a:latin typeface="Times New Roman" panose="02020603050405020304" pitchFamily="18" charset="0"/>
                <a:ea typeface="宋体" panose="02010600030101010101" pitchFamily="2" charset="-122"/>
              </a:endParaRPr>
            </a:p>
          </p:txBody>
        </p:sp>
        <p:sp>
          <p:nvSpPr>
            <p:cNvPr id="48174" name="Rectangle 166"/>
            <p:cNvSpPr/>
            <p:nvPr/>
          </p:nvSpPr>
          <p:spPr>
            <a:xfrm>
              <a:off x="864" y="1872"/>
              <a:ext cx="960" cy="211"/>
            </a:xfrm>
            <a:prstGeom prst="rect">
              <a:avLst/>
            </a:prstGeom>
            <a:solidFill>
              <a:srgbClr val="FFCCFF"/>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用户        </a:t>
              </a:r>
              <a:r>
                <a:rPr lang="en-US" altLang="zh-CN" sz="1600" dirty="0">
                  <a:latin typeface="Times New Roman" panose="02020603050405020304" pitchFamily="18" charset="0"/>
                  <a:ea typeface="宋体" panose="02010600030101010101" pitchFamily="2" charset="-122"/>
                </a:rPr>
                <a:t>(usr)</a:t>
              </a:r>
              <a:endParaRPr lang="en-US" altLang="zh-CN" sz="1600" dirty="0">
                <a:latin typeface="Times New Roman" panose="02020603050405020304" pitchFamily="18" charset="0"/>
                <a:ea typeface="宋体" panose="02010600030101010101" pitchFamily="2" charset="-122"/>
              </a:endParaRPr>
            </a:p>
          </p:txBody>
        </p:sp>
        <p:sp>
          <p:nvSpPr>
            <p:cNvPr id="48175" name="Line 168"/>
            <p:cNvSpPr/>
            <p:nvPr/>
          </p:nvSpPr>
          <p:spPr>
            <a:xfrm>
              <a:off x="864" y="1872"/>
              <a:ext cx="960" cy="0"/>
            </a:xfrm>
            <a:prstGeom prst="line">
              <a:avLst/>
            </a:prstGeom>
            <a:ln w="28575" cap="sq" cmpd="sng">
              <a:solidFill>
                <a:schemeClr val="tx1"/>
              </a:solidFill>
              <a:prstDash val="solid"/>
              <a:round/>
              <a:headEnd type="none" w="med" len="med"/>
              <a:tailEnd type="none" w="med" len="med"/>
            </a:ln>
          </p:spPr>
        </p:sp>
        <p:sp>
          <p:nvSpPr>
            <p:cNvPr id="48176" name="Line 169"/>
            <p:cNvSpPr/>
            <p:nvPr/>
          </p:nvSpPr>
          <p:spPr>
            <a:xfrm>
              <a:off x="864" y="2083"/>
              <a:ext cx="960" cy="0"/>
            </a:xfrm>
            <a:prstGeom prst="line">
              <a:avLst/>
            </a:prstGeom>
            <a:ln w="12700" cap="flat" cmpd="sng">
              <a:solidFill>
                <a:schemeClr val="tx1"/>
              </a:solidFill>
              <a:prstDash val="solid"/>
              <a:round/>
              <a:headEnd type="none" w="med" len="med"/>
              <a:tailEnd type="none" w="med" len="med"/>
            </a:ln>
          </p:spPr>
        </p:sp>
        <p:sp>
          <p:nvSpPr>
            <p:cNvPr id="48177" name="Line 170"/>
            <p:cNvSpPr/>
            <p:nvPr/>
          </p:nvSpPr>
          <p:spPr>
            <a:xfrm>
              <a:off x="864" y="2448"/>
              <a:ext cx="960" cy="0"/>
            </a:xfrm>
            <a:prstGeom prst="line">
              <a:avLst/>
            </a:prstGeom>
            <a:ln w="28575" cap="sq" cmpd="sng">
              <a:solidFill>
                <a:schemeClr val="tx1"/>
              </a:solidFill>
              <a:prstDash val="solid"/>
              <a:round/>
              <a:headEnd type="none" w="med" len="med"/>
              <a:tailEnd type="none" w="med" len="med"/>
            </a:ln>
          </p:spPr>
        </p:sp>
        <p:sp>
          <p:nvSpPr>
            <p:cNvPr id="48178" name="Line 171"/>
            <p:cNvSpPr/>
            <p:nvPr/>
          </p:nvSpPr>
          <p:spPr>
            <a:xfrm>
              <a:off x="864" y="1872"/>
              <a:ext cx="0" cy="576"/>
            </a:xfrm>
            <a:prstGeom prst="line">
              <a:avLst/>
            </a:prstGeom>
            <a:ln w="28575" cap="sq" cmpd="sng">
              <a:solidFill>
                <a:schemeClr val="tx1"/>
              </a:solidFill>
              <a:prstDash val="solid"/>
              <a:round/>
              <a:headEnd type="none" w="med" len="med"/>
              <a:tailEnd type="none" w="med" len="med"/>
            </a:ln>
          </p:spPr>
        </p:sp>
        <p:sp>
          <p:nvSpPr>
            <p:cNvPr id="48179" name="Line 172"/>
            <p:cNvSpPr/>
            <p:nvPr/>
          </p:nvSpPr>
          <p:spPr>
            <a:xfrm>
              <a:off x="1824" y="1872"/>
              <a:ext cx="0" cy="576"/>
            </a:xfrm>
            <a:prstGeom prst="line">
              <a:avLst/>
            </a:prstGeom>
            <a:ln w="28575" cap="sq" cmpd="sng">
              <a:solidFill>
                <a:schemeClr val="tx1"/>
              </a:solidFill>
              <a:prstDash val="solid"/>
              <a:round/>
              <a:headEnd type="none" w="med" len="med"/>
              <a:tailEnd type="none" w="med" len="med"/>
            </a:ln>
          </p:spPr>
        </p:sp>
      </p:grpSp>
      <p:sp>
        <p:nvSpPr>
          <p:cNvPr id="54436" name="AutoShape 164"/>
          <p:cNvSpPr/>
          <p:nvPr/>
        </p:nvSpPr>
        <p:spPr>
          <a:xfrm>
            <a:off x="2819400" y="3200400"/>
            <a:ext cx="457200" cy="609600"/>
          </a:xfrm>
          <a:prstGeom prst="rightBrace">
            <a:avLst>
              <a:gd name="adj1" fmla="val 11092"/>
              <a:gd name="adj2" fmla="val 50000"/>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4313">
                                            <p:txEl>
                                              <p:charRg st="0" end="8"/>
                                            </p:txEl>
                                          </p:spTgt>
                                        </p:tgtEl>
                                        <p:attrNameLst>
                                          <p:attrName>style.visibility</p:attrName>
                                        </p:attrNameLst>
                                      </p:cBhvr>
                                      <p:to>
                                        <p:strVal val="visible"/>
                                      </p:to>
                                    </p:set>
                                    <p:anim calcmode="lin" valueType="num">
                                      <p:cBhvr additive="base">
                                        <p:cTn id="7" dur="500" fill="hold"/>
                                        <p:tgtEl>
                                          <p:spTgt spid="54313">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4313">
                                            <p:txEl>
                                              <p:charRg st="0" end="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54436"/>
                                        </p:tgtEl>
                                        <p:attrNameLst>
                                          <p:attrName>style.visibility</p:attrName>
                                        </p:attrNameLst>
                                      </p:cBhvr>
                                      <p:to>
                                        <p:strVal val="visible"/>
                                      </p:to>
                                    </p:set>
                                    <p:animEffect transition="in" filter="slide(fromLeft)">
                                      <p:cBhvr>
                                        <p:cTn id="16" dur="500"/>
                                        <p:tgtEl>
                                          <p:spTgt spid="5443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4435"/>
                                        </p:tgtEl>
                                        <p:attrNameLst>
                                          <p:attrName>style.visibility</p:attrName>
                                        </p:attrNameLst>
                                      </p:cBhvr>
                                      <p:to>
                                        <p:strVal val="visible"/>
                                      </p:to>
                                    </p:set>
                                    <p:animEffect transition="in" filter="wipe(left)">
                                      <p:cBhvr>
                                        <p:cTn id="20" dur="500"/>
                                        <p:tgtEl>
                                          <p:spTgt spid="54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13" grpId="0" advAuto="1000" build="p"/>
      <p:bldP spid="54435" grpId="0" animBg="1"/>
      <p:bldP spid="5443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49154"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7.</a:t>
            </a:r>
            <a:r>
              <a:rPr lang="zh-CN" altLang="en-US" sz="2800" dirty="0">
                <a:solidFill>
                  <a:srgbClr val="0000FF"/>
                </a:solidFill>
                <a:latin typeface="Times New Roman" panose="02020603050405020304" pitchFamily="18" charset="0"/>
                <a:ea typeface="宋体" panose="02010600030101010101" pitchFamily="2" charset="-122"/>
              </a:rPr>
              <a:t>内部寄存器</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49155"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4"/>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4813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48134" name="Text Box 6"/>
          <p:cNvSpPr txBox="1"/>
          <p:nvPr/>
        </p:nvSpPr>
        <p:spPr>
          <a:xfrm>
            <a:off x="1219200" y="2667000"/>
            <a:ext cx="7010400" cy="1735138"/>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在</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处理器内部有</a:t>
            </a:r>
            <a:r>
              <a:rPr lang="en-US" altLang="zh-CN" sz="2400" dirty="0">
                <a:latin typeface="华文新魏" panose="02010800040101010101" pitchFamily="2" charset="-122"/>
                <a:ea typeface="华文新魏" panose="02010800040101010101" pitchFamily="2" charset="-122"/>
              </a:rPr>
              <a:t>37</a:t>
            </a:r>
            <a:r>
              <a:rPr lang="zh-CN" altLang="en-US" sz="2400" dirty="0">
                <a:latin typeface="华文新魏" panose="02010800040101010101" pitchFamily="2" charset="-122"/>
                <a:ea typeface="华文新魏" panose="02010800040101010101" pitchFamily="2" charset="-122"/>
              </a:rPr>
              <a:t>个用户可见的寄存器。</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在不同的工作模式和处理器状态下，程序员可以访问的寄存器也不尽相同。</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8133">
                                            <p:txEl>
                                              <p:charRg st="0" end="3"/>
                                            </p:txEl>
                                          </p:spTgt>
                                        </p:tgtEl>
                                        <p:attrNameLst>
                                          <p:attrName>style.visibility</p:attrName>
                                        </p:attrNameLst>
                                      </p:cBhvr>
                                      <p:to>
                                        <p:strVal val="visible"/>
                                      </p:to>
                                    </p:set>
                                    <p:anim calcmode="lin" valueType="num">
                                      <p:cBhvr additive="base">
                                        <p:cTn id="7" dur="500" fill="hold"/>
                                        <p:tgtEl>
                                          <p:spTgt spid="48133">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8133">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48134"/>
                                        </p:tgtEl>
                                        <p:attrNameLst>
                                          <p:attrName>style.visibility</p:attrName>
                                        </p:attrNameLst>
                                      </p:cBhvr>
                                      <p:to>
                                        <p:strVal val="visible"/>
                                      </p:to>
                                    </p:set>
                                    <p:animEffect transition="in" filter="box(in)">
                                      <p:cBhvr>
                                        <p:cTn id="12" dur="500"/>
                                        <p:tgtEl>
                                          <p:spTgt spid="48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advAuto="1000" build="p"/>
      <p:bldP spid="4813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514" name="Group 2"/>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 *</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R16(CPSR)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64624"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状态各模式下的寄存器</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4624"/>
                                        </p:tgtEl>
                                        <p:attrNameLst>
                                          <p:attrName>style.visibility</p:attrName>
                                        </p:attrNameLst>
                                      </p:cBhvr>
                                      <p:to>
                                        <p:strVal val="visible"/>
                                      </p:to>
                                    </p:set>
                                    <p:anim calcmode="lin" valueType="num">
                                      <p:cBhvr additive="base">
                                        <p:cTn id="7" dur="500" fill="hold"/>
                                        <p:tgtEl>
                                          <p:spTgt spid="64624"/>
                                        </p:tgtEl>
                                        <p:attrNameLst>
                                          <p:attrName>ppt_x</p:attrName>
                                        </p:attrNameLst>
                                      </p:cBhvr>
                                      <p:tavLst>
                                        <p:tav tm="0">
                                          <p:val>
                                            <p:strVal val="1+#ppt_w/2"/>
                                          </p:val>
                                        </p:tav>
                                        <p:tav tm="100000">
                                          <p:val>
                                            <p:strVal val="#ppt_x"/>
                                          </p:val>
                                        </p:tav>
                                      </p:tavLst>
                                    </p:anim>
                                    <p:anim calcmode="lin" valueType="num">
                                      <p:cBhvr additive="base">
                                        <p:cTn id="8" dur="500" fill="hold"/>
                                        <p:tgtEl>
                                          <p:spTgt spid="6462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64514"/>
                                        </p:tgtEl>
                                        <p:attrNameLst>
                                          <p:attrName>style.visibility</p:attrName>
                                        </p:attrNameLst>
                                      </p:cBhvr>
                                      <p:to>
                                        <p:strVal val="visible"/>
                                      </p:to>
                                    </p:set>
                                    <p:animEffect transition="in" filter="slide(fromTop)">
                                      <p:cBhvr>
                                        <p:cTn id="12" dur="500"/>
                                        <p:tgtEl>
                                          <p:spTgt spid="64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1644" name="Group 444"/>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53359" name="Text Box 447"/>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状态各模式下的寄存器</a:t>
            </a:r>
            <a:endParaRPr lang="zh-CN" altLang="en-US" sz="2400" dirty="0">
              <a:latin typeface="华文新魏" panose="02010800040101010101" pitchFamily="2" charset="-122"/>
              <a:ea typeface="华文新魏" panose="02010800040101010101" pitchFamily="2" charset="-122"/>
            </a:endParaRPr>
          </a:p>
        </p:txBody>
      </p:sp>
      <p:grpSp>
        <p:nvGrpSpPr>
          <p:cNvPr id="2" name="Group 521"/>
          <p:cNvGrpSpPr/>
          <p:nvPr/>
        </p:nvGrpSpPr>
        <p:grpSpPr>
          <a:xfrm>
            <a:off x="2316163" y="6067425"/>
            <a:ext cx="6443662" cy="606425"/>
            <a:chOff x="-1152" y="4320"/>
            <a:chExt cx="4059" cy="382"/>
          </a:xfrm>
        </p:grpSpPr>
        <p:sp>
          <p:nvSpPr>
            <p:cNvPr id="53361" name="Rectangle 499"/>
            <p:cNvSpPr/>
            <p:nvPr/>
          </p:nvSpPr>
          <p:spPr>
            <a:xfrm>
              <a:off x="2331" y="4511"/>
              <a:ext cx="576" cy="191"/>
            </a:xfrm>
            <a:prstGeom prst="rect">
              <a:avLst/>
            </a:prstGeom>
            <a:solidFill>
              <a:srgbClr val="FFFF99"/>
            </a:solidFill>
            <a:ln w="9525">
              <a:noFill/>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SPSR_fiq</a:t>
              </a:r>
              <a:endParaRPr lang="en-US" altLang="zh-CN" sz="1400" dirty="0">
                <a:latin typeface="Times New Roman" panose="02020603050405020304" pitchFamily="18" charset="0"/>
                <a:ea typeface="宋体" panose="02010600030101010101" pitchFamily="2" charset="-122"/>
              </a:endParaRPr>
            </a:p>
          </p:txBody>
        </p:sp>
        <p:sp>
          <p:nvSpPr>
            <p:cNvPr id="53362" name="Rectangle 498"/>
            <p:cNvSpPr/>
            <p:nvPr/>
          </p:nvSpPr>
          <p:spPr>
            <a:xfrm>
              <a:off x="1755" y="4511"/>
              <a:ext cx="576" cy="191"/>
            </a:xfrm>
            <a:prstGeom prst="rect">
              <a:avLst/>
            </a:prstGeom>
            <a:solidFill>
              <a:srgbClr val="FFFF99"/>
            </a:solidFill>
            <a:ln w="9525">
              <a:noFill/>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SPSR_irq</a:t>
              </a:r>
              <a:endParaRPr lang="en-US" altLang="zh-CN" sz="1400" dirty="0">
                <a:latin typeface="Times New Roman" panose="02020603050405020304" pitchFamily="18" charset="0"/>
                <a:ea typeface="宋体" panose="02010600030101010101" pitchFamily="2" charset="-122"/>
              </a:endParaRPr>
            </a:p>
          </p:txBody>
        </p:sp>
        <p:sp>
          <p:nvSpPr>
            <p:cNvPr id="53363" name="Rectangle 497"/>
            <p:cNvSpPr/>
            <p:nvPr/>
          </p:nvSpPr>
          <p:spPr>
            <a:xfrm>
              <a:off x="1179" y="4511"/>
              <a:ext cx="576" cy="191"/>
            </a:xfrm>
            <a:prstGeom prst="rect">
              <a:avLst/>
            </a:prstGeom>
            <a:solidFill>
              <a:srgbClr val="FFFF99"/>
            </a:solidFill>
            <a:ln w="9525">
              <a:noFill/>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SPSR_und</a:t>
              </a:r>
              <a:endParaRPr lang="en-US" altLang="zh-CN" sz="1400" dirty="0">
                <a:latin typeface="Times New Roman" panose="02020603050405020304" pitchFamily="18" charset="0"/>
                <a:ea typeface="宋体" panose="02010600030101010101" pitchFamily="2" charset="-122"/>
              </a:endParaRPr>
            </a:p>
          </p:txBody>
        </p:sp>
        <p:sp>
          <p:nvSpPr>
            <p:cNvPr id="53364" name="Rectangle 496"/>
            <p:cNvSpPr/>
            <p:nvPr/>
          </p:nvSpPr>
          <p:spPr>
            <a:xfrm>
              <a:off x="603" y="4511"/>
              <a:ext cx="576" cy="191"/>
            </a:xfrm>
            <a:prstGeom prst="rect">
              <a:avLst/>
            </a:prstGeom>
            <a:solidFill>
              <a:srgbClr val="FFFF99"/>
            </a:solidFill>
            <a:ln w="9525">
              <a:noFill/>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SPSR_abt</a:t>
              </a:r>
              <a:endParaRPr lang="en-US" altLang="zh-CN" sz="1400" dirty="0">
                <a:latin typeface="Times New Roman" panose="02020603050405020304" pitchFamily="18" charset="0"/>
                <a:ea typeface="宋体" panose="02010600030101010101" pitchFamily="2" charset="-122"/>
              </a:endParaRPr>
            </a:p>
          </p:txBody>
        </p:sp>
        <p:sp>
          <p:nvSpPr>
            <p:cNvPr id="53365" name="Rectangle 495"/>
            <p:cNvSpPr/>
            <p:nvPr/>
          </p:nvSpPr>
          <p:spPr>
            <a:xfrm>
              <a:off x="27" y="4511"/>
              <a:ext cx="576" cy="191"/>
            </a:xfrm>
            <a:prstGeom prst="rect">
              <a:avLst/>
            </a:prstGeom>
            <a:solidFill>
              <a:srgbClr val="FFFF99"/>
            </a:solidFill>
            <a:ln w="9525">
              <a:noFill/>
            </a:ln>
          </p:spPr>
          <p:txBody>
            <a:bodyPr lIns="0" rIns="0" anchor="ctr" anchorCtr="0"/>
            <a:p>
              <a:pPr algn="ctr" eaLnBrk="0" hangingPunct="0">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SPSR_abt</a:t>
              </a:r>
              <a:endParaRPr lang="en-US" altLang="zh-CN" sz="1400" dirty="0">
                <a:latin typeface="Times New Roman" panose="02020603050405020304" pitchFamily="18" charset="0"/>
                <a:ea typeface="宋体" panose="02010600030101010101" pitchFamily="2" charset="-122"/>
              </a:endParaRPr>
            </a:p>
          </p:txBody>
        </p:sp>
        <p:sp>
          <p:nvSpPr>
            <p:cNvPr id="53366" name="Rectangle 486"/>
            <p:cNvSpPr/>
            <p:nvPr/>
          </p:nvSpPr>
          <p:spPr>
            <a:xfrm>
              <a:off x="-1152" y="4320"/>
              <a:ext cx="4059" cy="191"/>
            </a:xfrm>
            <a:prstGeom prst="rect">
              <a:avLst/>
            </a:prstGeom>
            <a:solidFill>
              <a:srgbClr val="FFFF99"/>
            </a:solidFill>
            <a:ln w="9525">
              <a:noFill/>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3367" name="Line 500"/>
            <p:cNvSpPr/>
            <p:nvPr/>
          </p:nvSpPr>
          <p:spPr>
            <a:xfrm>
              <a:off x="-1152" y="4320"/>
              <a:ext cx="4059" cy="0"/>
            </a:xfrm>
            <a:prstGeom prst="line">
              <a:avLst/>
            </a:prstGeom>
            <a:ln w="28575" cap="sq" cmpd="sng">
              <a:solidFill>
                <a:schemeClr val="tx1"/>
              </a:solidFill>
              <a:prstDash val="solid"/>
              <a:round/>
              <a:headEnd type="none" w="med" len="med"/>
              <a:tailEnd type="none" w="med" len="med"/>
            </a:ln>
          </p:spPr>
        </p:sp>
        <p:sp>
          <p:nvSpPr>
            <p:cNvPr id="53368" name="Line 501"/>
            <p:cNvSpPr/>
            <p:nvPr/>
          </p:nvSpPr>
          <p:spPr>
            <a:xfrm>
              <a:off x="-1152" y="4511"/>
              <a:ext cx="4059" cy="0"/>
            </a:xfrm>
            <a:prstGeom prst="line">
              <a:avLst/>
            </a:prstGeom>
            <a:ln w="12700" cap="flat" cmpd="sng">
              <a:solidFill>
                <a:schemeClr val="tx1"/>
              </a:solidFill>
              <a:prstDash val="solid"/>
              <a:round/>
              <a:headEnd type="none" w="med" len="med"/>
              <a:tailEnd type="none" w="med" len="med"/>
            </a:ln>
          </p:spPr>
        </p:sp>
        <p:sp>
          <p:nvSpPr>
            <p:cNvPr id="53369" name="Line 502"/>
            <p:cNvSpPr/>
            <p:nvPr/>
          </p:nvSpPr>
          <p:spPr>
            <a:xfrm>
              <a:off x="-1152" y="4702"/>
              <a:ext cx="4059" cy="0"/>
            </a:xfrm>
            <a:prstGeom prst="line">
              <a:avLst/>
            </a:prstGeom>
            <a:ln w="28575" cap="sq" cmpd="sng">
              <a:solidFill>
                <a:schemeClr val="tx1"/>
              </a:solidFill>
              <a:prstDash val="solid"/>
              <a:round/>
              <a:headEnd type="none" w="med" len="med"/>
              <a:tailEnd type="none" w="med" len="med"/>
            </a:ln>
          </p:spPr>
        </p:sp>
        <p:sp>
          <p:nvSpPr>
            <p:cNvPr id="53370" name="Line 503"/>
            <p:cNvSpPr/>
            <p:nvPr/>
          </p:nvSpPr>
          <p:spPr>
            <a:xfrm>
              <a:off x="-1152" y="4320"/>
              <a:ext cx="0" cy="382"/>
            </a:xfrm>
            <a:prstGeom prst="line">
              <a:avLst/>
            </a:prstGeom>
            <a:ln w="28575" cap="sq" cmpd="sng">
              <a:solidFill>
                <a:schemeClr val="tx1"/>
              </a:solidFill>
              <a:prstDash val="solid"/>
              <a:round/>
              <a:headEnd type="none" w="med" len="med"/>
              <a:tailEnd type="none" w="med" len="med"/>
            </a:ln>
          </p:spPr>
        </p:sp>
        <p:sp>
          <p:nvSpPr>
            <p:cNvPr id="53371" name="Line 510"/>
            <p:cNvSpPr/>
            <p:nvPr/>
          </p:nvSpPr>
          <p:spPr>
            <a:xfrm>
              <a:off x="2907" y="4320"/>
              <a:ext cx="0" cy="382"/>
            </a:xfrm>
            <a:prstGeom prst="line">
              <a:avLst/>
            </a:prstGeom>
            <a:ln w="28575" cap="sq" cmpd="sng">
              <a:solidFill>
                <a:schemeClr val="tx1"/>
              </a:solidFill>
              <a:prstDash val="solid"/>
              <a:round/>
              <a:headEnd type="none" w="med" len="med"/>
              <a:tailEnd type="none" w="med" len="med"/>
            </a:ln>
          </p:spPr>
        </p:sp>
        <p:sp>
          <p:nvSpPr>
            <p:cNvPr id="53372" name="Line 514"/>
            <p:cNvSpPr/>
            <p:nvPr/>
          </p:nvSpPr>
          <p:spPr>
            <a:xfrm>
              <a:off x="603" y="4511"/>
              <a:ext cx="0" cy="191"/>
            </a:xfrm>
            <a:prstGeom prst="line">
              <a:avLst/>
            </a:prstGeom>
            <a:ln w="12700" cap="flat" cmpd="sng">
              <a:solidFill>
                <a:schemeClr val="tx1"/>
              </a:solidFill>
              <a:prstDash val="solid"/>
              <a:round/>
              <a:headEnd type="none" w="med" len="med"/>
              <a:tailEnd type="none" w="med" len="med"/>
            </a:ln>
          </p:spPr>
        </p:sp>
        <p:sp>
          <p:nvSpPr>
            <p:cNvPr id="53373" name="Line 515"/>
            <p:cNvSpPr/>
            <p:nvPr/>
          </p:nvSpPr>
          <p:spPr>
            <a:xfrm>
              <a:off x="1179" y="4511"/>
              <a:ext cx="0" cy="191"/>
            </a:xfrm>
            <a:prstGeom prst="line">
              <a:avLst/>
            </a:prstGeom>
            <a:ln w="12700" cap="flat" cmpd="sng">
              <a:solidFill>
                <a:schemeClr val="tx1"/>
              </a:solidFill>
              <a:prstDash val="solid"/>
              <a:round/>
              <a:headEnd type="none" w="med" len="med"/>
              <a:tailEnd type="none" w="med" len="med"/>
            </a:ln>
          </p:spPr>
        </p:sp>
        <p:sp>
          <p:nvSpPr>
            <p:cNvPr id="53374" name="Line 516"/>
            <p:cNvSpPr/>
            <p:nvPr/>
          </p:nvSpPr>
          <p:spPr>
            <a:xfrm>
              <a:off x="1755" y="4511"/>
              <a:ext cx="0" cy="191"/>
            </a:xfrm>
            <a:prstGeom prst="line">
              <a:avLst/>
            </a:prstGeom>
            <a:ln w="12700" cap="flat" cmpd="sng">
              <a:solidFill>
                <a:schemeClr val="tx1"/>
              </a:solidFill>
              <a:prstDash val="solid"/>
              <a:round/>
              <a:headEnd type="none" w="med" len="med"/>
              <a:tailEnd type="none" w="med" len="med"/>
            </a:ln>
          </p:spPr>
        </p:sp>
        <p:sp>
          <p:nvSpPr>
            <p:cNvPr id="53375" name="Line 517"/>
            <p:cNvSpPr/>
            <p:nvPr/>
          </p:nvSpPr>
          <p:spPr>
            <a:xfrm>
              <a:off x="2331" y="4511"/>
              <a:ext cx="0" cy="191"/>
            </a:xfrm>
            <a:prstGeom prst="line">
              <a:avLst/>
            </a:prstGeom>
            <a:ln w="12700" cap="flat" cmpd="sng">
              <a:solidFill>
                <a:schemeClr val="tx1"/>
              </a:solidFill>
              <a:prstDash val="solid"/>
              <a:round/>
              <a:headEnd type="none" w="med" len="med"/>
              <a:tailEnd type="none" w="med" len="med"/>
            </a:ln>
          </p:spPr>
        </p:sp>
      </p:grpSp>
      <p:grpSp>
        <p:nvGrpSpPr>
          <p:cNvPr id="3" name="Group 743"/>
          <p:cNvGrpSpPr/>
          <p:nvPr/>
        </p:nvGrpSpPr>
        <p:grpSpPr>
          <a:xfrm>
            <a:off x="2316163" y="1219200"/>
            <a:ext cx="6443662" cy="4851400"/>
            <a:chOff x="1440" y="768"/>
            <a:chExt cx="4059" cy="3056"/>
          </a:xfrm>
        </p:grpSpPr>
        <p:sp>
          <p:nvSpPr>
            <p:cNvPr id="53377" name="Rectangle 628"/>
            <p:cNvSpPr/>
            <p:nvPr/>
          </p:nvSpPr>
          <p:spPr>
            <a:xfrm>
              <a:off x="1440" y="3633"/>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3378" name="Rectangle 627"/>
            <p:cNvSpPr/>
            <p:nvPr/>
          </p:nvSpPr>
          <p:spPr>
            <a:xfrm>
              <a:off x="4923" y="3442"/>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R14_fiq</a:t>
              </a:r>
              <a:endParaRPr lang="en-US" altLang="zh-CN" sz="1400" dirty="0">
                <a:latin typeface="Times New Roman" panose="02020603050405020304" pitchFamily="18" charset="0"/>
                <a:ea typeface="宋体" panose="02010600030101010101" pitchFamily="2" charset="-122"/>
              </a:endParaRPr>
            </a:p>
          </p:txBody>
        </p:sp>
        <p:sp>
          <p:nvSpPr>
            <p:cNvPr id="53379" name="Rectangle 626"/>
            <p:cNvSpPr/>
            <p:nvPr/>
          </p:nvSpPr>
          <p:spPr>
            <a:xfrm>
              <a:off x="4347" y="3442"/>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R14_irq</a:t>
              </a:r>
              <a:endParaRPr lang="en-US" altLang="zh-CN" sz="1400" dirty="0">
                <a:latin typeface="Times New Roman" panose="02020603050405020304" pitchFamily="18" charset="0"/>
                <a:ea typeface="宋体" panose="02010600030101010101" pitchFamily="2" charset="-122"/>
              </a:endParaRPr>
            </a:p>
          </p:txBody>
        </p:sp>
        <p:sp>
          <p:nvSpPr>
            <p:cNvPr id="53380" name="Rectangle 625"/>
            <p:cNvSpPr/>
            <p:nvPr/>
          </p:nvSpPr>
          <p:spPr>
            <a:xfrm>
              <a:off x="3771" y="3442"/>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R14_und</a:t>
              </a:r>
              <a:endParaRPr lang="en-US" altLang="zh-CN" sz="1400" dirty="0">
                <a:latin typeface="Times New Roman" panose="02020603050405020304" pitchFamily="18" charset="0"/>
                <a:ea typeface="宋体" panose="02010600030101010101" pitchFamily="2" charset="-122"/>
              </a:endParaRPr>
            </a:p>
          </p:txBody>
        </p:sp>
        <p:sp>
          <p:nvSpPr>
            <p:cNvPr id="53381" name="Rectangle 624"/>
            <p:cNvSpPr/>
            <p:nvPr/>
          </p:nvSpPr>
          <p:spPr>
            <a:xfrm>
              <a:off x="3195" y="3442"/>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R14_abt</a:t>
              </a:r>
              <a:endParaRPr lang="en-US" altLang="zh-CN" sz="1400" dirty="0">
                <a:latin typeface="Times New Roman" panose="02020603050405020304" pitchFamily="18" charset="0"/>
                <a:ea typeface="宋体" panose="02010600030101010101" pitchFamily="2" charset="-122"/>
              </a:endParaRPr>
            </a:p>
          </p:txBody>
        </p:sp>
        <p:sp>
          <p:nvSpPr>
            <p:cNvPr id="53382" name="Rectangle 623"/>
            <p:cNvSpPr/>
            <p:nvPr/>
          </p:nvSpPr>
          <p:spPr>
            <a:xfrm>
              <a:off x="2619" y="3442"/>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R14_svc</a:t>
              </a:r>
              <a:endParaRPr lang="en-US" altLang="zh-CN" sz="1400" dirty="0">
                <a:latin typeface="Times New Roman" panose="02020603050405020304" pitchFamily="18" charset="0"/>
                <a:ea typeface="宋体" panose="02010600030101010101" pitchFamily="2" charset="-122"/>
              </a:endParaRPr>
            </a:p>
          </p:txBody>
        </p:sp>
        <p:sp>
          <p:nvSpPr>
            <p:cNvPr id="53383" name="Rectangle 621"/>
            <p:cNvSpPr/>
            <p:nvPr/>
          </p:nvSpPr>
          <p:spPr>
            <a:xfrm>
              <a:off x="1440" y="3442"/>
              <a:ext cx="117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a:t>
              </a:r>
              <a:endParaRPr lang="en-US" altLang="zh-CN" sz="1400" dirty="0">
                <a:latin typeface="Times New Roman" panose="02020603050405020304" pitchFamily="18" charset="0"/>
                <a:ea typeface="宋体" panose="02010600030101010101" pitchFamily="2" charset="-122"/>
              </a:endParaRPr>
            </a:p>
          </p:txBody>
        </p:sp>
        <p:sp>
          <p:nvSpPr>
            <p:cNvPr id="53384" name="Rectangle 620"/>
            <p:cNvSpPr/>
            <p:nvPr/>
          </p:nvSpPr>
          <p:spPr>
            <a:xfrm>
              <a:off x="4923" y="3251"/>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R13_fiq</a:t>
              </a:r>
              <a:endParaRPr lang="en-US" altLang="zh-CN" sz="1400" dirty="0">
                <a:latin typeface="Times New Roman" panose="02020603050405020304" pitchFamily="18" charset="0"/>
                <a:ea typeface="宋体" panose="02010600030101010101" pitchFamily="2" charset="-122"/>
              </a:endParaRPr>
            </a:p>
          </p:txBody>
        </p:sp>
        <p:sp>
          <p:nvSpPr>
            <p:cNvPr id="53385" name="Rectangle 619"/>
            <p:cNvSpPr/>
            <p:nvPr/>
          </p:nvSpPr>
          <p:spPr>
            <a:xfrm>
              <a:off x="4347" y="3251"/>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R13_irq</a:t>
              </a:r>
              <a:endParaRPr lang="en-US" altLang="zh-CN" sz="1400" dirty="0">
                <a:latin typeface="Times New Roman" panose="02020603050405020304" pitchFamily="18" charset="0"/>
                <a:ea typeface="宋体" panose="02010600030101010101" pitchFamily="2" charset="-122"/>
              </a:endParaRPr>
            </a:p>
          </p:txBody>
        </p:sp>
        <p:sp>
          <p:nvSpPr>
            <p:cNvPr id="53386" name="Rectangle 618"/>
            <p:cNvSpPr/>
            <p:nvPr/>
          </p:nvSpPr>
          <p:spPr>
            <a:xfrm>
              <a:off x="3771" y="3251"/>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R13_und</a:t>
              </a:r>
              <a:endParaRPr lang="en-US" altLang="zh-CN" sz="1400" dirty="0">
                <a:latin typeface="Times New Roman" panose="02020603050405020304" pitchFamily="18" charset="0"/>
                <a:ea typeface="宋体" panose="02010600030101010101" pitchFamily="2" charset="-122"/>
              </a:endParaRPr>
            </a:p>
          </p:txBody>
        </p:sp>
        <p:sp>
          <p:nvSpPr>
            <p:cNvPr id="53387" name="Rectangle 617"/>
            <p:cNvSpPr/>
            <p:nvPr/>
          </p:nvSpPr>
          <p:spPr>
            <a:xfrm>
              <a:off x="3195" y="3251"/>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R13_abt</a:t>
              </a:r>
              <a:endParaRPr lang="en-US" altLang="zh-CN" sz="1400" dirty="0">
                <a:latin typeface="Times New Roman" panose="02020603050405020304" pitchFamily="18" charset="0"/>
                <a:ea typeface="宋体" panose="02010600030101010101" pitchFamily="2" charset="-122"/>
              </a:endParaRPr>
            </a:p>
          </p:txBody>
        </p:sp>
        <p:sp>
          <p:nvSpPr>
            <p:cNvPr id="53388" name="Rectangle 616"/>
            <p:cNvSpPr/>
            <p:nvPr/>
          </p:nvSpPr>
          <p:spPr>
            <a:xfrm>
              <a:off x="2619" y="3251"/>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R13_svc</a:t>
              </a:r>
              <a:endParaRPr lang="en-US" altLang="zh-CN" sz="1400" dirty="0">
                <a:latin typeface="Times New Roman" panose="02020603050405020304" pitchFamily="18" charset="0"/>
                <a:ea typeface="宋体" panose="02010600030101010101" pitchFamily="2" charset="-122"/>
              </a:endParaRPr>
            </a:p>
          </p:txBody>
        </p:sp>
        <p:sp>
          <p:nvSpPr>
            <p:cNvPr id="53389" name="Rectangle 614"/>
            <p:cNvSpPr/>
            <p:nvPr/>
          </p:nvSpPr>
          <p:spPr>
            <a:xfrm>
              <a:off x="1440" y="3251"/>
              <a:ext cx="117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3390" name="Rectangle 613"/>
            <p:cNvSpPr/>
            <p:nvPr/>
          </p:nvSpPr>
          <p:spPr>
            <a:xfrm>
              <a:off x="4923" y="3060"/>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R12_fiq</a:t>
              </a:r>
              <a:endParaRPr lang="en-US" altLang="zh-CN" sz="1400" dirty="0">
                <a:latin typeface="Times New Roman" panose="02020603050405020304" pitchFamily="18" charset="0"/>
                <a:ea typeface="宋体" panose="02010600030101010101" pitchFamily="2" charset="-122"/>
              </a:endParaRPr>
            </a:p>
          </p:txBody>
        </p:sp>
        <p:sp>
          <p:nvSpPr>
            <p:cNvPr id="53391" name="Rectangle 607"/>
            <p:cNvSpPr/>
            <p:nvPr/>
          </p:nvSpPr>
          <p:spPr>
            <a:xfrm>
              <a:off x="1440" y="3060"/>
              <a:ext cx="3483"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3392" name="Rectangle 606"/>
            <p:cNvSpPr/>
            <p:nvPr/>
          </p:nvSpPr>
          <p:spPr>
            <a:xfrm>
              <a:off x="4923" y="2869"/>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R11_fiq</a:t>
              </a:r>
              <a:endParaRPr lang="en-US" altLang="zh-CN" sz="1400" dirty="0">
                <a:latin typeface="Times New Roman" panose="02020603050405020304" pitchFamily="18" charset="0"/>
                <a:ea typeface="宋体" panose="02010600030101010101" pitchFamily="2" charset="-122"/>
              </a:endParaRPr>
            </a:p>
          </p:txBody>
        </p:sp>
        <p:sp>
          <p:nvSpPr>
            <p:cNvPr id="53393" name="Rectangle 600"/>
            <p:cNvSpPr/>
            <p:nvPr/>
          </p:nvSpPr>
          <p:spPr>
            <a:xfrm>
              <a:off x="1440" y="2869"/>
              <a:ext cx="3483"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3394" name="Rectangle 599"/>
            <p:cNvSpPr/>
            <p:nvPr/>
          </p:nvSpPr>
          <p:spPr>
            <a:xfrm>
              <a:off x="4923" y="2678"/>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R10_fiq</a:t>
              </a:r>
              <a:endParaRPr lang="en-US" altLang="zh-CN" sz="1400" dirty="0">
                <a:latin typeface="Times New Roman" panose="02020603050405020304" pitchFamily="18" charset="0"/>
                <a:ea typeface="宋体" panose="02010600030101010101" pitchFamily="2" charset="-122"/>
              </a:endParaRPr>
            </a:p>
          </p:txBody>
        </p:sp>
        <p:sp>
          <p:nvSpPr>
            <p:cNvPr id="53395" name="Rectangle 593"/>
            <p:cNvSpPr/>
            <p:nvPr/>
          </p:nvSpPr>
          <p:spPr>
            <a:xfrm>
              <a:off x="1440" y="2678"/>
              <a:ext cx="3483"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3396" name="Rectangle 592"/>
            <p:cNvSpPr/>
            <p:nvPr/>
          </p:nvSpPr>
          <p:spPr>
            <a:xfrm>
              <a:off x="4923" y="2487"/>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R9_fiq</a:t>
              </a:r>
              <a:endParaRPr lang="en-US" altLang="zh-CN" sz="1400" dirty="0">
                <a:latin typeface="Times New Roman" panose="02020603050405020304" pitchFamily="18" charset="0"/>
                <a:ea typeface="宋体" panose="02010600030101010101" pitchFamily="2" charset="-122"/>
              </a:endParaRPr>
            </a:p>
          </p:txBody>
        </p:sp>
        <p:sp>
          <p:nvSpPr>
            <p:cNvPr id="53397" name="Rectangle 586"/>
            <p:cNvSpPr/>
            <p:nvPr/>
          </p:nvSpPr>
          <p:spPr>
            <a:xfrm>
              <a:off x="1440" y="2487"/>
              <a:ext cx="3483"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3398" name="Rectangle 585"/>
            <p:cNvSpPr/>
            <p:nvPr/>
          </p:nvSpPr>
          <p:spPr>
            <a:xfrm>
              <a:off x="4923" y="2296"/>
              <a:ext cx="576"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R8_fiq</a:t>
              </a:r>
              <a:endParaRPr lang="en-US" altLang="zh-CN" sz="1400" dirty="0">
                <a:latin typeface="Times New Roman" panose="02020603050405020304" pitchFamily="18" charset="0"/>
                <a:ea typeface="宋体" panose="02010600030101010101" pitchFamily="2" charset="-122"/>
              </a:endParaRPr>
            </a:p>
          </p:txBody>
        </p:sp>
        <p:sp>
          <p:nvSpPr>
            <p:cNvPr id="53399" name="Rectangle 579"/>
            <p:cNvSpPr/>
            <p:nvPr/>
          </p:nvSpPr>
          <p:spPr>
            <a:xfrm>
              <a:off x="1440" y="2296"/>
              <a:ext cx="3483"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3400" name="Rectangle 572"/>
            <p:cNvSpPr/>
            <p:nvPr/>
          </p:nvSpPr>
          <p:spPr>
            <a:xfrm>
              <a:off x="1440" y="2105"/>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3401" name="Rectangle 565"/>
            <p:cNvSpPr/>
            <p:nvPr/>
          </p:nvSpPr>
          <p:spPr>
            <a:xfrm>
              <a:off x="1440" y="1914"/>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3402" name="Rectangle 558"/>
            <p:cNvSpPr/>
            <p:nvPr/>
          </p:nvSpPr>
          <p:spPr>
            <a:xfrm>
              <a:off x="1440" y="1723"/>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3403" name="Rectangle 551"/>
            <p:cNvSpPr/>
            <p:nvPr/>
          </p:nvSpPr>
          <p:spPr>
            <a:xfrm>
              <a:off x="1440" y="1532"/>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3404" name="Rectangle 544"/>
            <p:cNvSpPr/>
            <p:nvPr/>
          </p:nvSpPr>
          <p:spPr>
            <a:xfrm>
              <a:off x="1440" y="1341"/>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3405" name="Rectangle 537"/>
            <p:cNvSpPr/>
            <p:nvPr/>
          </p:nvSpPr>
          <p:spPr>
            <a:xfrm>
              <a:off x="1440" y="1150"/>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3406" name="Rectangle 530"/>
            <p:cNvSpPr/>
            <p:nvPr/>
          </p:nvSpPr>
          <p:spPr>
            <a:xfrm>
              <a:off x="1440" y="959"/>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3407" name="Rectangle 523"/>
            <p:cNvSpPr/>
            <p:nvPr/>
          </p:nvSpPr>
          <p:spPr>
            <a:xfrm>
              <a:off x="1440" y="768"/>
              <a:ext cx="4059" cy="191"/>
            </a:xfrm>
            <a:prstGeom prst="rect">
              <a:avLst/>
            </a:prstGeom>
            <a:solidFill>
              <a:srgbClr val="CC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3408" name="Line 635"/>
            <p:cNvSpPr/>
            <p:nvPr/>
          </p:nvSpPr>
          <p:spPr>
            <a:xfrm>
              <a:off x="1440" y="768"/>
              <a:ext cx="4059" cy="0"/>
            </a:xfrm>
            <a:prstGeom prst="line">
              <a:avLst/>
            </a:prstGeom>
            <a:ln w="28575" cap="sq" cmpd="sng">
              <a:solidFill>
                <a:schemeClr val="tx1"/>
              </a:solidFill>
              <a:prstDash val="solid"/>
              <a:round/>
              <a:headEnd type="none" w="med" len="med"/>
              <a:tailEnd type="none" w="med" len="med"/>
            </a:ln>
          </p:spPr>
        </p:sp>
        <p:sp>
          <p:nvSpPr>
            <p:cNvPr id="53409" name="Line 636"/>
            <p:cNvSpPr/>
            <p:nvPr/>
          </p:nvSpPr>
          <p:spPr>
            <a:xfrm>
              <a:off x="1440" y="959"/>
              <a:ext cx="4059" cy="0"/>
            </a:xfrm>
            <a:prstGeom prst="line">
              <a:avLst/>
            </a:prstGeom>
            <a:ln w="12700" cap="flat" cmpd="sng">
              <a:solidFill>
                <a:schemeClr val="tx1"/>
              </a:solidFill>
              <a:prstDash val="solid"/>
              <a:round/>
              <a:headEnd type="none" w="med" len="med"/>
              <a:tailEnd type="none" w="med" len="med"/>
            </a:ln>
          </p:spPr>
        </p:sp>
        <p:sp>
          <p:nvSpPr>
            <p:cNvPr id="53410" name="Line 637"/>
            <p:cNvSpPr/>
            <p:nvPr/>
          </p:nvSpPr>
          <p:spPr>
            <a:xfrm>
              <a:off x="1440" y="1150"/>
              <a:ext cx="4059" cy="0"/>
            </a:xfrm>
            <a:prstGeom prst="line">
              <a:avLst/>
            </a:prstGeom>
            <a:ln w="12700" cap="flat" cmpd="sng">
              <a:solidFill>
                <a:schemeClr val="tx1"/>
              </a:solidFill>
              <a:prstDash val="solid"/>
              <a:round/>
              <a:headEnd type="none" w="med" len="med"/>
              <a:tailEnd type="none" w="med" len="med"/>
            </a:ln>
          </p:spPr>
        </p:sp>
        <p:sp>
          <p:nvSpPr>
            <p:cNvPr id="53411" name="Line 638"/>
            <p:cNvSpPr/>
            <p:nvPr/>
          </p:nvSpPr>
          <p:spPr>
            <a:xfrm>
              <a:off x="1440" y="1341"/>
              <a:ext cx="4059" cy="0"/>
            </a:xfrm>
            <a:prstGeom prst="line">
              <a:avLst/>
            </a:prstGeom>
            <a:ln w="12700" cap="flat" cmpd="sng">
              <a:solidFill>
                <a:schemeClr val="tx1"/>
              </a:solidFill>
              <a:prstDash val="solid"/>
              <a:round/>
              <a:headEnd type="none" w="med" len="med"/>
              <a:tailEnd type="none" w="med" len="med"/>
            </a:ln>
          </p:spPr>
        </p:sp>
        <p:sp>
          <p:nvSpPr>
            <p:cNvPr id="53412" name="Line 639"/>
            <p:cNvSpPr/>
            <p:nvPr/>
          </p:nvSpPr>
          <p:spPr>
            <a:xfrm>
              <a:off x="1440" y="1532"/>
              <a:ext cx="4059" cy="0"/>
            </a:xfrm>
            <a:prstGeom prst="line">
              <a:avLst/>
            </a:prstGeom>
            <a:ln w="12700" cap="flat" cmpd="sng">
              <a:solidFill>
                <a:schemeClr val="tx1"/>
              </a:solidFill>
              <a:prstDash val="solid"/>
              <a:round/>
              <a:headEnd type="none" w="med" len="med"/>
              <a:tailEnd type="none" w="med" len="med"/>
            </a:ln>
          </p:spPr>
        </p:sp>
        <p:sp>
          <p:nvSpPr>
            <p:cNvPr id="53413" name="Line 640"/>
            <p:cNvSpPr/>
            <p:nvPr/>
          </p:nvSpPr>
          <p:spPr>
            <a:xfrm>
              <a:off x="1440" y="1723"/>
              <a:ext cx="4059" cy="0"/>
            </a:xfrm>
            <a:prstGeom prst="line">
              <a:avLst/>
            </a:prstGeom>
            <a:ln w="12700" cap="flat" cmpd="sng">
              <a:solidFill>
                <a:schemeClr val="tx1"/>
              </a:solidFill>
              <a:prstDash val="solid"/>
              <a:round/>
              <a:headEnd type="none" w="med" len="med"/>
              <a:tailEnd type="none" w="med" len="med"/>
            </a:ln>
          </p:spPr>
        </p:sp>
        <p:sp>
          <p:nvSpPr>
            <p:cNvPr id="53414" name="Line 641"/>
            <p:cNvSpPr/>
            <p:nvPr/>
          </p:nvSpPr>
          <p:spPr>
            <a:xfrm>
              <a:off x="1440" y="1914"/>
              <a:ext cx="4059" cy="0"/>
            </a:xfrm>
            <a:prstGeom prst="line">
              <a:avLst/>
            </a:prstGeom>
            <a:ln w="12700" cap="flat" cmpd="sng">
              <a:solidFill>
                <a:schemeClr val="tx1"/>
              </a:solidFill>
              <a:prstDash val="solid"/>
              <a:round/>
              <a:headEnd type="none" w="med" len="med"/>
              <a:tailEnd type="none" w="med" len="med"/>
            </a:ln>
          </p:spPr>
        </p:sp>
        <p:sp>
          <p:nvSpPr>
            <p:cNvPr id="53415" name="Line 642"/>
            <p:cNvSpPr/>
            <p:nvPr/>
          </p:nvSpPr>
          <p:spPr>
            <a:xfrm>
              <a:off x="1440" y="2105"/>
              <a:ext cx="4059" cy="0"/>
            </a:xfrm>
            <a:prstGeom prst="line">
              <a:avLst/>
            </a:prstGeom>
            <a:ln w="12700" cap="flat" cmpd="sng">
              <a:solidFill>
                <a:schemeClr val="tx1"/>
              </a:solidFill>
              <a:prstDash val="solid"/>
              <a:round/>
              <a:headEnd type="none" w="med" len="med"/>
              <a:tailEnd type="none" w="med" len="med"/>
            </a:ln>
          </p:spPr>
        </p:sp>
        <p:sp>
          <p:nvSpPr>
            <p:cNvPr id="53416" name="Line 643"/>
            <p:cNvSpPr/>
            <p:nvPr/>
          </p:nvSpPr>
          <p:spPr>
            <a:xfrm>
              <a:off x="1440" y="2296"/>
              <a:ext cx="4059" cy="0"/>
            </a:xfrm>
            <a:prstGeom prst="line">
              <a:avLst/>
            </a:prstGeom>
            <a:ln w="12700" cap="flat" cmpd="sng">
              <a:solidFill>
                <a:schemeClr val="tx1"/>
              </a:solidFill>
              <a:prstDash val="solid"/>
              <a:round/>
              <a:headEnd type="none" w="med" len="med"/>
              <a:tailEnd type="none" w="med" len="med"/>
            </a:ln>
          </p:spPr>
        </p:sp>
        <p:sp>
          <p:nvSpPr>
            <p:cNvPr id="53417" name="Line 644"/>
            <p:cNvSpPr/>
            <p:nvPr/>
          </p:nvSpPr>
          <p:spPr>
            <a:xfrm>
              <a:off x="1440" y="2487"/>
              <a:ext cx="4059" cy="0"/>
            </a:xfrm>
            <a:prstGeom prst="line">
              <a:avLst/>
            </a:prstGeom>
            <a:ln w="12700" cap="flat" cmpd="sng">
              <a:solidFill>
                <a:schemeClr val="tx1"/>
              </a:solidFill>
              <a:prstDash val="solid"/>
              <a:round/>
              <a:headEnd type="none" w="med" len="med"/>
              <a:tailEnd type="none" w="med" len="med"/>
            </a:ln>
          </p:spPr>
        </p:sp>
        <p:sp>
          <p:nvSpPr>
            <p:cNvPr id="53418" name="Line 645"/>
            <p:cNvSpPr/>
            <p:nvPr/>
          </p:nvSpPr>
          <p:spPr>
            <a:xfrm>
              <a:off x="1440" y="2678"/>
              <a:ext cx="4059" cy="0"/>
            </a:xfrm>
            <a:prstGeom prst="line">
              <a:avLst/>
            </a:prstGeom>
            <a:ln w="12700" cap="flat" cmpd="sng">
              <a:solidFill>
                <a:schemeClr val="tx1"/>
              </a:solidFill>
              <a:prstDash val="solid"/>
              <a:round/>
              <a:headEnd type="none" w="med" len="med"/>
              <a:tailEnd type="none" w="med" len="med"/>
            </a:ln>
          </p:spPr>
        </p:sp>
        <p:sp>
          <p:nvSpPr>
            <p:cNvPr id="53419" name="Line 646"/>
            <p:cNvSpPr/>
            <p:nvPr/>
          </p:nvSpPr>
          <p:spPr>
            <a:xfrm>
              <a:off x="1440" y="2869"/>
              <a:ext cx="4059" cy="0"/>
            </a:xfrm>
            <a:prstGeom prst="line">
              <a:avLst/>
            </a:prstGeom>
            <a:ln w="12700" cap="flat" cmpd="sng">
              <a:solidFill>
                <a:schemeClr val="tx1"/>
              </a:solidFill>
              <a:prstDash val="solid"/>
              <a:round/>
              <a:headEnd type="none" w="med" len="med"/>
              <a:tailEnd type="none" w="med" len="med"/>
            </a:ln>
          </p:spPr>
        </p:sp>
        <p:sp>
          <p:nvSpPr>
            <p:cNvPr id="53420" name="Line 647"/>
            <p:cNvSpPr/>
            <p:nvPr/>
          </p:nvSpPr>
          <p:spPr>
            <a:xfrm>
              <a:off x="1440" y="3060"/>
              <a:ext cx="4059" cy="0"/>
            </a:xfrm>
            <a:prstGeom prst="line">
              <a:avLst/>
            </a:prstGeom>
            <a:ln w="12700" cap="flat" cmpd="sng">
              <a:solidFill>
                <a:schemeClr val="tx1"/>
              </a:solidFill>
              <a:prstDash val="solid"/>
              <a:round/>
              <a:headEnd type="none" w="med" len="med"/>
              <a:tailEnd type="none" w="med" len="med"/>
            </a:ln>
          </p:spPr>
        </p:sp>
        <p:sp>
          <p:nvSpPr>
            <p:cNvPr id="53421" name="Line 648"/>
            <p:cNvSpPr/>
            <p:nvPr/>
          </p:nvSpPr>
          <p:spPr>
            <a:xfrm>
              <a:off x="1440" y="3251"/>
              <a:ext cx="4059" cy="0"/>
            </a:xfrm>
            <a:prstGeom prst="line">
              <a:avLst/>
            </a:prstGeom>
            <a:ln w="12700" cap="flat" cmpd="sng">
              <a:solidFill>
                <a:schemeClr val="tx1"/>
              </a:solidFill>
              <a:prstDash val="solid"/>
              <a:round/>
              <a:headEnd type="none" w="med" len="med"/>
              <a:tailEnd type="none" w="med" len="med"/>
            </a:ln>
          </p:spPr>
        </p:sp>
        <p:sp>
          <p:nvSpPr>
            <p:cNvPr id="53422" name="Line 649"/>
            <p:cNvSpPr/>
            <p:nvPr/>
          </p:nvSpPr>
          <p:spPr>
            <a:xfrm>
              <a:off x="1440" y="3442"/>
              <a:ext cx="4059" cy="0"/>
            </a:xfrm>
            <a:prstGeom prst="line">
              <a:avLst/>
            </a:prstGeom>
            <a:ln w="12700" cap="flat" cmpd="sng">
              <a:solidFill>
                <a:schemeClr val="tx1"/>
              </a:solidFill>
              <a:prstDash val="solid"/>
              <a:round/>
              <a:headEnd type="none" w="med" len="med"/>
              <a:tailEnd type="none" w="med" len="med"/>
            </a:ln>
          </p:spPr>
        </p:sp>
        <p:sp>
          <p:nvSpPr>
            <p:cNvPr id="53423" name="Line 650"/>
            <p:cNvSpPr/>
            <p:nvPr/>
          </p:nvSpPr>
          <p:spPr>
            <a:xfrm>
              <a:off x="1440" y="3633"/>
              <a:ext cx="4059" cy="0"/>
            </a:xfrm>
            <a:prstGeom prst="line">
              <a:avLst/>
            </a:prstGeom>
            <a:ln w="12700" cap="flat" cmpd="sng">
              <a:solidFill>
                <a:schemeClr val="tx1"/>
              </a:solidFill>
              <a:prstDash val="solid"/>
              <a:round/>
              <a:headEnd type="none" w="med" len="med"/>
              <a:tailEnd type="none" w="med" len="med"/>
            </a:ln>
          </p:spPr>
        </p:sp>
        <p:sp>
          <p:nvSpPr>
            <p:cNvPr id="53424" name="Line 651"/>
            <p:cNvSpPr/>
            <p:nvPr/>
          </p:nvSpPr>
          <p:spPr>
            <a:xfrm>
              <a:off x="1440" y="3824"/>
              <a:ext cx="4059" cy="0"/>
            </a:xfrm>
            <a:prstGeom prst="line">
              <a:avLst/>
            </a:prstGeom>
            <a:ln w="28575" cap="sq" cmpd="sng">
              <a:solidFill>
                <a:schemeClr val="tx1"/>
              </a:solidFill>
              <a:prstDash val="solid"/>
              <a:round/>
              <a:headEnd type="none" w="med" len="med"/>
              <a:tailEnd type="none" w="med" len="med"/>
            </a:ln>
          </p:spPr>
        </p:sp>
        <p:sp>
          <p:nvSpPr>
            <p:cNvPr id="53425" name="Line 652"/>
            <p:cNvSpPr/>
            <p:nvPr/>
          </p:nvSpPr>
          <p:spPr>
            <a:xfrm>
              <a:off x="1440" y="768"/>
              <a:ext cx="0" cy="3056"/>
            </a:xfrm>
            <a:prstGeom prst="line">
              <a:avLst/>
            </a:prstGeom>
            <a:ln w="28575" cap="sq" cmpd="sng">
              <a:solidFill>
                <a:schemeClr val="tx1"/>
              </a:solidFill>
              <a:prstDash val="solid"/>
              <a:round/>
              <a:headEnd type="none" w="med" len="med"/>
              <a:tailEnd type="none" w="med" len="med"/>
            </a:ln>
          </p:spPr>
        </p:sp>
        <p:sp>
          <p:nvSpPr>
            <p:cNvPr id="53426" name="Line 659"/>
            <p:cNvSpPr/>
            <p:nvPr/>
          </p:nvSpPr>
          <p:spPr>
            <a:xfrm>
              <a:off x="5499" y="768"/>
              <a:ext cx="0" cy="3056"/>
            </a:xfrm>
            <a:prstGeom prst="line">
              <a:avLst/>
            </a:prstGeom>
            <a:ln w="28575" cap="sq" cmpd="sng">
              <a:solidFill>
                <a:schemeClr val="tx1"/>
              </a:solidFill>
              <a:prstDash val="solid"/>
              <a:round/>
              <a:headEnd type="none" w="med" len="med"/>
              <a:tailEnd type="none" w="med" len="med"/>
            </a:ln>
          </p:spPr>
        </p:sp>
        <p:sp>
          <p:nvSpPr>
            <p:cNvPr id="53427" name="Line 708"/>
            <p:cNvSpPr/>
            <p:nvPr/>
          </p:nvSpPr>
          <p:spPr>
            <a:xfrm>
              <a:off x="4923" y="2296"/>
              <a:ext cx="0" cy="1337"/>
            </a:xfrm>
            <a:prstGeom prst="line">
              <a:avLst/>
            </a:prstGeom>
            <a:ln w="12700" cap="flat" cmpd="sng">
              <a:solidFill>
                <a:schemeClr val="tx1"/>
              </a:solidFill>
              <a:prstDash val="solid"/>
              <a:round/>
              <a:headEnd type="none" w="med" len="med"/>
              <a:tailEnd type="none" w="med" len="med"/>
            </a:ln>
          </p:spPr>
        </p:sp>
        <p:sp>
          <p:nvSpPr>
            <p:cNvPr id="53428" name="Line 730"/>
            <p:cNvSpPr/>
            <p:nvPr/>
          </p:nvSpPr>
          <p:spPr>
            <a:xfrm>
              <a:off x="2619" y="3251"/>
              <a:ext cx="0" cy="382"/>
            </a:xfrm>
            <a:prstGeom prst="line">
              <a:avLst/>
            </a:prstGeom>
            <a:ln w="12700" cap="flat" cmpd="sng">
              <a:solidFill>
                <a:schemeClr val="tx1"/>
              </a:solidFill>
              <a:prstDash val="solid"/>
              <a:round/>
              <a:headEnd type="none" w="med" len="med"/>
              <a:tailEnd type="none" w="med" len="med"/>
            </a:ln>
          </p:spPr>
        </p:sp>
        <p:sp>
          <p:nvSpPr>
            <p:cNvPr id="53429" name="Line 731"/>
            <p:cNvSpPr/>
            <p:nvPr/>
          </p:nvSpPr>
          <p:spPr>
            <a:xfrm>
              <a:off x="3195" y="3251"/>
              <a:ext cx="0" cy="382"/>
            </a:xfrm>
            <a:prstGeom prst="line">
              <a:avLst/>
            </a:prstGeom>
            <a:ln w="12700" cap="flat" cmpd="sng">
              <a:solidFill>
                <a:schemeClr val="tx1"/>
              </a:solidFill>
              <a:prstDash val="solid"/>
              <a:round/>
              <a:headEnd type="none" w="med" len="med"/>
              <a:tailEnd type="none" w="med" len="med"/>
            </a:ln>
          </p:spPr>
        </p:sp>
        <p:sp>
          <p:nvSpPr>
            <p:cNvPr id="53430" name="Line 732"/>
            <p:cNvSpPr/>
            <p:nvPr/>
          </p:nvSpPr>
          <p:spPr>
            <a:xfrm>
              <a:off x="3771" y="3251"/>
              <a:ext cx="0" cy="382"/>
            </a:xfrm>
            <a:prstGeom prst="line">
              <a:avLst/>
            </a:prstGeom>
            <a:ln w="12700" cap="flat" cmpd="sng">
              <a:solidFill>
                <a:schemeClr val="tx1"/>
              </a:solidFill>
              <a:prstDash val="solid"/>
              <a:round/>
              <a:headEnd type="none" w="med" len="med"/>
              <a:tailEnd type="none" w="med" len="med"/>
            </a:ln>
          </p:spPr>
        </p:sp>
        <p:sp>
          <p:nvSpPr>
            <p:cNvPr id="53431" name="Line 733"/>
            <p:cNvSpPr/>
            <p:nvPr/>
          </p:nvSpPr>
          <p:spPr>
            <a:xfrm>
              <a:off x="4347" y="3251"/>
              <a:ext cx="0" cy="382"/>
            </a:xfrm>
            <a:prstGeom prst="line">
              <a:avLst/>
            </a:prstGeom>
            <a:ln w="12700" cap="flat" cmpd="sng">
              <a:solidFill>
                <a:schemeClr val="tx1"/>
              </a:solidFill>
              <a:prstDash val="solid"/>
              <a:round/>
              <a:headEnd type="none" w="med" len="med"/>
              <a:tailEnd type="none" w="med" len="med"/>
            </a:ln>
          </p:spPr>
        </p:sp>
      </p:grpSp>
      <p:sp>
        <p:nvSpPr>
          <p:cNvPr id="51945" name="AutoShape 745"/>
          <p:cNvSpPr/>
          <p:nvPr/>
        </p:nvSpPr>
        <p:spPr>
          <a:xfrm>
            <a:off x="1116013" y="3048000"/>
            <a:ext cx="3600450" cy="1828800"/>
          </a:xfrm>
          <a:prstGeom prst="roundRect">
            <a:avLst>
              <a:gd name="adj" fmla="val 5704"/>
            </a:avLst>
          </a:prstGeom>
          <a:solidFill>
            <a:srgbClr val="FFCCFF"/>
          </a:solidFill>
          <a:ln w="9525" cap="flat" cmpd="sng">
            <a:solidFill>
              <a:schemeClr val="tx1"/>
            </a:solidFill>
            <a:prstDash val="solid"/>
            <a:round/>
            <a:headEnd type="none" w="med" len="med"/>
            <a:tailEnd type="none" w="med" len="med"/>
          </a:ln>
        </p:spPr>
        <p:txBody>
          <a:bodyPr anchor="ctr" anchorCtr="0"/>
          <a:p>
            <a:pPr eaLnBrk="0" hangingPunct="0">
              <a:buClrTx/>
              <a:buFontTx/>
            </a:pPr>
            <a:r>
              <a:rPr lang="zh-CN" altLang="en-US" sz="2400" dirty="0">
                <a:latin typeface="华文新魏" panose="02010800040101010101" pitchFamily="2" charset="-122"/>
                <a:ea typeface="华文新魏" panose="02010800040101010101" pitchFamily="2" charset="-122"/>
              </a:rPr>
              <a:t>所有的</a:t>
            </a:r>
            <a:r>
              <a:rPr lang="en-US" altLang="zh-CN" sz="2400" dirty="0">
                <a:latin typeface="华文新魏" panose="02010800040101010101" pitchFamily="2" charset="-122"/>
                <a:ea typeface="华文新魏" panose="02010800040101010101" pitchFamily="2" charset="-122"/>
              </a:rPr>
              <a:t>37</a:t>
            </a:r>
            <a:r>
              <a:rPr lang="zh-CN" altLang="en-US" sz="2400" dirty="0">
                <a:latin typeface="华文新魏" panose="02010800040101010101" pitchFamily="2" charset="-122"/>
                <a:ea typeface="华文新魏" panose="02010800040101010101" pitchFamily="2" charset="-122"/>
              </a:rPr>
              <a:t>个寄存器，分成两大类：</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31</a:t>
            </a:r>
            <a:r>
              <a:rPr lang="zh-CN" altLang="en-US" sz="2400" dirty="0">
                <a:latin typeface="华文新魏" panose="02010800040101010101" pitchFamily="2" charset="-122"/>
                <a:ea typeface="华文新魏" panose="02010800040101010101" pitchFamily="2" charset="-122"/>
              </a:rPr>
              <a:t>个通用</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位寄存器；</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6</a:t>
            </a:r>
            <a:r>
              <a:rPr lang="zh-CN" altLang="en-US" sz="2400" dirty="0">
                <a:latin typeface="华文新魏" panose="02010800040101010101" pitchFamily="2" charset="-122"/>
                <a:ea typeface="华文新魏" panose="02010800040101010101" pitchFamily="2" charset="-122"/>
              </a:rPr>
              <a:t>个状态寄存器。</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51945"/>
                                        </p:tgtEl>
                                        <p:attrNameLst>
                                          <p:attrName>style.visibility</p:attrName>
                                        </p:attrNameLst>
                                      </p:cBhvr>
                                      <p:to>
                                        <p:strVal val="visible"/>
                                      </p:to>
                                    </p:set>
                                    <p:animEffect transition="in" filter="slide(fromTop)">
                                      <p:cBhvr>
                                        <p:cTn id="7" dur="500"/>
                                        <p:tgtEl>
                                          <p:spTgt spid="5194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4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2228" name="Group 4"/>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grpSp>
        <p:nvGrpSpPr>
          <p:cNvPr id="2" name="Group 961"/>
          <p:cNvGrpSpPr/>
          <p:nvPr/>
        </p:nvGrpSpPr>
        <p:grpSpPr>
          <a:xfrm>
            <a:off x="2320925" y="909638"/>
            <a:ext cx="6443663" cy="5761037"/>
            <a:chOff x="851" y="346"/>
            <a:chExt cx="4059" cy="3629"/>
          </a:xfrm>
        </p:grpSpPr>
        <p:sp>
          <p:nvSpPr>
            <p:cNvPr id="54384" name="Rectangle 962"/>
            <p:cNvSpPr/>
            <p:nvPr/>
          </p:nvSpPr>
          <p:spPr>
            <a:xfrm>
              <a:off x="851" y="3784"/>
              <a:ext cx="117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dirty="0">
                  <a:latin typeface="Times New Roman" panose="02020603050405020304" pitchFamily="18" charset="0"/>
                  <a:ea typeface="宋体" panose="02010600030101010101" pitchFamily="2" charset="-122"/>
                </a:rPr>
                <a:t>无</a:t>
              </a:r>
              <a:endParaRPr lang="zh-CN" altLang="en-US" sz="1400" dirty="0">
                <a:latin typeface="Times New Roman" panose="02020603050405020304" pitchFamily="18" charset="0"/>
                <a:ea typeface="宋体" panose="02010600030101010101" pitchFamily="2" charset="-122"/>
              </a:endParaRPr>
            </a:p>
          </p:txBody>
        </p:sp>
        <p:sp>
          <p:nvSpPr>
            <p:cNvPr id="54385" name="Rectangle 963"/>
            <p:cNvSpPr/>
            <p:nvPr/>
          </p:nvSpPr>
          <p:spPr>
            <a:xfrm>
              <a:off x="851" y="3593"/>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386" name="Rectangle 964"/>
            <p:cNvSpPr/>
            <p:nvPr/>
          </p:nvSpPr>
          <p:spPr>
            <a:xfrm>
              <a:off x="851" y="3402"/>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387" name="Rectangle 965"/>
            <p:cNvSpPr/>
            <p:nvPr/>
          </p:nvSpPr>
          <p:spPr>
            <a:xfrm>
              <a:off x="851" y="3211"/>
              <a:ext cx="117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a:t>
              </a:r>
              <a:endParaRPr lang="en-US" altLang="zh-CN" sz="1400" dirty="0">
                <a:latin typeface="Times New Roman" panose="02020603050405020304" pitchFamily="18" charset="0"/>
                <a:ea typeface="宋体" panose="02010600030101010101" pitchFamily="2" charset="-122"/>
              </a:endParaRPr>
            </a:p>
          </p:txBody>
        </p:sp>
        <p:sp>
          <p:nvSpPr>
            <p:cNvPr id="54388" name="Rectangle 966"/>
            <p:cNvSpPr/>
            <p:nvPr/>
          </p:nvSpPr>
          <p:spPr>
            <a:xfrm>
              <a:off x="851" y="3020"/>
              <a:ext cx="117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4389" name="Rectangle 967"/>
            <p:cNvSpPr/>
            <p:nvPr/>
          </p:nvSpPr>
          <p:spPr>
            <a:xfrm>
              <a:off x="851" y="2829"/>
              <a:ext cx="3483"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4390" name="Rectangle 968"/>
            <p:cNvSpPr/>
            <p:nvPr/>
          </p:nvSpPr>
          <p:spPr>
            <a:xfrm>
              <a:off x="851" y="2638"/>
              <a:ext cx="3483"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4391" name="Rectangle 969"/>
            <p:cNvSpPr/>
            <p:nvPr/>
          </p:nvSpPr>
          <p:spPr>
            <a:xfrm>
              <a:off x="851" y="2447"/>
              <a:ext cx="3483"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4392" name="Rectangle 970"/>
            <p:cNvSpPr/>
            <p:nvPr/>
          </p:nvSpPr>
          <p:spPr>
            <a:xfrm>
              <a:off x="851" y="2256"/>
              <a:ext cx="3483"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4393" name="Rectangle 971"/>
            <p:cNvSpPr/>
            <p:nvPr/>
          </p:nvSpPr>
          <p:spPr>
            <a:xfrm>
              <a:off x="851" y="2065"/>
              <a:ext cx="3483"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4394" name="Rectangle 972"/>
            <p:cNvSpPr/>
            <p:nvPr/>
          </p:nvSpPr>
          <p:spPr>
            <a:xfrm>
              <a:off x="851" y="1874"/>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395" name="Rectangle 973"/>
            <p:cNvSpPr/>
            <p:nvPr/>
          </p:nvSpPr>
          <p:spPr>
            <a:xfrm>
              <a:off x="851" y="1683"/>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396" name="Rectangle 974"/>
            <p:cNvSpPr/>
            <p:nvPr/>
          </p:nvSpPr>
          <p:spPr>
            <a:xfrm>
              <a:off x="851" y="1492"/>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397" name="Rectangle 975"/>
            <p:cNvSpPr/>
            <p:nvPr/>
          </p:nvSpPr>
          <p:spPr>
            <a:xfrm>
              <a:off x="851" y="1301"/>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398" name="Rectangle 976"/>
            <p:cNvSpPr/>
            <p:nvPr/>
          </p:nvSpPr>
          <p:spPr>
            <a:xfrm>
              <a:off x="851" y="1110"/>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399" name="Rectangle 977"/>
            <p:cNvSpPr/>
            <p:nvPr/>
          </p:nvSpPr>
          <p:spPr>
            <a:xfrm>
              <a:off x="851" y="919"/>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400" name="Rectangle 978"/>
            <p:cNvSpPr/>
            <p:nvPr/>
          </p:nvSpPr>
          <p:spPr>
            <a:xfrm>
              <a:off x="851" y="728"/>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401" name="Rectangle 979"/>
            <p:cNvSpPr/>
            <p:nvPr/>
          </p:nvSpPr>
          <p:spPr>
            <a:xfrm>
              <a:off x="851" y="537"/>
              <a:ext cx="4059"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402" name="Rectangle 980"/>
            <p:cNvSpPr/>
            <p:nvPr/>
          </p:nvSpPr>
          <p:spPr>
            <a:xfrm>
              <a:off x="851" y="346"/>
              <a:ext cx="603" cy="191"/>
            </a:xfrm>
            <a:prstGeom prst="rect">
              <a:avLst/>
            </a:prstGeom>
            <a:solidFill>
              <a:srgbClr val="CCFFCC"/>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solidFill>
                    <a:srgbClr val="FF0000"/>
                  </a:solidFill>
                  <a:latin typeface="Times New Roman" panose="02020603050405020304" pitchFamily="18" charset="0"/>
                  <a:ea typeface="宋体" panose="02010600030101010101" pitchFamily="2" charset="-122"/>
                </a:rPr>
                <a:t>用户</a:t>
              </a:r>
              <a:endParaRPr lang="zh-CN" altLang="en-US" sz="1400" b="1" dirty="0">
                <a:solidFill>
                  <a:srgbClr val="FF0000"/>
                </a:solidFill>
                <a:latin typeface="Times New Roman" panose="02020603050405020304" pitchFamily="18" charset="0"/>
                <a:ea typeface="宋体" panose="02010600030101010101" pitchFamily="2" charset="-122"/>
              </a:endParaRPr>
            </a:p>
          </p:txBody>
        </p:sp>
      </p:grpSp>
      <p:grpSp>
        <p:nvGrpSpPr>
          <p:cNvPr id="3" name="Group 1001"/>
          <p:cNvGrpSpPr/>
          <p:nvPr/>
        </p:nvGrpSpPr>
        <p:grpSpPr>
          <a:xfrm>
            <a:off x="2320925" y="909638"/>
            <a:ext cx="6443663" cy="5761037"/>
            <a:chOff x="851" y="346"/>
            <a:chExt cx="4059" cy="3629"/>
          </a:xfrm>
        </p:grpSpPr>
        <p:sp>
          <p:nvSpPr>
            <p:cNvPr id="54404" name="Rectangle 1002"/>
            <p:cNvSpPr/>
            <p:nvPr/>
          </p:nvSpPr>
          <p:spPr>
            <a:xfrm>
              <a:off x="851" y="3784"/>
              <a:ext cx="117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dirty="0">
                  <a:latin typeface="Times New Roman" panose="02020603050405020304" pitchFamily="18" charset="0"/>
                  <a:ea typeface="宋体" panose="02010600030101010101" pitchFamily="2" charset="-122"/>
                </a:rPr>
                <a:t>无</a:t>
              </a:r>
              <a:endParaRPr lang="zh-CN" altLang="en-US" sz="1400" dirty="0">
                <a:latin typeface="Times New Roman" panose="02020603050405020304" pitchFamily="18" charset="0"/>
                <a:ea typeface="宋体" panose="02010600030101010101" pitchFamily="2" charset="-122"/>
              </a:endParaRPr>
            </a:p>
          </p:txBody>
        </p:sp>
        <p:sp>
          <p:nvSpPr>
            <p:cNvPr id="54405" name="Rectangle 1003"/>
            <p:cNvSpPr/>
            <p:nvPr/>
          </p:nvSpPr>
          <p:spPr>
            <a:xfrm>
              <a:off x="851" y="3593"/>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406" name="Rectangle 1004"/>
            <p:cNvSpPr/>
            <p:nvPr/>
          </p:nvSpPr>
          <p:spPr>
            <a:xfrm>
              <a:off x="851" y="3402"/>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407" name="Rectangle 1005"/>
            <p:cNvSpPr/>
            <p:nvPr/>
          </p:nvSpPr>
          <p:spPr>
            <a:xfrm>
              <a:off x="851" y="3211"/>
              <a:ext cx="117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a:t>
              </a:r>
              <a:endParaRPr lang="en-US" altLang="zh-CN" sz="1400" dirty="0">
                <a:latin typeface="Times New Roman" panose="02020603050405020304" pitchFamily="18" charset="0"/>
                <a:ea typeface="宋体" panose="02010600030101010101" pitchFamily="2" charset="-122"/>
              </a:endParaRPr>
            </a:p>
          </p:txBody>
        </p:sp>
        <p:sp>
          <p:nvSpPr>
            <p:cNvPr id="54408" name="Rectangle 1006"/>
            <p:cNvSpPr/>
            <p:nvPr/>
          </p:nvSpPr>
          <p:spPr>
            <a:xfrm>
              <a:off x="851" y="3020"/>
              <a:ext cx="117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4409" name="Rectangle 1007"/>
            <p:cNvSpPr/>
            <p:nvPr/>
          </p:nvSpPr>
          <p:spPr>
            <a:xfrm>
              <a:off x="851" y="2829"/>
              <a:ext cx="3483"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4410" name="Rectangle 1008"/>
            <p:cNvSpPr/>
            <p:nvPr/>
          </p:nvSpPr>
          <p:spPr>
            <a:xfrm>
              <a:off x="851" y="2638"/>
              <a:ext cx="3483"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4411" name="Rectangle 1009"/>
            <p:cNvSpPr/>
            <p:nvPr/>
          </p:nvSpPr>
          <p:spPr>
            <a:xfrm>
              <a:off x="851" y="2447"/>
              <a:ext cx="3483"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4412" name="Rectangle 1010"/>
            <p:cNvSpPr/>
            <p:nvPr/>
          </p:nvSpPr>
          <p:spPr>
            <a:xfrm>
              <a:off x="851" y="2256"/>
              <a:ext cx="3483"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4413" name="Rectangle 1011"/>
            <p:cNvSpPr/>
            <p:nvPr/>
          </p:nvSpPr>
          <p:spPr>
            <a:xfrm>
              <a:off x="851" y="2065"/>
              <a:ext cx="3483"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4414" name="Rectangle 1012"/>
            <p:cNvSpPr/>
            <p:nvPr/>
          </p:nvSpPr>
          <p:spPr>
            <a:xfrm>
              <a:off x="851" y="1874"/>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415" name="Rectangle 1013"/>
            <p:cNvSpPr/>
            <p:nvPr/>
          </p:nvSpPr>
          <p:spPr>
            <a:xfrm>
              <a:off x="851" y="1683"/>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416" name="Rectangle 1014"/>
            <p:cNvSpPr/>
            <p:nvPr/>
          </p:nvSpPr>
          <p:spPr>
            <a:xfrm>
              <a:off x="851" y="1492"/>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417" name="Rectangle 1015"/>
            <p:cNvSpPr/>
            <p:nvPr/>
          </p:nvSpPr>
          <p:spPr>
            <a:xfrm>
              <a:off x="851" y="1301"/>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418" name="Rectangle 1016"/>
            <p:cNvSpPr/>
            <p:nvPr/>
          </p:nvSpPr>
          <p:spPr>
            <a:xfrm>
              <a:off x="851" y="1110"/>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419" name="Rectangle 1017"/>
            <p:cNvSpPr/>
            <p:nvPr/>
          </p:nvSpPr>
          <p:spPr>
            <a:xfrm>
              <a:off x="851" y="919"/>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420" name="Rectangle 1018"/>
            <p:cNvSpPr/>
            <p:nvPr/>
          </p:nvSpPr>
          <p:spPr>
            <a:xfrm>
              <a:off x="851" y="728"/>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421" name="Rectangle 1019"/>
            <p:cNvSpPr/>
            <p:nvPr/>
          </p:nvSpPr>
          <p:spPr>
            <a:xfrm>
              <a:off x="851" y="537"/>
              <a:ext cx="4059"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422" name="Rectangle 1020"/>
            <p:cNvSpPr/>
            <p:nvPr/>
          </p:nvSpPr>
          <p:spPr>
            <a:xfrm>
              <a:off x="1454" y="346"/>
              <a:ext cx="576" cy="191"/>
            </a:xfrm>
            <a:prstGeom prst="rect">
              <a:avLst/>
            </a:prstGeom>
            <a:solidFill>
              <a:srgbClr val="FF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solidFill>
                    <a:srgbClr val="FF0000"/>
                  </a:solidFill>
                  <a:latin typeface="Times New Roman" panose="02020603050405020304" pitchFamily="18" charset="0"/>
                  <a:ea typeface="宋体" panose="02010600030101010101" pitchFamily="2" charset="-122"/>
                </a:rPr>
                <a:t>系统</a:t>
              </a:r>
              <a:endParaRPr lang="zh-CN" altLang="en-US" sz="1400" b="1" dirty="0">
                <a:solidFill>
                  <a:srgbClr val="FF0000"/>
                </a:solidFill>
                <a:latin typeface="Times New Roman" panose="02020603050405020304" pitchFamily="18" charset="0"/>
                <a:ea typeface="宋体" panose="02010600030101010101" pitchFamily="2" charset="-122"/>
              </a:endParaRPr>
            </a:p>
          </p:txBody>
        </p:sp>
      </p:grpSp>
      <p:grpSp>
        <p:nvGrpSpPr>
          <p:cNvPr id="4" name="Group 1023"/>
          <p:cNvGrpSpPr/>
          <p:nvPr/>
        </p:nvGrpSpPr>
        <p:grpSpPr>
          <a:xfrm>
            <a:off x="2320925" y="909638"/>
            <a:ext cx="6443663" cy="5761037"/>
            <a:chOff x="851" y="346"/>
            <a:chExt cx="4059" cy="3629"/>
          </a:xfrm>
        </p:grpSpPr>
        <p:sp>
          <p:nvSpPr>
            <p:cNvPr id="54424" name="Rectangle 0"/>
            <p:cNvSpPr/>
            <p:nvPr/>
          </p:nvSpPr>
          <p:spPr>
            <a:xfrm>
              <a:off x="2030" y="3784"/>
              <a:ext cx="576"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eaLnBrk="0" hangingPunct="0">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SPSR_abt</a:t>
              </a:r>
              <a:endParaRPr lang="en-US" altLang="zh-CN" sz="1400" dirty="0">
                <a:latin typeface="Times New Roman" panose="02020603050405020304" pitchFamily="18" charset="0"/>
                <a:ea typeface="宋体" panose="02010600030101010101" pitchFamily="2" charset="-122"/>
              </a:endParaRPr>
            </a:p>
          </p:txBody>
        </p:sp>
        <p:sp>
          <p:nvSpPr>
            <p:cNvPr id="54425" name="Rectangle 1"/>
            <p:cNvSpPr/>
            <p:nvPr/>
          </p:nvSpPr>
          <p:spPr>
            <a:xfrm>
              <a:off x="851" y="3593"/>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426" name="Rectangle 2"/>
            <p:cNvSpPr/>
            <p:nvPr/>
          </p:nvSpPr>
          <p:spPr>
            <a:xfrm>
              <a:off x="851" y="3402"/>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427" name="Rectangle 3"/>
            <p:cNvSpPr/>
            <p:nvPr/>
          </p:nvSpPr>
          <p:spPr>
            <a:xfrm>
              <a:off x="2030" y="3211"/>
              <a:ext cx="576"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R14_svc</a:t>
              </a:r>
              <a:endParaRPr lang="en-US" altLang="zh-CN" sz="1400" dirty="0">
                <a:latin typeface="Times New Roman" panose="02020603050405020304" pitchFamily="18" charset="0"/>
                <a:ea typeface="宋体" panose="02010600030101010101" pitchFamily="2" charset="-122"/>
              </a:endParaRPr>
            </a:p>
          </p:txBody>
        </p:sp>
        <p:sp>
          <p:nvSpPr>
            <p:cNvPr id="54428" name="Rectangle 4"/>
            <p:cNvSpPr/>
            <p:nvPr/>
          </p:nvSpPr>
          <p:spPr>
            <a:xfrm>
              <a:off x="2030" y="3020"/>
              <a:ext cx="576"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R13_svc</a:t>
              </a:r>
              <a:endParaRPr lang="en-US" altLang="zh-CN" sz="1400" dirty="0">
                <a:latin typeface="Times New Roman" panose="02020603050405020304" pitchFamily="18" charset="0"/>
                <a:ea typeface="宋体" panose="02010600030101010101" pitchFamily="2" charset="-122"/>
              </a:endParaRPr>
            </a:p>
          </p:txBody>
        </p:sp>
        <p:sp>
          <p:nvSpPr>
            <p:cNvPr id="54429" name="Rectangle 5"/>
            <p:cNvSpPr/>
            <p:nvPr/>
          </p:nvSpPr>
          <p:spPr>
            <a:xfrm>
              <a:off x="851" y="2829"/>
              <a:ext cx="3483"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4430" name="Rectangle 6"/>
            <p:cNvSpPr/>
            <p:nvPr/>
          </p:nvSpPr>
          <p:spPr>
            <a:xfrm>
              <a:off x="851" y="2638"/>
              <a:ext cx="3483"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4431" name="Rectangle 7"/>
            <p:cNvSpPr/>
            <p:nvPr/>
          </p:nvSpPr>
          <p:spPr>
            <a:xfrm>
              <a:off x="851" y="2447"/>
              <a:ext cx="3483"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4432" name="Rectangle 8"/>
            <p:cNvSpPr/>
            <p:nvPr/>
          </p:nvSpPr>
          <p:spPr>
            <a:xfrm>
              <a:off x="851" y="2256"/>
              <a:ext cx="3483"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4433" name="Rectangle 9"/>
            <p:cNvSpPr/>
            <p:nvPr/>
          </p:nvSpPr>
          <p:spPr>
            <a:xfrm>
              <a:off x="851" y="2065"/>
              <a:ext cx="3483"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4434" name="Rectangle 10"/>
            <p:cNvSpPr/>
            <p:nvPr/>
          </p:nvSpPr>
          <p:spPr>
            <a:xfrm>
              <a:off x="851" y="1874"/>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435" name="Rectangle 11"/>
            <p:cNvSpPr/>
            <p:nvPr/>
          </p:nvSpPr>
          <p:spPr>
            <a:xfrm>
              <a:off x="851" y="1683"/>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436" name="Rectangle 12"/>
            <p:cNvSpPr/>
            <p:nvPr/>
          </p:nvSpPr>
          <p:spPr>
            <a:xfrm>
              <a:off x="851" y="1492"/>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437" name="Rectangle 13"/>
            <p:cNvSpPr/>
            <p:nvPr/>
          </p:nvSpPr>
          <p:spPr>
            <a:xfrm>
              <a:off x="851" y="1301"/>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438" name="Rectangle 14"/>
            <p:cNvSpPr/>
            <p:nvPr/>
          </p:nvSpPr>
          <p:spPr>
            <a:xfrm>
              <a:off x="851" y="1110"/>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439" name="Rectangle 15"/>
            <p:cNvSpPr/>
            <p:nvPr/>
          </p:nvSpPr>
          <p:spPr>
            <a:xfrm>
              <a:off x="851" y="919"/>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440" name="Rectangle 16"/>
            <p:cNvSpPr/>
            <p:nvPr/>
          </p:nvSpPr>
          <p:spPr>
            <a:xfrm>
              <a:off x="851" y="728"/>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441" name="Rectangle 17"/>
            <p:cNvSpPr/>
            <p:nvPr/>
          </p:nvSpPr>
          <p:spPr>
            <a:xfrm>
              <a:off x="851" y="537"/>
              <a:ext cx="4059"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442" name="Rectangle 18"/>
            <p:cNvSpPr/>
            <p:nvPr/>
          </p:nvSpPr>
          <p:spPr>
            <a:xfrm>
              <a:off x="2030" y="346"/>
              <a:ext cx="576" cy="191"/>
            </a:xfrm>
            <a:prstGeom prst="rect">
              <a:avLst/>
            </a:prstGeom>
            <a:solidFill>
              <a:srgbClr val="99FF99"/>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solidFill>
                    <a:srgbClr val="FF0000"/>
                  </a:solidFill>
                  <a:latin typeface="Times New Roman" panose="02020603050405020304" pitchFamily="18" charset="0"/>
                  <a:ea typeface="宋体" panose="02010600030101010101" pitchFamily="2" charset="-122"/>
                </a:rPr>
                <a:t>管理</a:t>
              </a:r>
              <a:endParaRPr lang="zh-CN" altLang="en-US" sz="1400" b="1" dirty="0">
                <a:solidFill>
                  <a:srgbClr val="FF0000"/>
                </a:solidFill>
                <a:latin typeface="Times New Roman" panose="02020603050405020304" pitchFamily="18" charset="0"/>
                <a:ea typeface="宋体" panose="02010600030101010101" pitchFamily="2" charset="-122"/>
              </a:endParaRPr>
            </a:p>
          </p:txBody>
        </p:sp>
      </p:grpSp>
      <p:grpSp>
        <p:nvGrpSpPr>
          <p:cNvPr id="5" name="Group 19"/>
          <p:cNvGrpSpPr/>
          <p:nvPr/>
        </p:nvGrpSpPr>
        <p:grpSpPr>
          <a:xfrm>
            <a:off x="2320925" y="909638"/>
            <a:ext cx="6443663" cy="5761037"/>
            <a:chOff x="851" y="346"/>
            <a:chExt cx="4059" cy="3629"/>
          </a:xfrm>
        </p:grpSpPr>
        <p:sp>
          <p:nvSpPr>
            <p:cNvPr id="54444" name="Rectangle 20"/>
            <p:cNvSpPr/>
            <p:nvPr/>
          </p:nvSpPr>
          <p:spPr>
            <a:xfrm>
              <a:off x="2606" y="3784"/>
              <a:ext cx="576"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SPSR_abt</a:t>
              </a:r>
              <a:endParaRPr lang="en-US" altLang="zh-CN" sz="1400" dirty="0">
                <a:latin typeface="Times New Roman" panose="02020603050405020304" pitchFamily="18" charset="0"/>
                <a:ea typeface="宋体" panose="02010600030101010101" pitchFamily="2" charset="-122"/>
              </a:endParaRPr>
            </a:p>
          </p:txBody>
        </p:sp>
        <p:sp>
          <p:nvSpPr>
            <p:cNvPr id="54445" name="Rectangle 21"/>
            <p:cNvSpPr/>
            <p:nvPr/>
          </p:nvSpPr>
          <p:spPr>
            <a:xfrm>
              <a:off x="851" y="3593"/>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446" name="Rectangle 22"/>
            <p:cNvSpPr/>
            <p:nvPr/>
          </p:nvSpPr>
          <p:spPr>
            <a:xfrm>
              <a:off x="851" y="3402"/>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447" name="Rectangle 23"/>
            <p:cNvSpPr/>
            <p:nvPr/>
          </p:nvSpPr>
          <p:spPr>
            <a:xfrm>
              <a:off x="2606" y="3211"/>
              <a:ext cx="576"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R14_abt</a:t>
              </a:r>
              <a:endParaRPr lang="en-US" altLang="zh-CN" sz="1400" dirty="0">
                <a:latin typeface="Times New Roman" panose="02020603050405020304" pitchFamily="18" charset="0"/>
                <a:ea typeface="宋体" panose="02010600030101010101" pitchFamily="2" charset="-122"/>
              </a:endParaRPr>
            </a:p>
          </p:txBody>
        </p:sp>
        <p:sp>
          <p:nvSpPr>
            <p:cNvPr id="54448" name="Rectangle 24"/>
            <p:cNvSpPr/>
            <p:nvPr/>
          </p:nvSpPr>
          <p:spPr>
            <a:xfrm>
              <a:off x="2606" y="3020"/>
              <a:ext cx="576"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R13_abt</a:t>
              </a:r>
              <a:endParaRPr lang="en-US" altLang="zh-CN" sz="1400" dirty="0">
                <a:latin typeface="Times New Roman" panose="02020603050405020304" pitchFamily="18" charset="0"/>
                <a:ea typeface="宋体" panose="02010600030101010101" pitchFamily="2" charset="-122"/>
              </a:endParaRPr>
            </a:p>
          </p:txBody>
        </p:sp>
        <p:sp>
          <p:nvSpPr>
            <p:cNvPr id="54449" name="Rectangle 25"/>
            <p:cNvSpPr/>
            <p:nvPr/>
          </p:nvSpPr>
          <p:spPr>
            <a:xfrm>
              <a:off x="851" y="2829"/>
              <a:ext cx="3483"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4450" name="Rectangle 26"/>
            <p:cNvSpPr/>
            <p:nvPr/>
          </p:nvSpPr>
          <p:spPr>
            <a:xfrm>
              <a:off x="851" y="2638"/>
              <a:ext cx="3483"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4451" name="Rectangle 27"/>
            <p:cNvSpPr/>
            <p:nvPr/>
          </p:nvSpPr>
          <p:spPr>
            <a:xfrm>
              <a:off x="851" y="2447"/>
              <a:ext cx="3483"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4452" name="Rectangle 28"/>
            <p:cNvSpPr/>
            <p:nvPr/>
          </p:nvSpPr>
          <p:spPr>
            <a:xfrm>
              <a:off x="851" y="2256"/>
              <a:ext cx="3483"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4453" name="Rectangle 29"/>
            <p:cNvSpPr/>
            <p:nvPr/>
          </p:nvSpPr>
          <p:spPr>
            <a:xfrm>
              <a:off x="851" y="2065"/>
              <a:ext cx="3483"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4454" name="Rectangle 30"/>
            <p:cNvSpPr/>
            <p:nvPr/>
          </p:nvSpPr>
          <p:spPr>
            <a:xfrm>
              <a:off x="851" y="1874"/>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455" name="Rectangle 31"/>
            <p:cNvSpPr/>
            <p:nvPr/>
          </p:nvSpPr>
          <p:spPr>
            <a:xfrm>
              <a:off x="851" y="1683"/>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456" name="Rectangle 32"/>
            <p:cNvSpPr/>
            <p:nvPr/>
          </p:nvSpPr>
          <p:spPr>
            <a:xfrm>
              <a:off x="851" y="1492"/>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457" name="Rectangle 33"/>
            <p:cNvSpPr/>
            <p:nvPr/>
          </p:nvSpPr>
          <p:spPr>
            <a:xfrm>
              <a:off x="851" y="1301"/>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458" name="Rectangle 34"/>
            <p:cNvSpPr/>
            <p:nvPr/>
          </p:nvSpPr>
          <p:spPr>
            <a:xfrm>
              <a:off x="851" y="1110"/>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459" name="Rectangle 35"/>
            <p:cNvSpPr/>
            <p:nvPr/>
          </p:nvSpPr>
          <p:spPr>
            <a:xfrm>
              <a:off x="851" y="919"/>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460" name="Rectangle 36"/>
            <p:cNvSpPr/>
            <p:nvPr/>
          </p:nvSpPr>
          <p:spPr>
            <a:xfrm>
              <a:off x="851" y="728"/>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461" name="Rectangle 37"/>
            <p:cNvSpPr/>
            <p:nvPr/>
          </p:nvSpPr>
          <p:spPr>
            <a:xfrm>
              <a:off x="851" y="537"/>
              <a:ext cx="4059"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462" name="Rectangle 38"/>
            <p:cNvSpPr/>
            <p:nvPr/>
          </p:nvSpPr>
          <p:spPr>
            <a:xfrm>
              <a:off x="2606" y="346"/>
              <a:ext cx="576" cy="191"/>
            </a:xfrm>
            <a:prstGeom prst="rect">
              <a:avLst/>
            </a:prstGeom>
            <a:solidFill>
              <a:schemeClr val="hlink"/>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latin typeface="Times New Roman" panose="02020603050405020304" pitchFamily="18" charset="0"/>
                  <a:ea typeface="宋体" panose="02010600030101010101" pitchFamily="2" charset="-122"/>
                </a:rPr>
                <a:t>中止</a:t>
              </a:r>
              <a:endParaRPr lang="zh-CN" altLang="en-US" sz="1400" b="1" dirty="0">
                <a:latin typeface="Times New Roman" panose="02020603050405020304" pitchFamily="18" charset="0"/>
                <a:ea typeface="宋体" panose="02010600030101010101" pitchFamily="2" charset="-122"/>
              </a:endParaRPr>
            </a:p>
          </p:txBody>
        </p:sp>
      </p:grpSp>
      <p:grpSp>
        <p:nvGrpSpPr>
          <p:cNvPr id="6" name="Group 39"/>
          <p:cNvGrpSpPr/>
          <p:nvPr/>
        </p:nvGrpSpPr>
        <p:grpSpPr>
          <a:xfrm>
            <a:off x="2320925" y="909638"/>
            <a:ext cx="6443663" cy="5761037"/>
            <a:chOff x="851" y="346"/>
            <a:chExt cx="4059" cy="3629"/>
          </a:xfrm>
        </p:grpSpPr>
        <p:sp>
          <p:nvSpPr>
            <p:cNvPr id="54464" name="Rectangle 40"/>
            <p:cNvSpPr/>
            <p:nvPr/>
          </p:nvSpPr>
          <p:spPr>
            <a:xfrm>
              <a:off x="3182" y="3784"/>
              <a:ext cx="576"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SPSR_und</a:t>
              </a:r>
              <a:endParaRPr lang="en-US" altLang="zh-CN" sz="1400" dirty="0">
                <a:latin typeface="Times New Roman" panose="02020603050405020304" pitchFamily="18" charset="0"/>
                <a:ea typeface="宋体" panose="02010600030101010101" pitchFamily="2" charset="-122"/>
              </a:endParaRPr>
            </a:p>
          </p:txBody>
        </p:sp>
        <p:sp>
          <p:nvSpPr>
            <p:cNvPr id="54465" name="Rectangle 41"/>
            <p:cNvSpPr/>
            <p:nvPr/>
          </p:nvSpPr>
          <p:spPr>
            <a:xfrm>
              <a:off x="851" y="3593"/>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466" name="Rectangle 42"/>
            <p:cNvSpPr/>
            <p:nvPr/>
          </p:nvSpPr>
          <p:spPr>
            <a:xfrm>
              <a:off x="851" y="3402"/>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467" name="Rectangle 43"/>
            <p:cNvSpPr/>
            <p:nvPr/>
          </p:nvSpPr>
          <p:spPr>
            <a:xfrm>
              <a:off x="3182" y="3211"/>
              <a:ext cx="576"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R14_und</a:t>
              </a:r>
              <a:endParaRPr lang="en-US" altLang="zh-CN" sz="1400" dirty="0">
                <a:latin typeface="Times New Roman" panose="02020603050405020304" pitchFamily="18" charset="0"/>
                <a:ea typeface="宋体" panose="02010600030101010101" pitchFamily="2" charset="-122"/>
              </a:endParaRPr>
            </a:p>
          </p:txBody>
        </p:sp>
        <p:sp>
          <p:nvSpPr>
            <p:cNvPr id="54468" name="Rectangle 44"/>
            <p:cNvSpPr/>
            <p:nvPr/>
          </p:nvSpPr>
          <p:spPr>
            <a:xfrm>
              <a:off x="3182" y="3020"/>
              <a:ext cx="576"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R13_und</a:t>
              </a:r>
              <a:endParaRPr lang="en-US" altLang="zh-CN" sz="1400" dirty="0">
                <a:latin typeface="Times New Roman" panose="02020603050405020304" pitchFamily="18" charset="0"/>
                <a:ea typeface="宋体" panose="02010600030101010101" pitchFamily="2" charset="-122"/>
              </a:endParaRPr>
            </a:p>
          </p:txBody>
        </p:sp>
        <p:sp>
          <p:nvSpPr>
            <p:cNvPr id="54469" name="Rectangle 45"/>
            <p:cNvSpPr/>
            <p:nvPr/>
          </p:nvSpPr>
          <p:spPr>
            <a:xfrm>
              <a:off x="851" y="2829"/>
              <a:ext cx="3483"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4470" name="Rectangle 46"/>
            <p:cNvSpPr/>
            <p:nvPr/>
          </p:nvSpPr>
          <p:spPr>
            <a:xfrm>
              <a:off x="851" y="2638"/>
              <a:ext cx="3483"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4471" name="Rectangle 47"/>
            <p:cNvSpPr/>
            <p:nvPr/>
          </p:nvSpPr>
          <p:spPr>
            <a:xfrm>
              <a:off x="851" y="2447"/>
              <a:ext cx="3483"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4472" name="Rectangle 48"/>
            <p:cNvSpPr/>
            <p:nvPr/>
          </p:nvSpPr>
          <p:spPr>
            <a:xfrm>
              <a:off x="851" y="2256"/>
              <a:ext cx="3483"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4473" name="Rectangle 49"/>
            <p:cNvSpPr/>
            <p:nvPr/>
          </p:nvSpPr>
          <p:spPr>
            <a:xfrm>
              <a:off x="851" y="2065"/>
              <a:ext cx="3483"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4474" name="Rectangle 50"/>
            <p:cNvSpPr/>
            <p:nvPr/>
          </p:nvSpPr>
          <p:spPr>
            <a:xfrm>
              <a:off x="851" y="1874"/>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475" name="Rectangle 51"/>
            <p:cNvSpPr/>
            <p:nvPr/>
          </p:nvSpPr>
          <p:spPr>
            <a:xfrm>
              <a:off x="851" y="1683"/>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476" name="Rectangle 52"/>
            <p:cNvSpPr/>
            <p:nvPr/>
          </p:nvSpPr>
          <p:spPr>
            <a:xfrm>
              <a:off x="851" y="1492"/>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477" name="Rectangle 53"/>
            <p:cNvSpPr/>
            <p:nvPr/>
          </p:nvSpPr>
          <p:spPr>
            <a:xfrm>
              <a:off x="851" y="1301"/>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478" name="Rectangle 54"/>
            <p:cNvSpPr/>
            <p:nvPr/>
          </p:nvSpPr>
          <p:spPr>
            <a:xfrm>
              <a:off x="851" y="1110"/>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479" name="Rectangle 55"/>
            <p:cNvSpPr/>
            <p:nvPr/>
          </p:nvSpPr>
          <p:spPr>
            <a:xfrm>
              <a:off x="851" y="919"/>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480" name="Rectangle 56"/>
            <p:cNvSpPr/>
            <p:nvPr/>
          </p:nvSpPr>
          <p:spPr>
            <a:xfrm>
              <a:off x="851" y="728"/>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481" name="Rectangle 57"/>
            <p:cNvSpPr/>
            <p:nvPr/>
          </p:nvSpPr>
          <p:spPr>
            <a:xfrm>
              <a:off x="851" y="537"/>
              <a:ext cx="4059"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482" name="Rectangle 58"/>
            <p:cNvSpPr/>
            <p:nvPr/>
          </p:nvSpPr>
          <p:spPr>
            <a:xfrm>
              <a:off x="3182" y="346"/>
              <a:ext cx="576" cy="191"/>
            </a:xfrm>
            <a:prstGeom prst="rect">
              <a:avLst/>
            </a:prstGeom>
            <a:solidFill>
              <a:srgbClr val="00FF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solidFill>
                    <a:srgbClr val="FF0000"/>
                  </a:solidFill>
                  <a:latin typeface="Times New Roman" panose="02020603050405020304" pitchFamily="18" charset="0"/>
                  <a:ea typeface="宋体" panose="02010600030101010101" pitchFamily="2" charset="-122"/>
                </a:rPr>
                <a:t>未定义</a:t>
              </a:r>
              <a:endParaRPr lang="zh-CN" altLang="en-US" sz="1400" b="1" dirty="0">
                <a:solidFill>
                  <a:srgbClr val="FF0000"/>
                </a:solidFill>
                <a:latin typeface="Times New Roman" panose="02020603050405020304" pitchFamily="18" charset="0"/>
                <a:ea typeface="宋体" panose="02010600030101010101" pitchFamily="2" charset="-122"/>
              </a:endParaRPr>
            </a:p>
          </p:txBody>
        </p:sp>
      </p:grpSp>
      <p:grpSp>
        <p:nvGrpSpPr>
          <p:cNvPr id="7" name="Group 59"/>
          <p:cNvGrpSpPr/>
          <p:nvPr/>
        </p:nvGrpSpPr>
        <p:grpSpPr>
          <a:xfrm>
            <a:off x="2320925" y="909638"/>
            <a:ext cx="6443663" cy="5761037"/>
            <a:chOff x="851" y="346"/>
            <a:chExt cx="4059" cy="3629"/>
          </a:xfrm>
        </p:grpSpPr>
        <p:sp>
          <p:nvSpPr>
            <p:cNvPr id="54484" name="Rectangle 60"/>
            <p:cNvSpPr/>
            <p:nvPr/>
          </p:nvSpPr>
          <p:spPr>
            <a:xfrm>
              <a:off x="3758" y="3784"/>
              <a:ext cx="576"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SPSR_irq</a:t>
              </a:r>
              <a:endParaRPr lang="en-US" altLang="zh-CN" sz="1400" dirty="0">
                <a:latin typeface="Times New Roman" panose="02020603050405020304" pitchFamily="18" charset="0"/>
                <a:ea typeface="宋体" panose="02010600030101010101" pitchFamily="2" charset="-122"/>
              </a:endParaRPr>
            </a:p>
          </p:txBody>
        </p:sp>
        <p:sp>
          <p:nvSpPr>
            <p:cNvPr id="54485" name="Rectangle 61"/>
            <p:cNvSpPr/>
            <p:nvPr/>
          </p:nvSpPr>
          <p:spPr>
            <a:xfrm>
              <a:off x="851" y="3593"/>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486" name="Rectangle 62"/>
            <p:cNvSpPr/>
            <p:nvPr/>
          </p:nvSpPr>
          <p:spPr>
            <a:xfrm>
              <a:off x="851" y="3402"/>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487" name="Rectangle 63"/>
            <p:cNvSpPr/>
            <p:nvPr/>
          </p:nvSpPr>
          <p:spPr>
            <a:xfrm>
              <a:off x="3758" y="3211"/>
              <a:ext cx="576"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R14_irq</a:t>
              </a:r>
              <a:endParaRPr lang="en-US" altLang="zh-CN" sz="1400" dirty="0">
                <a:latin typeface="Times New Roman" panose="02020603050405020304" pitchFamily="18" charset="0"/>
                <a:ea typeface="宋体" panose="02010600030101010101" pitchFamily="2" charset="-122"/>
              </a:endParaRPr>
            </a:p>
          </p:txBody>
        </p:sp>
        <p:sp>
          <p:nvSpPr>
            <p:cNvPr id="54488" name="Rectangle 64"/>
            <p:cNvSpPr/>
            <p:nvPr/>
          </p:nvSpPr>
          <p:spPr>
            <a:xfrm>
              <a:off x="3758" y="3020"/>
              <a:ext cx="576"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R13_irq</a:t>
              </a:r>
              <a:endParaRPr lang="en-US" altLang="zh-CN" sz="1400" dirty="0">
                <a:latin typeface="Times New Roman" panose="02020603050405020304" pitchFamily="18" charset="0"/>
                <a:ea typeface="宋体" panose="02010600030101010101" pitchFamily="2" charset="-122"/>
              </a:endParaRPr>
            </a:p>
          </p:txBody>
        </p:sp>
        <p:sp>
          <p:nvSpPr>
            <p:cNvPr id="54489" name="Rectangle 65"/>
            <p:cNvSpPr/>
            <p:nvPr/>
          </p:nvSpPr>
          <p:spPr>
            <a:xfrm>
              <a:off x="851" y="2829"/>
              <a:ext cx="3483"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4490" name="Rectangle 66"/>
            <p:cNvSpPr/>
            <p:nvPr/>
          </p:nvSpPr>
          <p:spPr>
            <a:xfrm>
              <a:off x="851" y="2638"/>
              <a:ext cx="3483"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4491" name="Rectangle 67"/>
            <p:cNvSpPr/>
            <p:nvPr/>
          </p:nvSpPr>
          <p:spPr>
            <a:xfrm>
              <a:off x="851" y="2447"/>
              <a:ext cx="3483"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4492" name="Rectangle 68"/>
            <p:cNvSpPr/>
            <p:nvPr/>
          </p:nvSpPr>
          <p:spPr>
            <a:xfrm>
              <a:off x="851" y="2256"/>
              <a:ext cx="3483"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4493" name="Rectangle 69"/>
            <p:cNvSpPr/>
            <p:nvPr/>
          </p:nvSpPr>
          <p:spPr>
            <a:xfrm>
              <a:off x="851" y="2065"/>
              <a:ext cx="3483"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4494" name="Rectangle 70"/>
            <p:cNvSpPr/>
            <p:nvPr/>
          </p:nvSpPr>
          <p:spPr>
            <a:xfrm>
              <a:off x="851" y="1874"/>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495" name="Rectangle 71"/>
            <p:cNvSpPr/>
            <p:nvPr/>
          </p:nvSpPr>
          <p:spPr>
            <a:xfrm>
              <a:off x="851" y="1683"/>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496" name="Rectangle 72"/>
            <p:cNvSpPr/>
            <p:nvPr/>
          </p:nvSpPr>
          <p:spPr>
            <a:xfrm>
              <a:off x="851" y="1492"/>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497" name="Rectangle 73"/>
            <p:cNvSpPr/>
            <p:nvPr/>
          </p:nvSpPr>
          <p:spPr>
            <a:xfrm>
              <a:off x="851" y="1301"/>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498" name="Rectangle 74"/>
            <p:cNvSpPr/>
            <p:nvPr/>
          </p:nvSpPr>
          <p:spPr>
            <a:xfrm>
              <a:off x="851" y="1110"/>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499" name="Rectangle 75"/>
            <p:cNvSpPr/>
            <p:nvPr/>
          </p:nvSpPr>
          <p:spPr>
            <a:xfrm>
              <a:off x="851" y="919"/>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500" name="Rectangle 76"/>
            <p:cNvSpPr/>
            <p:nvPr/>
          </p:nvSpPr>
          <p:spPr>
            <a:xfrm>
              <a:off x="851" y="728"/>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501" name="Rectangle 77"/>
            <p:cNvSpPr/>
            <p:nvPr/>
          </p:nvSpPr>
          <p:spPr>
            <a:xfrm>
              <a:off x="851" y="537"/>
              <a:ext cx="4059"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502" name="Rectangle 78"/>
            <p:cNvSpPr/>
            <p:nvPr/>
          </p:nvSpPr>
          <p:spPr>
            <a:xfrm>
              <a:off x="3758" y="346"/>
              <a:ext cx="576" cy="191"/>
            </a:xfrm>
            <a:prstGeom prst="rect">
              <a:avLst/>
            </a:prstGeom>
            <a:solidFill>
              <a:srgbClr val="66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solidFill>
                    <a:srgbClr val="FF0000"/>
                  </a:solidFill>
                  <a:latin typeface="Times New Roman" panose="02020603050405020304" pitchFamily="18" charset="0"/>
                  <a:ea typeface="宋体" panose="02010600030101010101" pitchFamily="2" charset="-122"/>
                </a:rPr>
                <a:t>中断</a:t>
              </a:r>
              <a:endParaRPr lang="zh-CN" altLang="en-US" sz="1400" b="1" dirty="0">
                <a:solidFill>
                  <a:srgbClr val="FF0000"/>
                </a:solidFill>
                <a:latin typeface="Times New Roman" panose="02020603050405020304" pitchFamily="18" charset="0"/>
                <a:ea typeface="宋体" panose="02010600030101010101" pitchFamily="2" charset="-122"/>
              </a:endParaRPr>
            </a:p>
          </p:txBody>
        </p:sp>
      </p:grpSp>
      <p:grpSp>
        <p:nvGrpSpPr>
          <p:cNvPr id="8" name="Group 79"/>
          <p:cNvGrpSpPr/>
          <p:nvPr/>
        </p:nvGrpSpPr>
        <p:grpSpPr>
          <a:xfrm>
            <a:off x="2320925" y="909638"/>
            <a:ext cx="6443663" cy="5761037"/>
            <a:chOff x="851" y="346"/>
            <a:chExt cx="4059" cy="3629"/>
          </a:xfrm>
        </p:grpSpPr>
        <p:sp>
          <p:nvSpPr>
            <p:cNvPr id="54504" name="Rectangle 80"/>
            <p:cNvSpPr/>
            <p:nvPr/>
          </p:nvSpPr>
          <p:spPr>
            <a:xfrm>
              <a:off x="4334" y="3784"/>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SPSR_fiq</a:t>
              </a:r>
              <a:endParaRPr lang="en-US" altLang="zh-CN" sz="1400" dirty="0">
                <a:latin typeface="Times New Roman" panose="02020603050405020304" pitchFamily="18" charset="0"/>
                <a:ea typeface="宋体" panose="02010600030101010101" pitchFamily="2" charset="-122"/>
              </a:endParaRPr>
            </a:p>
          </p:txBody>
        </p:sp>
        <p:sp>
          <p:nvSpPr>
            <p:cNvPr id="54505" name="Rectangle 81"/>
            <p:cNvSpPr/>
            <p:nvPr/>
          </p:nvSpPr>
          <p:spPr>
            <a:xfrm>
              <a:off x="851" y="3593"/>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CPSR</a:t>
              </a:r>
              <a:endParaRPr lang="en-US" altLang="zh-CN" sz="1400" dirty="0">
                <a:latin typeface="Times New Roman" panose="02020603050405020304" pitchFamily="18" charset="0"/>
                <a:ea typeface="宋体" panose="02010600030101010101" pitchFamily="2" charset="-122"/>
              </a:endParaRPr>
            </a:p>
          </p:txBody>
        </p:sp>
        <p:sp>
          <p:nvSpPr>
            <p:cNvPr id="54506" name="Rectangle 82"/>
            <p:cNvSpPr/>
            <p:nvPr/>
          </p:nvSpPr>
          <p:spPr>
            <a:xfrm>
              <a:off x="851" y="3402"/>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R15</a:t>
              </a:r>
              <a:endParaRPr lang="en-US" altLang="zh-CN" sz="1400" dirty="0">
                <a:latin typeface="Times New Roman" panose="02020603050405020304" pitchFamily="18" charset="0"/>
                <a:ea typeface="宋体" panose="02010600030101010101" pitchFamily="2" charset="-122"/>
              </a:endParaRPr>
            </a:p>
          </p:txBody>
        </p:sp>
        <p:sp>
          <p:nvSpPr>
            <p:cNvPr id="54507" name="Rectangle 83"/>
            <p:cNvSpPr/>
            <p:nvPr/>
          </p:nvSpPr>
          <p:spPr>
            <a:xfrm>
              <a:off x="4334" y="3211"/>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R14_fiq</a:t>
              </a:r>
              <a:endParaRPr lang="en-US" altLang="zh-CN" sz="1400" dirty="0">
                <a:latin typeface="Times New Roman" panose="02020603050405020304" pitchFamily="18" charset="0"/>
                <a:ea typeface="宋体" panose="02010600030101010101" pitchFamily="2" charset="-122"/>
              </a:endParaRPr>
            </a:p>
          </p:txBody>
        </p:sp>
        <p:sp>
          <p:nvSpPr>
            <p:cNvPr id="54508" name="Rectangle 84"/>
            <p:cNvSpPr/>
            <p:nvPr/>
          </p:nvSpPr>
          <p:spPr>
            <a:xfrm>
              <a:off x="4334" y="3020"/>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R13_fiq</a:t>
              </a:r>
              <a:endParaRPr lang="en-US" altLang="zh-CN" sz="1400" dirty="0">
                <a:latin typeface="Times New Roman" panose="02020603050405020304" pitchFamily="18" charset="0"/>
                <a:ea typeface="宋体" panose="02010600030101010101" pitchFamily="2" charset="-122"/>
              </a:endParaRPr>
            </a:p>
          </p:txBody>
        </p:sp>
        <p:sp>
          <p:nvSpPr>
            <p:cNvPr id="54509" name="Rectangle 85"/>
            <p:cNvSpPr/>
            <p:nvPr/>
          </p:nvSpPr>
          <p:spPr>
            <a:xfrm>
              <a:off x="4334" y="2829"/>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R12_fiq</a:t>
              </a:r>
              <a:endParaRPr lang="en-US" altLang="zh-CN" sz="1400" dirty="0">
                <a:latin typeface="Times New Roman" panose="02020603050405020304" pitchFamily="18" charset="0"/>
                <a:ea typeface="宋体" panose="02010600030101010101" pitchFamily="2" charset="-122"/>
              </a:endParaRPr>
            </a:p>
          </p:txBody>
        </p:sp>
        <p:sp>
          <p:nvSpPr>
            <p:cNvPr id="54510" name="Rectangle 86"/>
            <p:cNvSpPr/>
            <p:nvPr/>
          </p:nvSpPr>
          <p:spPr>
            <a:xfrm>
              <a:off x="4334" y="2638"/>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R11_fiq</a:t>
              </a:r>
              <a:endParaRPr lang="en-US" altLang="zh-CN" sz="1400" dirty="0">
                <a:latin typeface="Times New Roman" panose="02020603050405020304" pitchFamily="18" charset="0"/>
                <a:ea typeface="宋体" panose="02010600030101010101" pitchFamily="2" charset="-122"/>
              </a:endParaRPr>
            </a:p>
          </p:txBody>
        </p:sp>
        <p:sp>
          <p:nvSpPr>
            <p:cNvPr id="54511" name="Rectangle 87"/>
            <p:cNvSpPr/>
            <p:nvPr/>
          </p:nvSpPr>
          <p:spPr>
            <a:xfrm>
              <a:off x="4334" y="2447"/>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R10_fiq</a:t>
              </a:r>
              <a:endParaRPr lang="en-US" altLang="zh-CN" sz="1400" dirty="0">
                <a:latin typeface="Times New Roman" panose="02020603050405020304" pitchFamily="18" charset="0"/>
                <a:ea typeface="宋体" panose="02010600030101010101" pitchFamily="2" charset="-122"/>
              </a:endParaRPr>
            </a:p>
          </p:txBody>
        </p:sp>
        <p:sp>
          <p:nvSpPr>
            <p:cNvPr id="54512" name="Rectangle 88"/>
            <p:cNvSpPr/>
            <p:nvPr/>
          </p:nvSpPr>
          <p:spPr>
            <a:xfrm>
              <a:off x="4334" y="2256"/>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R9_fiq</a:t>
              </a:r>
              <a:endParaRPr lang="en-US" altLang="zh-CN" sz="1400" dirty="0">
                <a:latin typeface="Times New Roman" panose="02020603050405020304" pitchFamily="18" charset="0"/>
                <a:ea typeface="宋体" panose="02010600030101010101" pitchFamily="2" charset="-122"/>
              </a:endParaRPr>
            </a:p>
          </p:txBody>
        </p:sp>
        <p:sp>
          <p:nvSpPr>
            <p:cNvPr id="54513" name="Rectangle 89"/>
            <p:cNvSpPr/>
            <p:nvPr/>
          </p:nvSpPr>
          <p:spPr>
            <a:xfrm>
              <a:off x="4334" y="2065"/>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R8_fiq</a:t>
              </a:r>
              <a:endParaRPr lang="en-US" altLang="zh-CN" sz="1400" dirty="0">
                <a:latin typeface="Times New Roman" panose="02020603050405020304" pitchFamily="18" charset="0"/>
                <a:ea typeface="宋体" panose="02010600030101010101" pitchFamily="2" charset="-122"/>
              </a:endParaRPr>
            </a:p>
          </p:txBody>
        </p:sp>
        <p:sp>
          <p:nvSpPr>
            <p:cNvPr id="54514" name="Rectangle 90"/>
            <p:cNvSpPr/>
            <p:nvPr/>
          </p:nvSpPr>
          <p:spPr>
            <a:xfrm>
              <a:off x="851" y="1874"/>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4515" name="Rectangle 91"/>
            <p:cNvSpPr/>
            <p:nvPr/>
          </p:nvSpPr>
          <p:spPr>
            <a:xfrm>
              <a:off x="851" y="1683"/>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4516" name="Rectangle 92"/>
            <p:cNvSpPr/>
            <p:nvPr/>
          </p:nvSpPr>
          <p:spPr>
            <a:xfrm>
              <a:off x="851" y="1492"/>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4517" name="Rectangle 93"/>
            <p:cNvSpPr/>
            <p:nvPr/>
          </p:nvSpPr>
          <p:spPr>
            <a:xfrm>
              <a:off x="851" y="1301"/>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4518" name="Rectangle 94"/>
            <p:cNvSpPr/>
            <p:nvPr/>
          </p:nvSpPr>
          <p:spPr>
            <a:xfrm>
              <a:off x="851" y="1110"/>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4519" name="Rectangle 95"/>
            <p:cNvSpPr/>
            <p:nvPr/>
          </p:nvSpPr>
          <p:spPr>
            <a:xfrm>
              <a:off x="851" y="919"/>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4520" name="Rectangle 96"/>
            <p:cNvSpPr/>
            <p:nvPr/>
          </p:nvSpPr>
          <p:spPr>
            <a:xfrm>
              <a:off x="851" y="728"/>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4521" name="Rectangle 97"/>
            <p:cNvSpPr/>
            <p:nvPr/>
          </p:nvSpPr>
          <p:spPr>
            <a:xfrm>
              <a:off x="851" y="537"/>
              <a:ext cx="4059"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4522" name="Rectangle 98"/>
            <p:cNvSpPr/>
            <p:nvPr/>
          </p:nvSpPr>
          <p:spPr>
            <a:xfrm>
              <a:off x="4334" y="346"/>
              <a:ext cx="576" cy="191"/>
            </a:xfrm>
            <a:prstGeom prst="rect">
              <a:avLst/>
            </a:prstGeom>
            <a:solidFill>
              <a:srgbClr val="CC99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zh-CN" altLang="en-US" sz="1400" b="1" dirty="0">
                  <a:solidFill>
                    <a:srgbClr val="FF0000"/>
                  </a:solidFill>
                  <a:latin typeface="Times New Roman" panose="02020603050405020304" pitchFamily="18" charset="0"/>
                  <a:ea typeface="宋体" panose="02010600030101010101" pitchFamily="2" charset="-122"/>
                </a:rPr>
                <a:t>快中断</a:t>
              </a:r>
              <a:endParaRPr lang="zh-CN" altLang="en-US" sz="1400" b="1" dirty="0">
                <a:solidFill>
                  <a:srgbClr val="FF0000"/>
                </a:solidFill>
                <a:latin typeface="Times New Roman" panose="02020603050405020304" pitchFamily="18" charset="0"/>
                <a:ea typeface="宋体" panose="02010600030101010101" pitchFamily="2" charset="-122"/>
              </a:endParaRPr>
            </a:p>
          </p:txBody>
        </p:sp>
      </p:grpSp>
      <p:sp>
        <p:nvSpPr>
          <p:cNvPr id="67683" name="Text Box 99"/>
          <p:cNvSpPr txBox="1"/>
          <p:nvPr/>
        </p:nvSpPr>
        <p:spPr>
          <a:xfrm>
            <a:off x="1981200" y="152400"/>
            <a:ext cx="5562600" cy="457200"/>
          </a:xfrm>
          <a:prstGeom prst="rect">
            <a:avLst/>
          </a:prstGeom>
          <a:noFill/>
          <a:ln w="9525">
            <a:noFill/>
          </a:ln>
        </p:spPr>
        <p:txBody>
          <a:bodyPr anchor="t" anchorCtr="0">
            <a:spAutoFit/>
          </a:bodyPr>
          <a:p>
            <a:pPr algn="ctr">
              <a:spcBef>
                <a:spcPct val="50000"/>
              </a:spcBef>
              <a:buClrTx/>
              <a:buFontTx/>
            </a:pP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状态各模式下可以访问的寄存器</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7683"/>
                                        </p:tgtEl>
                                        <p:attrNameLst>
                                          <p:attrName>style.visibility</p:attrName>
                                        </p:attrNameLst>
                                      </p:cBhvr>
                                      <p:to>
                                        <p:strVal val="visible"/>
                                      </p:to>
                                    </p:set>
                                    <p:anim calcmode="lin" valueType="num">
                                      <p:cBhvr additive="base">
                                        <p:cTn id="7" dur="500" fill="hold"/>
                                        <p:tgtEl>
                                          <p:spTgt spid="67683"/>
                                        </p:tgtEl>
                                        <p:attrNameLst>
                                          <p:attrName>ppt_x</p:attrName>
                                        </p:attrNameLst>
                                      </p:cBhvr>
                                      <p:tavLst>
                                        <p:tav tm="0">
                                          <p:val>
                                            <p:strVal val="1+#ppt_w/2"/>
                                          </p:val>
                                        </p:tav>
                                        <p:tav tm="100000">
                                          <p:val>
                                            <p:strVal val="#ppt_x"/>
                                          </p:val>
                                        </p:tav>
                                      </p:tavLst>
                                    </p:anim>
                                    <p:anim calcmode="lin" valueType="num">
                                      <p:cBhvr additive="base">
                                        <p:cTn id="8" dur="500" fill="hold"/>
                                        <p:tgtEl>
                                          <p:spTgt spid="676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5538" name="Group 2"/>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65648"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一般的通用寄存器</a:t>
            </a:r>
            <a:endParaRPr lang="zh-CN" altLang="en-US" sz="2400" dirty="0">
              <a:latin typeface="华文新魏" panose="02010800040101010101" pitchFamily="2" charset="-122"/>
              <a:ea typeface="华文新魏" panose="02010800040101010101" pitchFamily="2" charset="-122"/>
            </a:endParaRPr>
          </a:p>
        </p:txBody>
      </p:sp>
      <p:grpSp>
        <p:nvGrpSpPr>
          <p:cNvPr id="2" name="Group 350"/>
          <p:cNvGrpSpPr/>
          <p:nvPr/>
        </p:nvGrpSpPr>
        <p:grpSpPr>
          <a:xfrm>
            <a:off x="2316163" y="1216025"/>
            <a:ext cx="6443662" cy="4244975"/>
            <a:chOff x="1440" y="768"/>
            <a:chExt cx="4059" cy="2674"/>
          </a:xfrm>
        </p:grpSpPr>
        <p:sp>
          <p:nvSpPr>
            <p:cNvPr id="55409" name="Rectangle 249"/>
            <p:cNvSpPr/>
            <p:nvPr/>
          </p:nvSpPr>
          <p:spPr>
            <a:xfrm>
              <a:off x="4923"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R13_fiq</a:t>
              </a:r>
              <a:endParaRPr lang="en-US" altLang="zh-CN" sz="1400" dirty="0">
                <a:latin typeface="Times New Roman" panose="02020603050405020304" pitchFamily="18" charset="0"/>
                <a:ea typeface="宋体" panose="02010600030101010101" pitchFamily="2" charset="-122"/>
              </a:endParaRPr>
            </a:p>
          </p:txBody>
        </p:sp>
        <p:sp>
          <p:nvSpPr>
            <p:cNvPr id="55410" name="Rectangle 248"/>
            <p:cNvSpPr/>
            <p:nvPr/>
          </p:nvSpPr>
          <p:spPr>
            <a:xfrm>
              <a:off x="4347"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R13_irq</a:t>
              </a:r>
              <a:endParaRPr lang="en-US" altLang="zh-CN" sz="1400" dirty="0">
                <a:latin typeface="Times New Roman" panose="02020603050405020304" pitchFamily="18" charset="0"/>
                <a:ea typeface="宋体" panose="02010600030101010101" pitchFamily="2" charset="-122"/>
              </a:endParaRPr>
            </a:p>
          </p:txBody>
        </p:sp>
        <p:sp>
          <p:nvSpPr>
            <p:cNvPr id="55411" name="Rectangle 247"/>
            <p:cNvSpPr/>
            <p:nvPr/>
          </p:nvSpPr>
          <p:spPr>
            <a:xfrm>
              <a:off x="3771"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R13_und</a:t>
              </a:r>
              <a:endParaRPr lang="en-US" altLang="zh-CN" sz="1400" dirty="0">
                <a:latin typeface="Times New Roman" panose="02020603050405020304" pitchFamily="18" charset="0"/>
                <a:ea typeface="宋体" panose="02010600030101010101" pitchFamily="2" charset="-122"/>
              </a:endParaRPr>
            </a:p>
          </p:txBody>
        </p:sp>
        <p:sp>
          <p:nvSpPr>
            <p:cNvPr id="55412" name="Rectangle 246"/>
            <p:cNvSpPr/>
            <p:nvPr/>
          </p:nvSpPr>
          <p:spPr>
            <a:xfrm>
              <a:off x="3195"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R13_abt</a:t>
              </a:r>
              <a:endParaRPr lang="en-US" altLang="zh-CN" sz="1400" dirty="0">
                <a:latin typeface="Times New Roman" panose="02020603050405020304" pitchFamily="18" charset="0"/>
                <a:ea typeface="宋体" panose="02010600030101010101" pitchFamily="2" charset="-122"/>
              </a:endParaRPr>
            </a:p>
          </p:txBody>
        </p:sp>
        <p:sp>
          <p:nvSpPr>
            <p:cNvPr id="55413" name="Rectangle 245"/>
            <p:cNvSpPr/>
            <p:nvPr/>
          </p:nvSpPr>
          <p:spPr>
            <a:xfrm>
              <a:off x="2619"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R13_svc</a:t>
              </a:r>
              <a:endParaRPr lang="en-US" altLang="zh-CN" sz="1400" dirty="0">
                <a:latin typeface="Times New Roman" panose="02020603050405020304" pitchFamily="18" charset="0"/>
                <a:ea typeface="宋体" panose="02010600030101010101" pitchFamily="2" charset="-122"/>
              </a:endParaRPr>
            </a:p>
          </p:txBody>
        </p:sp>
        <p:sp>
          <p:nvSpPr>
            <p:cNvPr id="55414" name="Rectangle 243"/>
            <p:cNvSpPr/>
            <p:nvPr/>
          </p:nvSpPr>
          <p:spPr>
            <a:xfrm>
              <a:off x="1440" y="3251"/>
              <a:ext cx="117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5415" name="Rectangle 242"/>
            <p:cNvSpPr/>
            <p:nvPr/>
          </p:nvSpPr>
          <p:spPr>
            <a:xfrm>
              <a:off x="4923" y="3060"/>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R12_fiq</a:t>
              </a:r>
              <a:endParaRPr lang="en-US" altLang="zh-CN" sz="1400" dirty="0">
                <a:latin typeface="Times New Roman" panose="02020603050405020304" pitchFamily="18" charset="0"/>
                <a:ea typeface="宋体" panose="02010600030101010101" pitchFamily="2" charset="-122"/>
              </a:endParaRPr>
            </a:p>
          </p:txBody>
        </p:sp>
        <p:sp>
          <p:nvSpPr>
            <p:cNvPr id="55416" name="Rectangle 236"/>
            <p:cNvSpPr/>
            <p:nvPr/>
          </p:nvSpPr>
          <p:spPr>
            <a:xfrm>
              <a:off x="1440" y="3060"/>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5417" name="Rectangle 235"/>
            <p:cNvSpPr/>
            <p:nvPr/>
          </p:nvSpPr>
          <p:spPr>
            <a:xfrm>
              <a:off x="4923" y="2869"/>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R11_fiq</a:t>
              </a:r>
              <a:endParaRPr lang="en-US" altLang="zh-CN" sz="1400" dirty="0">
                <a:latin typeface="Times New Roman" panose="02020603050405020304" pitchFamily="18" charset="0"/>
                <a:ea typeface="宋体" panose="02010600030101010101" pitchFamily="2" charset="-122"/>
              </a:endParaRPr>
            </a:p>
          </p:txBody>
        </p:sp>
        <p:sp>
          <p:nvSpPr>
            <p:cNvPr id="55418" name="Rectangle 229"/>
            <p:cNvSpPr/>
            <p:nvPr/>
          </p:nvSpPr>
          <p:spPr>
            <a:xfrm>
              <a:off x="1440" y="2869"/>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5419" name="Rectangle 228"/>
            <p:cNvSpPr/>
            <p:nvPr/>
          </p:nvSpPr>
          <p:spPr>
            <a:xfrm>
              <a:off x="4923" y="2678"/>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R10_fiq</a:t>
              </a:r>
              <a:endParaRPr lang="en-US" altLang="zh-CN" sz="1400" dirty="0">
                <a:latin typeface="Times New Roman" panose="02020603050405020304" pitchFamily="18" charset="0"/>
                <a:ea typeface="宋体" panose="02010600030101010101" pitchFamily="2" charset="-122"/>
              </a:endParaRPr>
            </a:p>
          </p:txBody>
        </p:sp>
        <p:sp>
          <p:nvSpPr>
            <p:cNvPr id="55420" name="Rectangle 222"/>
            <p:cNvSpPr/>
            <p:nvPr/>
          </p:nvSpPr>
          <p:spPr>
            <a:xfrm>
              <a:off x="1440" y="2678"/>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5421" name="Rectangle 221"/>
            <p:cNvSpPr/>
            <p:nvPr/>
          </p:nvSpPr>
          <p:spPr>
            <a:xfrm>
              <a:off x="4923" y="2487"/>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R9_fiq</a:t>
              </a:r>
              <a:endParaRPr lang="en-US" altLang="zh-CN" sz="1400" dirty="0">
                <a:latin typeface="Times New Roman" panose="02020603050405020304" pitchFamily="18" charset="0"/>
                <a:ea typeface="宋体" panose="02010600030101010101" pitchFamily="2" charset="-122"/>
              </a:endParaRPr>
            </a:p>
          </p:txBody>
        </p:sp>
        <p:sp>
          <p:nvSpPr>
            <p:cNvPr id="55422" name="Rectangle 215"/>
            <p:cNvSpPr/>
            <p:nvPr/>
          </p:nvSpPr>
          <p:spPr>
            <a:xfrm>
              <a:off x="1440" y="2487"/>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5423" name="Rectangle 214"/>
            <p:cNvSpPr/>
            <p:nvPr/>
          </p:nvSpPr>
          <p:spPr>
            <a:xfrm>
              <a:off x="4923" y="2296"/>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R8_fiq</a:t>
              </a:r>
              <a:endParaRPr lang="en-US" altLang="zh-CN" sz="1400" dirty="0">
                <a:latin typeface="Times New Roman" panose="02020603050405020304" pitchFamily="18" charset="0"/>
                <a:ea typeface="宋体" panose="02010600030101010101" pitchFamily="2" charset="-122"/>
              </a:endParaRPr>
            </a:p>
          </p:txBody>
        </p:sp>
        <p:sp>
          <p:nvSpPr>
            <p:cNvPr id="55424" name="Rectangle 208"/>
            <p:cNvSpPr/>
            <p:nvPr/>
          </p:nvSpPr>
          <p:spPr>
            <a:xfrm>
              <a:off x="1440" y="2296"/>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5425" name="Rectangle 201"/>
            <p:cNvSpPr/>
            <p:nvPr/>
          </p:nvSpPr>
          <p:spPr>
            <a:xfrm>
              <a:off x="1440" y="2105"/>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5426" name="Rectangle 194"/>
            <p:cNvSpPr/>
            <p:nvPr/>
          </p:nvSpPr>
          <p:spPr>
            <a:xfrm>
              <a:off x="1440" y="1914"/>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5427" name="Rectangle 187"/>
            <p:cNvSpPr/>
            <p:nvPr/>
          </p:nvSpPr>
          <p:spPr>
            <a:xfrm>
              <a:off x="1440" y="1723"/>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5428" name="Rectangle 180"/>
            <p:cNvSpPr/>
            <p:nvPr/>
          </p:nvSpPr>
          <p:spPr>
            <a:xfrm>
              <a:off x="1440" y="1532"/>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5429" name="Rectangle 173"/>
            <p:cNvSpPr/>
            <p:nvPr/>
          </p:nvSpPr>
          <p:spPr>
            <a:xfrm>
              <a:off x="1440" y="1341"/>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5430" name="Rectangle 166"/>
            <p:cNvSpPr/>
            <p:nvPr/>
          </p:nvSpPr>
          <p:spPr>
            <a:xfrm>
              <a:off x="1440" y="1150"/>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5431" name="Rectangle 159"/>
            <p:cNvSpPr/>
            <p:nvPr/>
          </p:nvSpPr>
          <p:spPr>
            <a:xfrm>
              <a:off x="1440" y="959"/>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5432" name="Rectangle 152"/>
            <p:cNvSpPr/>
            <p:nvPr/>
          </p:nvSpPr>
          <p:spPr>
            <a:xfrm>
              <a:off x="1440" y="768"/>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5433" name="Line 250"/>
            <p:cNvSpPr/>
            <p:nvPr/>
          </p:nvSpPr>
          <p:spPr>
            <a:xfrm>
              <a:off x="1440" y="768"/>
              <a:ext cx="4059" cy="0"/>
            </a:xfrm>
            <a:prstGeom prst="line">
              <a:avLst/>
            </a:prstGeom>
            <a:ln w="28575" cap="sq" cmpd="sng">
              <a:solidFill>
                <a:schemeClr val="tx1"/>
              </a:solidFill>
              <a:prstDash val="solid"/>
              <a:round/>
              <a:headEnd type="none" w="med" len="med"/>
              <a:tailEnd type="none" w="med" len="med"/>
            </a:ln>
          </p:spPr>
        </p:sp>
        <p:sp>
          <p:nvSpPr>
            <p:cNvPr id="55434" name="Line 251"/>
            <p:cNvSpPr/>
            <p:nvPr/>
          </p:nvSpPr>
          <p:spPr>
            <a:xfrm>
              <a:off x="1440" y="959"/>
              <a:ext cx="4059" cy="0"/>
            </a:xfrm>
            <a:prstGeom prst="line">
              <a:avLst/>
            </a:prstGeom>
            <a:ln w="12700" cap="flat" cmpd="sng">
              <a:solidFill>
                <a:schemeClr val="tx1"/>
              </a:solidFill>
              <a:prstDash val="solid"/>
              <a:round/>
              <a:headEnd type="none" w="med" len="med"/>
              <a:tailEnd type="none" w="med" len="med"/>
            </a:ln>
          </p:spPr>
        </p:sp>
        <p:sp>
          <p:nvSpPr>
            <p:cNvPr id="55435" name="Line 252"/>
            <p:cNvSpPr/>
            <p:nvPr/>
          </p:nvSpPr>
          <p:spPr>
            <a:xfrm>
              <a:off x="1440" y="1150"/>
              <a:ext cx="4059" cy="0"/>
            </a:xfrm>
            <a:prstGeom prst="line">
              <a:avLst/>
            </a:prstGeom>
            <a:ln w="12700" cap="flat" cmpd="sng">
              <a:solidFill>
                <a:schemeClr val="tx1"/>
              </a:solidFill>
              <a:prstDash val="solid"/>
              <a:round/>
              <a:headEnd type="none" w="med" len="med"/>
              <a:tailEnd type="none" w="med" len="med"/>
            </a:ln>
          </p:spPr>
        </p:sp>
        <p:sp>
          <p:nvSpPr>
            <p:cNvPr id="55436" name="Line 253"/>
            <p:cNvSpPr/>
            <p:nvPr/>
          </p:nvSpPr>
          <p:spPr>
            <a:xfrm>
              <a:off x="1440" y="1341"/>
              <a:ext cx="4059" cy="0"/>
            </a:xfrm>
            <a:prstGeom prst="line">
              <a:avLst/>
            </a:prstGeom>
            <a:ln w="12700" cap="flat" cmpd="sng">
              <a:solidFill>
                <a:schemeClr val="tx1"/>
              </a:solidFill>
              <a:prstDash val="solid"/>
              <a:round/>
              <a:headEnd type="none" w="med" len="med"/>
              <a:tailEnd type="none" w="med" len="med"/>
            </a:ln>
          </p:spPr>
        </p:sp>
        <p:sp>
          <p:nvSpPr>
            <p:cNvPr id="55437" name="Line 254"/>
            <p:cNvSpPr/>
            <p:nvPr/>
          </p:nvSpPr>
          <p:spPr>
            <a:xfrm>
              <a:off x="1440" y="1532"/>
              <a:ext cx="4059" cy="0"/>
            </a:xfrm>
            <a:prstGeom prst="line">
              <a:avLst/>
            </a:prstGeom>
            <a:ln w="12700" cap="flat" cmpd="sng">
              <a:solidFill>
                <a:schemeClr val="tx1"/>
              </a:solidFill>
              <a:prstDash val="solid"/>
              <a:round/>
              <a:headEnd type="none" w="med" len="med"/>
              <a:tailEnd type="none" w="med" len="med"/>
            </a:ln>
          </p:spPr>
        </p:sp>
        <p:sp>
          <p:nvSpPr>
            <p:cNvPr id="55438" name="Line 255"/>
            <p:cNvSpPr/>
            <p:nvPr/>
          </p:nvSpPr>
          <p:spPr>
            <a:xfrm>
              <a:off x="1440" y="1723"/>
              <a:ext cx="4059" cy="0"/>
            </a:xfrm>
            <a:prstGeom prst="line">
              <a:avLst/>
            </a:prstGeom>
            <a:ln w="12700" cap="flat" cmpd="sng">
              <a:solidFill>
                <a:schemeClr val="tx1"/>
              </a:solidFill>
              <a:prstDash val="solid"/>
              <a:round/>
              <a:headEnd type="none" w="med" len="med"/>
              <a:tailEnd type="none" w="med" len="med"/>
            </a:ln>
          </p:spPr>
        </p:sp>
        <p:sp>
          <p:nvSpPr>
            <p:cNvPr id="55439" name="Line 256"/>
            <p:cNvSpPr/>
            <p:nvPr/>
          </p:nvSpPr>
          <p:spPr>
            <a:xfrm>
              <a:off x="1440" y="1914"/>
              <a:ext cx="4059" cy="0"/>
            </a:xfrm>
            <a:prstGeom prst="line">
              <a:avLst/>
            </a:prstGeom>
            <a:ln w="12700" cap="flat" cmpd="sng">
              <a:solidFill>
                <a:schemeClr val="tx1"/>
              </a:solidFill>
              <a:prstDash val="solid"/>
              <a:round/>
              <a:headEnd type="none" w="med" len="med"/>
              <a:tailEnd type="none" w="med" len="med"/>
            </a:ln>
          </p:spPr>
        </p:sp>
        <p:sp>
          <p:nvSpPr>
            <p:cNvPr id="55440" name="Line 257"/>
            <p:cNvSpPr/>
            <p:nvPr/>
          </p:nvSpPr>
          <p:spPr>
            <a:xfrm>
              <a:off x="1440" y="2105"/>
              <a:ext cx="4059" cy="0"/>
            </a:xfrm>
            <a:prstGeom prst="line">
              <a:avLst/>
            </a:prstGeom>
            <a:ln w="12700" cap="flat" cmpd="sng">
              <a:solidFill>
                <a:schemeClr val="tx1"/>
              </a:solidFill>
              <a:prstDash val="solid"/>
              <a:round/>
              <a:headEnd type="none" w="med" len="med"/>
              <a:tailEnd type="none" w="med" len="med"/>
            </a:ln>
          </p:spPr>
        </p:sp>
        <p:sp>
          <p:nvSpPr>
            <p:cNvPr id="55441" name="Line 258"/>
            <p:cNvSpPr/>
            <p:nvPr/>
          </p:nvSpPr>
          <p:spPr>
            <a:xfrm>
              <a:off x="1440" y="2296"/>
              <a:ext cx="4059" cy="0"/>
            </a:xfrm>
            <a:prstGeom prst="line">
              <a:avLst/>
            </a:prstGeom>
            <a:ln w="12700" cap="flat" cmpd="sng">
              <a:solidFill>
                <a:schemeClr val="tx1"/>
              </a:solidFill>
              <a:prstDash val="solid"/>
              <a:round/>
              <a:headEnd type="none" w="med" len="med"/>
              <a:tailEnd type="none" w="med" len="med"/>
            </a:ln>
          </p:spPr>
        </p:sp>
        <p:sp>
          <p:nvSpPr>
            <p:cNvPr id="55442" name="Line 259"/>
            <p:cNvSpPr/>
            <p:nvPr/>
          </p:nvSpPr>
          <p:spPr>
            <a:xfrm>
              <a:off x="1440" y="2487"/>
              <a:ext cx="4059" cy="0"/>
            </a:xfrm>
            <a:prstGeom prst="line">
              <a:avLst/>
            </a:prstGeom>
            <a:ln w="12700" cap="flat" cmpd="sng">
              <a:solidFill>
                <a:schemeClr val="tx1"/>
              </a:solidFill>
              <a:prstDash val="solid"/>
              <a:round/>
              <a:headEnd type="none" w="med" len="med"/>
              <a:tailEnd type="none" w="med" len="med"/>
            </a:ln>
          </p:spPr>
        </p:sp>
        <p:sp>
          <p:nvSpPr>
            <p:cNvPr id="55443" name="Line 260"/>
            <p:cNvSpPr/>
            <p:nvPr/>
          </p:nvSpPr>
          <p:spPr>
            <a:xfrm>
              <a:off x="1440" y="2678"/>
              <a:ext cx="4059" cy="0"/>
            </a:xfrm>
            <a:prstGeom prst="line">
              <a:avLst/>
            </a:prstGeom>
            <a:ln w="12700" cap="flat" cmpd="sng">
              <a:solidFill>
                <a:schemeClr val="tx1"/>
              </a:solidFill>
              <a:prstDash val="solid"/>
              <a:round/>
              <a:headEnd type="none" w="med" len="med"/>
              <a:tailEnd type="none" w="med" len="med"/>
            </a:ln>
          </p:spPr>
        </p:sp>
        <p:sp>
          <p:nvSpPr>
            <p:cNvPr id="55444" name="Line 261"/>
            <p:cNvSpPr/>
            <p:nvPr/>
          </p:nvSpPr>
          <p:spPr>
            <a:xfrm>
              <a:off x="1440" y="2869"/>
              <a:ext cx="4059" cy="0"/>
            </a:xfrm>
            <a:prstGeom prst="line">
              <a:avLst/>
            </a:prstGeom>
            <a:ln w="12700" cap="flat" cmpd="sng">
              <a:solidFill>
                <a:schemeClr val="tx1"/>
              </a:solidFill>
              <a:prstDash val="solid"/>
              <a:round/>
              <a:headEnd type="none" w="med" len="med"/>
              <a:tailEnd type="none" w="med" len="med"/>
            </a:ln>
          </p:spPr>
        </p:sp>
        <p:sp>
          <p:nvSpPr>
            <p:cNvPr id="55445" name="Line 262"/>
            <p:cNvSpPr/>
            <p:nvPr/>
          </p:nvSpPr>
          <p:spPr>
            <a:xfrm>
              <a:off x="1440" y="3060"/>
              <a:ext cx="4059" cy="0"/>
            </a:xfrm>
            <a:prstGeom prst="line">
              <a:avLst/>
            </a:prstGeom>
            <a:ln w="12700" cap="flat" cmpd="sng">
              <a:solidFill>
                <a:schemeClr val="tx1"/>
              </a:solidFill>
              <a:prstDash val="solid"/>
              <a:round/>
              <a:headEnd type="none" w="med" len="med"/>
              <a:tailEnd type="none" w="med" len="med"/>
            </a:ln>
          </p:spPr>
        </p:sp>
        <p:sp>
          <p:nvSpPr>
            <p:cNvPr id="55446" name="Line 263"/>
            <p:cNvSpPr/>
            <p:nvPr/>
          </p:nvSpPr>
          <p:spPr>
            <a:xfrm>
              <a:off x="1440" y="3251"/>
              <a:ext cx="4059" cy="0"/>
            </a:xfrm>
            <a:prstGeom prst="line">
              <a:avLst/>
            </a:prstGeom>
            <a:ln w="12700" cap="flat" cmpd="sng">
              <a:solidFill>
                <a:schemeClr val="tx1"/>
              </a:solidFill>
              <a:prstDash val="solid"/>
              <a:round/>
              <a:headEnd type="none" w="med" len="med"/>
              <a:tailEnd type="none" w="med" len="med"/>
            </a:ln>
          </p:spPr>
        </p:sp>
        <p:sp>
          <p:nvSpPr>
            <p:cNvPr id="55447" name="Line 264"/>
            <p:cNvSpPr/>
            <p:nvPr/>
          </p:nvSpPr>
          <p:spPr>
            <a:xfrm>
              <a:off x="1440" y="3442"/>
              <a:ext cx="4059" cy="0"/>
            </a:xfrm>
            <a:prstGeom prst="line">
              <a:avLst/>
            </a:prstGeom>
            <a:ln w="28575" cap="sq" cmpd="sng">
              <a:solidFill>
                <a:schemeClr val="tx1"/>
              </a:solidFill>
              <a:prstDash val="solid"/>
              <a:round/>
              <a:headEnd type="none" w="med" len="med"/>
              <a:tailEnd type="none" w="med" len="med"/>
            </a:ln>
          </p:spPr>
        </p:sp>
        <p:sp>
          <p:nvSpPr>
            <p:cNvPr id="55448" name="Line 265"/>
            <p:cNvSpPr/>
            <p:nvPr/>
          </p:nvSpPr>
          <p:spPr>
            <a:xfrm>
              <a:off x="1440" y="768"/>
              <a:ext cx="0" cy="2674"/>
            </a:xfrm>
            <a:prstGeom prst="line">
              <a:avLst/>
            </a:prstGeom>
            <a:ln w="28575" cap="sq" cmpd="sng">
              <a:solidFill>
                <a:schemeClr val="tx1"/>
              </a:solidFill>
              <a:prstDash val="solid"/>
              <a:round/>
              <a:headEnd type="none" w="med" len="med"/>
              <a:tailEnd type="none" w="med" len="med"/>
            </a:ln>
          </p:spPr>
        </p:sp>
        <p:sp>
          <p:nvSpPr>
            <p:cNvPr id="55449" name="Line 272"/>
            <p:cNvSpPr/>
            <p:nvPr/>
          </p:nvSpPr>
          <p:spPr>
            <a:xfrm>
              <a:off x="5499" y="768"/>
              <a:ext cx="0" cy="2674"/>
            </a:xfrm>
            <a:prstGeom prst="line">
              <a:avLst/>
            </a:prstGeom>
            <a:ln w="28575" cap="sq" cmpd="sng">
              <a:solidFill>
                <a:schemeClr val="tx1"/>
              </a:solidFill>
              <a:prstDash val="solid"/>
              <a:round/>
              <a:headEnd type="none" w="med" len="med"/>
              <a:tailEnd type="none" w="med" len="med"/>
            </a:ln>
          </p:spPr>
        </p:sp>
        <p:sp>
          <p:nvSpPr>
            <p:cNvPr id="55450" name="Line 321"/>
            <p:cNvSpPr/>
            <p:nvPr/>
          </p:nvSpPr>
          <p:spPr>
            <a:xfrm>
              <a:off x="4923" y="2296"/>
              <a:ext cx="0" cy="1146"/>
            </a:xfrm>
            <a:prstGeom prst="line">
              <a:avLst/>
            </a:prstGeom>
            <a:ln w="12700" cap="flat" cmpd="sng">
              <a:solidFill>
                <a:schemeClr val="tx1"/>
              </a:solidFill>
              <a:prstDash val="solid"/>
              <a:round/>
              <a:headEnd type="none" w="med" len="med"/>
              <a:tailEnd type="none" w="med" len="med"/>
            </a:ln>
          </p:spPr>
        </p:sp>
        <p:sp>
          <p:nvSpPr>
            <p:cNvPr id="55451" name="Line 343"/>
            <p:cNvSpPr/>
            <p:nvPr/>
          </p:nvSpPr>
          <p:spPr>
            <a:xfrm>
              <a:off x="2619" y="3251"/>
              <a:ext cx="0" cy="191"/>
            </a:xfrm>
            <a:prstGeom prst="line">
              <a:avLst/>
            </a:prstGeom>
            <a:ln w="12700" cap="flat" cmpd="sng">
              <a:solidFill>
                <a:schemeClr val="tx1"/>
              </a:solidFill>
              <a:prstDash val="solid"/>
              <a:round/>
              <a:headEnd type="none" w="med" len="med"/>
              <a:tailEnd type="none" w="med" len="med"/>
            </a:ln>
          </p:spPr>
        </p:sp>
        <p:sp>
          <p:nvSpPr>
            <p:cNvPr id="55452" name="Line 344"/>
            <p:cNvSpPr/>
            <p:nvPr/>
          </p:nvSpPr>
          <p:spPr>
            <a:xfrm>
              <a:off x="3195" y="3251"/>
              <a:ext cx="0" cy="191"/>
            </a:xfrm>
            <a:prstGeom prst="line">
              <a:avLst/>
            </a:prstGeom>
            <a:ln w="12700" cap="flat" cmpd="sng">
              <a:solidFill>
                <a:schemeClr val="tx1"/>
              </a:solidFill>
              <a:prstDash val="solid"/>
              <a:round/>
              <a:headEnd type="none" w="med" len="med"/>
              <a:tailEnd type="none" w="med" len="med"/>
            </a:ln>
          </p:spPr>
        </p:sp>
        <p:sp>
          <p:nvSpPr>
            <p:cNvPr id="55453" name="Line 345"/>
            <p:cNvSpPr/>
            <p:nvPr/>
          </p:nvSpPr>
          <p:spPr>
            <a:xfrm>
              <a:off x="3771" y="3251"/>
              <a:ext cx="0" cy="191"/>
            </a:xfrm>
            <a:prstGeom prst="line">
              <a:avLst/>
            </a:prstGeom>
            <a:ln w="12700" cap="flat" cmpd="sng">
              <a:solidFill>
                <a:schemeClr val="tx1"/>
              </a:solidFill>
              <a:prstDash val="solid"/>
              <a:round/>
              <a:headEnd type="none" w="med" len="med"/>
              <a:tailEnd type="none" w="med" len="med"/>
            </a:ln>
          </p:spPr>
        </p:sp>
        <p:sp>
          <p:nvSpPr>
            <p:cNvPr id="55454" name="Line 346"/>
            <p:cNvSpPr/>
            <p:nvPr/>
          </p:nvSpPr>
          <p:spPr>
            <a:xfrm>
              <a:off x="4347" y="3251"/>
              <a:ext cx="0" cy="191"/>
            </a:xfrm>
            <a:prstGeom prst="line">
              <a:avLst/>
            </a:prstGeom>
            <a:ln w="12700" cap="flat" cmpd="sng">
              <a:solidFill>
                <a:schemeClr val="tx1"/>
              </a:solidFill>
              <a:prstDash val="solid"/>
              <a:round/>
              <a:headEnd type="none" w="med" len="med"/>
              <a:tailEnd type="none" w="med" len="med"/>
            </a:ln>
          </p:spPr>
        </p:sp>
      </p:grpSp>
      <p:sp>
        <p:nvSpPr>
          <p:cNvPr id="65685" name="AutoShape 149"/>
          <p:cNvSpPr/>
          <p:nvPr/>
        </p:nvSpPr>
        <p:spPr>
          <a:xfrm>
            <a:off x="685800" y="1828800"/>
            <a:ext cx="3581400" cy="32004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在汇编语言中寄存器</a:t>
            </a:r>
            <a:r>
              <a:rPr lang="en-US" altLang="zh-CN" sz="2400" dirty="0">
                <a:latin typeface="华文新魏" panose="02010800040101010101" pitchFamily="2" charset="-122"/>
                <a:ea typeface="华文新魏" panose="02010800040101010101" pitchFamily="2" charset="-122"/>
              </a:rPr>
              <a:t>R0</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为保存数据或地址值的</a:t>
            </a:r>
            <a:r>
              <a:rPr lang="zh-CN" altLang="en-US" sz="2400" dirty="0">
                <a:solidFill>
                  <a:srgbClr val="FF0000"/>
                </a:solidFill>
                <a:latin typeface="华文新魏" panose="02010800040101010101" pitchFamily="2" charset="-122"/>
                <a:ea typeface="华文新魏" panose="02010800040101010101" pitchFamily="2" charset="-122"/>
              </a:rPr>
              <a:t>通用寄存器</a:t>
            </a:r>
            <a:r>
              <a:rPr lang="zh-CN" altLang="en-US" sz="2400" dirty="0">
                <a:latin typeface="华文新魏" panose="02010800040101010101" pitchFamily="2" charset="-122"/>
                <a:ea typeface="华文新魏" panose="02010800040101010101" pitchFamily="2" charset="-122"/>
              </a:rPr>
              <a:t>。它们是完全通用的寄存器，不会被体系结构作为特殊用途，并且可用于任何使用通用寄存器的指令。</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5648"/>
                                        </p:tgtEl>
                                        <p:attrNameLst>
                                          <p:attrName>style.visibility</p:attrName>
                                        </p:attrNameLst>
                                      </p:cBhvr>
                                      <p:to>
                                        <p:strVal val="visible"/>
                                      </p:to>
                                    </p:set>
                                    <p:anim calcmode="lin" valueType="num">
                                      <p:cBhvr additive="base">
                                        <p:cTn id="7" dur="500" fill="hold"/>
                                        <p:tgtEl>
                                          <p:spTgt spid="65648"/>
                                        </p:tgtEl>
                                        <p:attrNameLst>
                                          <p:attrName>ppt_x</p:attrName>
                                        </p:attrNameLst>
                                      </p:cBhvr>
                                      <p:tavLst>
                                        <p:tav tm="0">
                                          <p:val>
                                            <p:strVal val="1+#ppt_w/2"/>
                                          </p:val>
                                        </p:tav>
                                        <p:tav tm="100000">
                                          <p:val>
                                            <p:strVal val="#ppt_x"/>
                                          </p:val>
                                        </p:tav>
                                      </p:tavLst>
                                    </p:anim>
                                    <p:anim calcmode="lin" valueType="num">
                                      <p:cBhvr additive="base">
                                        <p:cTn id="8" dur="500" fill="hold"/>
                                        <p:tgtEl>
                                          <p:spTgt spid="6564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65685"/>
                                        </p:tgtEl>
                                        <p:attrNameLst>
                                          <p:attrName>style.visibility</p:attrName>
                                        </p:attrNameLst>
                                      </p:cBhvr>
                                      <p:to>
                                        <p:strVal val="visible"/>
                                      </p:to>
                                    </p:set>
                                    <p:anim calcmode="lin" valueType="num">
                                      <p:cBhvr additive="base">
                                        <p:cTn id="16" dur="500" fill="hold"/>
                                        <p:tgtEl>
                                          <p:spTgt spid="65685"/>
                                        </p:tgtEl>
                                        <p:attrNameLst>
                                          <p:attrName>ppt_x</p:attrName>
                                        </p:attrNameLst>
                                      </p:cBhvr>
                                      <p:tavLst>
                                        <p:tav tm="0">
                                          <p:val>
                                            <p:strVal val="0-#ppt_w/2"/>
                                          </p:val>
                                        </p:tav>
                                        <p:tav tm="100000">
                                          <p:val>
                                            <p:strVal val="#ppt_x"/>
                                          </p:val>
                                        </p:tav>
                                      </p:tavLst>
                                    </p:anim>
                                    <p:anim calcmode="lin" valueType="num">
                                      <p:cBhvr additive="base">
                                        <p:cTn id="17" dur="500" fill="hold"/>
                                        <p:tgtEl>
                                          <p:spTgt spid="656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48" grpId="0"/>
      <p:bldP spid="6568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8610" name="Group 2"/>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56431"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一般的通用寄存器</a:t>
            </a:r>
            <a:endParaRPr lang="zh-CN" altLang="en-US" sz="2400" dirty="0">
              <a:latin typeface="华文新魏" panose="02010800040101010101" pitchFamily="2" charset="-122"/>
              <a:ea typeface="华文新魏" panose="02010800040101010101" pitchFamily="2" charset="-122"/>
            </a:endParaRPr>
          </a:p>
        </p:txBody>
      </p:sp>
      <p:grpSp>
        <p:nvGrpSpPr>
          <p:cNvPr id="56432" name="Group 113"/>
          <p:cNvGrpSpPr/>
          <p:nvPr/>
        </p:nvGrpSpPr>
        <p:grpSpPr>
          <a:xfrm>
            <a:off x="2316163" y="1216025"/>
            <a:ext cx="6443662" cy="4244975"/>
            <a:chOff x="1440" y="768"/>
            <a:chExt cx="4059" cy="2674"/>
          </a:xfrm>
        </p:grpSpPr>
        <p:sp>
          <p:nvSpPr>
            <p:cNvPr id="56433" name="Rectangle 114"/>
            <p:cNvSpPr/>
            <p:nvPr/>
          </p:nvSpPr>
          <p:spPr>
            <a:xfrm>
              <a:off x="4923"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R13_fiq</a:t>
              </a:r>
              <a:endParaRPr lang="en-US" altLang="zh-CN" sz="1400" dirty="0">
                <a:latin typeface="Times New Roman" panose="02020603050405020304" pitchFamily="18" charset="0"/>
                <a:ea typeface="宋体" panose="02010600030101010101" pitchFamily="2" charset="-122"/>
              </a:endParaRPr>
            </a:p>
          </p:txBody>
        </p:sp>
        <p:sp>
          <p:nvSpPr>
            <p:cNvPr id="56434" name="Rectangle 115"/>
            <p:cNvSpPr/>
            <p:nvPr/>
          </p:nvSpPr>
          <p:spPr>
            <a:xfrm>
              <a:off x="4347"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R13_irq</a:t>
              </a:r>
              <a:endParaRPr lang="en-US" altLang="zh-CN" sz="1400" dirty="0">
                <a:latin typeface="Times New Roman" panose="02020603050405020304" pitchFamily="18" charset="0"/>
                <a:ea typeface="宋体" panose="02010600030101010101" pitchFamily="2" charset="-122"/>
              </a:endParaRPr>
            </a:p>
          </p:txBody>
        </p:sp>
        <p:sp>
          <p:nvSpPr>
            <p:cNvPr id="56435" name="Rectangle 116"/>
            <p:cNvSpPr/>
            <p:nvPr/>
          </p:nvSpPr>
          <p:spPr>
            <a:xfrm>
              <a:off x="3771"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R13_und</a:t>
              </a:r>
              <a:endParaRPr lang="en-US" altLang="zh-CN" sz="1400" dirty="0">
                <a:latin typeface="Times New Roman" panose="02020603050405020304" pitchFamily="18" charset="0"/>
                <a:ea typeface="宋体" panose="02010600030101010101" pitchFamily="2" charset="-122"/>
              </a:endParaRPr>
            </a:p>
          </p:txBody>
        </p:sp>
        <p:sp>
          <p:nvSpPr>
            <p:cNvPr id="56436" name="Rectangle 117"/>
            <p:cNvSpPr/>
            <p:nvPr/>
          </p:nvSpPr>
          <p:spPr>
            <a:xfrm>
              <a:off x="3195"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R13_abt</a:t>
              </a:r>
              <a:endParaRPr lang="en-US" altLang="zh-CN" sz="1400" dirty="0">
                <a:latin typeface="Times New Roman" panose="02020603050405020304" pitchFamily="18" charset="0"/>
                <a:ea typeface="宋体" panose="02010600030101010101" pitchFamily="2" charset="-122"/>
              </a:endParaRPr>
            </a:p>
          </p:txBody>
        </p:sp>
        <p:sp>
          <p:nvSpPr>
            <p:cNvPr id="56437" name="Rectangle 118"/>
            <p:cNvSpPr/>
            <p:nvPr/>
          </p:nvSpPr>
          <p:spPr>
            <a:xfrm>
              <a:off x="2619" y="3251"/>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R13_svc</a:t>
              </a:r>
              <a:endParaRPr lang="en-US" altLang="zh-CN" sz="1400" dirty="0">
                <a:latin typeface="Times New Roman" panose="02020603050405020304" pitchFamily="18" charset="0"/>
                <a:ea typeface="宋体" panose="02010600030101010101" pitchFamily="2" charset="-122"/>
              </a:endParaRPr>
            </a:p>
          </p:txBody>
        </p:sp>
        <p:sp>
          <p:nvSpPr>
            <p:cNvPr id="56438" name="Rectangle 119"/>
            <p:cNvSpPr/>
            <p:nvPr/>
          </p:nvSpPr>
          <p:spPr>
            <a:xfrm>
              <a:off x="1440" y="3251"/>
              <a:ext cx="117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6439" name="Rectangle 120"/>
            <p:cNvSpPr/>
            <p:nvPr/>
          </p:nvSpPr>
          <p:spPr>
            <a:xfrm>
              <a:off x="4923" y="3060"/>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R12_fiq</a:t>
              </a:r>
              <a:endParaRPr lang="en-US" altLang="zh-CN" sz="1400" dirty="0">
                <a:latin typeface="Times New Roman" panose="02020603050405020304" pitchFamily="18" charset="0"/>
                <a:ea typeface="宋体" panose="02010600030101010101" pitchFamily="2" charset="-122"/>
              </a:endParaRPr>
            </a:p>
          </p:txBody>
        </p:sp>
        <p:sp>
          <p:nvSpPr>
            <p:cNvPr id="56440" name="Rectangle 121"/>
            <p:cNvSpPr/>
            <p:nvPr/>
          </p:nvSpPr>
          <p:spPr>
            <a:xfrm>
              <a:off x="1440" y="3060"/>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6441" name="Rectangle 122"/>
            <p:cNvSpPr/>
            <p:nvPr/>
          </p:nvSpPr>
          <p:spPr>
            <a:xfrm>
              <a:off x="4923" y="2869"/>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R11_fiq</a:t>
              </a:r>
              <a:endParaRPr lang="en-US" altLang="zh-CN" sz="1400" dirty="0">
                <a:latin typeface="Times New Roman" panose="02020603050405020304" pitchFamily="18" charset="0"/>
                <a:ea typeface="宋体" panose="02010600030101010101" pitchFamily="2" charset="-122"/>
              </a:endParaRPr>
            </a:p>
          </p:txBody>
        </p:sp>
        <p:sp>
          <p:nvSpPr>
            <p:cNvPr id="56442" name="Rectangle 123"/>
            <p:cNvSpPr/>
            <p:nvPr/>
          </p:nvSpPr>
          <p:spPr>
            <a:xfrm>
              <a:off x="1440" y="2869"/>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6443" name="Rectangle 124"/>
            <p:cNvSpPr/>
            <p:nvPr/>
          </p:nvSpPr>
          <p:spPr>
            <a:xfrm>
              <a:off x="4923" y="2678"/>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R10_fiq</a:t>
              </a:r>
              <a:endParaRPr lang="en-US" altLang="zh-CN" sz="1400" dirty="0">
                <a:latin typeface="Times New Roman" panose="02020603050405020304" pitchFamily="18" charset="0"/>
                <a:ea typeface="宋体" panose="02010600030101010101" pitchFamily="2" charset="-122"/>
              </a:endParaRPr>
            </a:p>
          </p:txBody>
        </p:sp>
        <p:sp>
          <p:nvSpPr>
            <p:cNvPr id="56444" name="Rectangle 125"/>
            <p:cNvSpPr/>
            <p:nvPr/>
          </p:nvSpPr>
          <p:spPr>
            <a:xfrm>
              <a:off x="1440" y="2678"/>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6445" name="Rectangle 126"/>
            <p:cNvSpPr/>
            <p:nvPr/>
          </p:nvSpPr>
          <p:spPr>
            <a:xfrm>
              <a:off x="4923" y="2487"/>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R9_fiq</a:t>
              </a:r>
              <a:endParaRPr lang="en-US" altLang="zh-CN" sz="1400" dirty="0">
                <a:latin typeface="Times New Roman" panose="02020603050405020304" pitchFamily="18" charset="0"/>
                <a:ea typeface="宋体" panose="02010600030101010101" pitchFamily="2" charset="-122"/>
              </a:endParaRPr>
            </a:p>
          </p:txBody>
        </p:sp>
        <p:sp>
          <p:nvSpPr>
            <p:cNvPr id="56446" name="Rectangle 127"/>
            <p:cNvSpPr/>
            <p:nvPr/>
          </p:nvSpPr>
          <p:spPr>
            <a:xfrm>
              <a:off x="1440" y="2487"/>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6447" name="Rectangle 128"/>
            <p:cNvSpPr/>
            <p:nvPr/>
          </p:nvSpPr>
          <p:spPr>
            <a:xfrm>
              <a:off x="4923" y="2296"/>
              <a:ext cx="576"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R8_fiq</a:t>
              </a:r>
              <a:endParaRPr lang="en-US" altLang="zh-CN" sz="1400" dirty="0">
                <a:latin typeface="Times New Roman" panose="02020603050405020304" pitchFamily="18" charset="0"/>
                <a:ea typeface="宋体" panose="02010600030101010101" pitchFamily="2" charset="-122"/>
              </a:endParaRPr>
            </a:p>
          </p:txBody>
        </p:sp>
        <p:sp>
          <p:nvSpPr>
            <p:cNvPr id="56448" name="Rectangle 129"/>
            <p:cNvSpPr/>
            <p:nvPr/>
          </p:nvSpPr>
          <p:spPr>
            <a:xfrm>
              <a:off x="1440" y="2296"/>
              <a:ext cx="3483"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6449" name="Rectangle 130"/>
            <p:cNvSpPr/>
            <p:nvPr/>
          </p:nvSpPr>
          <p:spPr>
            <a:xfrm>
              <a:off x="1440" y="2105"/>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6450" name="Rectangle 131"/>
            <p:cNvSpPr/>
            <p:nvPr/>
          </p:nvSpPr>
          <p:spPr>
            <a:xfrm>
              <a:off x="1440" y="1914"/>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6451" name="Rectangle 132"/>
            <p:cNvSpPr/>
            <p:nvPr/>
          </p:nvSpPr>
          <p:spPr>
            <a:xfrm>
              <a:off x="1440" y="1723"/>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6452" name="Rectangle 133"/>
            <p:cNvSpPr/>
            <p:nvPr/>
          </p:nvSpPr>
          <p:spPr>
            <a:xfrm>
              <a:off x="1440" y="1532"/>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6453" name="Rectangle 134"/>
            <p:cNvSpPr/>
            <p:nvPr/>
          </p:nvSpPr>
          <p:spPr>
            <a:xfrm>
              <a:off x="1440" y="1341"/>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6454" name="Rectangle 135"/>
            <p:cNvSpPr/>
            <p:nvPr/>
          </p:nvSpPr>
          <p:spPr>
            <a:xfrm>
              <a:off x="1440" y="1150"/>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6455" name="Rectangle 136"/>
            <p:cNvSpPr/>
            <p:nvPr/>
          </p:nvSpPr>
          <p:spPr>
            <a:xfrm>
              <a:off x="1440" y="959"/>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6456" name="Rectangle 137"/>
            <p:cNvSpPr/>
            <p:nvPr/>
          </p:nvSpPr>
          <p:spPr>
            <a:xfrm>
              <a:off x="1440" y="768"/>
              <a:ext cx="4059" cy="191"/>
            </a:xfrm>
            <a:prstGeom prst="rect">
              <a:avLst/>
            </a:prstGeom>
            <a:solidFill>
              <a:schemeClr val="hlink"/>
            </a:solidFill>
            <a:ln w="9525">
              <a:noFill/>
            </a:ln>
          </p:spPr>
          <p:txBody>
            <a:bodyPr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sp>
          <p:nvSpPr>
            <p:cNvPr id="56457" name="Line 138"/>
            <p:cNvSpPr/>
            <p:nvPr/>
          </p:nvSpPr>
          <p:spPr>
            <a:xfrm>
              <a:off x="1440" y="768"/>
              <a:ext cx="4059" cy="0"/>
            </a:xfrm>
            <a:prstGeom prst="line">
              <a:avLst/>
            </a:prstGeom>
            <a:ln w="28575" cap="sq" cmpd="sng">
              <a:solidFill>
                <a:schemeClr val="tx1"/>
              </a:solidFill>
              <a:prstDash val="solid"/>
              <a:round/>
              <a:headEnd type="none" w="med" len="med"/>
              <a:tailEnd type="none" w="med" len="med"/>
            </a:ln>
          </p:spPr>
        </p:sp>
        <p:sp>
          <p:nvSpPr>
            <p:cNvPr id="56458" name="Line 139"/>
            <p:cNvSpPr/>
            <p:nvPr/>
          </p:nvSpPr>
          <p:spPr>
            <a:xfrm>
              <a:off x="1440" y="959"/>
              <a:ext cx="4059" cy="0"/>
            </a:xfrm>
            <a:prstGeom prst="line">
              <a:avLst/>
            </a:prstGeom>
            <a:ln w="12700" cap="flat" cmpd="sng">
              <a:solidFill>
                <a:schemeClr val="tx1"/>
              </a:solidFill>
              <a:prstDash val="solid"/>
              <a:round/>
              <a:headEnd type="none" w="med" len="med"/>
              <a:tailEnd type="none" w="med" len="med"/>
            </a:ln>
          </p:spPr>
        </p:sp>
        <p:sp>
          <p:nvSpPr>
            <p:cNvPr id="56459" name="Line 140"/>
            <p:cNvSpPr/>
            <p:nvPr/>
          </p:nvSpPr>
          <p:spPr>
            <a:xfrm>
              <a:off x="1440" y="1150"/>
              <a:ext cx="4059" cy="0"/>
            </a:xfrm>
            <a:prstGeom prst="line">
              <a:avLst/>
            </a:prstGeom>
            <a:ln w="12700" cap="flat" cmpd="sng">
              <a:solidFill>
                <a:schemeClr val="tx1"/>
              </a:solidFill>
              <a:prstDash val="solid"/>
              <a:round/>
              <a:headEnd type="none" w="med" len="med"/>
              <a:tailEnd type="none" w="med" len="med"/>
            </a:ln>
          </p:spPr>
        </p:sp>
        <p:sp>
          <p:nvSpPr>
            <p:cNvPr id="56460" name="Line 141"/>
            <p:cNvSpPr/>
            <p:nvPr/>
          </p:nvSpPr>
          <p:spPr>
            <a:xfrm>
              <a:off x="1440" y="1341"/>
              <a:ext cx="4059" cy="0"/>
            </a:xfrm>
            <a:prstGeom prst="line">
              <a:avLst/>
            </a:prstGeom>
            <a:ln w="12700" cap="flat" cmpd="sng">
              <a:solidFill>
                <a:schemeClr val="tx1"/>
              </a:solidFill>
              <a:prstDash val="solid"/>
              <a:round/>
              <a:headEnd type="none" w="med" len="med"/>
              <a:tailEnd type="none" w="med" len="med"/>
            </a:ln>
          </p:spPr>
        </p:sp>
        <p:sp>
          <p:nvSpPr>
            <p:cNvPr id="56461" name="Line 142"/>
            <p:cNvSpPr/>
            <p:nvPr/>
          </p:nvSpPr>
          <p:spPr>
            <a:xfrm>
              <a:off x="1440" y="1532"/>
              <a:ext cx="4059" cy="0"/>
            </a:xfrm>
            <a:prstGeom prst="line">
              <a:avLst/>
            </a:prstGeom>
            <a:ln w="12700" cap="flat" cmpd="sng">
              <a:solidFill>
                <a:schemeClr val="tx1"/>
              </a:solidFill>
              <a:prstDash val="solid"/>
              <a:round/>
              <a:headEnd type="none" w="med" len="med"/>
              <a:tailEnd type="none" w="med" len="med"/>
            </a:ln>
          </p:spPr>
        </p:sp>
        <p:sp>
          <p:nvSpPr>
            <p:cNvPr id="56462" name="Line 143"/>
            <p:cNvSpPr/>
            <p:nvPr/>
          </p:nvSpPr>
          <p:spPr>
            <a:xfrm>
              <a:off x="1440" y="1723"/>
              <a:ext cx="4059" cy="0"/>
            </a:xfrm>
            <a:prstGeom prst="line">
              <a:avLst/>
            </a:prstGeom>
            <a:ln w="12700" cap="flat" cmpd="sng">
              <a:solidFill>
                <a:schemeClr val="tx1"/>
              </a:solidFill>
              <a:prstDash val="solid"/>
              <a:round/>
              <a:headEnd type="none" w="med" len="med"/>
              <a:tailEnd type="none" w="med" len="med"/>
            </a:ln>
          </p:spPr>
        </p:sp>
        <p:sp>
          <p:nvSpPr>
            <p:cNvPr id="56463" name="Line 144"/>
            <p:cNvSpPr/>
            <p:nvPr/>
          </p:nvSpPr>
          <p:spPr>
            <a:xfrm>
              <a:off x="1440" y="1914"/>
              <a:ext cx="4059" cy="0"/>
            </a:xfrm>
            <a:prstGeom prst="line">
              <a:avLst/>
            </a:prstGeom>
            <a:ln w="12700" cap="flat" cmpd="sng">
              <a:solidFill>
                <a:schemeClr val="tx1"/>
              </a:solidFill>
              <a:prstDash val="solid"/>
              <a:round/>
              <a:headEnd type="none" w="med" len="med"/>
              <a:tailEnd type="none" w="med" len="med"/>
            </a:ln>
          </p:spPr>
        </p:sp>
        <p:sp>
          <p:nvSpPr>
            <p:cNvPr id="56464" name="Line 145"/>
            <p:cNvSpPr/>
            <p:nvPr/>
          </p:nvSpPr>
          <p:spPr>
            <a:xfrm>
              <a:off x="1440" y="2105"/>
              <a:ext cx="4059" cy="0"/>
            </a:xfrm>
            <a:prstGeom prst="line">
              <a:avLst/>
            </a:prstGeom>
            <a:ln w="12700" cap="flat" cmpd="sng">
              <a:solidFill>
                <a:schemeClr val="tx1"/>
              </a:solidFill>
              <a:prstDash val="solid"/>
              <a:round/>
              <a:headEnd type="none" w="med" len="med"/>
              <a:tailEnd type="none" w="med" len="med"/>
            </a:ln>
          </p:spPr>
        </p:sp>
        <p:sp>
          <p:nvSpPr>
            <p:cNvPr id="56465" name="Line 146"/>
            <p:cNvSpPr/>
            <p:nvPr/>
          </p:nvSpPr>
          <p:spPr>
            <a:xfrm>
              <a:off x="1440" y="2296"/>
              <a:ext cx="4059" cy="0"/>
            </a:xfrm>
            <a:prstGeom prst="line">
              <a:avLst/>
            </a:prstGeom>
            <a:ln w="12700" cap="flat" cmpd="sng">
              <a:solidFill>
                <a:schemeClr val="tx1"/>
              </a:solidFill>
              <a:prstDash val="solid"/>
              <a:round/>
              <a:headEnd type="none" w="med" len="med"/>
              <a:tailEnd type="none" w="med" len="med"/>
            </a:ln>
          </p:spPr>
        </p:sp>
        <p:sp>
          <p:nvSpPr>
            <p:cNvPr id="56466" name="Line 147"/>
            <p:cNvSpPr/>
            <p:nvPr/>
          </p:nvSpPr>
          <p:spPr>
            <a:xfrm>
              <a:off x="1440" y="2487"/>
              <a:ext cx="4059" cy="0"/>
            </a:xfrm>
            <a:prstGeom prst="line">
              <a:avLst/>
            </a:prstGeom>
            <a:ln w="12700" cap="flat" cmpd="sng">
              <a:solidFill>
                <a:schemeClr val="tx1"/>
              </a:solidFill>
              <a:prstDash val="solid"/>
              <a:round/>
              <a:headEnd type="none" w="med" len="med"/>
              <a:tailEnd type="none" w="med" len="med"/>
            </a:ln>
          </p:spPr>
        </p:sp>
        <p:sp>
          <p:nvSpPr>
            <p:cNvPr id="56467" name="Line 148"/>
            <p:cNvSpPr/>
            <p:nvPr/>
          </p:nvSpPr>
          <p:spPr>
            <a:xfrm>
              <a:off x="1440" y="2678"/>
              <a:ext cx="4059" cy="0"/>
            </a:xfrm>
            <a:prstGeom prst="line">
              <a:avLst/>
            </a:prstGeom>
            <a:ln w="12700" cap="flat" cmpd="sng">
              <a:solidFill>
                <a:schemeClr val="tx1"/>
              </a:solidFill>
              <a:prstDash val="solid"/>
              <a:round/>
              <a:headEnd type="none" w="med" len="med"/>
              <a:tailEnd type="none" w="med" len="med"/>
            </a:ln>
          </p:spPr>
        </p:sp>
        <p:sp>
          <p:nvSpPr>
            <p:cNvPr id="56468" name="Line 149"/>
            <p:cNvSpPr/>
            <p:nvPr/>
          </p:nvSpPr>
          <p:spPr>
            <a:xfrm>
              <a:off x="1440" y="2869"/>
              <a:ext cx="4059" cy="0"/>
            </a:xfrm>
            <a:prstGeom prst="line">
              <a:avLst/>
            </a:prstGeom>
            <a:ln w="12700" cap="flat" cmpd="sng">
              <a:solidFill>
                <a:schemeClr val="tx1"/>
              </a:solidFill>
              <a:prstDash val="solid"/>
              <a:round/>
              <a:headEnd type="none" w="med" len="med"/>
              <a:tailEnd type="none" w="med" len="med"/>
            </a:ln>
          </p:spPr>
        </p:sp>
        <p:sp>
          <p:nvSpPr>
            <p:cNvPr id="56469" name="Line 150"/>
            <p:cNvSpPr/>
            <p:nvPr/>
          </p:nvSpPr>
          <p:spPr>
            <a:xfrm>
              <a:off x="1440" y="3060"/>
              <a:ext cx="4059" cy="0"/>
            </a:xfrm>
            <a:prstGeom prst="line">
              <a:avLst/>
            </a:prstGeom>
            <a:ln w="12700" cap="flat" cmpd="sng">
              <a:solidFill>
                <a:schemeClr val="tx1"/>
              </a:solidFill>
              <a:prstDash val="solid"/>
              <a:round/>
              <a:headEnd type="none" w="med" len="med"/>
              <a:tailEnd type="none" w="med" len="med"/>
            </a:ln>
          </p:spPr>
        </p:sp>
        <p:sp>
          <p:nvSpPr>
            <p:cNvPr id="56470" name="Line 151"/>
            <p:cNvSpPr/>
            <p:nvPr/>
          </p:nvSpPr>
          <p:spPr>
            <a:xfrm>
              <a:off x="1440" y="3251"/>
              <a:ext cx="4059" cy="0"/>
            </a:xfrm>
            <a:prstGeom prst="line">
              <a:avLst/>
            </a:prstGeom>
            <a:ln w="12700" cap="flat" cmpd="sng">
              <a:solidFill>
                <a:schemeClr val="tx1"/>
              </a:solidFill>
              <a:prstDash val="solid"/>
              <a:round/>
              <a:headEnd type="none" w="med" len="med"/>
              <a:tailEnd type="none" w="med" len="med"/>
            </a:ln>
          </p:spPr>
        </p:sp>
        <p:sp>
          <p:nvSpPr>
            <p:cNvPr id="56471" name="Line 152"/>
            <p:cNvSpPr/>
            <p:nvPr/>
          </p:nvSpPr>
          <p:spPr>
            <a:xfrm>
              <a:off x="1440" y="3442"/>
              <a:ext cx="4059" cy="0"/>
            </a:xfrm>
            <a:prstGeom prst="line">
              <a:avLst/>
            </a:prstGeom>
            <a:ln w="28575" cap="sq" cmpd="sng">
              <a:solidFill>
                <a:schemeClr val="tx1"/>
              </a:solidFill>
              <a:prstDash val="solid"/>
              <a:round/>
              <a:headEnd type="none" w="med" len="med"/>
              <a:tailEnd type="none" w="med" len="med"/>
            </a:ln>
          </p:spPr>
        </p:sp>
        <p:sp>
          <p:nvSpPr>
            <p:cNvPr id="56472" name="Line 153"/>
            <p:cNvSpPr/>
            <p:nvPr/>
          </p:nvSpPr>
          <p:spPr>
            <a:xfrm>
              <a:off x="1440" y="768"/>
              <a:ext cx="0" cy="2674"/>
            </a:xfrm>
            <a:prstGeom prst="line">
              <a:avLst/>
            </a:prstGeom>
            <a:ln w="28575" cap="sq" cmpd="sng">
              <a:solidFill>
                <a:schemeClr val="tx1"/>
              </a:solidFill>
              <a:prstDash val="solid"/>
              <a:round/>
              <a:headEnd type="none" w="med" len="med"/>
              <a:tailEnd type="none" w="med" len="med"/>
            </a:ln>
          </p:spPr>
        </p:sp>
        <p:sp>
          <p:nvSpPr>
            <p:cNvPr id="56473" name="Line 154"/>
            <p:cNvSpPr/>
            <p:nvPr/>
          </p:nvSpPr>
          <p:spPr>
            <a:xfrm>
              <a:off x="5499" y="768"/>
              <a:ext cx="0" cy="2674"/>
            </a:xfrm>
            <a:prstGeom prst="line">
              <a:avLst/>
            </a:prstGeom>
            <a:ln w="28575" cap="sq" cmpd="sng">
              <a:solidFill>
                <a:schemeClr val="tx1"/>
              </a:solidFill>
              <a:prstDash val="solid"/>
              <a:round/>
              <a:headEnd type="none" w="med" len="med"/>
              <a:tailEnd type="none" w="med" len="med"/>
            </a:ln>
          </p:spPr>
        </p:sp>
        <p:sp>
          <p:nvSpPr>
            <p:cNvPr id="56474" name="Line 155"/>
            <p:cNvSpPr/>
            <p:nvPr/>
          </p:nvSpPr>
          <p:spPr>
            <a:xfrm>
              <a:off x="4923" y="2296"/>
              <a:ext cx="0" cy="1146"/>
            </a:xfrm>
            <a:prstGeom prst="line">
              <a:avLst/>
            </a:prstGeom>
            <a:ln w="12700" cap="flat" cmpd="sng">
              <a:solidFill>
                <a:schemeClr val="tx1"/>
              </a:solidFill>
              <a:prstDash val="solid"/>
              <a:round/>
              <a:headEnd type="none" w="med" len="med"/>
              <a:tailEnd type="none" w="med" len="med"/>
            </a:ln>
          </p:spPr>
        </p:sp>
        <p:sp>
          <p:nvSpPr>
            <p:cNvPr id="56475" name="Line 156"/>
            <p:cNvSpPr/>
            <p:nvPr/>
          </p:nvSpPr>
          <p:spPr>
            <a:xfrm>
              <a:off x="2619" y="3251"/>
              <a:ext cx="0" cy="191"/>
            </a:xfrm>
            <a:prstGeom prst="line">
              <a:avLst/>
            </a:prstGeom>
            <a:ln w="12700" cap="flat" cmpd="sng">
              <a:solidFill>
                <a:schemeClr val="tx1"/>
              </a:solidFill>
              <a:prstDash val="solid"/>
              <a:round/>
              <a:headEnd type="none" w="med" len="med"/>
              <a:tailEnd type="none" w="med" len="med"/>
            </a:ln>
          </p:spPr>
        </p:sp>
        <p:sp>
          <p:nvSpPr>
            <p:cNvPr id="56476" name="Line 157"/>
            <p:cNvSpPr/>
            <p:nvPr/>
          </p:nvSpPr>
          <p:spPr>
            <a:xfrm>
              <a:off x="3195" y="3251"/>
              <a:ext cx="0" cy="191"/>
            </a:xfrm>
            <a:prstGeom prst="line">
              <a:avLst/>
            </a:prstGeom>
            <a:ln w="12700" cap="flat" cmpd="sng">
              <a:solidFill>
                <a:schemeClr val="tx1"/>
              </a:solidFill>
              <a:prstDash val="solid"/>
              <a:round/>
              <a:headEnd type="none" w="med" len="med"/>
              <a:tailEnd type="none" w="med" len="med"/>
            </a:ln>
          </p:spPr>
        </p:sp>
        <p:sp>
          <p:nvSpPr>
            <p:cNvPr id="56477" name="Line 158"/>
            <p:cNvSpPr/>
            <p:nvPr/>
          </p:nvSpPr>
          <p:spPr>
            <a:xfrm>
              <a:off x="3771" y="3251"/>
              <a:ext cx="0" cy="191"/>
            </a:xfrm>
            <a:prstGeom prst="line">
              <a:avLst/>
            </a:prstGeom>
            <a:ln w="12700" cap="flat" cmpd="sng">
              <a:solidFill>
                <a:schemeClr val="tx1"/>
              </a:solidFill>
              <a:prstDash val="solid"/>
              <a:round/>
              <a:headEnd type="none" w="med" len="med"/>
              <a:tailEnd type="none" w="med" len="med"/>
            </a:ln>
          </p:spPr>
        </p:sp>
        <p:sp>
          <p:nvSpPr>
            <p:cNvPr id="56478" name="Line 159"/>
            <p:cNvSpPr/>
            <p:nvPr/>
          </p:nvSpPr>
          <p:spPr>
            <a:xfrm>
              <a:off x="4347" y="3251"/>
              <a:ext cx="0" cy="191"/>
            </a:xfrm>
            <a:prstGeom prst="line">
              <a:avLst/>
            </a:prstGeom>
            <a:ln w="12700" cap="flat" cmpd="sng">
              <a:solidFill>
                <a:schemeClr val="tx1"/>
              </a:solidFill>
              <a:prstDash val="solid"/>
              <a:round/>
              <a:headEnd type="none" w="med" len="med"/>
              <a:tailEnd type="none" w="med" len="med"/>
            </a:ln>
          </p:spPr>
        </p:sp>
      </p:grpSp>
      <p:grpSp>
        <p:nvGrpSpPr>
          <p:cNvPr id="3" name="Group 162"/>
          <p:cNvGrpSpPr/>
          <p:nvPr/>
        </p:nvGrpSpPr>
        <p:grpSpPr>
          <a:xfrm>
            <a:off x="2316163" y="1216025"/>
            <a:ext cx="6443662" cy="2425700"/>
            <a:chOff x="1462" y="766"/>
            <a:chExt cx="4059" cy="1528"/>
          </a:xfrm>
        </p:grpSpPr>
        <p:sp>
          <p:nvSpPr>
            <p:cNvPr id="56480" name="Rectangle 163"/>
            <p:cNvSpPr/>
            <p:nvPr/>
          </p:nvSpPr>
          <p:spPr>
            <a:xfrm>
              <a:off x="1462" y="2103"/>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R7</a:t>
              </a:r>
              <a:endParaRPr lang="en-US" altLang="zh-CN" sz="1400" dirty="0">
                <a:latin typeface="Times New Roman" panose="02020603050405020304" pitchFamily="18" charset="0"/>
                <a:ea typeface="宋体" panose="02010600030101010101" pitchFamily="2" charset="-122"/>
              </a:endParaRPr>
            </a:p>
          </p:txBody>
        </p:sp>
        <p:sp>
          <p:nvSpPr>
            <p:cNvPr id="56481" name="Rectangle 164"/>
            <p:cNvSpPr/>
            <p:nvPr/>
          </p:nvSpPr>
          <p:spPr>
            <a:xfrm>
              <a:off x="1462" y="1912"/>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R6</a:t>
              </a:r>
              <a:endParaRPr lang="en-US" altLang="zh-CN" sz="1400" dirty="0">
                <a:latin typeface="Times New Roman" panose="02020603050405020304" pitchFamily="18" charset="0"/>
                <a:ea typeface="宋体" panose="02010600030101010101" pitchFamily="2" charset="-122"/>
              </a:endParaRPr>
            </a:p>
          </p:txBody>
        </p:sp>
        <p:sp>
          <p:nvSpPr>
            <p:cNvPr id="56482" name="Rectangle 165"/>
            <p:cNvSpPr/>
            <p:nvPr/>
          </p:nvSpPr>
          <p:spPr>
            <a:xfrm>
              <a:off x="1462" y="1721"/>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R5</a:t>
              </a:r>
              <a:endParaRPr lang="en-US" altLang="zh-CN" sz="1400" dirty="0">
                <a:latin typeface="Times New Roman" panose="02020603050405020304" pitchFamily="18" charset="0"/>
                <a:ea typeface="宋体" panose="02010600030101010101" pitchFamily="2" charset="-122"/>
              </a:endParaRPr>
            </a:p>
          </p:txBody>
        </p:sp>
        <p:sp>
          <p:nvSpPr>
            <p:cNvPr id="56483" name="Rectangle 166"/>
            <p:cNvSpPr/>
            <p:nvPr/>
          </p:nvSpPr>
          <p:spPr>
            <a:xfrm>
              <a:off x="1462" y="1530"/>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R4</a:t>
              </a:r>
              <a:endParaRPr lang="en-US" altLang="zh-CN" sz="1400" dirty="0">
                <a:latin typeface="Times New Roman" panose="02020603050405020304" pitchFamily="18" charset="0"/>
                <a:ea typeface="宋体" panose="02010600030101010101" pitchFamily="2" charset="-122"/>
              </a:endParaRPr>
            </a:p>
          </p:txBody>
        </p:sp>
        <p:sp>
          <p:nvSpPr>
            <p:cNvPr id="56484" name="Rectangle 167"/>
            <p:cNvSpPr/>
            <p:nvPr/>
          </p:nvSpPr>
          <p:spPr>
            <a:xfrm>
              <a:off x="1462" y="1339"/>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R3</a:t>
              </a:r>
              <a:endParaRPr lang="en-US" altLang="zh-CN" sz="1400" dirty="0">
                <a:latin typeface="Times New Roman" panose="02020603050405020304" pitchFamily="18" charset="0"/>
                <a:ea typeface="宋体" panose="02010600030101010101" pitchFamily="2" charset="-122"/>
              </a:endParaRPr>
            </a:p>
          </p:txBody>
        </p:sp>
        <p:sp>
          <p:nvSpPr>
            <p:cNvPr id="56485" name="Rectangle 168"/>
            <p:cNvSpPr/>
            <p:nvPr/>
          </p:nvSpPr>
          <p:spPr>
            <a:xfrm>
              <a:off x="1462" y="1148"/>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R2</a:t>
              </a:r>
              <a:endParaRPr lang="en-US" altLang="zh-CN" sz="1400" dirty="0">
                <a:latin typeface="Times New Roman" panose="02020603050405020304" pitchFamily="18" charset="0"/>
                <a:ea typeface="宋体" panose="02010600030101010101" pitchFamily="2" charset="-122"/>
              </a:endParaRPr>
            </a:p>
          </p:txBody>
        </p:sp>
        <p:sp>
          <p:nvSpPr>
            <p:cNvPr id="56486" name="Rectangle 169"/>
            <p:cNvSpPr/>
            <p:nvPr/>
          </p:nvSpPr>
          <p:spPr>
            <a:xfrm>
              <a:off x="1462" y="957"/>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a:t>
              </a:r>
              <a:endParaRPr lang="en-US" altLang="zh-CN" sz="1400" dirty="0">
                <a:latin typeface="Times New Roman" panose="02020603050405020304" pitchFamily="18" charset="0"/>
                <a:ea typeface="宋体" panose="02010600030101010101" pitchFamily="2" charset="-122"/>
              </a:endParaRPr>
            </a:p>
          </p:txBody>
        </p:sp>
        <p:sp>
          <p:nvSpPr>
            <p:cNvPr id="56487" name="Rectangle 170"/>
            <p:cNvSpPr/>
            <p:nvPr/>
          </p:nvSpPr>
          <p:spPr>
            <a:xfrm>
              <a:off x="1462" y="766"/>
              <a:ext cx="4059" cy="191"/>
            </a:xfrm>
            <a:prstGeom prst="rect">
              <a:avLst/>
            </a:prstGeom>
            <a:solidFill>
              <a:srgbClr val="00CCFF"/>
            </a:solidFill>
            <a:ln w="9525" cap="flat" cmpd="sng">
              <a:solidFill>
                <a:schemeClr val="tx1"/>
              </a:solidFill>
              <a:prstDash val="solid"/>
              <a:miter/>
              <a:headEnd type="none" w="med" len="med"/>
              <a:tailEnd type="none" w="med" len="med"/>
            </a:ln>
          </p:spPr>
          <p:txBody>
            <a:bodyPr lIns="0" rIns="0" anchor="ctr"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R0</a:t>
              </a:r>
              <a:endParaRPr lang="en-US" altLang="zh-CN" sz="1400" dirty="0">
                <a:latin typeface="Times New Roman" panose="02020603050405020304" pitchFamily="18" charset="0"/>
                <a:ea typeface="宋体" panose="02010600030101010101" pitchFamily="2" charset="-122"/>
              </a:endParaRPr>
            </a:p>
          </p:txBody>
        </p:sp>
      </p:grpSp>
      <p:sp>
        <p:nvSpPr>
          <p:cNvPr id="68779" name="AutoShape 171"/>
          <p:cNvSpPr/>
          <p:nvPr/>
        </p:nvSpPr>
        <p:spPr>
          <a:xfrm>
            <a:off x="609600" y="1295400"/>
            <a:ext cx="3124200" cy="25146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其中</a:t>
            </a:r>
            <a:r>
              <a:rPr lang="en-US" altLang="zh-CN" sz="2400" dirty="0">
                <a:latin typeface="华文新魏" panose="02010800040101010101" pitchFamily="2" charset="-122"/>
                <a:ea typeface="华文新魏" panose="02010800040101010101" pitchFamily="2" charset="-122"/>
              </a:rPr>
              <a:t>R0</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R7</a:t>
            </a:r>
            <a:r>
              <a:rPr lang="zh-CN" altLang="en-US" sz="2400" dirty="0">
                <a:latin typeface="华文新魏" panose="02010800040101010101" pitchFamily="2" charset="-122"/>
                <a:ea typeface="华文新魏" panose="02010800040101010101" pitchFamily="2" charset="-122"/>
              </a:rPr>
              <a:t>为</a:t>
            </a:r>
            <a:r>
              <a:rPr lang="zh-CN" altLang="en-US" sz="2400" dirty="0">
                <a:solidFill>
                  <a:srgbClr val="FF0000"/>
                </a:solidFill>
                <a:latin typeface="华文新魏" panose="02010800040101010101" pitchFamily="2" charset="-122"/>
                <a:ea typeface="华文新魏" panose="02010800040101010101" pitchFamily="2" charset="-122"/>
              </a:rPr>
              <a:t>未分组的寄存器</a:t>
            </a:r>
            <a:r>
              <a:rPr lang="zh-CN" altLang="en-US" sz="2400" dirty="0">
                <a:latin typeface="华文新魏" panose="02010800040101010101" pitchFamily="2" charset="-122"/>
                <a:ea typeface="华文新魏" panose="02010800040101010101" pitchFamily="2" charset="-122"/>
              </a:rPr>
              <a:t>，也就是说对于任何处理器模式，这些寄存器都对应于相同的</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位物理寄存器。</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8779"/>
                                        </p:tgtEl>
                                        <p:attrNameLst>
                                          <p:attrName>style.visibility</p:attrName>
                                        </p:attrNameLst>
                                      </p:cBhvr>
                                      <p:to>
                                        <p:strVal val="visible"/>
                                      </p:to>
                                    </p:set>
                                    <p:anim calcmode="lin" valueType="num">
                                      <p:cBhvr additive="base">
                                        <p:cTn id="11" dur="500" fill="hold"/>
                                        <p:tgtEl>
                                          <p:spTgt spid="68779"/>
                                        </p:tgtEl>
                                        <p:attrNameLst>
                                          <p:attrName>ppt_x</p:attrName>
                                        </p:attrNameLst>
                                      </p:cBhvr>
                                      <p:tavLst>
                                        <p:tav tm="0">
                                          <p:val>
                                            <p:strVal val="0-#ppt_w/2"/>
                                          </p:val>
                                        </p:tav>
                                        <p:tav tm="100000">
                                          <p:val>
                                            <p:strVal val="#ppt_x"/>
                                          </p:val>
                                        </p:tav>
                                      </p:tavLst>
                                    </p:anim>
                                    <p:anim calcmode="lin" valueType="num">
                                      <p:cBhvr additive="base">
                                        <p:cTn id="12" dur="500" fill="hold"/>
                                        <p:tgtEl>
                                          <p:spTgt spid="687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7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9634" name="Group 2"/>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57455"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一般的通用寄存器</a:t>
            </a:r>
            <a:endParaRPr lang="zh-CN" altLang="en-US" sz="2400" dirty="0">
              <a:latin typeface="华文新魏" panose="02010800040101010101" pitchFamily="2" charset="-122"/>
              <a:ea typeface="华文新魏" panose="02010800040101010101" pitchFamily="2" charset="-122"/>
            </a:endParaRPr>
          </a:p>
        </p:txBody>
      </p:sp>
      <p:grpSp>
        <p:nvGrpSpPr>
          <p:cNvPr id="2" name="Group 266"/>
          <p:cNvGrpSpPr/>
          <p:nvPr/>
        </p:nvGrpSpPr>
        <p:grpSpPr>
          <a:xfrm>
            <a:off x="2316163" y="3636963"/>
            <a:ext cx="6443662" cy="2122487"/>
            <a:chOff x="1440" y="2304"/>
            <a:chExt cx="4059" cy="1337"/>
          </a:xfrm>
        </p:grpSpPr>
        <p:sp>
          <p:nvSpPr>
            <p:cNvPr id="57457" name="Rectangle 220"/>
            <p:cNvSpPr/>
            <p:nvPr/>
          </p:nvSpPr>
          <p:spPr>
            <a:xfrm>
              <a:off x="4923" y="3450"/>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R14_fiq</a:t>
              </a:r>
              <a:endParaRPr lang="en-US" altLang="zh-CN" sz="1400" dirty="0">
                <a:latin typeface="Times New Roman" panose="02020603050405020304" pitchFamily="18" charset="0"/>
                <a:ea typeface="宋体" panose="02010600030101010101" pitchFamily="2" charset="-122"/>
              </a:endParaRPr>
            </a:p>
          </p:txBody>
        </p:sp>
        <p:sp>
          <p:nvSpPr>
            <p:cNvPr id="57458" name="Rectangle 219"/>
            <p:cNvSpPr/>
            <p:nvPr/>
          </p:nvSpPr>
          <p:spPr>
            <a:xfrm>
              <a:off x="4347" y="3450"/>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R14_irq</a:t>
              </a:r>
              <a:endParaRPr lang="en-US" altLang="zh-CN" sz="1400" dirty="0">
                <a:latin typeface="Times New Roman" panose="02020603050405020304" pitchFamily="18" charset="0"/>
                <a:ea typeface="宋体" panose="02010600030101010101" pitchFamily="2" charset="-122"/>
              </a:endParaRPr>
            </a:p>
          </p:txBody>
        </p:sp>
        <p:sp>
          <p:nvSpPr>
            <p:cNvPr id="57459" name="Rectangle 218"/>
            <p:cNvSpPr/>
            <p:nvPr/>
          </p:nvSpPr>
          <p:spPr>
            <a:xfrm>
              <a:off x="3771" y="3450"/>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R14_und</a:t>
              </a:r>
              <a:endParaRPr lang="en-US" altLang="zh-CN" sz="1400" dirty="0">
                <a:latin typeface="Times New Roman" panose="02020603050405020304" pitchFamily="18" charset="0"/>
                <a:ea typeface="宋体" panose="02010600030101010101" pitchFamily="2" charset="-122"/>
              </a:endParaRPr>
            </a:p>
          </p:txBody>
        </p:sp>
        <p:sp>
          <p:nvSpPr>
            <p:cNvPr id="57460" name="Rectangle 217"/>
            <p:cNvSpPr/>
            <p:nvPr/>
          </p:nvSpPr>
          <p:spPr>
            <a:xfrm>
              <a:off x="3195" y="3450"/>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R14_abt</a:t>
              </a:r>
              <a:endParaRPr lang="en-US" altLang="zh-CN" sz="1400" dirty="0">
                <a:latin typeface="Times New Roman" panose="02020603050405020304" pitchFamily="18" charset="0"/>
                <a:ea typeface="宋体" panose="02010600030101010101" pitchFamily="2" charset="-122"/>
              </a:endParaRPr>
            </a:p>
          </p:txBody>
        </p:sp>
        <p:sp>
          <p:nvSpPr>
            <p:cNvPr id="57461" name="Rectangle 216"/>
            <p:cNvSpPr/>
            <p:nvPr/>
          </p:nvSpPr>
          <p:spPr>
            <a:xfrm>
              <a:off x="2619" y="3450"/>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R14_svc</a:t>
              </a:r>
              <a:endParaRPr lang="en-US" altLang="zh-CN" sz="1400" dirty="0">
                <a:latin typeface="Times New Roman" panose="02020603050405020304" pitchFamily="18" charset="0"/>
                <a:ea typeface="宋体" panose="02010600030101010101" pitchFamily="2" charset="-122"/>
              </a:endParaRPr>
            </a:p>
          </p:txBody>
        </p:sp>
        <p:sp>
          <p:nvSpPr>
            <p:cNvPr id="57462" name="Rectangle 214"/>
            <p:cNvSpPr/>
            <p:nvPr/>
          </p:nvSpPr>
          <p:spPr>
            <a:xfrm>
              <a:off x="1440" y="3450"/>
              <a:ext cx="1179"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a:t>
              </a:r>
              <a:endParaRPr lang="en-US" altLang="zh-CN" sz="1400" dirty="0">
                <a:latin typeface="Times New Roman" panose="02020603050405020304" pitchFamily="18" charset="0"/>
                <a:ea typeface="宋体" panose="02010600030101010101" pitchFamily="2" charset="-122"/>
              </a:endParaRPr>
            </a:p>
          </p:txBody>
        </p:sp>
        <p:sp>
          <p:nvSpPr>
            <p:cNvPr id="57463" name="Rectangle 213"/>
            <p:cNvSpPr/>
            <p:nvPr/>
          </p:nvSpPr>
          <p:spPr>
            <a:xfrm>
              <a:off x="4923" y="3259"/>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R13_fiq</a:t>
              </a:r>
              <a:endParaRPr lang="en-US" altLang="zh-CN" sz="1400" dirty="0">
                <a:latin typeface="Times New Roman" panose="02020603050405020304" pitchFamily="18" charset="0"/>
                <a:ea typeface="宋体" panose="02010600030101010101" pitchFamily="2" charset="-122"/>
              </a:endParaRPr>
            </a:p>
          </p:txBody>
        </p:sp>
        <p:sp>
          <p:nvSpPr>
            <p:cNvPr id="57464" name="Rectangle 212"/>
            <p:cNvSpPr/>
            <p:nvPr/>
          </p:nvSpPr>
          <p:spPr>
            <a:xfrm>
              <a:off x="4347" y="3259"/>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R13_irq</a:t>
              </a:r>
              <a:endParaRPr lang="en-US" altLang="zh-CN" sz="1400" dirty="0">
                <a:latin typeface="Times New Roman" panose="02020603050405020304" pitchFamily="18" charset="0"/>
                <a:ea typeface="宋体" panose="02010600030101010101" pitchFamily="2" charset="-122"/>
              </a:endParaRPr>
            </a:p>
          </p:txBody>
        </p:sp>
        <p:sp>
          <p:nvSpPr>
            <p:cNvPr id="57465" name="Rectangle 211"/>
            <p:cNvSpPr/>
            <p:nvPr/>
          </p:nvSpPr>
          <p:spPr>
            <a:xfrm>
              <a:off x="3771" y="3259"/>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R13_und</a:t>
              </a:r>
              <a:endParaRPr lang="en-US" altLang="zh-CN" sz="1400" dirty="0">
                <a:latin typeface="Times New Roman" panose="02020603050405020304" pitchFamily="18" charset="0"/>
                <a:ea typeface="宋体" panose="02010600030101010101" pitchFamily="2" charset="-122"/>
              </a:endParaRPr>
            </a:p>
          </p:txBody>
        </p:sp>
        <p:sp>
          <p:nvSpPr>
            <p:cNvPr id="57466" name="Rectangle 210"/>
            <p:cNvSpPr/>
            <p:nvPr/>
          </p:nvSpPr>
          <p:spPr>
            <a:xfrm>
              <a:off x="3195" y="3259"/>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R13_abt</a:t>
              </a:r>
              <a:endParaRPr lang="en-US" altLang="zh-CN" sz="1400" dirty="0">
                <a:latin typeface="Times New Roman" panose="02020603050405020304" pitchFamily="18" charset="0"/>
                <a:ea typeface="宋体" panose="02010600030101010101" pitchFamily="2" charset="-122"/>
              </a:endParaRPr>
            </a:p>
          </p:txBody>
        </p:sp>
        <p:sp>
          <p:nvSpPr>
            <p:cNvPr id="57467" name="Rectangle 209"/>
            <p:cNvSpPr/>
            <p:nvPr/>
          </p:nvSpPr>
          <p:spPr>
            <a:xfrm>
              <a:off x="2619" y="3259"/>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R13_svc</a:t>
              </a:r>
              <a:endParaRPr lang="en-US" altLang="zh-CN" sz="1400" dirty="0">
                <a:latin typeface="Times New Roman" panose="02020603050405020304" pitchFamily="18" charset="0"/>
                <a:ea typeface="宋体" panose="02010600030101010101" pitchFamily="2" charset="-122"/>
              </a:endParaRPr>
            </a:p>
          </p:txBody>
        </p:sp>
        <p:sp>
          <p:nvSpPr>
            <p:cNvPr id="57468" name="Rectangle 207"/>
            <p:cNvSpPr/>
            <p:nvPr/>
          </p:nvSpPr>
          <p:spPr>
            <a:xfrm>
              <a:off x="1440" y="3259"/>
              <a:ext cx="1179"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7469" name="Rectangle 206"/>
            <p:cNvSpPr/>
            <p:nvPr/>
          </p:nvSpPr>
          <p:spPr>
            <a:xfrm>
              <a:off x="4923" y="3068"/>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R12_fiq</a:t>
              </a:r>
              <a:endParaRPr lang="en-US" altLang="zh-CN" sz="1400" dirty="0">
                <a:latin typeface="Times New Roman" panose="02020603050405020304" pitchFamily="18" charset="0"/>
                <a:ea typeface="宋体" panose="02010600030101010101" pitchFamily="2" charset="-122"/>
              </a:endParaRPr>
            </a:p>
          </p:txBody>
        </p:sp>
        <p:sp>
          <p:nvSpPr>
            <p:cNvPr id="57470" name="Rectangle 200"/>
            <p:cNvSpPr/>
            <p:nvPr/>
          </p:nvSpPr>
          <p:spPr>
            <a:xfrm>
              <a:off x="1440" y="3068"/>
              <a:ext cx="3483"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7471" name="Rectangle 199"/>
            <p:cNvSpPr/>
            <p:nvPr/>
          </p:nvSpPr>
          <p:spPr>
            <a:xfrm>
              <a:off x="4923" y="2877"/>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R11_fiq</a:t>
              </a:r>
              <a:endParaRPr lang="en-US" altLang="zh-CN" sz="1400" dirty="0">
                <a:latin typeface="Times New Roman" panose="02020603050405020304" pitchFamily="18" charset="0"/>
                <a:ea typeface="宋体" panose="02010600030101010101" pitchFamily="2" charset="-122"/>
              </a:endParaRPr>
            </a:p>
          </p:txBody>
        </p:sp>
        <p:sp>
          <p:nvSpPr>
            <p:cNvPr id="57472" name="Rectangle 193"/>
            <p:cNvSpPr/>
            <p:nvPr/>
          </p:nvSpPr>
          <p:spPr>
            <a:xfrm>
              <a:off x="1440" y="2877"/>
              <a:ext cx="3483"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7473" name="Rectangle 192"/>
            <p:cNvSpPr/>
            <p:nvPr/>
          </p:nvSpPr>
          <p:spPr>
            <a:xfrm>
              <a:off x="4923" y="2686"/>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R10_fiq</a:t>
              </a:r>
              <a:endParaRPr lang="en-US" altLang="zh-CN" sz="1400" dirty="0">
                <a:latin typeface="Times New Roman" panose="02020603050405020304" pitchFamily="18" charset="0"/>
                <a:ea typeface="宋体" panose="02010600030101010101" pitchFamily="2" charset="-122"/>
              </a:endParaRPr>
            </a:p>
          </p:txBody>
        </p:sp>
        <p:sp>
          <p:nvSpPr>
            <p:cNvPr id="57474" name="Rectangle 186"/>
            <p:cNvSpPr/>
            <p:nvPr/>
          </p:nvSpPr>
          <p:spPr>
            <a:xfrm>
              <a:off x="1440" y="2686"/>
              <a:ext cx="3483"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7475" name="Rectangle 185"/>
            <p:cNvSpPr/>
            <p:nvPr/>
          </p:nvSpPr>
          <p:spPr>
            <a:xfrm>
              <a:off x="4923" y="2495"/>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R9_fiq</a:t>
              </a:r>
              <a:endParaRPr lang="en-US" altLang="zh-CN" sz="1400" dirty="0">
                <a:latin typeface="Times New Roman" panose="02020603050405020304" pitchFamily="18" charset="0"/>
                <a:ea typeface="宋体" panose="02010600030101010101" pitchFamily="2" charset="-122"/>
              </a:endParaRPr>
            </a:p>
          </p:txBody>
        </p:sp>
        <p:sp>
          <p:nvSpPr>
            <p:cNvPr id="57476" name="Rectangle 179"/>
            <p:cNvSpPr/>
            <p:nvPr/>
          </p:nvSpPr>
          <p:spPr>
            <a:xfrm>
              <a:off x="1440" y="2495"/>
              <a:ext cx="3483"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7477" name="Rectangle 178"/>
            <p:cNvSpPr/>
            <p:nvPr/>
          </p:nvSpPr>
          <p:spPr>
            <a:xfrm>
              <a:off x="4923" y="2304"/>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R8_fiq</a:t>
              </a:r>
              <a:endParaRPr lang="en-US" altLang="zh-CN" sz="1400" dirty="0">
                <a:latin typeface="Times New Roman" panose="02020603050405020304" pitchFamily="18" charset="0"/>
                <a:ea typeface="宋体" panose="02010600030101010101" pitchFamily="2" charset="-122"/>
              </a:endParaRPr>
            </a:p>
          </p:txBody>
        </p:sp>
        <p:sp>
          <p:nvSpPr>
            <p:cNvPr id="57478" name="Rectangle 172"/>
            <p:cNvSpPr/>
            <p:nvPr/>
          </p:nvSpPr>
          <p:spPr>
            <a:xfrm>
              <a:off x="1440" y="2304"/>
              <a:ext cx="3483"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7479" name="Line 221"/>
            <p:cNvSpPr/>
            <p:nvPr/>
          </p:nvSpPr>
          <p:spPr>
            <a:xfrm>
              <a:off x="1440" y="2304"/>
              <a:ext cx="4059" cy="0"/>
            </a:xfrm>
            <a:prstGeom prst="line">
              <a:avLst/>
            </a:prstGeom>
            <a:ln w="28575" cap="sq" cmpd="sng">
              <a:solidFill>
                <a:schemeClr val="tx1"/>
              </a:solidFill>
              <a:prstDash val="solid"/>
              <a:round/>
              <a:headEnd type="none" w="med" len="med"/>
              <a:tailEnd type="none" w="med" len="med"/>
            </a:ln>
          </p:spPr>
        </p:sp>
        <p:sp>
          <p:nvSpPr>
            <p:cNvPr id="57480" name="Line 222"/>
            <p:cNvSpPr/>
            <p:nvPr/>
          </p:nvSpPr>
          <p:spPr>
            <a:xfrm>
              <a:off x="1440" y="2495"/>
              <a:ext cx="4059" cy="0"/>
            </a:xfrm>
            <a:prstGeom prst="line">
              <a:avLst/>
            </a:prstGeom>
            <a:ln w="12700" cap="flat" cmpd="sng">
              <a:solidFill>
                <a:schemeClr val="tx1"/>
              </a:solidFill>
              <a:prstDash val="solid"/>
              <a:round/>
              <a:headEnd type="none" w="med" len="med"/>
              <a:tailEnd type="none" w="med" len="med"/>
            </a:ln>
          </p:spPr>
        </p:sp>
        <p:sp>
          <p:nvSpPr>
            <p:cNvPr id="57481" name="Line 223"/>
            <p:cNvSpPr/>
            <p:nvPr/>
          </p:nvSpPr>
          <p:spPr>
            <a:xfrm>
              <a:off x="1440" y="2686"/>
              <a:ext cx="4059" cy="0"/>
            </a:xfrm>
            <a:prstGeom prst="line">
              <a:avLst/>
            </a:prstGeom>
            <a:ln w="12700" cap="flat" cmpd="sng">
              <a:solidFill>
                <a:schemeClr val="tx1"/>
              </a:solidFill>
              <a:prstDash val="solid"/>
              <a:round/>
              <a:headEnd type="none" w="med" len="med"/>
              <a:tailEnd type="none" w="med" len="med"/>
            </a:ln>
          </p:spPr>
        </p:sp>
        <p:sp>
          <p:nvSpPr>
            <p:cNvPr id="57482" name="Line 224"/>
            <p:cNvSpPr/>
            <p:nvPr/>
          </p:nvSpPr>
          <p:spPr>
            <a:xfrm>
              <a:off x="1440" y="2877"/>
              <a:ext cx="4059" cy="0"/>
            </a:xfrm>
            <a:prstGeom prst="line">
              <a:avLst/>
            </a:prstGeom>
            <a:ln w="12700" cap="flat" cmpd="sng">
              <a:solidFill>
                <a:schemeClr val="tx1"/>
              </a:solidFill>
              <a:prstDash val="solid"/>
              <a:round/>
              <a:headEnd type="none" w="med" len="med"/>
              <a:tailEnd type="none" w="med" len="med"/>
            </a:ln>
          </p:spPr>
        </p:sp>
        <p:sp>
          <p:nvSpPr>
            <p:cNvPr id="57483" name="Line 225"/>
            <p:cNvSpPr/>
            <p:nvPr/>
          </p:nvSpPr>
          <p:spPr>
            <a:xfrm>
              <a:off x="1440" y="3068"/>
              <a:ext cx="4059" cy="0"/>
            </a:xfrm>
            <a:prstGeom prst="line">
              <a:avLst/>
            </a:prstGeom>
            <a:ln w="12700" cap="flat" cmpd="sng">
              <a:solidFill>
                <a:schemeClr val="tx1"/>
              </a:solidFill>
              <a:prstDash val="solid"/>
              <a:round/>
              <a:headEnd type="none" w="med" len="med"/>
              <a:tailEnd type="none" w="med" len="med"/>
            </a:ln>
          </p:spPr>
        </p:sp>
        <p:sp>
          <p:nvSpPr>
            <p:cNvPr id="57484" name="Line 226"/>
            <p:cNvSpPr/>
            <p:nvPr/>
          </p:nvSpPr>
          <p:spPr>
            <a:xfrm>
              <a:off x="1440" y="3259"/>
              <a:ext cx="4059" cy="0"/>
            </a:xfrm>
            <a:prstGeom prst="line">
              <a:avLst/>
            </a:prstGeom>
            <a:ln w="12700" cap="flat" cmpd="sng">
              <a:solidFill>
                <a:schemeClr val="tx1"/>
              </a:solidFill>
              <a:prstDash val="solid"/>
              <a:round/>
              <a:headEnd type="none" w="med" len="med"/>
              <a:tailEnd type="none" w="med" len="med"/>
            </a:ln>
          </p:spPr>
        </p:sp>
        <p:sp>
          <p:nvSpPr>
            <p:cNvPr id="57485" name="Line 227"/>
            <p:cNvSpPr/>
            <p:nvPr/>
          </p:nvSpPr>
          <p:spPr>
            <a:xfrm>
              <a:off x="1440" y="3450"/>
              <a:ext cx="4059" cy="0"/>
            </a:xfrm>
            <a:prstGeom prst="line">
              <a:avLst/>
            </a:prstGeom>
            <a:ln w="12700" cap="flat" cmpd="sng">
              <a:solidFill>
                <a:schemeClr val="tx1"/>
              </a:solidFill>
              <a:prstDash val="solid"/>
              <a:round/>
              <a:headEnd type="none" w="med" len="med"/>
              <a:tailEnd type="none" w="med" len="med"/>
            </a:ln>
          </p:spPr>
        </p:sp>
        <p:sp>
          <p:nvSpPr>
            <p:cNvPr id="57486" name="Line 228"/>
            <p:cNvSpPr/>
            <p:nvPr/>
          </p:nvSpPr>
          <p:spPr>
            <a:xfrm>
              <a:off x="1440" y="3641"/>
              <a:ext cx="4059" cy="0"/>
            </a:xfrm>
            <a:prstGeom prst="line">
              <a:avLst/>
            </a:prstGeom>
            <a:ln w="28575" cap="sq" cmpd="sng">
              <a:solidFill>
                <a:schemeClr val="tx1"/>
              </a:solidFill>
              <a:prstDash val="solid"/>
              <a:round/>
              <a:headEnd type="none" w="med" len="med"/>
              <a:tailEnd type="none" w="med" len="med"/>
            </a:ln>
          </p:spPr>
        </p:sp>
        <p:sp>
          <p:nvSpPr>
            <p:cNvPr id="57487" name="Line 229"/>
            <p:cNvSpPr/>
            <p:nvPr/>
          </p:nvSpPr>
          <p:spPr>
            <a:xfrm>
              <a:off x="1440" y="2304"/>
              <a:ext cx="0" cy="1337"/>
            </a:xfrm>
            <a:prstGeom prst="line">
              <a:avLst/>
            </a:prstGeom>
            <a:ln w="28575" cap="sq" cmpd="sng">
              <a:solidFill>
                <a:schemeClr val="tx1"/>
              </a:solidFill>
              <a:prstDash val="solid"/>
              <a:round/>
              <a:headEnd type="none" w="med" len="med"/>
              <a:tailEnd type="none" w="med" len="med"/>
            </a:ln>
          </p:spPr>
        </p:sp>
        <p:sp>
          <p:nvSpPr>
            <p:cNvPr id="57488" name="Line 235"/>
            <p:cNvSpPr/>
            <p:nvPr/>
          </p:nvSpPr>
          <p:spPr>
            <a:xfrm>
              <a:off x="4923" y="2304"/>
              <a:ext cx="0" cy="1337"/>
            </a:xfrm>
            <a:prstGeom prst="line">
              <a:avLst/>
            </a:prstGeom>
            <a:ln w="12700" cap="flat" cmpd="sng">
              <a:solidFill>
                <a:schemeClr val="tx1"/>
              </a:solidFill>
              <a:prstDash val="solid"/>
              <a:round/>
              <a:headEnd type="none" w="med" len="med"/>
              <a:tailEnd type="none" w="med" len="med"/>
            </a:ln>
          </p:spPr>
        </p:sp>
        <p:sp>
          <p:nvSpPr>
            <p:cNvPr id="57489" name="Line 236"/>
            <p:cNvSpPr/>
            <p:nvPr/>
          </p:nvSpPr>
          <p:spPr>
            <a:xfrm>
              <a:off x="5499" y="2304"/>
              <a:ext cx="0" cy="1337"/>
            </a:xfrm>
            <a:prstGeom prst="line">
              <a:avLst/>
            </a:prstGeom>
            <a:ln w="28575" cap="sq" cmpd="sng">
              <a:solidFill>
                <a:schemeClr val="tx1"/>
              </a:solidFill>
              <a:prstDash val="solid"/>
              <a:round/>
              <a:headEnd type="none" w="med" len="med"/>
              <a:tailEnd type="none" w="med" len="med"/>
            </a:ln>
          </p:spPr>
        </p:sp>
        <p:sp>
          <p:nvSpPr>
            <p:cNvPr id="57490" name="Line 259"/>
            <p:cNvSpPr/>
            <p:nvPr/>
          </p:nvSpPr>
          <p:spPr>
            <a:xfrm>
              <a:off x="2619" y="3259"/>
              <a:ext cx="0" cy="382"/>
            </a:xfrm>
            <a:prstGeom prst="line">
              <a:avLst/>
            </a:prstGeom>
            <a:ln w="12700" cap="flat" cmpd="sng">
              <a:solidFill>
                <a:schemeClr val="tx1"/>
              </a:solidFill>
              <a:prstDash val="solid"/>
              <a:round/>
              <a:headEnd type="none" w="med" len="med"/>
              <a:tailEnd type="none" w="med" len="med"/>
            </a:ln>
          </p:spPr>
        </p:sp>
        <p:sp>
          <p:nvSpPr>
            <p:cNvPr id="57491" name="Line 260"/>
            <p:cNvSpPr/>
            <p:nvPr/>
          </p:nvSpPr>
          <p:spPr>
            <a:xfrm>
              <a:off x="3195" y="3259"/>
              <a:ext cx="0" cy="382"/>
            </a:xfrm>
            <a:prstGeom prst="line">
              <a:avLst/>
            </a:prstGeom>
            <a:ln w="12700" cap="flat" cmpd="sng">
              <a:solidFill>
                <a:schemeClr val="tx1"/>
              </a:solidFill>
              <a:prstDash val="solid"/>
              <a:round/>
              <a:headEnd type="none" w="med" len="med"/>
              <a:tailEnd type="none" w="med" len="med"/>
            </a:ln>
          </p:spPr>
        </p:sp>
        <p:sp>
          <p:nvSpPr>
            <p:cNvPr id="57492" name="Line 261"/>
            <p:cNvSpPr/>
            <p:nvPr/>
          </p:nvSpPr>
          <p:spPr>
            <a:xfrm>
              <a:off x="3771" y="3259"/>
              <a:ext cx="0" cy="382"/>
            </a:xfrm>
            <a:prstGeom prst="line">
              <a:avLst/>
            </a:prstGeom>
            <a:ln w="12700" cap="flat" cmpd="sng">
              <a:solidFill>
                <a:schemeClr val="tx1"/>
              </a:solidFill>
              <a:prstDash val="solid"/>
              <a:round/>
              <a:headEnd type="none" w="med" len="med"/>
              <a:tailEnd type="none" w="med" len="med"/>
            </a:ln>
          </p:spPr>
        </p:sp>
        <p:sp>
          <p:nvSpPr>
            <p:cNvPr id="57493" name="Line 262"/>
            <p:cNvSpPr/>
            <p:nvPr/>
          </p:nvSpPr>
          <p:spPr>
            <a:xfrm>
              <a:off x="4347" y="3259"/>
              <a:ext cx="0" cy="382"/>
            </a:xfrm>
            <a:prstGeom prst="line">
              <a:avLst/>
            </a:prstGeom>
            <a:ln w="12700" cap="flat" cmpd="sng">
              <a:solidFill>
                <a:schemeClr val="tx1"/>
              </a:solidFill>
              <a:prstDash val="solid"/>
              <a:round/>
              <a:headEnd type="none" w="med" len="med"/>
              <a:tailEnd type="none" w="med" len="med"/>
            </a:ln>
          </p:spPr>
        </p:sp>
      </p:grpSp>
      <p:sp>
        <p:nvSpPr>
          <p:cNvPr id="69802" name="AutoShape 170"/>
          <p:cNvSpPr/>
          <p:nvPr/>
        </p:nvSpPr>
        <p:spPr>
          <a:xfrm>
            <a:off x="304800" y="2667000"/>
            <a:ext cx="3962400" cy="24384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寄存器</a:t>
            </a:r>
            <a:r>
              <a:rPr lang="en-US" altLang="zh-CN" sz="2400" dirty="0">
                <a:latin typeface="华文新魏" panose="02010800040101010101" pitchFamily="2" charset="-122"/>
                <a:ea typeface="华文新魏" panose="02010800040101010101" pitchFamily="2" charset="-122"/>
              </a:rPr>
              <a:t>R8</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为</a:t>
            </a:r>
            <a:r>
              <a:rPr lang="zh-CN" altLang="en-US" sz="2400" dirty="0">
                <a:solidFill>
                  <a:srgbClr val="FF0000"/>
                </a:solidFill>
                <a:latin typeface="华文新魏" panose="02010800040101010101" pitchFamily="2" charset="-122"/>
                <a:ea typeface="华文新魏" panose="02010800040101010101" pitchFamily="2" charset="-122"/>
              </a:rPr>
              <a:t>分组寄存器</a:t>
            </a:r>
            <a:r>
              <a:rPr lang="zh-CN" altLang="en-US" sz="2400" dirty="0">
                <a:latin typeface="华文新魏" panose="02010800040101010101" pitchFamily="2" charset="-122"/>
                <a:ea typeface="华文新魏" panose="02010800040101010101" pitchFamily="2" charset="-122"/>
              </a:rPr>
              <a:t>。它们所对应的物理寄存器取决于当前的处理器模式，几乎所有允许使用通用寄存器的指令都允许使用分组寄存器</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9802"/>
                                        </p:tgtEl>
                                        <p:attrNameLst>
                                          <p:attrName>style.visibility</p:attrName>
                                        </p:attrNameLst>
                                      </p:cBhvr>
                                      <p:to>
                                        <p:strVal val="visible"/>
                                      </p:to>
                                    </p:set>
                                    <p:anim calcmode="lin" valueType="num">
                                      <p:cBhvr additive="base">
                                        <p:cTn id="11" dur="500" fill="hold"/>
                                        <p:tgtEl>
                                          <p:spTgt spid="69802"/>
                                        </p:tgtEl>
                                        <p:attrNameLst>
                                          <p:attrName>ppt_x</p:attrName>
                                        </p:attrNameLst>
                                      </p:cBhvr>
                                      <p:tavLst>
                                        <p:tav tm="0">
                                          <p:val>
                                            <p:strVal val="0-#ppt_w/2"/>
                                          </p:val>
                                        </p:tav>
                                        <p:tav tm="100000">
                                          <p:val>
                                            <p:strVal val="#ppt_x"/>
                                          </p:val>
                                        </p:tav>
                                      </p:tavLst>
                                    </p:anim>
                                    <p:anim calcmode="lin" valueType="num">
                                      <p:cBhvr additive="base">
                                        <p:cTn id="12" dur="500" fill="hold"/>
                                        <p:tgtEl>
                                          <p:spTgt spid="69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0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0811" name="Group 155"/>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58479"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一般的通用寄存器</a:t>
            </a:r>
            <a:endParaRPr lang="zh-CN" altLang="en-US" sz="2400" dirty="0">
              <a:latin typeface="华文新魏" panose="02010800040101010101" pitchFamily="2" charset="-122"/>
              <a:ea typeface="华文新魏" panose="02010800040101010101" pitchFamily="2" charset="-122"/>
            </a:endParaRPr>
          </a:p>
        </p:txBody>
      </p:sp>
      <p:grpSp>
        <p:nvGrpSpPr>
          <p:cNvPr id="2" name="Group 153"/>
          <p:cNvGrpSpPr/>
          <p:nvPr/>
        </p:nvGrpSpPr>
        <p:grpSpPr>
          <a:xfrm>
            <a:off x="2316163" y="3641725"/>
            <a:ext cx="6443662" cy="1516063"/>
            <a:chOff x="1459" y="2304"/>
            <a:chExt cx="4059" cy="955"/>
          </a:xfrm>
        </p:grpSpPr>
        <p:sp>
          <p:nvSpPr>
            <p:cNvPr id="58481" name="Rectangle 126"/>
            <p:cNvSpPr/>
            <p:nvPr/>
          </p:nvSpPr>
          <p:spPr>
            <a:xfrm>
              <a:off x="4942" y="3068"/>
              <a:ext cx="576" cy="191"/>
            </a:xfrm>
            <a:prstGeom prst="rect">
              <a:avLst/>
            </a:prstGeom>
            <a:solidFill>
              <a:srgbClr val="6699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R12_fiq</a:t>
              </a:r>
              <a:endParaRPr lang="en-US" altLang="zh-CN" sz="1400" dirty="0">
                <a:latin typeface="Times New Roman" panose="02020603050405020304" pitchFamily="18" charset="0"/>
                <a:ea typeface="宋体" panose="02010600030101010101" pitchFamily="2" charset="-122"/>
              </a:endParaRPr>
            </a:p>
          </p:txBody>
        </p:sp>
        <p:sp>
          <p:nvSpPr>
            <p:cNvPr id="58482" name="Rectangle 127"/>
            <p:cNvSpPr/>
            <p:nvPr/>
          </p:nvSpPr>
          <p:spPr>
            <a:xfrm>
              <a:off x="1459" y="3068"/>
              <a:ext cx="3483" cy="191"/>
            </a:xfrm>
            <a:prstGeom prst="rect">
              <a:avLst/>
            </a:prstGeom>
            <a:solidFill>
              <a:srgbClr val="00CC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R12</a:t>
              </a:r>
              <a:endParaRPr lang="en-US" altLang="zh-CN" sz="1400" dirty="0">
                <a:latin typeface="Times New Roman" panose="02020603050405020304" pitchFamily="18" charset="0"/>
                <a:ea typeface="宋体" panose="02010600030101010101" pitchFamily="2" charset="-122"/>
              </a:endParaRPr>
            </a:p>
          </p:txBody>
        </p:sp>
        <p:sp>
          <p:nvSpPr>
            <p:cNvPr id="58483" name="Rectangle 128"/>
            <p:cNvSpPr/>
            <p:nvPr/>
          </p:nvSpPr>
          <p:spPr>
            <a:xfrm>
              <a:off x="4942" y="2877"/>
              <a:ext cx="576" cy="191"/>
            </a:xfrm>
            <a:prstGeom prst="rect">
              <a:avLst/>
            </a:prstGeom>
            <a:solidFill>
              <a:srgbClr val="6699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R11_fiq</a:t>
              </a:r>
              <a:endParaRPr lang="en-US" altLang="zh-CN" sz="1400" dirty="0">
                <a:latin typeface="Times New Roman" panose="02020603050405020304" pitchFamily="18" charset="0"/>
                <a:ea typeface="宋体" panose="02010600030101010101" pitchFamily="2" charset="-122"/>
              </a:endParaRPr>
            </a:p>
          </p:txBody>
        </p:sp>
        <p:sp>
          <p:nvSpPr>
            <p:cNvPr id="58484" name="Rectangle 129"/>
            <p:cNvSpPr/>
            <p:nvPr/>
          </p:nvSpPr>
          <p:spPr>
            <a:xfrm>
              <a:off x="1459" y="2877"/>
              <a:ext cx="3483" cy="191"/>
            </a:xfrm>
            <a:prstGeom prst="rect">
              <a:avLst/>
            </a:prstGeom>
            <a:solidFill>
              <a:srgbClr val="00CC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R11</a:t>
              </a:r>
              <a:endParaRPr lang="en-US" altLang="zh-CN" sz="1400" dirty="0">
                <a:latin typeface="Times New Roman" panose="02020603050405020304" pitchFamily="18" charset="0"/>
                <a:ea typeface="宋体" panose="02010600030101010101" pitchFamily="2" charset="-122"/>
              </a:endParaRPr>
            </a:p>
          </p:txBody>
        </p:sp>
        <p:sp>
          <p:nvSpPr>
            <p:cNvPr id="58485" name="Rectangle 130"/>
            <p:cNvSpPr/>
            <p:nvPr/>
          </p:nvSpPr>
          <p:spPr>
            <a:xfrm>
              <a:off x="4942" y="2686"/>
              <a:ext cx="576" cy="191"/>
            </a:xfrm>
            <a:prstGeom prst="rect">
              <a:avLst/>
            </a:prstGeom>
            <a:solidFill>
              <a:srgbClr val="6699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R10_fiq</a:t>
              </a:r>
              <a:endParaRPr lang="en-US" altLang="zh-CN" sz="1400" dirty="0">
                <a:latin typeface="Times New Roman" panose="02020603050405020304" pitchFamily="18" charset="0"/>
                <a:ea typeface="宋体" panose="02010600030101010101" pitchFamily="2" charset="-122"/>
              </a:endParaRPr>
            </a:p>
          </p:txBody>
        </p:sp>
        <p:sp>
          <p:nvSpPr>
            <p:cNvPr id="58486" name="Rectangle 131"/>
            <p:cNvSpPr/>
            <p:nvPr/>
          </p:nvSpPr>
          <p:spPr>
            <a:xfrm>
              <a:off x="1459" y="2686"/>
              <a:ext cx="3483" cy="191"/>
            </a:xfrm>
            <a:prstGeom prst="rect">
              <a:avLst/>
            </a:prstGeom>
            <a:solidFill>
              <a:srgbClr val="00CC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R10</a:t>
              </a:r>
              <a:endParaRPr lang="en-US" altLang="zh-CN" sz="1400" dirty="0">
                <a:latin typeface="Times New Roman" panose="02020603050405020304" pitchFamily="18" charset="0"/>
                <a:ea typeface="宋体" panose="02010600030101010101" pitchFamily="2" charset="-122"/>
              </a:endParaRPr>
            </a:p>
          </p:txBody>
        </p:sp>
        <p:sp>
          <p:nvSpPr>
            <p:cNvPr id="58487" name="Rectangle 132"/>
            <p:cNvSpPr/>
            <p:nvPr/>
          </p:nvSpPr>
          <p:spPr>
            <a:xfrm>
              <a:off x="4942" y="2495"/>
              <a:ext cx="576" cy="191"/>
            </a:xfrm>
            <a:prstGeom prst="rect">
              <a:avLst/>
            </a:prstGeom>
            <a:solidFill>
              <a:srgbClr val="6699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R9_fiq</a:t>
              </a:r>
              <a:endParaRPr lang="en-US" altLang="zh-CN" sz="1400" dirty="0">
                <a:latin typeface="Times New Roman" panose="02020603050405020304" pitchFamily="18" charset="0"/>
                <a:ea typeface="宋体" panose="02010600030101010101" pitchFamily="2" charset="-122"/>
              </a:endParaRPr>
            </a:p>
          </p:txBody>
        </p:sp>
        <p:sp>
          <p:nvSpPr>
            <p:cNvPr id="58488" name="Rectangle 133"/>
            <p:cNvSpPr/>
            <p:nvPr/>
          </p:nvSpPr>
          <p:spPr>
            <a:xfrm>
              <a:off x="1459" y="2495"/>
              <a:ext cx="3483" cy="191"/>
            </a:xfrm>
            <a:prstGeom prst="rect">
              <a:avLst/>
            </a:prstGeom>
            <a:solidFill>
              <a:srgbClr val="00CC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R9</a:t>
              </a:r>
              <a:endParaRPr lang="en-US" altLang="zh-CN" sz="1400" dirty="0">
                <a:latin typeface="Times New Roman" panose="02020603050405020304" pitchFamily="18" charset="0"/>
                <a:ea typeface="宋体" panose="02010600030101010101" pitchFamily="2" charset="-122"/>
              </a:endParaRPr>
            </a:p>
          </p:txBody>
        </p:sp>
        <p:sp>
          <p:nvSpPr>
            <p:cNvPr id="58489" name="Rectangle 134"/>
            <p:cNvSpPr/>
            <p:nvPr/>
          </p:nvSpPr>
          <p:spPr>
            <a:xfrm>
              <a:off x="4942" y="2304"/>
              <a:ext cx="576" cy="191"/>
            </a:xfrm>
            <a:prstGeom prst="rect">
              <a:avLst/>
            </a:prstGeom>
            <a:solidFill>
              <a:srgbClr val="6699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R8_fiq</a:t>
              </a:r>
              <a:endParaRPr lang="en-US" altLang="zh-CN" sz="1400" dirty="0">
                <a:latin typeface="Times New Roman" panose="02020603050405020304" pitchFamily="18" charset="0"/>
                <a:ea typeface="宋体" panose="02010600030101010101" pitchFamily="2" charset="-122"/>
              </a:endParaRPr>
            </a:p>
          </p:txBody>
        </p:sp>
        <p:sp>
          <p:nvSpPr>
            <p:cNvPr id="58490" name="Rectangle 135"/>
            <p:cNvSpPr/>
            <p:nvPr/>
          </p:nvSpPr>
          <p:spPr>
            <a:xfrm>
              <a:off x="1459" y="2304"/>
              <a:ext cx="3483" cy="191"/>
            </a:xfrm>
            <a:prstGeom prst="rect">
              <a:avLst/>
            </a:prstGeom>
            <a:solidFill>
              <a:srgbClr val="00CCFF"/>
            </a:solidFill>
            <a:ln w="9525" cap="flat" cmpd="sng">
              <a:solidFill>
                <a:schemeClr val="tx1"/>
              </a:solidFill>
              <a:prstDash val="solid"/>
              <a:miter/>
              <a:headEnd type="none" w="med" len="med"/>
              <a:tailEnd type="none" w="med" len="med"/>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R8</a:t>
              </a:r>
              <a:endParaRPr lang="en-US" altLang="zh-CN" sz="1400" dirty="0">
                <a:latin typeface="Times New Roman" panose="02020603050405020304" pitchFamily="18" charset="0"/>
                <a:ea typeface="宋体" panose="02010600030101010101" pitchFamily="2" charset="-122"/>
              </a:endParaRPr>
            </a:p>
          </p:txBody>
        </p:sp>
        <p:sp>
          <p:nvSpPr>
            <p:cNvPr id="58491" name="Line 137"/>
            <p:cNvSpPr/>
            <p:nvPr/>
          </p:nvSpPr>
          <p:spPr>
            <a:xfrm>
              <a:off x="1459" y="2495"/>
              <a:ext cx="4059" cy="0"/>
            </a:xfrm>
            <a:prstGeom prst="line">
              <a:avLst/>
            </a:prstGeom>
            <a:ln w="12700" cap="flat" cmpd="sng">
              <a:solidFill>
                <a:schemeClr val="tx1"/>
              </a:solidFill>
              <a:prstDash val="solid"/>
              <a:round/>
              <a:headEnd type="none" w="med" len="med"/>
              <a:tailEnd type="none" w="med" len="med"/>
            </a:ln>
          </p:spPr>
        </p:sp>
        <p:sp>
          <p:nvSpPr>
            <p:cNvPr id="58492" name="Line 138"/>
            <p:cNvSpPr/>
            <p:nvPr/>
          </p:nvSpPr>
          <p:spPr>
            <a:xfrm>
              <a:off x="1459" y="2686"/>
              <a:ext cx="4059" cy="0"/>
            </a:xfrm>
            <a:prstGeom prst="line">
              <a:avLst/>
            </a:prstGeom>
            <a:ln w="12700" cap="flat" cmpd="sng">
              <a:solidFill>
                <a:schemeClr val="tx1"/>
              </a:solidFill>
              <a:prstDash val="solid"/>
              <a:round/>
              <a:headEnd type="none" w="med" len="med"/>
              <a:tailEnd type="none" w="med" len="med"/>
            </a:ln>
          </p:spPr>
        </p:sp>
        <p:sp>
          <p:nvSpPr>
            <p:cNvPr id="58493" name="Line 139"/>
            <p:cNvSpPr/>
            <p:nvPr/>
          </p:nvSpPr>
          <p:spPr>
            <a:xfrm>
              <a:off x="1459" y="2877"/>
              <a:ext cx="4059" cy="0"/>
            </a:xfrm>
            <a:prstGeom prst="line">
              <a:avLst/>
            </a:prstGeom>
            <a:ln w="12700" cap="flat" cmpd="sng">
              <a:solidFill>
                <a:schemeClr val="tx1"/>
              </a:solidFill>
              <a:prstDash val="solid"/>
              <a:round/>
              <a:headEnd type="none" w="med" len="med"/>
              <a:tailEnd type="none" w="med" len="med"/>
            </a:ln>
          </p:spPr>
        </p:sp>
        <p:sp>
          <p:nvSpPr>
            <p:cNvPr id="58494" name="Line 140"/>
            <p:cNvSpPr/>
            <p:nvPr/>
          </p:nvSpPr>
          <p:spPr>
            <a:xfrm>
              <a:off x="1459" y="3068"/>
              <a:ext cx="4059" cy="0"/>
            </a:xfrm>
            <a:prstGeom prst="line">
              <a:avLst/>
            </a:prstGeom>
            <a:ln w="12700" cap="flat" cmpd="sng">
              <a:solidFill>
                <a:schemeClr val="tx1"/>
              </a:solidFill>
              <a:prstDash val="solid"/>
              <a:round/>
              <a:headEnd type="none" w="med" len="med"/>
              <a:tailEnd type="none" w="med" len="med"/>
            </a:ln>
          </p:spPr>
        </p:sp>
      </p:grpSp>
      <p:sp>
        <p:nvSpPr>
          <p:cNvPr id="58495" name="Line 145"/>
          <p:cNvSpPr/>
          <p:nvPr/>
        </p:nvSpPr>
        <p:spPr>
          <a:xfrm>
            <a:off x="7845425" y="3657600"/>
            <a:ext cx="0" cy="2122488"/>
          </a:xfrm>
          <a:prstGeom prst="line">
            <a:avLst/>
          </a:prstGeom>
          <a:ln w="12700" cap="flat" cmpd="sng">
            <a:solidFill>
              <a:schemeClr val="tx1"/>
            </a:solidFill>
            <a:prstDash val="solid"/>
            <a:round/>
            <a:headEnd type="none" w="med" len="med"/>
            <a:tailEnd type="none" w="med" len="med"/>
          </a:ln>
        </p:spPr>
      </p:sp>
      <p:sp>
        <p:nvSpPr>
          <p:cNvPr id="58496" name="Line 146"/>
          <p:cNvSpPr/>
          <p:nvPr/>
        </p:nvSpPr>
        <p:spPr>
          <a:xfrm>
            <a:off x="8759825" y="3657600"/>
            <a:ext cx="0" cy="2122488"/>
          </a:xfrm>
          <a:prstGeom prst="line">
            <a:avLst/>
          </a:prstGeom>
          <a:ln w="28575" cap="sq" cmpd="sng">
            <a:solidFill>
              <a:schemeClr val="tx1"/>
            </a:solidFill>
            <a:prstDash val="solid"/>
            <a:round/>
            <a:headEnd type="none" w="med" len="med"/>
            <a:tailEnd type="none" w="med" len="med"/>
          </a:ln>
        </p:spPr>
      </p:sp>
      <p:sp>
        <p:nvSpPr>
          <p:cNvPr id="70807" name="AutoShape 151"/>
          <p:cNvSpPr/>
          <p:nvPr/>
        </p:nvSpPr>
        <p:spPr>
          <a:xfrm>
            <a:off x="3200400" y="1600200"/>
            <a:ext cx="4953000" cy="19812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寄存器</a:t>
            </a:r>
            <a:r>
              <a:rPr lang="en-US" altLang="zh-CN" sz="2400" dirty="0">
                <a:latin typeface="华文新魏" panose="02010800040101010101" pitchFamily="2" charset="-122"/>
                <a:ea typeface="华文新魏" panose="02010800040101010101" pitchFamily="2" charset="-122"/>
              </a:rPr>
              <a:t>R8</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R12</a:t>
            </a:r>
            <a:r>
              <a:rPr lang="zh-CN" altLang="en-US" sz="2400" dirty="0">
                <a:latin typeface="华文新魏" panose="02010800040101010101" pitchFamily="2" charset="-122"/>
                <a:ea typeface="华文新魏" panose="02010800040101010101" pitchFamily="2" charset="-122"/>
              </a:rPr>
              <a:t>有两个分组的物理寄存器。一个用于除</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模式之外的所有寄存器模式，另一个用于</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模式。这样在发生</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中断后，可以加速</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的处理速度。</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0807"/>
                                        </p:tgtEl>
                                        <p:attrNameLst>
                                          <p:attrName>style.visibility</p:attrName>
                                        </p:attrNameLst>
                                      </p:cBhvr>
                                      <p:to>
                                        <p:strVal val="visible"/>
                                      </p:to>
                                    </p:set>
                                    <p:anim calcmode="lin" valueType="num">
                                      <p:cBhvr additive="base">
                                        <p:cTn id="11" dur="500" fill="hold"/>
                                        <p:tgtEl>
                                          <p:spTgt spid="70807"/>
                                        </p:tgtEl>
                                        <p:attrNameLst>
                                          <p:attrName>ppt_x</p:attrName>
                                        </p:attrNameLst>
                                      </p:cBhvr>
                                      <p:tavLst>
                                        <p:tav tm="0">
                                          <p:val>
                                            <p:strVal val="1+#ppt_w/2"/>
                                          </p:val>
                                        </p:tav>
                                        <p:tav tm="100000">
                                          <p:val>
                                            <p:strVal val="#ppt_x"/>
                                          </p:val>
                                        </p:tav>
                                      </p:tavLst>
                                    </p:anim>
                                    <p:anim calcmode="lin" valueType="num">
                                      <p:cBhvr additive="base">
                                        <p:cTn id="12" dur="500" fill="hold"/>
                                        <p:tgtEl>
                                          <p:spTgt spid="708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0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1856" name="Group 176"/>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66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59503"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一般的通用寄存器</a:t>
            </a:r>
            <a:endParaRPr lang="zh-CN" altLang="en-US" sz="2400" dirty="0">
              <a:latin typeface="华文新魏" panose="02010800040101010101" pitchFamily="2" charset="-122"/>
              <a:ea typeface="华文新魏" panose="02010800040101010101" pitchFamily="2" charset="-122"/>
            </a:endParaRPr>
          </a:p>
        </p:txBody>
      </p:sp>
      <p:sp>
        <p:nvSpPr>
          <p:cNvPr id="59504" name="Line 128"/>
          <p:cNvSpPr/>
          <p:nvPr/>
        </p:nvSpPr>
        <p:spPr>
          <a:xfrm>
            <a:off x="7845425" y="3657600"/>
            <a:ext cx="0" cy="2122488"/>
          </a:xfrm>
          <a:prstGeom prst="line">
            <a:avLst/>
          </a:prstGeom>
          <a:ln w="12700" cap="flat" cmpd="sng">
            <a:solidFill>
              <a:schemeClr val="tx1"/>
            </a:solidFill>
            <a:prstDash val="solid"/>
            <a:round/>
            <a:headEnd type="none" w="med" len="med"/>
            <a:tailEnd type="none" w="med" len="med"/>
          </a:ln>
        </p:spPr>
      </p:sp>
      <p:sp>
        <p:nvSpPr>
          <p:cNvPr id="59505" name="Line 129"/>
          <p:cNvSpPr/>
          <p:nvPr/>
        </p:nvSpPr>
        <p:spPr>
          <a:xfrm>
            <a:off x="8759825" y="3657600"/>
            <a:ext cx="0" cy="2122488"/>
          </a:xfrm>
          <a:prstGeom prst="line">
            <a:avLst/>
          </a:prstGeom>
          <a:ln w="28575" cap="sq" cmpd="sng">
            <a:solidFill>
              <a:schemeClr val="tx1"/>
            </a:solidFill>
            <a:prstDash val="solid"/>
            <a:round/>
            <a:headEnd type="none" w="med" len="med"/>
            <a:tailEnd type="none" w="med" len="med"/>
          </a:ln>
        </p:spPr>
      </p:sp>
      <p:sp>
        <p:nvSpPr>
          <p:cNvPr id="71810" name="AutoShape 130"/>
          <p:cNvSpPr/>
          <p:nvPr/>
        </p:nvSpPr>
        <p:spPr>
          <a:xfrm>
            <a:off x="3048000" y="3352800"/>
            <a:ext cx="4953000" cy="16764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寄存器</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分别有</a:t>
            </a:r>
            <a:r>
              <a:rPr lang="en-US" altLang="zh-CN" sz="2400" dirty="0">
                <a:latin typeface="华文新魏" panose="02010800040101010101" pitchFamily="2" charset="-122"/>
                <a:ea typeface="华文新魏" panose="02010800040101010101" pitchFamily="2" charset="-122"/>
              </a:rPr>
              <a:t>6</a:t>
            </a:r>
            <a:r>
              <a:rPr lang="zh-CN" altLang="en-US" sz="2400" dirty="0">
                <a:latin typeface="华文新魏" panose="02010800040101010101" pitchFamily="2" charset="-122"/>
                <a:ea typeface="华文新魏" panose="02010800040101010101" pitchFamily="2" charset="-122"/>
              </a:rPr>
              <a:t>个分组的物理寄存器。一个用于用户和系统模式，其余</a:t>
            </a:r>
            <a:r>
              <a:rPr lang="en-US" altLang="zh-CN" sz="2400" dirty="0">
                <a:latin typeface="华文新魏" panose="02010800040101010101" pitchFamily="2" charset="-122"/>
                <a:ea typeface="华文新魏" panose="02010800040101010101" pitchFamily="2" charset="-122"/>
              </a:rPr>
              <a:t>5</a:t>
            </a:r>
            <a:r>
              <a:rPr lang="zh-CN" altLang="en-US" sz="2400" dirty="0">
                <a:latin typeface="华文新魏" panose="02010800040101010101" pitchFamily="2" charset="-122"/>
                <a:ea typeface="华文新魏" panose="02010800040101010101" pitchFamily="2" charset="-122"/>
              </a:rPr>
              <a:t>个分别用于</a:t>
            </a:r>
            <a:r>
              <a:rPr lang="en-US" altLang="zh-CN" sz="2400" dirty="0">
                <a:latin typeface="华文新魏" panose="02010800040101010101" pitchFamily="2" charset="-122"/>
                <a:ea typeface="华文新魏" panose="02010800040101010101" pitchFamily="2" charset="-122"/>
              </a:rPr>
              <a:t>5</a:t>
            </a:r>
            <a:r>
              <a:rPr lang="zh-CN" altLang="en-US" sz="2400" dirty="0">
                <a:latin typeface="华文新魏" panose="02010800040101010101" pitchFamily="2" charset="-122"/>
                <a:ea typeface="华文新魏" panose="02010800040101010101" pitchFamily="2" charset="-122"/>
              </a:rPr>
              <a:t>种异常模式。</a:t>
            </a:r>
            <a:endParaRPr lang="zh-CN" altLang="en-US" sz="2400" dirty="0">
              <a:latin typeface="华文新魏" panose="02010800040101010101" pitchFamily="2" charset="-122"/>
              <a:ea typeface="华文新魏" panose="02010800040101010101" pitchFamily="2" charset="-122"/>
            </a:endParaRPr>
          </a:p>
        </p:txBody>
      </p:sp>
      <p:grpSp>
        <p:nvGrpSpPr>
          <p:cNvPr id="2" name="Group 177"/>
          <p:cNvGrpSpPr/>
          <p:nvPr/>
        </p:nvGrpSpPr>
        <p:grpSpPr>
          <a:xfrm>
            <a:off x="2316163" y="5164138"/>
            <a:ext cx="6443662" cy="606425"/>
            <a:chOff x="864" y="1968"/>
            <a:chExt cx="4059" cy="382"/>
          </a:xfrm>
        </p:grpSpPr>
        <p:sp>
          <p:nvSpPr>
            <p:cNvPr id="59508" name="Rectangle 159"/>
            <p:cNvSpPr/>
            <p:nvPr/>
          </p:nvSpPr>
          <p:spPr>
            <a:xfrm>
              <a:off x="4347" y="2159"/>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R14_fiq</a:t>
              </a:r>
              <a:endParaRPr lang="en-US" altLang="zh-CN" sz="1400" dirty="0">
                <a:latin typeface="Times New Roman" panose="02020603050405020304" pitchFamily="18" charset="0"/>
                <a:ea typeface="宋体" panose="02010600030101010101" pitchFamily="2" charset="-122"/>
              </a:endParaRPr>
            </a:p>
          </p:txBody>
        </p:sp>
        <p:sp>
          <p:nvSpPr>
            <p:cNvPr id="59509" name="Rectangle 158"/>
            <p:cNvSpPr/>
            <p:nvPr/>
          </p:nvSpPr>
          <p:spPr>
            <a:xfrm>
              <a:off x="3771" y="2159"/>
              <a:ext cx="576" cy="191"/>
            </a:xfrm>
            <a:prstGeom prst="rect">
              <a:avLst/>
            </a:prstGeom>
            <a:solidFill>
              <a:srgbClr val="FF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R14_irq</a:t>
              </a:r>
              <a:endParaRPr lang="en-US" altLang="zh-CN" sz="1400" dirty="0">
                <a:latin typeface="Times New Roman" panose="02020603050405020304" pitchFamily="18" charset="0"/>
                <a:ea typeface="宋体" panose="02010600030101010101" pitchFamily="2" charset="-122"/>
              </a:endParaRPr>
            </a:p>
          </p:txBody>
        </p:sp>
        <p:sp>
          <p:nvSpPr>
            <p:cNvPr id="59510" name="Rectangle 157"/>
            <p:cNvSpPr/>
            <p:nvPr/>
          </p:nvSpPr>
          <p:spPr>
            <a:xfrm>
              <a:off x="3195" y="2159"/>
              <a:ext cx="576" cy="191"/>
            </a:xfrm>
            <a:prstGeom prst="rect">
              <a:avLst/>
            </a:prstGeom>
            <a:solidFill>
              <a:srgbClr val="66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R14_und</a:t>
              </a:r>
              <a:endParaRPr lang="en-US" altLang="zh-CN" sz="1400" dirty="0">
                <a:latin typeface="Times New Roman" panose="02020603050405020304" pitchFamily="18" charset="0"/>
                <a:ea typeface="宋体" panose="02010600030101010101" pitchFamily="2" charset="-122"/>
              </a:endParaRPr>
            </a:p>
          </p:txBody>
        </p:sp>
        <p:sp>
          <p:nvSpPr>
            <p:cNvPr id="59511" name="Rectangle 156"/>
            <p:cNvSpPr/>
            <p:nvPr/>
          </p:nvSpPr>
          <p:spPr>
            <a:xfrm>
              <a:off x="2619" y="2159"/>
              <a:ext cx="576" cy="191"/>
            </a:xfrm>
            <a:prstGeom prst="rect">
              <a:avLst/>
            </a:prstGeom>
            <a:solidFill>
              <a:srgbClr val="6699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R14_abt</a:t>
              </a:r>
              <a:endParaRPr lang="en-US" altLang="zh-CN" sz="1400" dirty="0">
                <a:latin typeface="Times New Roman" panose="02020603050405020304" pitchFamily="18" charset="0"/>
                <a:ea typeface="宋体" panose="02010600030101010101" pitchFamily="2" charset="-122"/>
              </a:endParaRPr>
            </a:p>
          </p:txBody>
        </p:sp>
        <p:sp>
          <p:nvSpPr>
            <p:cNvPr id="59512" name="Rectangle 155"/>
            <p:cNvSpPr/>
            <p:nvPr/>
          </p:nvSpPr>
          <p:spPr>
            <a:xfrm>
              <a:off x="2043" y="2159"/>
              <a:ext cx="576" cy="191"/>
            </a:xfrm>
            <a:prstGeom prst="rect">
              <a:avLst/>
            </a:prstGeom>
            <a:solidFill>
              <a:srgbClr val="9966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R14_svc</a:t>
              </a:r>
              <a:endParaRPr lang="en-US" altLang="zh-CN" sz="1400" dirty="0">
                <a:latin typeface="Times New Roman" panose="02020603050405020304" pitchFamily="18" charset="0"/>
                <a:ea typeface="宋体" panose="02010600030101010101" pitchFamily="2" charset="-122"/>
              </a:endParaRPr>
            </a:p>
          </p:txBody>
        </p:sp>
        <p:sp>
          <p:nvSpPr>
            <p:cNvPr id="59513" name="Rectangle 153"/>
            <p:cNvSpPr/>
            <p:nvPr/>
          </p:nvSpPr>
          <p:spPr>
            <a:xfrm>
              <a:off x="864" y="2159"/>
              <a:ext cx="1179" cy="191"/>
            </a:xfrm>
            <a:prstGeom prst="rect">
              <a:avLst/>
            </a:prstGeom>
            <a:solidFill>
              <a:srgbClr val="CCFF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R14</a:t>
              </a:r>
              <a:endParaRPr lang="en-US" altLang="zh-CN" sz="1400" dirty="0">
                <a:latin typeface="Times New Roman" panose="02020603050405020304" pitchFamily="18" charset="0"/>
                <a:ea typeface="宋体" panose="02010600030101010101" pitchFamily="2" charset="-122"/>
              </a:endParaRPr>
            </a:p>
          </p:txBody>
        </p:sp>
        <p:sp>
          <p:nvSpPr>
            <p:cNvPr id="59514" name="Rectangle 152"/>
            <p:cNvSpPr/>
            <p:nvPr/>
          </p:nvSpPr>
          <p:spPr>
            <a:xfrm>
              <a:off x="4347" y="1968"/>
              <a:ext cx="576" cy="191"/>
            </a:xfrm>
            <a:prstGeom prst="rect">
              <a:avLst/>
            </a:prstGeom>
            <a:solidFill>
              <a:srgbClr val="00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R13_fiq</a:t>
              </a:r>
              <a:endParaRPr lang="en-US" altLang="zh-CN" sz="1400" dirty="0">
                <a:latin typeface="Times New Roman" panose="02020603050405020304" pitchFamily="18" charset="0"/>
                <a:ea typeface="宋体" panose="02010600030101010101" pitchFamily="2" charset="-122"/>
              </a:endParaRPr>
            </a:p>
          </p:txBody>
        </p:sp>
        <p:sp>
          <p:nvSpPr>
            <p:cNvPr id="59515" name="Rectangle 151"/>
            <p:cNvSpPr/>
            <p:nvPr/>
          </p:nvSpPr>
          <p:spPr>
            <a:xfrm>
              <a:off x="3771" y="1968"/>
              <a:ext cx="576" cy="191"/>
            </a:xfrm>
            <a:prstGeom prst="rect">
              <a:avLst/>
            </a:prstGeom>
            <a:solidFill>
              <a:srgbClr val="FFCC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R13_irq</a:t>
              </a:r>
              <a:endParaRPr lang="en-US" altLang="zh-CN" sz="1400" dirty="0">
                <a:latin typeface="Times New Roman" panose="02020603050405020304" pitchFamily="18" charset="0"/>
                <a:ea typeface="宋体" panose="02010600030101010101" pitchFamily="2" charset="-122"/>
              </a:endParaRPr>
            </a:p>
          </p:txBody>
        </p:sp>
        <p:sp>
          <p:nvSpPr>
            <p:cNvPr id="59516" name="Rectangle 150"/>
            <p:cNvSpPr/>
            <p:nvPr/>
          </p:nvSpPr>
          <p:spPr>
            <a:xfrm>
              <a:off x="3195" y="1968"/>
              <a:ext cx="576" cy="191"/>
            </a:xfrm>
            <a:prstGeom prst="rect">
              <a:avLst/>
            </a:prstGeom>
            <a:solidFill>
              <a:srgbClr val="66FFCC"/>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R13_und</a:t>
              </a:r>
              <a:endParaRPr lang="en-US" altLang="zh-CN" sz="1400" dirty="0">
                <a:latin typeface="Times New Roman" panose="02020603050405020304" pitchFamily="18" charset="0"/>
                <a:ea typeface="宋体" panose="02010600030101010101" pitchFamily="2" charset="-122"/>
              </a:endParaRPr>
            </a:p>
          </p:txBody>
        </p:sp>
        <p:sp>
          <p:nvSpPr>
            <p:cNvPr id="59517" name="Rectangle 149"/>
            <p:cNvSpPr/>
            <p:nvPr/>
          </p:nvSpPr>
          <p:spPr>
            <a:xfrm>
              <a:off x="2619" y="1968"/>
              <a:ext cx="576" cy="191"/>
            </a:xfrm>
            <a:prstGeom prst="rect">
              <a:avLst/>
            </a:prstGeom>
            <a:solidFill>
              <a:srgbClr val="6699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R13_abt</a:t>
              </a:r>
              <a:endParaRPr lang="en-US" altLang="zh-CN" sz="1400" dirty="0">
                <a:latin typeface="Times New Roman" panose="02020603050405020304" pitchFamily="18" charset="0"/>
                <a:ea typeface="宋体" panose="02010600030101010101" pitchFamily="2" charset="-122"/>
              </a:endParaRPr>
            </a:p>
          </p:txBody>
        </p:sp>
        <p:sp>
          <p:nvSpPr>
            <p:cNvPr id="59518" name="Rectangle 148"/>
            <p:cNvSpPr/>
            <p:nvPr/>
          </p:nvSpPr>
          <p:spPr>
            <a:xfrm>
              <a:off x="2043" y="1968"/>
              <a:ext cx="576" cy="191"/>
            </a:xfrm>
            <a:prstGeom prst="rect">
              <a:avLst/>
            </a:prstGeom>
            <a:solidFill>
              <a:srgbClr val="9966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R13_svc</a:t>
              </a:r>
              <a:endParaRPr lang="en-US" altLang="zh-CN" sz="1400" dirty="0">
                <a:latin typeface="Times New Roman" panose="02020603050405020304" pitchFamily="18" charset="0"/>
                <a:ea typeface="宋体" panose="02010600030101010101" pitchFamily="2" charset="-122"/>
              </a:endParaRPr>
            </a:p>
          </p:txBody>
        </p:sp>
        <p:sp>
          <p:nvSpPr>
            <p:cNvPr id="59519" name="Rectangle 146"/>
            <p:cNvSpPr/>
            <p:nvPr/>
          </p:nvSpPr>
          <p:spPr>
            <a:xfrm>
              <a:off x="864" y="1968"/>
              <a:ext cx="1179" cy="191"/>
            </a:xfrm>
            <a:prstGeom prst="rect">
              <a:avLst/>
            </a:prstGeom>
            <a:solidFill>
              <a:srgbClr val="CCFFFF"/>
            </a:solidFill>
            <a:ln w="9525">
              <a:noFill/>
            </a:ln>
          </p:spPr>
          <p:txBody>
            <a:bodyPr anchor="t" anchorCtr="0"/>
            <a:p>
              <a:pPr algn="ctr">
                <a:spcBef>
                  <a:spcPct val="20000"/>
                </a:spcBef>
                <a:buClr>
                  <a:schemeClr val="folHlink"/>
                </a:buClr>
                <a:buSzPct val="60000"/>
                <a:buFont typeface="Wingdings" panose="05000000000000000000" pitchFamily="2" charset="2"/>
              </a:pPr>
              <a:r>
                <a:rPr lang="en-US" altLang="zh-CN" sz="1400" dirty="0">
                  <a:latin typeface="Times New Roman" panose="02020603050405020304" pitchFamily="18" charset="0"/>
                  <a:ea typeface="宋体" panose="02010600030101010101" pitchFamily="2" charset="-122"/>
                </a:rPr>
                <a:t>R13</a:t>
              </a:r>
              <a:endParaRPr lang="en-US" altLang="zh-CN" sz="1400" dirty="0">
                <a:latin typeface="Times New Roman" panose="02020603050405020304" pitchFamily="18" charset="0"/>
                <a:ea typeface="宋体" panose="02010600030101010101" pitchFamily="2" charset="-122"/>
              </a:endParaRPr>
            </a:p>
          </p:txBody>
        </p:sp>
        <p:sp>
          <p:nvSpPr>
            <p:cNvPr id="59520" name="Line 160"/>
            <p:cNvSpPr/>
            <p:nvPr/>
          </p:nvSpPr>
          <p:spPr>
            <a:xfrm>
              <a:off x="864" y="1968"/>
              <a:ext cx="4059" cy="0"/>
            </a:xfrm>
            <a:prstGeom prst="line">
              <a:avLst/>
            </a:prstGeom>
            <a:ln w="28575" cap="sq" cmpd="sng">
              <a:solidFill>
                <a:schemeClr val="tx1"/>
              </a:solidFill>
              <a:prstDash val="solid"/>
              <a:round/>
              <a:headEnd type="none" w="med" len="med"/>
              <a:tailEnd type="none" w="med" len="med"/>
            </a:ln>
          </p:spPr>
        </p:sp>
        <p:sp>
          <p:nvSpPr>
            <p:cNvPr id="59521" name="Line 161"/>
            <p:cNvSpPr/>
            <p:nvPr/>
          </p:nvSpPr>
          <p:spPr>
            <a:xfrm>
              <a:off x="864" y="2159"/>
              <a:ext cx="4059" cy="0"/>
            </a:xfrm>
            <a:prstGeom prst="line">
              <a:avLst/>
            </a:prstGeom>
            <a:ln w="12700" cap="flat" cmpd="sng">
              <a:solidFill>
                <a:schemeClr val="tx1"/>
              </a:solidFill>
              <a:prstDash val="solid"/>
              <a:round/>
              <a:headEnd type="none" w="med" len="med"/>
              <a:tailEnd type="none" w="med" len="med"/>
            </a:ln>
          </p:spPr>
        </p:sp>
        <p:sp>
          <p:nvSpPr>
            <p:cNvPr id="59522" name="Line 162"/>
            <p:cNvSpPr/>
            <p:nvPr/>
          </p:nvSpPr>
          <p:spPr>
            <a:xfrm>
              <a:off x="864" y="2350"/>
              <a:ext cx="4059" cy="0"/>
            </a:xfrm>
            <a:prstGeom prst="line">
              <a:avLst/>
            </a:prstGeom>
            <a:ln w="28575" cap="sq" cmpd="sng">
              <a:solidFill>
                <a:schemeClr val="tx1"/>
              </a:solidFill>
              <a:prstDash val="solid"/>
              <a:round/>
              <a:headEnd type="none" w="med" len="med"/>
              <a:tailEnd type="none" w="med" len="med"/>
            </a:ln>
          </p:spPr>
        </p:sp>
        <p:sp>
          <p:nvSpPr>
            <p:cNvPr id="59523" name="Line 163"/>
            <p:cNvSpPr/>
            <p:nvPr/>
          </p:nvSpPr>
          <p:spPr>
            <a:xfrm>
              <a:off x="864" y="1968"/>
              <a:ext cx="0" cy="382"/>
            </a:xfrm>
            <a:prstGeom prst="line">
              <a:avLst/>
            </a:prstGeom>
            <a:ln w="28575" cap="sq" cmpd="sng">
              <a:solidFill>
                <a:schemeClr val="tx1"/>
              </a:solidFill>
              <a:prstDash val="solid"/>
              <a:round/>
              <a:headEnd type="none" w="med" len="med"/>
              <a:tailEnd type="none" w="med" len="med"/>
            </a:ln>
          </p:spPr>
        </p:sp>
        <p:sp>
          <p:nvSpPr>
            <p:cNvPr id="59524" name="Line 165"/>
            <p:cNvSpPr/>
            <p:nvPr/>
          </p:nvSpPr>
          <p:spPr>
            <a:xfrm>
              <a:off x="2043" y="1968"/>
              <a:ext cx="0" cy="382"/>
            </a:xfrm>
            <a:prstGeom prst="line">
              <a:avLst/>
            </a:prstGeom>
            <a:ln w="12700" cap="flat" cmpd="sng">
              <a:solidFill>
                <a:schemeClr val="tx1"/>
              </a:solidFill>
              <a:prstDash val="solid"/>
              <a:round/>
              <a:headEnd type="none" w="med" len="med"/>
              <a:tailEnd type="none" w="med" len="med"/>
            </a:ln>
          </p:spPr>
        </p:sp>
        <p:sp>
          <p:nvSpPr>
            <p:cNvPr id="59525" name="Line 166"/>
            <p:cNvSpPr/>
            <p:nvPr/>
          </p:nvSpPr>
          <p:spPr>
            <a:xfrm>
              <a:off x="2619" y="1968"/>
              <a:ext cx="0" cy="382"/>
            </a:xfrm>
            <a:prstGeom prst="line">
              <a:avLst/>
            </a:prstGeom>
            <a:ln w="12700" cap="flat" cmpd="sng">
              <a:solidFill>
                <a:schemeClr val="tx1"/>
              </a:solidFill>
              <a:prstDash val="solid"/>
              <a:round/>
              <a:headEnd type="none" w="med" len="med"/>
              <a:tailEnd type="none" w="med" len="med"/>
            </a:ln>
          </p:spPr>
        </p:sp>
        <p:sp>
          <p:nvSpPr>
            <p:cNvPr id="59526" name="Line 167"/>
            <p:cNvSpPr/>
            <p:nvPr/>
          </p:nvSpPr>
          <p:spPr>
            <a:xfrm>
              <a:off x="3195" y="1968"/>
              <a:ext cx="0" cy="382"/>
            </a:xfrm>
            <a:prstGeom prst="line">
              <a:avLst/>
            </a:prstGeom>
            <a:ln w="12700" cap="flat" cmpd="sng">
              <a:solidFill>
                <a:schemeClr val="tx1"/>
              </a:solidFill>
              <a:prstDash val="solid"/>
              <a:round/>
              <a:headEnd type="none" w="med" len="med"/>
              <a:tailEnd type="none" w="med" len="med"/>
            </a:ln>
          </p:spPr>
        </p:sp>
        <p:sp>
          <p:nvSpPr>
            <p:cNvPr id="59527" name="Line 168"/>
            <p:cNvSpPr/>
            <p:nvPr/>
          </p:nvSpPr>
          <p:spPr>
            <a:xfrm>
              <a:off x="3771" y="1968"/>
              <a:ext cx="0" cy="382"/>
            </a:xfrm>
            <a:prstGeom prst="line">
              <a:avLst/>
            </a:prstGeom>
            <a:ln w="12700" cap="flat" cmpd="sng">
              <a:solidFill>
                <a:schemeClr val="tx1"/>
              </a:solidFill>
              <a:prstDash val="solid"/>
              <a:round/>
              <a:headEnd type="none" w="med" len="med"/>
              <a:tailEnd type="none" w="med" len="med"/>
            </a:ln>
          </p:spPr>
        </p:sp>
        <p:sp>
          <p:nvSpPr>
            <p:cNvPr id="59528" name="Line 169"/>
            <p:cNvSpPr/>
            <p:nvPr/>
          </p:nvSpPr>
          <p:spPr>
            <a:xfrm>
              <a:off x="4347" y="1968"/>
              <a:ext cx="0" cy="382"/>
            </a:xfrm>
            <a:prstGeom prst="line">
              <a:avLst/>
            </a:prstGeom>
            <a:ln w="12700" cap="flat" cmpd="sng">
              <a:solidFill>
                <a:schemeClr val="tx1"/>
              </a:solidFill>
              <a:prstDash val="solid"/>
              <a:round/>
              <a:headEnd type="none" w="med" len="med"/>
              <a:tailEnd type="none" w="med" len="med"/>
            </a:ln>
          </p:spPr>
        </p:sp>
        <p:sp>
          <p:nvSpPr>
            <p:cNvPr id="59529" name="Line 170"/>
            <p:cNvSpPr/>
            <p:nvPr/>
          </p:nvSpPr>
          <p:spPr>
            <a:xfrm>
              <a:off x="4923" y="1968"/>
              <a:ext cx="0" cy="382"/>
            </a:xfrm>
            <a:prstGeom prst="line">
              <a:avLst/>
            </a:prstGeom>
            <a:ln w="28575" cap="sq"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1810"/>
                                        </p:tgtEl>
                                        <p:attrNameLst>
                                          <p:attrName>style.visibility</p:attrName>
                                        </p:attrNameLst>
                                      </p:cBhvr>
                                      <p:to>
                                        <p:strVal val="visible"/>
                                      </p:to>
                                    </p:set>
                                    <p:anim calcmode="lin" valueType="num">
                                      <p:cBhvr additive="base">
                                        <p:cTn id="11" dur="500" fill="hold"/>
                                        <p:tgtEl>
                                          <p:spTgt spid="71810"/>
                                        </p:tgtEl>
                                        <p:attrNameLst>
                                          <p:attrName>ppt_x</p:attrName>
                                        </p:attrNameLst>
                                      </p:cBhvr>
                                      <p:tavLst>
                                        <p:tav tm="0">
                                          <p:val>
                                            <p:strVal val="1+#ppt_w/2"/>
                                          </p:val>
                                        </p:tav>
                                        <p:tav tm="100000">
                                          <p:val>
                                            <p:strVal val="#ppt_x"/>
                                          </p:val>
                                        </p:tav>
                                      </p:tavLst>
                                    </p:anim>
                                    <p:anim calcmode="lin" valueType="num">
                                      <p:cBhvr additive="base">
                                        <p:cTn id="12" dur="500" fill="hold"/>
                                        <p:tgtEl>
                                          <p:spTgt spid="718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2844" name="Group 140"/>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72816"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堆栈指针寄存器</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SP</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
        <p:nvSpPr>
          <p:cNvPr id="60528" name="Line 113"/>
          <p:cNvSpPr/>
          <p:nvPr/>
        </p:nvSpPr>
        <p:spPr>
          <a:xfrm>
            <a:off x="7845425" y="3657600"/>
            <a:ext cx="0" cy="2122488"/>
          </a:xfrm>
          <a:prstGeom prst="line">
            <a:avLst/>
          </a:prstGeom>
          <a:ln w="12700" cap="flat" cmpd="sng">
            <a:solidFill>
              <a:schemeClr val="tx1"/>
            </a:solidFill>
            <a:prstDash val="solid"/>
            <a:round/>
            <a:headEnd type="none" w="med" len="med"/>
            <a:tailEnd type="none" w="med" len="med"/>
          </a:ln>
        </p:spPr>
      </p:sp>
      <p:sp>
        <p:nvSpPr>
          <p:cNvPr id="60529" name="Line 114"/>
          <p:cNvSpPr/>
          <p:nvPr/>
        </p:nvSpPr>
        <p:spPr>
          <a:xfrm>
            <a:off x="8759825" y="3657600"/>
            <a:ext cx="0" cy="2122488"/>
          </a:xfrm>
          <a:prstGeom prst="line">
            <a:avLst/>
          </a:prstGeom>
          <a:ln w="28575" cap="sq" cmpd="sng">
            <a:solidFill>
              <a:schemeClr val="tx1"/>
            </a:solidFill>
            <a:prstDash val="solid"/>
            <a:round/>
            <a:headEnd type="none" w="med" len="med"/>
            <a:tailEnd type="none" w="med" len="med"/>
          </a:ln>
        </p:spPr>
      </p:sp>
      <p:sp>
        <p:nvSpPr>
          <p:cNvPr id="72819" name="AutoShape 115"/>
          <p:cNvSpPr/>
          <p:nvPr/>
        </p:nvSpPr>
        <p:spPr>
          <a:xfrm>
            <a:off x="3048000" y="2743200"/>
            <a:ext cx="4876800" cy="23622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寄存器</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常作为</a:t>
            </a:r>
            <a:r>
              <a:rPr lang="zh-CN" altLang="en-US" sz="2400" dirty="0">
                <a:solidFill>
                  <a:srgbClr val="FF0000"/>
                </a:solidFill>
                <a:latin typeface="华文新魏" panose="02010800040101010101" pitchFamily="2" charset="-122"/>
                <a:ea typeface="华文新魏" panose="02010800040101010101" pitchFamily="2" charset="-122"/>
              </a:rPr>
              <a:t>堆栈指针</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SP</a:t>
            </a:r>
            <a:r>
              <a:rPr lang="zh-CN" altLang="en-US" sz="2400" dirty="0">
                <a:latin typeface="华文新魏" panose="02010800040101010101" pitchFamily="2" charset="-122"/>
                <a:ea typeface="华文新魏" panose="02010800040101010101" pitchFamily="2" charset="-122"/>
              </a:rPr>
              <a:t>）。在</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指令集当中，没有以特殊方式使用</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的指令或其它功能，只是习惯上都这样使用。但是在</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指令集中存在使用</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的指令。</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72816"/>
                                        </p:tgtEl>
                                        <p:attrNameLst>
                                          <p:attrName>style.visibility</p:attrName>
                                        </p:attrNameLst>
                                      </p:cBhvr>
                                      <p:to>
                                        <p:strVal val="visible"/>
                                      </p:to>
                                    </p:set>
                                    <p:animEffect transition="in" filter="barn(outVertical)">
                                      <p:cBhvr>
                                        <p:cTn id="7" dur="500"/>
                                        <p:tgtEl>
                                          <p:spTgt spid="72816"/>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2819"/>
                                        </p:tgtEl>
                                        <p:attrNameLst>
                                          <p:attrName>style.visibility</p:attrName>
                                        </p:attrNameLst>
                                      </p:cBhvr>
                                      <p:to>
                                        <p:strVal val="visible"/>
                                      </p:to>
                                    </p:set>
                                    <p:anim calcmode="lin" valueType="num">
                                      <p:cBhvr additive="base">
                                        <p:cTn id="11" dur="500" fill="hold"/>
                                        <p:tgtEl>
                                          <p:spTgt spid="72819"/>
                                        </p:tgtEl>
                                        <p:attrNameLst>
                                          <p:attrName>ppt_x</p:attrName>
                                        </p:attrNameLst>
                                      </p:cBhvr>
                                      <p:tavLst>
                                        <p:tav tm="0">
                                          <p:val>
                                            <p:strVal val="1+#ppt_w/2"/>
                                          </p:val>
                                        </p:tav>
                                        <p:tav tm="100000">
                                          <p:val>
                                            <p:strVal val="#ppt_x"/>
                                          </p:val>
                                        </p:tav>
                                      </p:tavLst>
                                    </p:anim>
                                    <p:anim calcmode="lin" valueType="num">
                                      <p:cBhvr additive="base">
                                        <p:cTn id="12" dur="500" fill="hold"/>
                                        <p:tgtEl>
                                          <p:spTgt spid="728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16" grpId="0"/>
      <p:bldP spid="728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3845" name="Group 117"/>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73840" name="Text Box 112"/>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链接寄存器</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
        <p:nvSpPr>
          <p:cNvPr id="61552" name="Line 113"/>
          <p:cNvSpPr/>
          <p:nvPr/>
        </p:nvSpPr>
        <p:spPr>
          <a:xfrm>
            <a:off x="7845425" y="3657600"/>
            <a:ext cx="0" cy="2122488"/>
          </a:xfrm>
          <a:prstGeom prst="line">
            <a:avLst/>
          </a:prstGeom>
          <a:ln w="12700" cap="flat" cmpd="sng">
            <a:solidFill>
              <a:schemeClr val="tx1"/>
            </a:solidFill>
            <a:prstDash val="solid"/>
            <a:round/>
            <a:headEnd type="none" w="med" len="med"/>
            <a:tailEnd type="none" w="med" len="med"/>
          </a:ln>
        </p:spPr>
      </p:sp>
      <p:sp>
        <p:nvSpPr>
          <p:cNvPr id="61553" name="Line 114"/>
          <p:cNvSpPr/>
          <p:nvPr/>
        </p:nvSpPr>
        <p:spPr>
          <a:xfrm>
            <a:off x="8759825" y="3657600"/>
            <a:ext cx="0" cy="2122488"/>
          </a:xfrm>
          <a:prstGeom prst="line">
            <a:avLst/>
          </a:prstGeom>
          <a:ln w="28575" cap="sq" cmpd="sng">
            <a:solidFill>
              <a:schemeClr val="tx1"/>
            </a:solidFill>
            <a:prstDash val="solid"/>
            <a:round/>
            <a:headEnd type="none" w="med" len="med"/>
            <a:tailEnd type="none" w="med" len="med"/>
          </a:ln>
        </p:spPr>
      </p:sp>
      <p:sp>
        <p:nvSpPr>
          <p:cNvPr id="73843" name="AutoShape 115"/>
          <p:cNvSpPr/>
          <p:nvPr/>
        </p:nvSpPr>
        <p:spPr>
          <a:xfrm>
            <a:off x="2514600" y="2057400"/>
            <a:ext cx="6096000" cy="30480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R14</a:t>
            </a:r>
            <a:r>
              <a:rPr lang="zh-CN" altLang="en-US" sz="2400" dirty="0">
                <a:latin typeface="华文新魏" panose="02010800040101010101" pitchFamily="2" charset="-122"/>
                <a:ea typeface="华文新魏" panose="02010800040101010101" pitchFamily="2" charset="-122"/>
              </a:rPr>
              <a:t>为</a:t>
            </a:r>
            <a:r>
              <a:rPr lang="zh-CN" altLang="en-US" sz="2400" dirty="0">
                <a:solidFill>
                  <a:srgbClr val="FF0000"/>
                </a:solidFill>
                <a:latin typeface="华文新魏" panose="02010800040101010101" pitchFamily="2" charset="-122"/>
                <a:ea typeface="华文新魏" panose="02010800040101010101" pitchFamily="2" charset="-122"/>
              </a:rPr>
              <a:t>链接寄存器</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），在结构上有两个特殊功能：</a:t>
            </a:r>
            <a:endParaRPr lang="zh-CN" altLang="en-US" sz="2400" dirty="0">
              <a:latin typeface="华文新魏" panose="02010800040101010101" pitchFamily="2" charset="-122"/>
              <a:ea typeface="华文新魏" panose="02010800040101010101" pitchFamily="2" charset="-122"/>
            </a:endParaRPr>
          </a:p>
          <a:p>
            <a:pPr>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在每种模式下，模式自身的</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版本用于保存子程序返回地址；</a:t>
            </a:r>
            <a:endParaRPr lang="zh-CN" altLang="en-US" sz="2400" dirty="0">
              <a:latin typeface="华文新魏" panose="02010800040101010101" pitchFamily="2" charset="-122"/>
              <a:ea typeface="华文新魏" panose="02010800040101010101" pitchFamily="2" charset="-122"/>
            </a:endParaRPr>
          </a:p>
          <a:p>
            <a:pPr>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当发生异常时，将</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对应的异常模式版本设置为异常返回地址（有些异常有一个小的固定偏移量）。</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73840"/>
                                        </p:tgtEl>
                                        <p:attrNameLst>
                                          <p:attrName>style.visibility</p:attrName>
                                        </p:attrNameLst>
                                      </p:cBhvr>
                                      <p:to>
                                        <p:strVal val="visible"/>
                                      </p:to>
                                    </p:set>
                                    <p:animEffect transition="in" filter="barn(outVertical)">
                                      <p:cBhvr>
                                        <p:cTn id="7" dur="500"/>
                                        <p:tgtEl>
                                          <p:spTgt spid="73840"/>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3843"/>
                                        </p:tgtEl>
                                        <p:attrNameLst>
                                          <p:attrName>style.visibility</p:attrName>
                                        </p:attrNameLst>
                                      </p:cBhvr>
                                      <p:to>
                                        <p:strVal val="visible"/>
                                      </p:to>
                                    </p:set>
                                    <p:anim calcmode="lin" valueType="num">
                                      <p:cBhvr additive="base">
                                        <p:cTn id="11" dur="500" fill="hold"/>
                                        <p:tgtEl>
                                          <p:spTgt spid="73843"/>
                                        </p:tgtEl>
                                        <p:attrNameLst>
                                          <p:attrName>ppt_x</p:attrName>
                                        </p:attrNameLst>
                                      </p:cBhvr>
                                      <p:tavLst>
                                        <p:tav tm="0">
                                          <p:val>
                                            <p:strVal val="1+#ppt_w/2"/>
                                          </p:val>
                                        </p:tav>
                                        <p:tav tm="100000">
                                          <p:val>
                                            <p:strVal val="#ppt_x"/>
                                          </p:val>
                                        </p:tav>
                                      </p:tavLst>
                                    </p:anim>
                                    <p:anim calcmode="lin" valueType="num">
                                      <p:cBhvr additive="base">
                                        <p:cTn id="12" dur="500" fill="hold"/>
                                        <p:tgtEl>
                                          <p:spTgt spid="738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40" grpId="0"/>
      <p:bldP spid="7384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784"/>
          <p:cNvGrpSpPr/>
          <p:nvPr/>
        </p:nvGrpSpPr>
        <p:grpSpPr>
          <a:xfrm>
            <a:off x="3810000" y="2819400"/>
            <a:ext cx="5181600" cy="2819400"/>
            <a:chOff x="2400" y="1776"/>
            <a:chExt cx="3264" cy="1776"/>
          </a:xfrm>
        </p:grpSpPr>
        <p:grpSp>
          <p:nvGrpSpPr>
            <p:cNvPr id="62466" name="Group 781"/>
            <p:cNvGrpSpPr/>
            <p:nvPr/>
          </p:nvGrpSpPr>
          <p:grpSpPr>
            <a:xfrm>
              <a:off x="2400" y="1776"/>
              <a:ext cx="3264" cy="1776"/>
              <a:chOff x="2400" y="1776"/>
              <a:chExt cx="3264" cy="1776"/>
            </a:xfrm>
          </p:grpSpPr>
          <p:sp>
            <p:nvSpPr>
              <p:cNvPr id="62467" name="Text Box 737"/>
              <p:cNvSpPr txBox="1"/>
              <p:nvPr/>
            </p:nvSpPr>
            <p:spPr>
              <a:xfrm>
                <a:off x="4176" y="2064"/>
                <a:ext cx="576" cy="212"/>
              </a:xfrm>
              <a:prstGeom prst="rect">
                <a:avLst/>
              </a:prstGeom>
              <a:noFill/>
              <a:ln w="9525">
                <a:noFill/>
              </a:ln>
            </p:spPr>
            <p:txBody>
              <a:bodyPr anchor="t" anchorCtr="0">
                <a:spAutoFit/>
              </a:bodyPr>
              <a:p>
                <a:pPr>
                  <a:spcBef>
                    <a:spcPct val="50000"/>
                  </a:spcBef>
                  <a:buClrTx/>
                  <a:buFontTx/>
                </a:pPr>
                <a:r>
                  <a:rPr lang="en-US" altLang="zh-CN" sz="1600" dirty="0">
                    <a:latin typeface="Times New Roman" panose="02020603050405020304" pitchFamily="18" charset="0"/>
                    <a:ea typeface="宋体" panose="02010600030101010101" pitchFamily="2" charset="-122"/>
                  </a:rPr>
                  <a:t>Lable</a:t>
                </a:r>
                <a:endParaRPr lang="en-US" altLang="zh-CN" sz="1600" dirty="0">
                  <a:latin typeface="Times New Roman" panose="02020603050405020304" pitchFamily="18" charset="0"/>
                  <a:ea typeface="宋体" panose="02010600030101010101" pitchFamily="2" charset="-122"/>
                </a:endParaRPr>
              </a:p>
            </p:txBody>
          </p:sp>
          <p:sp>
            <p:nvSpPr>
              <p:cNvPr id="62468" name="Rectangle 725"/>
              <p:cNvSpPr/>
              <p:nvPr/>
            </p:nvSpPr>
            <p:spPr>
              <a:xfrm>
                <a:off x="2928" y="2112"/>
                <a:ext cx="960" cy="1008"/>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2469" name="Rectangle 727"/>
              <p:cNvSpPr/>
              <p:nvPr/>
            </p:nvSpPr>
            <p:spPr>
              <a:xfrm>
                <a:off x="4608" y="2112"/>
                <a:ext cx="960" cy="1008"/>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buClrTx/>
                  <a:buFontTx/>
                </a:pPr>
                <a:endParaRPr lang="zh-CN" altLang="zh-CN" sz="2400" dirty="0">
                  <a:latin typeface="Courier New" panose="02070309020205020404" pitchFamily="49" charset="0"/>
                  <a:ea typeface="华文新魏" panose="02010800040101010101" pitchFamily="2" charset="-122"/>
                </a:endParaRPr>
              </a:p>
            </p:txBody>
          </p:sp>
          <p:sp>
            <p:nvSpPr>
              <p:cNvPr id="62470" name="Text Box 731"/>
              <p:cNvSpPr txBox="1"/>
              <p:nvPr/>
            </p:nvSpPr>
            <p:spPr>
              <a:xfrm>
                <a:off x="3072" y="1920"/>
                <a:ext cx="672"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程序</a:t>
                </a:r>
                <a:r>
                  <a:rPr lang="en-US" altLang="zh-CN" dirty="0">
                    <a:latin typeface="Times New Roman" panose="02020603050405020304" pitchFamily="18" charset="0"/>
                    <a:ea typeface="宋体" panose="02010600030101010101" pitchFamily="2" charset="-122"/>
                  </a:rPr>
                  <a:t>A</a:t>
                </a:r>
                <a:endParaRPr lang="en-US" altLang="zh-CN" dirty="0">
                  <a:latin typeface="Times New Roman" panose="02020603050405020304" pitchFamily="18" charset="0"/>
                  <a:ea typeface="宋体" panose="02010600030101010101" pitchFamily="2" charset="-122"/>
                </a:endParaRPr>
              </a:p>
            </p:txBody>
          </p:sp>
          <p:sp>
            <p:nvSpPr>
              <p:cNvPr id="62471" name="Text Box 732"/>
              <p:cNvSpPr txBox="1"/>
              <p:nvPr/>
            </p:nvSpPr>
            <p:spPr>
              <a:xfrm>
                <a:off x="4800" y="1920"/>
                <a:ext cx="672" cy="231"/>
              </a:xfrm>
              <a:prstGeom prst="rect">
                <a:avLst/>
              </a:prstGeom>
              <a:noFill/>
              <a:ln w="9525">
                <a:noFill/>
              </a:ln>
            </p:spPr>
            <p:txBody>
              <a:bodyPr anchor="t" anchorCtr="0">
                <a:spAutoFit/>
              </a:bodyPr>
              <a:p>
                <a:pPr algn="ctr">
                  <a:spcBef>
                    <a:spcPct val="50000"/>
                  </a:spcBef>
                  <a:buClrTx/>
                  <a:buFontTx/>
                </a:pPr>
                <a:r>
                  <a:rPr lang="zh-CN" altLang="en-US" dirty="0">
                    <a:latin typeface="Courier New" panose="02070309020205020404" pitchFamily="49" charset="0"/>
                    <a:ea typeface="宋体" panose="02010600030101010101" pitchFamily="2" charset="-122"/>
                  </a:rPr>
                  <a:t>程序</a:t>
                </a:r>
                <a:r>
                  <a:rPr lang="en-US" altLang="zh-CN" dirty="0">
                    <a:latin typeface="Courier New" panose="02070309020205020404" pitchFamily="49" charset="0"/>
                    <a:ea typeface="宋体" panose="02010600030101010101" pitchFamily="2" charset="-122"/>
                  </a:rPr>
                  <a:t>B</a:t>
                </a:r>
                <a:endParaRPr lang="en-US" altLang="zh-CN" dirty="0">
                  <a:latin typeface="Courier New" panose="02070309020205020404" pitchFamily="49" charset="0"/>
                  <a:ea typeface="宋体" panose="02010600030101010101" pitchFamily="2" charset="-122"/>
                </a:endParaRPr>
              </a:p>
            </p:txBody>
          </p:sp>
          <p:sp>
            <p:nvSpPr>
              <p:cNvPr id="62472" name="Rectangle 776"/>
              <p:cNvSpPr/>
              <p:nvPr/>
            </p:nvSpPr>
            <p:spPr>
              <a:xfrm>
                <a:off x="2400" y="1776"/>
                <a:ext cx="3264" cy="1776"/>
              </a:xfrm>
              <a:prstGeom prst="rect">
                <a:avLst/>
              </a:prstGeom>
              <a:noFill/>
              <a:ln w="12700"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sp>
          <p:nvSpPr>
            <p:cNvPr id="62473" name="Rectangle 742"/>
            <p:cNvSpPr/>
            <p:nvPr/>
          </p:nvSpPr>
          <p:spPr>
            <a:xfrm>
              <a:off x="3744" y="3264"/>
              <a:ext cx="1104" cy="192"/>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Courier New" panose="02070309020205020404" pitchFamily="49" charset="0"/>
                  <a:ea typeface="宋体" panose="02010600030101010101" pitchFamily="2" charset="-122"/>
                </a:rPr>
                <a:t>R14</a:t>
              </a:r>
              <a:endParaRPr lang="en-US" altLang="zh-CN" dirty="0">
                <a:latin typeface="Courier New" panose="02070309020205020404" pitchFamily="49" charset="0"/>
                <a:ea typeface="宋体" panose="02010600030101010101" pitchFamily="2" charset="-122"/>
              </a:endParaRPr>
            </a:p>
          </p:txBody>
        </p:sp>
      </p:grpSp>
      <p:sp>
        <p:nvSpPr>
          <p:cNvPr id="62474" name="Rectangle 722"/>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64211" name="Rectangle 723"/>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R14</a:t>
            </a:r>
            <a:r>
              <a:rPr lang="zh-CN" altLang="en-US" dirty="0"/>
              <a:t>（</a:t>
            </a:r>
            <a:r>
              <a:rPr lang="en-US" altLang="zh-CN" dirty="0"/>
              <a:t>LR</a:t>
            </a:r>
            <a:r>
              <a:rPr lang="zh-CN" altLang="en-US" dirty="0"/>
              <a:t>）寄存器与子程序调用</a:t>
            </a:r>
            <a:endParaRPr lang="zh-CN" altLang="en-US" dirty="0"/>
          </a:p>
        </p:txBody>
      </p:sp>
      <p:sp>
        <p:nvSpPr>
          <p:cNvPr id="64217" name="AutoShape 729"/>
          <p:cNvSpPr/>
          <p:nvPr/>
        </p:nvSpPr>
        <p:spPr>
          <a:xfrm>
            <a:off x="5257800" y="3429000"/>
            <a:ext cx="304800" cy="533400"/>
          </a:xfrm>
          <a:prstGeom prst="downArrow">
            <a:avLst>
              <a:gd name="adj1" fmla="val 50000"/>
              <a:gd name="adj2" fmla="val 43750"/>
            </a:avLst>
          </a:prstGeom>
          <a:solidFill>
            <a:schemeClr val="accent2"/>
          </a:solidFill>
          <a:ln w="9525" cap="flat" cmpd="sng">
            <a:solidFill>
              <a:schemeClr val="tx1"/>
            </a:solidFill>
            <a:prstDash val="solid"/>
            <a:miter/>
            <a:headEnd type="none" w="med" len="med"/>
            <a:tailEnd type="none" w="med" len="med"/>
          </a:ln>
        </p:spPr>
        <p:txBody>
          <a:bodyPr vert="eaVert"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nvGrpSpPr>
          <p:cNvPr id="4" name="Group 782"/>
          <p:cNvGrpSpPr/>
          <p:nvPr/>
        </p:nvGrpSpPr>
        <p:grpSpPr>
          <a:xfrm>
            <a:off x="3962400" y="4038600"/>
            <a:ext cx="2209800" cy="641350"/>
            <a:chOff x="2496" y="2544"/>
            <a:chExt cx="1392" cy="404"/>
          </a:xfrm>
        </p:grpSpPr>
        <p:sp>
          <p:nvSpPr>
            <p:cNvPr id="62478" name="Rectangle 726"/>
            <p:cNvSpPr/>
            <p:nvPr/>
          </p:nvSpPr>
          <p:spPr>
            <a:xfrm>
              <a:off x="2928" y="2544"/>
              <a:ext cx="960" cy="192"/>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Courier New" panose="02070309020205020404" pitchFamily="49" charset="0"/>
                  <a:ea typeface="宋体" panose="02010600030101010101" pitchFamily="2" charset="-122"/>
                </a:rPr>
                <a:t>BL   Lable</a:t>
              </a:r>
              <a:endParaRPr lang="en-US" altLang="zh-CN" dirty="0">
                <a:latin typeface="Courier New" panose="02070309020205020404" pitchFamily="49" charset="0"/>
                <a:ea typeface="宋体" panose="02010600030101010101" pitchFamily="2" charset="-122"/>
              </a:endParaRPr>
            </a:p>
          </p:txBody>
        </p:sp>
        <p:sp>
          <p:nvSpPr>
            <p:cNvPr id="62479" name="Text Box 733"/>
            <p:cNvSpPr txBox="1"/>
            <p:nvPr/>
          </p:nvSpPr>
          <p:spPr>
            <a:xfrm>
              <a:off x="2496" y="2736"/>
              <a:ext cx="576" cy="212"/>
            </a:xfrm>
            <a:prstGeom prst="rect">
              <a:avLst/>
            </a:prstGeom>
            <a:noFill/>
            <a:ln w="9525">
              <a:noFill/>
            </a:ln>
          </p:spPr>
          <p:txBody>
            <a:bodyPr anchor="t" anchorCtr="0">
              <a:spAutoFit/>
            </a:bodyPr>
            <a:p>
              <a:pPr>
                <a:spcBef>
                  <a:spcPct val="50000"/>
                </a:spcBef>
                <a:buClrTx/>
                <a:buFontTx/>
              </a:pPr>
              <a:r>
                <a:rPr lang="zh-CN" altLang="en-US" sz="1600" dirty="0">
                  <a:latin typeface="Times New Roman" panose="02020603050405020304" pitchFamily="18" charset="0"/>
                  <a:ea typeface="宋体" panose="02010600030101010101" pitchFamily="2" charset="-122"/>
                </a:rPr>
                <a:t>地址</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62480" name="Rectangle 736"/>
            <p:cNvSpPr/>
            <p:nvPr/>
          </p:nvSpPr>
          <p:spPr>
            <a:xfrm>
              <a:off x="2928" y="2736"/>
              <a:ext cx="960" cy="192"/>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Courier New" panose="02070309020205020404" pitchFamily="49" charset="0"/>
                  <a:ea typeface="宋体" panose="02010600030101010101" pitchFamily="2" charset="-122"/>
                </a:rPr>
                <a:t>???</a:t>
              </a:r>
              <a:endParaRPr lang="en-US" altLang="zh-CN" dirty="0">
                <a:latin typeface="Courier New" panose="02070309020205020404" pitchFamily="49" charset="0"/>
                <a:ea typeface="宋体" panose="02010600030101010101" pitchFamily="2" charset="-122"/>
              </a:endParaRPr>
            </a:p>
          </p:txBody>
        </p:sp>
      </p:grpSp>
      <p:sp>
        <p:nvSpPr>
          <p:cNvPr id="64227" name="Rectangle 739"/>
          <p:cNvSpPr/>
          <p:nvPr/>
        </p:nvSpPr>
        <p:spPr>
          <a:xfrm>
            <a:off x="7315200" y="4572000"/>
            <a:ext cx="1524000" cy="3810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Courier New" panose="02070309020205020404" pitchFamily="49" charset="0"/>
                <a:ea typeface="宋体" panose="02010600030101010101" pitchFamily="2" charset="-122"/>
              </a:rPr>
              <a:t>MOV  PC,LR</a:t>
            </a:r>
            <a:endParaRPr lang="en-US" altLang="zh-CN" dirty="0">
              <a:latin typeface="Courier New" panose="02070309020205020404" pitchFamily="49" charset="0"/>
              <a:ea typeface="宋体" panose="02010600030101010101" pitchFamily="2" charset="-122"/>
            </a:endParaRPr>
          </a:p>
        </p:txBody>
      </p:sp>
      <p:sp>
        <p:nvSpPr>
          <p:cNvPr id="64231" name="AutoShape 743"/>
          <p:cNvSpPr/>
          <p:nvPr/>
        </p:nvSpPr>
        <p:spPr>
          <a:xfrm>
            <a:off x="8001000" y="3733800"/>
            <a:ext cx="304800" cy="762000"/>
          </a:xfrm>
          <a:prstGeom prst="downArrow">
            <a:avLst>
              <a:gd name="adj1" fmla="val 50000"/>
              <a:gd name="adj2" fmla="val 62500"/>
            </a:avLst>
          </a:prstGeom>
          <a:solidFill>
            <a:schemeClr val="accent2"/>
          </a:solidFill>
          <a:ln w="9525" cap="flat" cmpd="sng">
            <a:solidFill>
              <a:schemeClr val="tx1"/>
            </a:solidFill>
            <a:prstDash val="solid"/>
            <a:miter/>
            <a:headEnd type="none" w="med" len="med"/>
            <a:tailEnd type="none" w="med" len="med"/>
          </a:ln>
        </p:spPr>
        <p:txBody>
          <a:bodyPr vert="eaVert"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4232" name="Rectangle 744"/>
          <p:cNvSpPr/>
          <p:nvPr/>
        </p:nvSpPr>
        <p:spPr>
          <a:xfrm>
            <a:off x="5943600" y="5181600"/>
            <a:ext cx="1752600" cy="3048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solidFill>
                  <a:srgbClr val="FF0000"/>
                </a:solidFill>
                <a:latin typeface="Courier New" panose="02070309020205020404" pitchFamily="49" charset="0"/>
                <a:ea typeface="宋体" panose="02010600030101010101" pitchFamily="2" charset="-122"/>
              </a:rPr>
              <a:t>R14(</a:t>
            </a:r>
            <a:r>
              <a:rPr lang="zh-CN" altLang="en-US" dirty="0">
                <a:solidFill>
                  <a:srgbClr val="FF0000"/>
                </a:solidFill>
                <a:latin typeface="Courier New" panose="02070309020205020404" pitchFamily="49" charset="0"/>
                <a:ea typeface="宋体" panose="02010600030101010101" pitchFamily="2" charset="-122"/>
              </a:rPr>
              <a:t>地址</a:t>
            </a:r>
            <a:r>
              <a:rPr lang="en-US" altLang="zh-CN" sz="2000" dirty="0">
                <a:solidFill>
                  <a:srgbClr val="FF0000"/>
                </a:solidFill>
                <a:latin typeface="Courier New" panose="02070309020205020404" pitchFamily="49" charset="0"/>
                <a:ea typeface="宋体" panose="02010600030101010101" pitchFamily="2" charset="-122"/>
              </a:rPr>
              <a:t>A)</a:t>
            </a:r>
            <a:endParaRPr lang="en-US" altLang="zh-CN" sz="2000" dirty="0">
              <a:solidFill>
                <a:srgbClr val="FF0000"/>
              </a:solidFill>
              <a:latin typeface="Courier New" panose="02070309020205020404" pitchFamily="49" charset="0"/>
              <a:ea typeface="宋体" panose="02010600030101010101" pitchFamily="2" charset="-122"/>
            </a:endParaRPr>
          </a:p>
        </p:txBody>
      </p:sp>
      <p:grpSp>
        <p:nvGrpSpPr>
          <p:cNvPr id="5" name="Group 783"/>
          <p:cNvGrpSpPr/>
          <p:nvPr/>
        </p:nvGrpSpPr>
        <p:grpSpPr>
          <a:xfrm>
            <a:off x="6629400" y="3276600"/>
            <a:ext cx="2209800" cy="381000"/>
            <a:chOff x="4176" y="2064"/>
            <a:chExt cx="1392" cy="240"/>
          </a:xfrm>
        </p:grpSpPr>
        <p:sp>
          <p:nvSpPr>
            <p:cNvPr id="62485" name="Text Box 751"/>
            <p:cNvSpPr txBox="1"/>
            <p:nvPr/>
          </p:nvSpPr>
          <p:spPr>
            <a:xfrm>
              <a:off x="4176" y="2064"/>
              <a:ext cx="480" cy="212"/>
            </a:xfrm>
            <a:prstGeom prst="rect">
              <a:avLst/>
            </a:prstGeom>
            <a:noFill/>
            <a:ln w="9525">
              <a:noFill/>
            </a:ln>
          </p:spPr>
          <p:txBody>
            <a:bodyPr anchor="t" anchorCtr="0">
              <a:spAutoFit/>
            </a:bodyPr>
            <a:p>
              <a:pPr>
                <a:spcBef>
                  <a:spcPct val="50000"/>
                </a:spcBef>
                <a:buClrTx/>
                <a:buFontTx/>
              </a:pPr>
              <a:r>
                <a:rPr lang="en-US" altLang="zh-CN" sz="1600" dirty="0">
                  <a:solidFill>
                    <a:srgbClr val="FF0000"/>
                  </a:solidFill>
                  <a:latin typeface="Times New Roman" panose="02020603050405020304" pitchFamily="18" charset="0"/>
                  <a:ea typeface="宋体" panose="02010600030101010101" pitchFamily="2" charset="-122"/>
                </a:rPr>
                <a:t>Lable</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62486" name="Rectangle 761"/>
            <p:cNvSpPr/>
            <p:nvPr/>
          </p:nvSpPr>
          <p:spPr>
            <a:xfrm>
              <a:off x="4608" y="2112"/>
              <a:ext cx="960" cy="192"/>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Courier New" panose="02070309020205020404" pitchFamily="49" charset="0"/>
                  <a:ea typeface="宋体" panose="02010600030101010101" pitchFamily="2" charset="-122"/>
                </a:rPr>
                <a:t>???</a:t>
              </a:r>
              <a:endParaRPr lang="en-US" altLang="zh-CN" dirty="0">
                <a:latin typeface="Courier New" panose="02070309020205020404" pitchFamily="49" charset="0"/>
                <a:ea typeface="宋体" panose="02010600030101010101" pitchFamily="2" charset="-122"/>
              </a:endParaRPr>
            </a:p>
          </p:txBody>
        </p:sp>
      </p:grpSp>
      <p:sp>
        <p:nvSpPr>
          <p:cNvPr id="64250" name="Line 762"/>
          <p:cNvSpPr/>
          <p:nvPr/>
        </p:nvSpPr>
        <p:spPr>
          <a:xfrm flipV="1">
            <a:off x="6096000" y="3505200"/>
            <a:ext cx="1371600" cy="685800"/>
          </a:xfrm>
          <a:prstGeom prst="line">
            <a:avLst/>
          </a:prstGeom>
          <a:ln w="28575" cap="flat" cmpd="sng">
            <a:solidFill>
              <a:srgbClr val="FF0000"/>
            </a:solidFill>
            <a:prstDash val="solid"/>
            <a:round/>
            <a:headEnd type="none" w="med" len="med"/>
            <a:tailEnd type="triangle" w="med" len="med"/>
          </a:ln>
        </p:spPr>
      </p:sp>
      <p:sp>
        <p:nvSpPr>
          <p:cNvPr id="64251" name="Line 763"/>
          <p:cNvSpPr/>
          <p:nvPr/>
        </p:nvSpPr>
        <p:spPr>
          <a:xfrm flipH="1" flipV="1">
            <a:off x="6096000" y="4495800"/>
            <a:ext cx="1295400" cy="304800"/>
          </a:xfrm>
          <a:prstGeom prst="line">
            <a:avLst/>
          </a:prstGeom>
          <a:ln w="28575" cap="flat" cmpd="sng">
            <a:solidFill>
              <a:srgbClr val="FF0000"/>
            </a:solidFill>
            <a:prstDash val="solid"/>
            <a:round/>
            <a:headEnd type="none" w="med" len="med"/>
            <a:tailEnd type="triangle" w="med" len="med"/>
          </a:ln>
        </p:spPr>
      </p:sp>
      <p:sp>
        <p:nvSpPr>
          <p:cNvPr id="64252" name="Oval 764"/>
          <p:cNvSpPr/>
          <p:nvPr/>
        </p:nvSpPr>
        <p:spPr>
          <a:xfrm>
            <a:off x="3962400" y="4267200"/>
            <a:ext cx="685800" cy="457200"/>
          </a:xfrm>
          <a:prstGeom prst="ellipse">
            <a:avLst/>
          </a:prstGeom>
          <a:noFill/>
          <a:ln w="9525" cap="flat" cmpd="sng">
            <a:solidFill>
              <a:srgbClr val="0000FF"/>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4261" name="Freeform 773"/>
          <p:cNvSpPr/>
          <p:nvPr/>
        </p:nvSpPr>
        <p:spPr>
          <a:xfrm>
            <a:off x="4292600" y="4648200"/>
            <a:ext cx="1727200" cy="685800"/>
          </a:xfrm>
          <a:custGeom>
            <a:avLst/>
            <a:gdLst/>
            <a:ahLst/>
            <a:cxnLst>
              <a:cxn ang="0">
                <a:pos x="2147483646" y="0"/>
              </a:cxn>
              <a:cxn ang="0">
                <a:pos x="2147483646" y="2147483646"/>
              </a:cxn>
              <a:cxn ang="0">
                <a:pos x="2147483646" y="2147483646"/>
              </a:cxn>
            </a:cxnLst>
            <a:pathLst>
              <a:path w="1088" h="432">
                <a:moveTo>
                  <a:pt x="32" y="0"/>
                </a:moveTo>
                <a:cubicBezTo>
                  <a:pt x="16" y="108"/>
                  <a:pt x="0" y="216"/>
                  <a:pt x="176" y="288"/>
                </a:cubicBezTo>
                <a:cubicBezTo>
                  <a:pt x="352" y="360"/>
                  <a:pt x="720" y="396"/>
                  <a:pt x="1088" y="432"/>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64263" name="Freeform 775"/>
          <p:cNvSpPr/>
          <p:nvPr/>
        </p:nvSpPr>
        <p:spPr>
          <a:xfrm>
            <a:off x="7467600" y="4876800"/>
            <a:ext cx="762000" cy="457200"/>
          </a:xfrm>
          <a:custGeom>
            <a:avLst/>
            <a:gdLst/>
            <a:ahLst/>
            <a:cxnLst>
              <a:cxn ang="0">
                <a:pos x="0" y="2147483646"/>
              </a:cxn>
              <a:cxn ang="0">
                <a:pos x="2147483646" y="2147483646"/>
              </a:cxn>
              <a:cxn ang="0">
                <a:pos x="2147483646" y="0"/>
              </a:cxn>
            </a:cxnLst>
            <a:pathLst>
              <a:path w="480" h="288">
                <a:moveTo>
                  <a:pt x="0" y="288"/>
                </a:moveTo>
                <a:cubicBezTo>
                  <a:pt x="152" y="288"/>
                  <a:pt x="304" y="288"/>
                  <a:pt x="384" y="240"/>
                </a:cubicBezTo>
                <a:cubicBezTo>
                  <a:pt x="464" y="192"/>
                  <a:pt x="464" y="24"/>
                  <a:pt x="480" y="0"/>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64265" name="Text Box 777"/>
          <p:cNvSpPr txBox="1"/>
          <p:nvPr/>
        </p:nvSpPr>
        <p:spPr>
          <a:xfrm>
            <a:off x="457200" y="2971800"/>
            <a:ext cx="3276600" cy="822325"/>
          </a:xfrm>
          <a:prstGeom prst="rect">
            <a:avLst/>
          </a:prstGeom>
          <a:noFill/>
          <a:ln w="9525">
            <a:noFill/>
          </a:ln>
        </p:spPr>
        <p:txBody>
          <a:bodyPr anchor="t" anchorCtr="0">
            <a:spAutoFit/>
          </a:bodyPr>
          <a:p>
            <a:pPr>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程序</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执行过程中调用程序</a:t>
            </a:r>
            <a:r>
              <a:rPr lang="en-US" altLang="zh-CN" sz="2400" dirty="0">
                <a:latin typeface="华文新魏" panose="02010800040101010101" pitchFamily="2" charset="-122"/>
                <a:ea typeface="华文新魏" panose="02010800040101010101" pitchFamily="2" charset="-122"/>
              </a:rPr>
              <a:t>B</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
        <p:nvSpPr>
          <p:cNvPr id="64266" name="Text Box 778"/>
          <p:cNvSpPr txBox="1"/>
          <p:nvPr/>
        </p:nvSpPr>
        <p:spPr>
          <a:xfrm>
            <a:off x="1143000" y="2590800"/>
            <a:ext cx="1752600" cy="457200"/>
          </a:xfrm>
          <a:prstGeom prst="rect">
            <a:avLst/>
          </a:prstGeom>
          <a:noFill/>
          <a:ln w="9525">
            <a:noFill/>
          </a:ln>
        </p:spPr>
        <p:txBody>
          <a:bodyPr anchor="t" anchorCtr="0">
            <a:spAutoFit/>
          </a:bodyPr>
          <a:p>
            <a:pPr>
              <a:spcBef>
                <a:spcPct val="50000"/>
              </a:spcBef>
              <a:buClrTx/>
              <a:buFontTx/>
            </a:pPr>
            <a:r>
              <a:rPr lang="zh-CN" altLang="en-US" sz="2400" dirty="0">
                <a:latin typeface="华文新魏" panose="02010800040101010101" pitchFamily="2" charset="-122"/>
                <a:ea typeface="华文新魏" panose="02010800040101010101" pitchFamily="2" charset="-122"/>
              </a:rPr>
              <a:t>操作流程</a:t>
            </a:r>
            <a:endParaRPr lang="zh-CN" altLang="en-US" sz="2400" dirty="0">
              <a:latin typeface="华文新魏" panose="02010800040101010101" pitchFamily="2" charset="-122"/>
              <a:ea typeface="华文新魏" panose="02010800040101010101" pitchFamily="2" charset="-122"/>
            </a:endParaRPr>
          </a:p>
        </p:txBody>
      </p:sp>
      <p:sp>
        <p:nvSpPr>
          <p:cNvPr id="64267" name="Text Box 779"/>
          <p:cNvSpPr txBox="1"/>
          <p:nvPr/>
        </p:nvSpPr>
        <p:spPr>
          <a:xfrm>
            <a:off x="457200" y="3886200"/>
            <a:ext cx="3276600" cy="1917700"/>
          </a:xfrm>
          <a:prstGeom prst="rect">
            <a:avLst/>
          </a:prstGeom>
          <a:noFill/>
          <a:ln w="9525">
            <a:noFill/>
          </a:ln>
        </p:spPr>
        <p:txBody>
          <a:bodyPr anchor="t" anchorCtr="0">
            <a:spAutoFit/>
          </a:bodyPr>
          <a:p>
            <a:pPr>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2.</a:t>
            </a:r>
            <a:r>
              <a:rPr lang="zh-CN" altLang="en-US" sz="2400" dirty="0">
                <a:latin typeface="华文新魏" panose="02010800040101010101" pitchFamily="2" charset="-122"/>
                <a:ea typeface="华文新魏" panose="02010800040101010101" pitchFamily="2" charset="-122"/>
              </a:rPr>
              <a:t>程序跳转至标号</a:t>
            </a:r>
            <a:r>
              <a:rPr lang="en-US" altLang="zh-CN" sz="2400" dirty="0">
                <a:latin typeface="华文新魏" panose="02010800040101010101" pitchFamily="2" charset="-122"/>
                <a:ea typeface="华文新魏" panose="02010800040101010101" pitchFamily="2" charset="-122"/>
              </a:rPr>
              <a:t>Lable</a:t>
            </a:r>
            <a:r>
              <a:rPr lang="zh-CN" altLang="en-US" sz="2400" dirty="0">
                <a:latin typeface="华文新魏" panose="02010800040101010101" pitchFamily="2" charset="-122"/>
                <a:ea typeface="华文新魏" panose="02010800040101010101" pitchFamily="2" charset="-122"/>
              </a:rPr>
              <a:t>，执行程序</a:t>
            </a:r>
            <a:r>
              <a:rPr lang="en-US" altLang="zh-CN" sz="2400" dirty="0">
                <a:latin typeface="华文新魏" panose="02010800040101010101" pitchFamily="2" charset="-122"/>
                <a:ea typeface="华文新魏" panose="02010800040101010101" pitchFamily="2" charset="-122"/>
              </a:rPr>
              <a:t>B</a:t>
            </a:r>
            <a:r>
              <a:rPr lang="zh-CN" altLang="en-US" sz="2400" dirty="0">
                <a:latin typeface="华文新魏" panose="02010800040101010101" pitchFamily="2" charset="-122"/>
                <a:ea typeface="华文新魏" panose="02010800040101010101" pitchFamily="2" charset="-122"/>
              </a:rPr>
              <a:t>。同时硬件将</a:t>
            </a:r>
            <a:r>
              <a:rPr lang="zh-CN" altLang="en-US" sz="2400" dirty="0">
                <a:latin typeface="Times New Roman" panose="02020603050405020304" pitchFamily="18" charset="0"/>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BL  Lable</a:t>
            </a:r>
            <a:r>
              <a:rPr lang="en-US" altLang="zh-CN"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指令的下一条指令所在地址存入</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
        <p:nvSpPr>
          <p:cNvPr id="64268" name="Text Box 780"/>
          <p:cNvSpPr txBox="1"/>
          <p:nvPr/>
        </p:nvSpPr>
        <p:spPr>
          <a:xfrm>
            <a:off x="457200" y="5867400"/>
            <a:ext cx="5029200" cy="822325"/>
          </a:xfrm>
          <a:prstGeom prst="rect">
            <a:avLst/>
          </a:prstGeom>
          <a:noFill/>
          <a:ln w="9525">
            <a:noFill/>
          </a:ln>
        </p:spPr>
        <p:txBody>
          <a:bodyPr anchor="t" anchorCtr="0">
            <a:spAutoFit/>
          </a:bodyPr>
          <a:p>
            <a:pPr>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程序</a:t>
            </a:r>
            <a:r>
              <a:rPr lang="en-US" altLang="zh-CN" sz="2400" dirty="0">
                <a:latin typeface="华文新魏" panose="02010800040101010101" pitchFamily="2" charset="-122"/>
                <a:ea typeface="华文新魏" panose="02010800040101010101" pitchFamily="2" charset="-122"/>
              </a:rPr>
              <a:t>B</a:t>
            </a:r>
            <a:r>
              <a:rPr lang="zh-CN" altLang="en-US" sz="2400" dirty="0">
                <a:latin typeface="华文新魏" panose="02010800040101010101" pitchFamily="2" charset="-122"/>
                <a:ea typeface="华文新魏" panose="02010800040101010101" pitchFamily="2" charset="-122"/>
              </a:rPr>
              <a:t>执行最后，将</a:t>
            </a:r>
            <a:r>
              <a:rPr lang="en-US" altLang="zh-CN" sz="2400" dirty="0">
                <a:latin typeface="华文新魏" panose="02010800040101010101" pitchFamily="2" charset="-122"/>
                <a:ea typeface="华文新魏" panose="02010800040101010101" pitchFamily="2" charset="-122"/>
              </a:rPr>
              <a:t>R14</a:t>
            </a:r>
            <a:r>
              <a:rPr lang="zh-CN" altLang="en-US" sz="2400" dirty="0">
                <a:latin typeface="华文新魏" panose="02010800040101010101" pitchFamily="2" charset="-122"/>
                <a:ea typeface="华文新魏" panose="02010800040101010101" pitchFamily="2" charset="-122"/>
              </a:rPr>
              <a:t>寄存器的内容放入</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，返回程序</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
        <p:nvSpPr>
          <p:cNvPr id="64273" name="AutoShape 785"/>
          <p:cNvSpPr/>
          <p:nvPr/>
        </p:nvSpPr>
        <p:spPr>
          <a:xfrm>
            <a:off x="5257800" y="4648200"/>
            <a:ext cx="304800" cy="304800"/>
          </a:xfrm>
          <a:prstGeom prst="downArrow">
            <a:avLst>
              <a:gd name="adj1" fmla="val 50000"/>
              <a:gd name="adj2" fmla="val 25000"/>
            </a:avLst>
          </a:prstGeom>
          <a:solidFill>
            <a:schemeClr val="accent2"/>
          </a:solidFill>
          <a:ln w="9525" cap="flat" cmpd="sng">
            <a:solidFill>
              <a:schemeClr val="tx1"/>
            </a:solidFill>
            <a:prstDash val="solid"/>
            <a:miter/>
            <a:headEnd type="none" w="med" len="med"/>
            <a:tailEnd type="none" w="med" len="med"/>
          </a:ln>
        </p:spPr>
        <p:txBody>
          <a:bodyPr vert="eaVert" wrap="none" anchor="ctr" anchorCtr="0"/>
          <a:p>
            <a:pPr>
              <a:buClrTx/>
              <a:buFontTx/>
            </a:pP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4211">
                                            <p:txEl>
                                              <p:charRg st="0" end="17"/>
                                            </p:txEl>
                                          </p:spTgt>
                                        </p:tgtEl>
                                        <p:attrNameLst>
                                          <p:attrName>style.visibility</p:attrName>
                                        </p:attrNameLst>
                                      </p:cBhvr>
                                      <p:to>
                                        <p:strVal val="visible"/>
                                      </p:to>
                                    </p:set>
                                    <p:anim calcmode="lin" valueType="num">
                                      <p:cBhvr additive="base">
                                        <p:cTn id="7" dur="500" fill="hold"/>
                                        <p:tgtEl>
                                          <p:spTgt spid="64211">
                                            <p:txEl>
                                              <p:charRg st="0" end="17"/>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211">
                                            <p:txEl>
                                              <p:charRg st="0" end="17"/>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Top)">
                                      <p:cBhvr>
                                        <p:cTn id="12" dur="500"/>
                                        <p:tgtEl>
                                          <p:spTgt spid="2"/>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64266"/>
                                        </p:tgtEl>
                                        <p:attrNameLst>
                                          <p:attrName>style.visibility</p:attrName>
                                        </p:attrNameLst>
                                      </p:cBhvr>
                                      <p:to>
                                        <p:strVal val="visible"/>
                                      </p:to>
                                    </p:set>
                                    <p:anim calcmode="lin" valueType="num">
                                      <p:cBhvr additive="base">
                                        <p:cTn id="16" dur="500" fill="hold"/>
                                        <p:tgtEl>
                                          <p:spTgt spid="64266"/>
                                        </p:tgtEl>
                                        <p:attrNameLst>
                                          <p:attrName>ppt_x</p:attrName>
                                        </p:attrNameLst>
                                      </p:cBhvr>
                                      <p:tavLst>
                                        <p:tav tm="0">
                                          <p:val>
                                            <p:strVal val="0-#ppt_w/2"/>
                                          </p:val>
                                        </p:tav>
                                        <p:tav tm="100000">
                                          <p:val>
                                            <p:strVal val="#ppt_x"/>
                                          </p:val>
                                        </p:tav>
                                      </p:tavLst>
                                    </p:anim>
                                    <p:anim calcmode="lin" valueType="num">
                                      <p:cBhvr additive="base">
                                        <p:cTn id="17" dur="500" fill="hold"/>
                                        <p:tgtEl>
                                          <p:spTgt spid="64266"/>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6" presetClass="entr" presetSubtype="37" fill="hold" grpId="0" nodeType="afterEffect">
                                  <p:stCondLst>
                                    <p:cond delay="0"/>
                                  </p:stCondLst>
                                  <p:childTnLst>
                                    <p:set>
                                      <p:cBhvr>
                                        <p:cTn id="20" dur="1" fill="hold">
                                          <p:stCondLst>
                                            <p:cond delay="0"/>
                                          </p:stCondLst>
                                        </p:cTn>
                                        <p:tgtEl>
                                          <p:spTgt spid="64265"/>
                                        </p:tgtEl>
                                        <p:attrNameLst>
                                          <p:attrName>style.visibility</p:attrName>
                                        </p:attrNameLst>
                                      </p:cBhvr>
                                      <p:to>
                                        <p:strVal val="visible"/>
                                      </p:to>
                                    </p:set>
                                    <p:animEffect transition="in" filter="barn(outVertical)">
                                      <p:cBhvr>
                                        <p:cTn id="21" dur="500"/>
                                        <p:tgtEl>
                                          <p:spTgt spid="64265"/>
                                        </p:tgtEl>
                                      </p:cBhvr>
                                    </p:animEffect>
                                  </p:childTnLst>
                                </p:cTn>
                              </p:par>
                            </p:childTnLst>
                          </p:cTn>
                        </p:par>
                        <p:par>
                          <p:cTn id="22" fill="hold">
                            <p:stCondLst>
                              <p:cond delay="2000"/>
                            </p:stCondLst>
                            <p:childTnLst>
                              <p:par>
                                <p:cTn id="23" presetID="12" presetClass="entr" presetSubtype="1" fill="hold" grpId="0" nodeType="afterEffect">
                                  <p:stCondLst>
                                    <p:cond delay="0"/>
                                  </p:stCondLst>
                                  <p:childTnLst>
                                    <p:set>
                                      <p:cBhvr>
                                        <p:cTn id="24" dur="1" fill="hold">
                                          <p:stCondLst>
                                            <p:cond delay="0"/>
                                          </p:stCondLst>
                                        </p:cTn>
                                        <p:tgtEl>
                                          <p:spTgt spid="64217"/>
                                        </p:tgtEl>
                                        <p:attrNameLst>
                                          <p:attrName>style.visibility</p:attrName>
                                        </p:attrNameLst>
                                      </p:cBhvr>
                                      <p:to>
                                        <p:strVal val="visible"/>
                                      </p:to>
                                    </p:set>
                                    <p:animEffect transition="in" filter="slide(fromTop)">
                                      <p:cBhvr>
                                        <p:cTn id="25" dur="500"/>
                                        <p:tgtEl>
                                          <p:spTgt spid="64217"/>
                                        </p:tgtEl>
                                      </p:cBhvr>
                                    </p:animEffect>
                                  </p:childTnLst>
                                </p:cTn>
                              </p:par>
                            </p:childTnLst>
                          </p:cTn>
                        </p:par>
                        <p:par>
                          <p:cTn id="26" fill="hold">
                            <p:stCondLst>
                              <p:cond delay="2500"/>
                            </p:stCondLst>
                            <p:childTnLst>
                              <p:par>
                                <p:cTn id="27" presetID="1" presetClass="entr" presetSubtype="0" fill="hold" nodeType="afterEffect">
                                  <p:stCondLst>
                                    <p:cond delay="0"/>
                                  </p:stCondLst>
                                  <p:childTnLst>
                                    <p:set>
                                      <p:cBhvr>
                                        <p:cTn id="28" dur="1" fill="hold">
                                          <p:stCondLst>
                                            <p:cond delay="499"/>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64267"/>
                                        </p:tgtEl>
                                        <p:attrNameLst>
                                          <p:attrName>style.visibility</p:attrName>
                                        </p:attrNameLst>
                                      </p:cBhvr>
                                      <p:to>
                                        <p:strVal val="visible"/>
                                      </p:to>
                                    </p:set>
                                    <p:animEffect transition="in" filter="barn(outVertical)">
                                      <p:cBhvr>
                                        <p:cTn id="33" dur="500"/>
                                        <p:tgtEl>
                                          <p:spTgt spid="64267"/>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64250"/>
                                        </p:tgtEl>
                                        <p:attrNameLst>
                                          <p:attrName>style.visibility</p:attrName>
                                        </p:attrNameLst>
                                      </p:cBhvr>
                                      <p:to>
                                        <p:strVal val="visible"/>
                                      </p:to>
                                    </p:set>
                                    <p:animEffect transition="in" filter="wipe(left)">
                                      <p:cBhvr>
                                        <p:cTn id="37" dur="500"/>
                                        <p:tgtEl>
                                          <p:spTgt spid="64250"/>
                                        </p:tgtEl>
                                      </p:cBhvr>
                                    </p:animEffect>
                                  </p:childTnLst>
                                </p:cTn>
                              </p:par>
                            </p:childTnLst>
                          </p:cTn>
                        </p:par>
                        <p:par>
                          <p:cTn id="38" fill="hold">
                            <p:stCondLst>
                              <p:cond delay="1000"/>
                            </p:stCondLst>
                            <p:childTnLst>
                              <p:par>
                                <p:cTn id="39" presetID="1" presetClass="entr" presetSubtype="0" fill="hold" nodeType="afterEffect">
                                  <p:stCondLst>
                                    <p:cond delay="0"/>
                                  </p:stCondLst>
                                  <p:childTnLst>
                                    <p:set>
                                      <p:cBhvr>
                                        <p:cTn id="40" dur="1" fill="hold">
                                          <p:stCondLst>
                                            <p:cond delay="499"/>
                                          </p:stCondLst>
                                        </p:cTn>
                                        <p:tgtEl>
                                          <p:spTgt spid="5"/>
                                        </p:tgtEl>
                                        <p:attrNameLst>
                                          <p:attrName>style.visibility</p:attrName>
                                        </p:attrNameLst>
                                      </p:cBhvr>
                                      <p:to>
                                        <p:strVal val="visible"/>
                                      </p:to>
                                    </p:set>
                                  </p:childTnLst>
                                </p:cTn>
                              </p:par>
                            </p:childTnLst>
                          </p:cTn>
                        </p:par>
                        <p:par>
                          <p:cTn id="41" fill="hold">
                            <p:stCondLst>
                              <p:cond delay="1500"/>
                            </p:stCondLst>
                            <p:childTnLst>
                              <p:par>
                                <p:cTn id="42" presetID="1" presetClass="entr" presetSubtype="0" fill="hold" grpId="0" nodeType="afterEffect">
                                  <p:stCondLst>
                                    <p:cond delay="0"/>
                                  </p:stCondLst>
                                  <p:childTnLst>
                                    <p:set>
                                      <p:cBhvr>
                                        <p:cTn id="43" dur="1" fill="hold">
                                          <p:stCondLst>
                                            <p:cond delay="499"/>
                                          </p:stCondLst>
                                        </p:cTn>
                                        <p:tgtEl>
                                          <p:spTgt spid="64252"/>
                                        </p:tgtEl>
                                        <p:attrNameLst>
                                          <p:attrName>style.visibility</p:attrName>
                                        </p:attrNameLst>
                                      </p:cBhvr>
                                      <p:to>
                                        <p:strVal val="visible"/>
                                      </p:to>
                                    </p:set>
                                  </p:childTnLst>
                                </p:cTn>
                              </p:par>
                            </p:childTnLst>
                          </p:cTn>
                        </p:par>
                        <p:par>
                          <p:cTn id="44" fill="hold">
                            <p:stCondLst>
                              <p:cond delay="2000"/>
                            </p:stCondLst>
                            <p:childTnLst>
                              <p:par>
                                <p:cTn id="45" presetID="22" presetClass="entr" presetSubtype="8" fill="hold" nodeType="afterEffect">
                                  <p:stCondLst>
                                    <p:cond delay="0"/>
                                  </p:stCondLst>
                                  <p:childTnLst>
                                    <p:set>
                                      <p:cBhvr>
                                        <p:cTn id="46" dur="1" fill="hold">
                                          <p:stCondLst>
                                            <p:cond delay="0"/>
                                          </p:stCondLst>
                                        </p:cTn>
                                        <p:tgtEl>
                                          <p:spTgt spid="64261"/>
                                        </p:tgtEl>
                                        <p:attrNameLst>
                                          <p:attrName>style.visibility</p:attrName>
                                        </p:attrNameLst>
                                      </p:cBhvr>
                                      <p:to>
                                        <p:strVal val="visible"/>
                                      </p:to>
                                    </p:set>
                                    <p:animEffect transition="in" filter="wipe(left)">
                                      <p:cBhvr>
                                        <p:cTn id="47" dur="500"/>
                                        <p:tgtEl>
                                          <p:spTgt spid="64261"/>
                                        </p:tgtEl>
                                      </p:cBhvr>
                                    </p:animEffect>
                                  </p:childTnLst>
                                </p:cTn>
                              </p:par>
                            </p:childTnLst>
                          </p:cTn>
                        </p:par>
                        <p:par>
                          <p:cTn id="48" fill="hold">
                            <p:stCondLst>
                              <p:cond delay="2500"/>
                            </p:stCondLst>
                            <p:childTnLst>
                              <p:par>
                                <p:cTn id="49" presetID="12" presetClass="entr" presetSubtype="8" fill="hold" grpId="0" nodeType="afterEffect">
                                  <p:stCondLst>
                                    <p:cond delay="0"/>
                                  </p:stCondLst>
                                  <p:childTnLst>
                                    <p:set>
                                      <p:cBhvr>
                                        <p:cTn id="50" dur="1" fill="hold">
                                          <p:stCondLst>
                                            <p:cond delay="0"/>
                                          </p:stCondLst>
                                        </p:cTn>
                                        <p:tgtEl>
                                          <p:spTgt spid="64232"/>
                                        </p:tgtEl>
                                        <p:attrNameLst>
                                          <p:attrName>style.visibility</p:attrName>
                                        </p:attrNameLst>
                                      </p:cBhvr>
                                      <p:to>
                                        <p:strVal val="visible"/>
                                      </p:to>
                                    </p:set>
                                    <p:animEffect transition="in" filter="slide(fromLeft)">
                                      <p:cBhvr>
                                        <p:cTn id="51" dur="500"/>
                                        <p:tgtEl>
                                          <p:spTgt spid="64232"/>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37" fill="hold" grpId="0" nodeType="clickEffect">
                                  <p:stCondLst>
                                    <p:cond delay="0"/>
                                  </p:stCondLst>
                                  <p:childTnLst>
                                    <p:set>
                                      <p:cBhvr>
                                        <p:cTn id="55" dur="1" fill="hold">
                                          <p:stCondLst>
                                            <p:cond delay="0"/>
                                          </p:stCondLst>
                                        </p:cTn>
                                        <p:tgtEl>
                                          <p:spTgt spid="64268"/>
                                        </p:tgtEl>
                                        <p:attrNameLst>
                                          <p:attrName>style.visibility</p:attrName>
                                        </p:attrNameLst>
                                      </p:cBhvr>
                                      <p:to>
                                        <p:strVal val="visible"/>
                                      </p:to>
                                    </p:set>
                                    <p:animEffect transition="in" filter="barn(outVertical)">
                                      <p:cBhvr>
                                        <p:cTn id="56" dur="500"/>
                                        <p:tgtEl>
                                          <p:spTgt spid="64268"/>
                                        </p:tgtEl>
                                      </p:cBhvr>
                                    </p:animEffect>
                                  </p:childTnLst>
                                </p:cTn>
                              </p:par>
                            </p:childTnLst>
                          </p:cTn>
                        </p:par>
                        <p:par>
                          <p:cTn id="57" fill="hold">
                            <p:stCondLst>
                              <p:cond delay="500"/>
                            </p:stCondLst>
                            <p:childTnLst>
                              <p:par>
                                <p:cTn id="58" presetID="12" presetClass="entr" presetSubtype="1" fill="hold" grpId="0" nodeType="afterEffect">
                                  <p:stCondLst>
                                    <p:cond delay="0"/>
                                  </p:stCondLst>
                                  <p:childTnLst>
                                    <p:set>
                                      <p:cBhvr>
                                        <p:cTn id="59" dur="1" fill="hold">
                                          <p:stCondLst>
                                            <p:cond delay="0"/>
                                          </p:stCondLst>
                                        </p:cTn>
                                        <p:tgtEl>
                                          <p:spTgt spid="64231"/>
                                        </p:tgtEl>
                                        <p:attrNameLst>
                                          <p:attrName>style.visibility</p:attrName>
                                        </p:attrNameLst>
                                      </p:cBhvr>
                                      <p:to>
                                        <p:strVal val="visible"/>
                                      </p:to>
                                    </p:set>
                                    <p:animEffect transition="in" filter="slide(fromTop)">
                                      <p:cBhvr>
                                        <p:cTn id="60" dur="500"/>
                                        <p:tgtEl>
                                          <p:spTgt spid="64231"/>
                                        </p:tgtEl>
                                      </p:cBhvr>
                                    </p:animEffect>
                                  </p:childTnLst>
                                </p:cTn>
                              </p:par>
                            </p:childTnLst>
                          </p:cTn>
                        </p:par>
                        <p:par>
                          <p:cTn id="61" fill="hold">
                            <p:stCondLst>
                              <p:cond delay="1000"/>
                            </p:stCondLst>
                            <p:childTnLst>
                              <p:par>
                                <p:cTn id="62" presetID="1" presetClass="entr" presetSubtype="0" fill="hold" grpId="0" nodeType="afterEffect">
                                  <p:stCondLst>
                                    <p:cond delay="0"/>
                                  </p:stCondLst>
                                  <p:childTnLst>
                                    <p:set>
                                      <p:cBhvr>
                                        <p:cTn id="63" dur="1" fill="hold">
                                          <p:stCondLst>
                                            <p:cond delay="499"/>
                                          </p:stCondLst>
                                        </p:cTn>
                                        <p:tgtEl>
                                          <p:spTgt spid="64227"/>
                                        </p:tgtEl>
                                        <p:attrNameLst>
                                          <p:attrName>style.visibility</p:attrName>
                                        </p:attrNameLst>
                                      </p:cBhvr>
                                      <p:to>
                                        <p:strVal val="visible"/>
                                      </p:to>
                                    </p:set>
                                  </p:childTnLst>
                                </p:cTn>
                              </p:par>
                            </p:childTnLst>
                          </p:cTn>
                        </p:par>
                        <p:par>
                          <p:cTn id="64" fill="hold">
                            <p:stCondLst>
                              <p:cond delay="1500"/>
                            </p:stCondLst>
                            <p:childTnLst>
                              <p:par>
                                <p:cTn id="65" presetID="22" presetClass="entr" presetSubtype="8" fill="hold" nodeType="afterEffect">
                                  <p:stCondLst>
                                    <p:cond delay="0"/>
                                  </p:stCondLst>
                                  <p:childTnLst>
                                    <p:set>
                                      <p:cBhvr>
                                        <p:cTn id="66" dur="1" fill="hold">
                                          <p:stCondLst>
                                            <p:cond delay="0"/>
                                          </p:stCondLst>
                                        </p:cTn>
                                        <p:tgtEl>
                                          <p:spTgt spid="64263"/>
                                        </p:tgtEl>
                                        <p:attrNameLst>
                                          <p:attrName>style.visibility</p:attrName>
                                        </p:attrNameLst>
                                      </p:cBhvr>
                                      <p:to>
                                        <p:strVal val="visible"/>
                                      </p:to>
                                    </p:set>
                                    <p:animEffect transition="in" filter="wipe(left)">
                                      <p:cBhvr>
                                        <p:cTn id="67" dur="500"/>
                                        <p:tgtEl>
                                          <p:spTgt spid="64263"/>
                                        </p:tgtEl>
                                      </p:cBhvr>
                                    </p:animEffect>
                                  </p:childTnLst>
                                </p:cTn>
                              </p:par>
                            </p:childTnLst>
                          </p:cTn>
                        </p:par>
                        <p:par>
                          <p:cTn id="68" fill="hold">
                            <p:stCondLst>
                              <p:cond delay="2000"/>
                            </p:stCondLst>
                            <p:childTnLst>
                              <p:par>
                                <p:cTn id="69" presetID="22" presetClass="entr" presetSubtype="2" fill="hold" nodeType="afterEffect">
                                  <p:stCondLst>
                                    <p:cond delay="0"/>
                                  </p:stCondLst>
                                  <p:childTnLst>
                                    <p:set>
                                      <p:cBhvr>
                                        <p:cTn id="70" dur="1" fill="hold">
                                          <p:stCondLst>
                                            <p:cond delay="0"/>
                                          </p:stCondLst>
                                        </p:cTn>
                                        <p:tgtEl>
                                          <p:spTgt spid="64251"/>
                                        </p:tgtEl>
                                        <p:attrNameLst>
                                          <p:attrName>style.visibility</p:attrName>
                                        </p:attrNameLst>
                                      </p:cBhvr>
                                      <p:to>
                                        <p:strVal val="visible"/>
                                      </p:to>
                                    </p:set>
                                    <p:animEffect transition="in" filter="wipe(right)">
                                      <p:cBhvr>
                                        <p:cTn id="71" dur="500"/>
                                        <p:tgtEl>
                                          <p:spTgt spid="64251"/>
                                        </p:tgtEl>
                                      </p:cBhvr>
                                    </p:animEffect>
                                  </p:childTnLst>
                                </p:cTn>
                              </p:par>
                            </p:childTnLst>
                          </p:cTn>
                        </p:par>
                        <p:par>
                          <p:cTn id="72" fill="hold">
                            <p:stCondLst>
                              <p:cond delay="2500"/>
                            </p:stCondLst>
                            <p:childTnLst>
                              <p:par>
                                <p:cTn id="73" presetID="12" presetClass="entr" presetSubtype="1" fill="hold" grpId="0" nodeType="afterEffect">
                                  <p:stCondLst>
                                    <p:cond delay="0"/>
                                  </p:stCondLst>
                                  <p:childTnLst>
                                    <p:set>
                                      <p:cBhvr>
                                        <p:cTn id="74" dur="1" fill="hold">
                                          <p:stCondLst>
                                            <p:cond delay="0"/>
                                          </p:stCondLst>
                                        </p:cTn>
                                        <p:tgtEl>
                                          <p:spTgt spid="64273"/>
                                        </p:tgtEl>
                                        <p:attrNameLst>
                                          <p:attrName>style.visibility</p:attrName>
                                        </p:attrNameLst>
                                      </p:cBhvr>
                                      <p:to>
                                        <p:strVal val="visible"/>
                                      </p:to>
                                    </p:set>
                                    <p:animEffect transition="in" filter="slide(fromTop)">
                                      <p:cBhvr>
                                        <p:cTn id="75" dur="500"/>
                                        <p:tgtEl>
                                          <p:spTgt spid="64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11" grpId="0" advAuto="1000" build="p"/>
      <p:bldP spid="64217" grpId="0" animBg="1"/>
      <p:bldP spid="64227" grpId="0" animBg="1"/>
      <p:bldP spid="64231" grpId="0" animBg="1"/>
      <p:bldP spid="64232" grpId="0" animBg="1"/>
      <p:bldP spid="64252" grpId="0" animBg="1"/>
      <p:bldP spid="64265" grpId="0"/>
      <p:bldP spid="64266" grpId="0"/>
      <p:bldP spid="64267" grpId="0"/>
      <p:bldP spid="64268" grpId="0"/>
      <p:bldP spid="6427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821"/>
          <p:cNvSpPr>
            <a:spLocks noGrp="1"/>
          </p:cNvSpPr>
          <p:nvPr>
            <p:ph type="title"/>
          </p:nvPr>
        </p:nvSpPr>
        <p:spPr>
          <a:ln/>
        </p:spPr>
        <p:txBody>
          <a:bodyPr vert="horz" wrap="square" lIns="91440" tIns="45720" rIns="91440" bIns="45720" anchor="ctr" anchorCtr="0"/>
          <a:p>
            <a:pPr eaLnBrk="1" hangingPunct="1"/>
            <a:r>
              <a:rPr lang="en-US" altLang="zh-CN" dirty="0"/>
              <a:t>4.7  </a:t>
            </a:r>
            <a:r>
              <a:rPr lang="zh-CN" altLang="en-US" dirty="0"/>
              <a:t>内部寄存器</a:t>
            </a:r>
            <a:endParaRPr lang="zh-CN" altLang="en-US" dirty="0"/>
          </a:p>
        </p:txBody>
      </p:sp>
      <p:sp>
        <p:nvSpPr>
          <p:cNvPr id="54070" name="Rectangle 822"/>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R14</a:t>
            </a:r>
            <a:r>
              <a:rPr lang="zh-CN" altLang="en-US" dirty="0"/>
              <a:t>寄存器与异常发生</a:t>
            </a:r>
            <a:endParaRPr lang="zh-CN" altLang="en-US" dirty="0"/>
          </a:p>
        </p:txBody>
      </p:sp>
      <p:sp>
        <p:nvSpPr>
          <p:cNvPr id="54095" name="Text Box 847"/>
          <p:cNvSpPr txBox="1"/>
          <p:nvPr/>
        </p:nvSpPr>
        <p:spPr>
          <a:xfrm>
            <a:off x="1219200" y="2743200"/>
            <a:ext cx="7010400" cy="1187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异常发生时，程序要跳转至异常服务程序，对返回地址的处理与子程序调用类似，都是由硬件完成的。区别在于有些异常有一个小常量的偏移。</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4070">
                                            <p:txEl>
                                              <p:charRg st="0" end="12"/>
                                            </p:txEl>
                                          </p:spTgt>
                                        </p:tgtEl>
                                        <p:attrNameLst>
                                          <p:attrName>style.visibility</p:attrName>
                                        </p:attrNameLst>
                                      </p:cBhvr>
                                      <p:to>
                                        <p:strVal val="visible"/>
                                      </p:to>
                                    </p:set>
                                    <p:anim calcmode="lin" valueType="num">
                                      <p:cBhvr additive="base">
                                        <p:cTn id="7" dur="500" fill="hold"/>
                                        <p:tgtEl>
                                          <p:spTgt spid="54070">
                                            <p:txEl>
                                              <p:charRg st="0" end="12"/>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4070">
                                            <p:txEl>
                                              <p:charRg st="0" end="12"/>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4095"/>
                                        </p:tgtEl>
                                        <p:attrNameLst>
                                          <p:attrName>style.visibility</p:attrName>
                                        </p:attrNameLst>
                                      </p:cBhvr>
                                      <p:to>
                                        <p:strVal val="visible"/>
                                      </p:to>
                                    </p:set>
                                    <p:animEffect transition="in" filter="box(in)">
                                      <p:cBhvr>
                                        <p:cTn id="12" dur="500"/>
                                        <p:tgtEl>
                                          <p:spTgt spid="54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70" grpId="0" advAuto="1000" build="p"/>
      <p:bldP spid="5409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4"/>
          <p:cNvSpPr>
            <a:spLocks noGrp="1"/>
          </p:cNvSpPr>
          <p:nvPr>
            <p:ph type="title"/>
          </p:nvPr>
        </p:nvSpPr>
        <p:spPr>
          <a:ln/>
        </p:spPr>
        <p:txBody>
          <a:bodyPr vert="horz" wrap="square" lIns="91440" tIns="45720" rIns="91440" bIns="45720" anchor="ctr" anchorCtr="0"/>
          <a:p>
            <a:pPr eaLnBrk="1" hangingPunct="1"/>
            <a:r>
              <a:rPr lang="en-US" altLang="zh-CN" dirty="0"/>
              <a:t>4.7  </a:t>
            </a:r>
            <a:r>
              <a:rPr lang="zh-CN" altLang="en-US" dirty="0"/>
              <a:t>内部寄存器</a:t>
            </a:r>
            <a:endParaRPr lang="zh-CN" altLang="en-US" dirty="0"/>
          </a:p>
        </p:txBody>
      </p:sp>
      <p:sp>
        <p:nvSpPr>
          <p:cNvPr id="74757"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R14</a:t>
            </a:r>
            <a:r>
              <a:rPr lang="zh-CN" altLang="en-US" dirty="0"/>
              <a:t>寄存器注意要点</a:t>
            </a:r>
            <a:endParaRPr lang="zh-CN" altLang="en-US" dirty="0"/>
          </a:p>
        </p:txBody>
      </p:sp>
      <p:sp>
        <p:nvSpPr>
          <p:cNvPr id="74758" name="Text Box 6"/>
          <p:cNvSpPr txBox="1"/>
          <p:nvPr/>
        </p:nvSpPr>
        <p:spPr>
          <a:xfrm>
            <a:off x="1187450" y="2349500"/>
            <a:ext cx="7010400" cy="3195638"/>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当发生异常嵌套时，这些异常之间可能会发生冲突。</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例如：如果用户在用户模式下执行程序时发生了</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中断，用户模式寄存器不会被破坏。但是如果允许在</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模式下的中断处理程序重新使能</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中断，并且发生了嵌套的</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中断时，外部中断处理程序保存在</a:t>
            </a:r>
            <a:r>
              <a:rPr lang="en-US" altLang="zh-CN" sz="2400" dirty="0">
                <a:latin typeface="华文新魏" panose="02010800040101010101" pitchFamily="2" charset="-122"/>
                <a:ea typeface="华文新魏" panose="02010800040101010101" pitchFamily="2" charset="-122"/>
              </a:rPr>
              <a:t>R14_irq</a:t>
            </a:r>
            <a:r>
              <a:rPr lang="zh-CN" altLang="en-US" sz="2400" dirty="0">
                <a:latin typeface="华文新魏" panose="02010800040101010101" pitchFamily="2" charset="-122"/>
                <a:ea typeface="华文新魏" panose="02010800040101010101" pitchFamily="2" charset="-122"/>
              </a:rPr>
              <a:t>中的任何值都将被嵌套中断的返回地址所覆盖。</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4757">
                                            <p:txEl>
                                              <p:charRg st="0" end="11"/>
                                            </p:txEl>
                                          </p:spTgt>
                                        </p:tgtEl>
                                        <p:attrNameLst>
                                          <p:attrName>style.visibility</p:attrName>
                                        </p:attrNameLst>
                                      </p:cBhvr>
                                      <p:to>
                                        <p:strVal val="visible"/>
                                      </p:to>
                                    </p:set>
                                    <p:anim calcmode="lin" valueType="num">
                                      <p:cBhvr additive="base">
                                        <p:cTn id="7" dur="500" fill="hold"/>
                                        <p:tgtEl>
                                          <p:spTgt spid="74757">
                                            <p:txEl>
                                              <p:charRg st="0" end="1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4757">
                                            <p:txEl>
                                              <p:charRg st="0" end="1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4758"/>
                                        </p:tgtEl>
                                        <p:attrNameLst>
                                          <p:attrName>style.visibility</p:attrName>
                                        </p:attrNameLst>
                                      </p:cBhvr>
                                      <p:to>
                                        <p:strVal val="visible"/>
                                      </p:to>
                                    </p:set>
                                    <p:animEffect transition="in" filter="box(in)">
                                      <p:cBhvr>
                                        <p:cTn id="12" dur="5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dvAuto="1000" build="p"/>
      <p:bldP spid="7475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4"/>
          <p:cNvSpPr>
            <a:spLocks noGrp="1"/>
          </p:cNvSpPr>
          <p:nvPr>
            <p:ph type="title"/>
          </p:nvPr>
        </p:nvSpPr>
        <p:spPr>
          <a:ln/>
        </p:spPr>
        <p:txBody>
          <a:bodyPr vert="horz" wrap="square" lIns="91440" tIns="45720" rIns="91440" bIns="45720" anchor="ctr" anchorCtr="0"/>
          <a:p>
            <a:pPr eaLnBrk="1" hangingPunct="1"/>
            <a:r>
              <a:rPr lang="en-US" altLang="zh-CN" dirty="0"/>
              <a:t>4.7  </a:t>
            </a:r>
            <a:r>
              <a:rPr lang="zh-CN" altLang="en-US" dirty="0"/>
              <a:t>内部寄存器</a:t>
            </a:r>
            <a:endParaRPr lang="zh-CN" altLang="en-US" dirty="0"/>
          </a:p>
        </p:txBody>
      </p:sp>
      <p:sp>
        <p:nvSpPr>
          <p:cNvPr id="65538"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R14</a:t>
            </a:r>
            <a:r>
              <a:rPr lang="zh-CN" altLang="en-US" dirty="0"/>
              <a:t>寄存器注意要点</a:t>
            </a:r>
            <a:endParaRPr lang="zh-CN" altLang="en-US" dirty="0"/>
          </a:p>
        </p:txBody>
      </p:sp>
      <p:grpSp>
        <p:nvGrpSpPr>
          <p:cNvPr id="2" name="Group 45"/>
          <p:cNvGrpSpPr/>
          <p:nvPr/>
        </p:nvGrpSpPr>
        <p:grpSpPr>
          <a:xfrm>
            <a:off x="4054475" y="2492375"/>
            <a:ext cx="4038600" cy="3048000"/>
            <a:chOff x="864" y="1824"/>
            <a:chExt cx="2544" cy="1920"/>
          </a:xfrm>
        </p:grpSpPr>
        <p:sp>
          <p:nvSpPr>
            <p:cNvPr id="65540" name="Rectangle 7"/>
            <p:cNvSpPr/>
            <p:nvPr/>
          </p:nvSpPr>
          <p:spPr>
            <a:xfrm>
              <a:off x="1056" y="2016"/>
              <a:ext cx="864" cy="129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5541" name="Rectangle 8"/>
            <p:cNvSpPr/>
            <p:nvPr/>
          </p:nvSpPr>
          <p:spPr>
            <a:xfrm>
              <a:off x="2352" y="2016"/>
              <a:ext cx="864" cy="129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5542" name="Rectangle 9"/>
            <p:cNvSpPr/>
            <p:nvPr/>
          </p:nvSpPr>
          <p:spPr>
            <a:xfrm>
              <a:off x="1056" y="3552"/>
              <a:ext cx="864"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R14</a:t>
              </a:r>
              <a:endParaRPr lang="en-US" altLang="zh-CN" sz="1600" dirty="0">
                <a:latin typeface="Times New Roman" panose="02020603050405020304" pitchFamily="18" charset="0"/>
                <a:ea typeface="宋体" panose="02010600030101010101" pitchFamily="2" charset="-122"/>
              </a:endParaRPr>
            </a:p>
          </p:txBody>
        </p:sp>
        <p:sp>
          <p:nvSpPr>
            <p:cNvPr id="65543" name="Rectangle 10"/>
            <p:cNvSpPr/>
            <p:nvPr/>
          </p:nvSpPr>
          <p:spPr>
            <a:xfrm>
              <a:off x="2352" y="3552"/>
              <a:ext cx="864"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R14_irq</a:t>
              </a:r>
              <a:endParaRPr lang="en-US" altLang="zh-CN" sz="1600" dirty="0">
                <a:latin typeface="Times New Roman" panose="02020603050405020304" pitchFamily="18" charset="0"/>
                <a:ea typeface="宋体" panose="02010600030101010101" pitchFamily="2" charset="-122"/>
              </a:endParaRPr>
            </a:p>
          </p:txBody>
        </p:sp>
        <p:sp>
          <p:nvSpPr>
            <p:cNvPr id="65544" name="Text Box 11"/>
            <p:cNvSpPr txBox="1"/>
            <p:nvPr/>
          </p:nvSpPr>
          <p:spPr>
            <a:xfrm>
              <a:off x="864" y="1824"/>
              <a:ext cx="1296" cy="212"/>
            </a:xfrm>
            <a:prstGeom prst="rect">
              <a:avLst/>
            </a:prstGeom>
            <a:noFill/>
            <a:ln w="9525">
              <a:noFill/>
            </a:ln>
          </p:spPr>
          <p:txBody>
            <a:bodyPr anchor="t" anchorCtr="0">
              <a:spAutoFit/>
            </a:bodyPr>
            <a:p>
              <a:pPr algn="ctr">
                <a:spcBef>
                  <a:spcPct val="50000"/>
                </a:spcBef>
                <a:buClrTx/>
                <a:buFontTx/>
              </a:pPr>
              <a:r>
                <a:rPr lang="zh-CN" altLang="en-US" sz="1600" dirty="0">
                  <a:latin typeface="Times New Roman" panose="02020603050405020304" pitchFamily="18" charset="0"/>
                  <a:ea typeface="宋体" panose="02010600030101010101" pitchFamily="2" charset="-122"/>
                </a:rPr>
                <a:t>用户模式下的程序</a:t>
              </a:r>
              <a:endParaRPr lang="zh-CN" altLang="en-US" sz="1600" dirty="0">
                <a:latin typeface="Times New Roman" panose="02020603050405020304" pitchFamily="18" charset="0"/>
                <a:ea typeface="宋体" panose="02010600030101010101" pitchFamily="2" charset="-122"/>
              </a:endParaRPr>
            </a:p>
          </p:txBody>
        </p:sp>
        <p:sp>
          <p:nvSpPr>
            <p:cNvPr id="65545" name="Text Box 12"/>
            <p:cNvSpPr txBox="1"/>
            <p:nvPr/>
          </p:nvSpPr>
          <p:spPr>
            <a:xfrm>
              <a:off x="2112" y="1824"/>
              <a:ext cx="1296" cy="212"/>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IRQ</a:t>
              </a:r>
              <a:r>
                <a:rPr lang="zh-CN" altLang="en-US" sz="1600" dirty="0">
                  <a:latin typeface="Times New Roman" panose="02020603050405020304" pitchFamily="18" charset="0"/>
                  <a:ea typeface="宋体" panose="02010600030101010101" pitchFamily="2" charset="-122"/>
                </a:rPr>
                <a:t>模式下的程序</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sp>
        <p:nvSpPr>
          <p:cNvPr id="76819" name="AutoShape 19"/>
          <p:cNvSpPr/>
          <p:nvPr/>
        </p:nvSpPr>
        <p:spPr>
          <a:xfrm>
            <a:off x="4892675" y="4397375"/>
            <a:ext cx="304800" cy="381000"/>
          </a:xfrm>
          <a:prstGeom prst="downArrow">
            <a:avLst>
              <a:gd name="adj1" fmla="val 50000"/>
              <a:gd name="adj2" fmla="val 3125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76820" name="Rectangle 20"/>
          <p:cNvSpPr/>
          <p:nvPr/>
        </p:nvSpPr>
        <p:spPr>
          <a:xfrm>
            <a:off x="6416675" y="2797175"/>
            <a:ext cx="1371600" cy="228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76821" name="Rectangle 21"/>
          <p:cNvSpPr/>
          <p:nvPr/>
        </p:nvSpPr>
        <p:spPr>
          <a:xfrm>
            <a:off x="6416675" y="4625975"/>
            <a:ext cx="1371600" cy="228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return</a:t>
            </a:r>
            <a:endParaRPr lang="en-US" altLang="zh-CN" sz="1600" dirty="0">
              <a:latin typeface="Times New Roman" panose="02020603050405020304" pitchFamily="18" charset="0"/>
              <a:ea typeface="宋体" panose="02010600030101010101" pitchFamily="2" charset="-122"/>
            </a:endParaRPr>
          </a:p>
        </p:txBody>
      </p:sp>
      <p:sp>
        <p:nvSpPr>
          <p:cNvPr id="76824" name="Freeform 24"/>
          <p:cNvSpPr/>
          <p:nvPr/>
        </p:nvSpPr>
        <p:spPr>
          <a:xfrm>
            <a:off x="7102475" y="4778375"/>
            <a:ext cx="1588" cy="533400"/>
          </a:xfrm>
          <a:custGeom>
            <a:avLst/>
            <a:gdLst/>
            <a:ahLst/>
            <a:cxnLst>
              <a:cxn ang="0">
                <a:pos x="0" y="2147483646"/>
              </a:cxn>
              <a:cxn ang="0">
                <a:pos x="0" y="0"/>
              </a:cxn>
            </a:cxnLst>
            <a:pathLst>
              <a:path w="1" h="336">
                <a:moveTo>
                  <a:pt x="0" y="336"/>
                </a:moveTo>
                <a:cubicBezTo>
                  <a:pt x="0" y="200"/>
                  <a:pt x="0" y="64"/>
                  <a:pt x="0" y="0"/>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76818" name="AutoShape 18"/>
          <p:cNvSpPr/>
          <p:nvPr/>
        </p:nvSpPr>
        <p:spPr>
          <a:xfrm>
            <a:off x="4892675" y="2873375"/>
            <a:ext cx="304800" cy="457200"/>
          </a:xfrm>
          <a:prstGeom prst="downArrow">
            <a:avLst>
              <a:gd name="adj1" fmla="val 50000"/>
              <a:gd name="adj2" fmla="val 3750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76844" name="AutoShape 44"/>
          <p:cNvSpPr/>
          <p:nvPr/>
        </p:nvSpPr>
        <p:spPr>
          <a:xfrm>
            <a:off x="6950075" y="3178175"/>
            <a:ext cx="304800" cy="1371600"/>
          </a:xfrm>
          <a:prstGeom prst="downArrow">
            <a:avLst>
              <a:gd name="adj1" fmla="val 50000"/>
              <a:gd name="adj2" fmla="val 11250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nvGrpSpPr>
          <p:cNvPr id="3" name="Group 50"/>
          <p:cNvGrpSpPr/>
          <p:nvPr/>
        </p:nvGrpSpPr>
        <p:grpSpPr>
          <a:xfrm>
            <a:off x="3673475" y="3406775"/>
            <a:ext cx="2057400" cy="946150"/>
            <a:chOff x="624" y="2400"/>
            <a:chExt cx="1296" cy="596"/>
          </a:xfrm>
        </p:grpSpPr>
        <p:sp>
          <p:nvSpPr>
            <p:cNvPr id="65553" name="Rectangle 13"/>
            <p:cNvSpPr/>
            <p:nvPr/>
          </p:nvSpPr>
          <p:spPr>
            <a:xfrm>
              <a:off x="1056" y="2544"/>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sp>
          <p:nvSpPr>
            <p:cNvPr id="65554" name="Rectangle 14"/>
            <p:cNvSpPr/>
            <p:nvPr/>
          </p:nvSpPr>
          <p:spPr>
            <a:xfrm>
              <a:off x="1056" y="2688"/>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65555" name="Rectangle 15"/>
            <p:cNvSpPr/>
            <p:nvPr/>
          </p:nvSpPr>
          <p:spPr>
            <a:xfrm>
              <a:off x="1056" y="2832"/>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X</a:t>
              </a:r>
              <a:endParaRPr lang="en-US" altLang="zh-CN" sz="1600" dirty="0">
                <a:latin typeface="Times New Roman" panose="02020603050405020304" pitchFamily="18" charset="0"/>
                <a:ea typeface="宋体" panose="02010600030101010101" pitchFamily="2" charset="-122"/>
              </a:endParaRPr>
            </a:p>
          </p:txBody>
        </p:sp>
        <p:sp>
          <p:nvSpPr>
            <p:cNvPr id="65556" name="Rectangle 25"/>
            <p:cNvSpPr/>
            <p:nvPr/>
          </p:nvSpPr>
          <p:spPr>
            <a:xfrm>
              <a:off x="1056" y="2400"/>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65557" name="Text Box 46"/>
            <p:cNvSpPr txBox="1"/>
            <p:nvPr/>
          </p:nvSpPr>
          <p:spPr>
            <a:xfrm>
              <a:off x="624" y="2784"/>
              <a:ext cx="480" cy="212"/>
            </a:xfrm>
            <a:prstGeom prst="rect">
              <a:avLst/>
            </a:prstGeom>
            <a:noFill/>
            <a:ln w="9525">
              <a:noFill/>
            </a:ln>
          </p:spPr>
          <p:txBody>
            <a:bodyPr anchor="t" anchorCtr="0">
              <a:spAutoFit/>
            </a:bodyPr>
            <a:p>
              <a:pPr>
                <a:spcBef>
                  <a:spcPct val="50000"/>
                </a:spcBef>
                <a:buClrTx/>
                <a:buFontTx/>
              </a:pPr>
              <a:r>
                <a:rPr lang="zh-CN" altLang="en-US" sz="1600" dirty="0">
                  <a:latin typeface="Times New Roman" panose="02020603050405020304" pitchFamily="18" charset="0"/>
                  <a:ea typeface="宋体" panose="02010600030101010101" pitchFamily="2" charset="-122"/>
                </a:rPr>
                <a:t>地址</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sp>
        <p:nvSpPr>
          <p:cNvPr id="76848" name="Rectangle 48"/>
          <p:cNvSpPr/>
          <p:nvPr/>
        </p:nvSpPr>
        <p:spPr>
          <a:xfrm>
            <a:off x="6416675" y="5235575"/>
            <a:ext cx="1371600" cy="30480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600" dirty="0">
                <a:solidFill>
                  <a:srgbClr val="FF0000"/>
                </a:solidFill>
                <a:latin typeface="Times New Roman" panose="02020603050405020304" pitchFamily="18" charset="0"/>
                <a:ea typeface="宋体" panose="02010600030101010101" pitchFamily="2" charset="-122"/>
              </a:rPr>
              <a:t>地址</a:t>
            </a:r>
            <a:r>
              <a:rPr lang="en-US" altLang="zh-CN" sz="1600" dirty="0">
                <a:solidFill>
                  <a:srgbClr val="FF0000"/>
                </a:solidFill>
                <a:latin typeface="Times New Roman" panose="02020603050405020304" pitchFamily="18" charset="0"/>
                <a:ea typeface="宋体" panose="02010600030101010101" pitchFamily="2" charset="-122"/>
              </a:rPr>
              <a:t>A</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76816" name="Line 16"/>
          <p:cNvSpPr/>
          <p:nvPr/>
        </p:nvSpPr>
        <p:spPr>
          <a:xfrm flipV="1">
            <a:off x="5654675" y="2873375"/>
            <a:ext cx="838200" cy="609600"/>
          </a:xfrm>
          <a:prstGeom prst="line">
            <a:avLst/>
          </a:prstGeom>
          <a:ln w="28575" cap="flat" cmpd="sng">
            <a:solidFill>
              <a:srgbClr val="FF0000"/>
            </a:solidFill>
            <a:prstDash val="solid"/>
            <a:round/>
            <a:headEnd type="none" w="med" len="med"/>
            <a:tailEnd type="triangle" w="med" len="med"/>
          </a:ln>
        </p:spPr>
      </p:sp>
      <p:sp>
        <p:nvSpPr>
          <p:cNvPr id="76823" name="Line 23"/>
          <p:cNvSpPr/>
          <p:nvPr/>
        </p:nvSpPr>
        <p:spPr>
          <a:xfrm flipH="1" flipV="1">
            <a:off x="5654675" y="3711575"/>
            <a:ext cx="838200" cy="1066800"/>
          </a:xfrm>
          <a:prstGeom prst="line">
            <a:avLst/>
          </a:prstGeom>
          <a:ln w="28575" cap="flat" cmpd="sng">
            <a:solidFill>
              <a:srgbClr val="FF0000"/>
            </a:solidFill>
            <a:prstDash val="solid"/>
            <a:round/>
            <a:headEnd type="none" w="med" len="med"/>
            <a:tailEnd type="triangle" w="med" len="med"/>
          </a:ln>
        </p:spPr>
      </p:sp>
      <p:sp>
        <p:nvSpPr>
          <p:cNvPr id="76851" name="AutoShape 51"/>
          <p:cNvSpPr/>
          <p:nvPr/>
        </p:nvSpPr>
        <p:spPr>
          <a:xfrm>
            <a:off x="1692275" y="2568575"/>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1.</a:t>
            </a:r>
            <a:r>
              <a:rPr lang="zh-CN" altLang="en-US" sz="2000" dirty="0">
                <a:latin typeface="华文新魏" panose="02010800040101010101" pitchFamily="2" charset="-122"/>
                <a:ea typeface="华文新魏" panose="02010800040101010101" pitchFamily="2" charset="-122"/>
              </a:rPr>
              <a:t>执行用户模式下的程序；</a:t>
            </a:r>
            <a:endParaRPr lang="zh-CN" altLang="en-US" sz="2000" dirty="0">
              <a:latin typeface="华文新魏" panose="02010800040101010101" pitchFamily="2" charset="-122"/>
              <a:ea typeface="华文新魏" panose="02010800040101010101" pitchFamily="2" charset="-122"/>
            </a:endParaRPr>
          </a:p>
        </p:txBody>
      </p:sp>
      <p:sp>
        <p:nvSpPr>
          <p:cNvPr id="76852" name="AutoShape 52"/>
          <p:cNvSpPr/>
          <p:nvPr/>
        </p:nvSpPr>
        <p:spPr>
          <a:xfrm>
            <a:off x="1692275" y="2568575"/>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2.</a:t>
            </a:r>
            <a:r>
              <a:rPr lang="zh-CN" altLang="en-US" sz="2000" dirty="0">
                <a:latin typeface="华文新魏" panose="02010800040101010101" pitchFamily="2" charset="-122"/>
                <a:ea typeface="华文新魏" panose="02010800040101010101" pitchFamily="2" charset="-122"/>
              </a:rPr>
              <a:t>发生</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中断，硬件将某个地址存入</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模式下的</a:t>
            </a:r>
            <a:r>
              <a:rPr lang="en-US" altLang="zh-CN" sz="2000" dirty="0">
                <a:latin typeface="华文新魏" panose="02010800040101010101" pitchFamily="2" charset="-122"/>
                <a:ea typeface="华文新魏" panose="02010800040101010101" pitchFamily="2" charset="-122"/>
              </a:rPr>
              <a:t>R14_irq</a:t>
            </a:r>
            <a:r>
              <a:rPr lang="zh-CN" altLang="en-US" sz="2000" dirty="0">
                <a:latin typeface="华文新魏" panose="02010800040101010101" pitchFamily="2" charset="-122"/>
                <a:ea typeface="华文新魏" panose="02010800040101010101" pitchFamily="2" charset="-122"/>
              </a:rPr>
              <a:t>寄存器，</a:t>
            </a:r>
            <a:r>
              <a:rPr lang="zh-CN" altLang="en-US" sz="2000" dirty="0">
                <a:solidFill>
                  <a:srgbClr val="FF0000"/>
                </a:solidFill>
                <a:latin typeface="华文新魏" panose="02010800040101010101" pitchFamily="2" charset="-122"/>
                <a:ea typeface="华文新魏" panose="02010800040101010101" pitchFamily="2" charset="-122"/>
              </a:rPr>
              <a:t>用户模式下的</a:t>
            </a:r>
            <a:r>
              <a:rPr lang="en-US" altLang="zh-CN" sz="2000" dirty="0">
                <a:solidFill>
                  <a:srgbClr val="FF0000"/>
                </a:solidFill>
                <a:latin typeface="华文新魏" panose="02010800040101010101" pitchFamily="2" charset="-122"/>
                <a:ea typeface="华文新魏" panose="02010800040101010101" pitchFamily="2" charset="-122"/>
              </a:rPr>
              <a:t>R14</a:t>
            </a:r>
            <a:r>
              <a:rPr lang="zh-CN" altLang="en-US" sz="2000" dirty="0">
                <a:solidFill>
                  <a:srgbClr val="FF0000"/>
                </a:solidFill>
                <a:latin typeface="华文新魏" panose="02010800040101010101" pitchFamily="2" charset="-122"/>
                <a:ea typeface="华文新魏" panose="02010800040101010101" pitchFamily="2" charset="-122"/>
              </a:rPr>
              <a:t>没有被破坏</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76854" name="AutoShape 54"/>
          <p:cNvSpPr/>
          <p:nvPr/>
        </p:nvSpPr>
        <p:spPr>
          <a:xfrm>
            <a:off x="1692275" y="2568575"/>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3. IRQ</a:t>
            </a:r>
            <a:r>
              <a:rPr lang="zh-CN" altLang="en-US" sz="2000" dirty="0">
                <a:latin typeface="华文新魏" panose="02010800040101010101" pitchFamily="2" charset="-122"/>
                <a:ea typeface="华文新魏" panose="02010800040101010101" pitchFamily="2" charset="-122"/>
              </a:rPr>
              <a:t>服务程序</a:t>
            </a:r>
            <a:r>
              <a:rPr lang="en-US" altLang="zh-CN" sz="2000" dirty="0">
                <a:latin typeface="华文新魏" panose="02010800040101010101" pitchFamily="2" charset="-122"/>
                <a:ea typeface="华文新魏" panose="02010800040101010101" pitchFamily="2" charset="-122"/>
              </a:rPr>
              <a:t>A</a:t>
            </a:r>
            <a:r>
              <a:rPr lang="zh-CN" altLang="en-US" sz="2000" dirty="0">
                <a:latin typeface="华文新魏" panose="02010800040101010101" pitchFamily="2" charset="-122"/>
                <a:ea typeface="华文新魏" panose="02010800040101010101" pitchFamily="2" charset="-122"/>
              </a:rPr>
              <a:t>执行完毕，将</a:t>
            </a:r>
            <a:r>
              <a:rPr lang="en-US" altLang="zh-CN" sz="2000" dirty="0">
                <a:latin typeface="华文新魏" panose="02010800040101010101" pitchFamily="2" charset="-122"/>
                <a:ea typeface="华文新魏" panose="02010800040101010101" pitchFamily="2" charset="-122"/>
              </a:rPr>
              <a:t>R14_irq</a:t>
            </a:r>
            <a:r>
              <a:rPr lang="zh-CN" altLang="en-US" sz="2000" dirty="0">
                <a:latin typeface="华文新魏" panose="02010800040101010101" pitchFamily="2" charset="-122"/>
                <a:ea typeface="华文新魏" panose="02010800040101010101" pitchFamily="2" charset="-122"/>
              </a:rPr>
              <a:t>寄存器的内容减去某个常量后存入</a:t>
            </a:r>
            <a:r>
              <a:rPr lang="en-US" altLang="zh-CN" sz="2000" dirty="0">
                <a:latin typeface="华文新魏" panose="02010800040101010101" pitchFamily="2" charset="-122"/>
                <a:ea typeface="华文新魏" panose="02010800040101010101" pitchFamily="2" charset="-122"/>
              </a:rPr>
              <a:t>PC</a:t>
            </a:r>
            <a:r>
              <a:rPr lang="zh-CN" altLang="en-US" sz="2000" dirty="0">
                <a:latin typeface="华文新魏" panose="02010800040101010101" pitchFamily="2" charset="-122"/>
                <a:ea typeface="华文新魏" panose="02010800040101010101" pitchFamily="2" charset="-122"/>
              </a:rPr>
              <a:t>，返回之前被中断的程序；</a:t>
            </a:r>
            <a:endParaRPr lang="zh-CN" altLang="en-US" sz="2000" dirty="0">
              <a:latin typeface="华文新魏" panose="02010800040101010101" pitchFamily="2" charset="-122"/>
              <a:ea typeface="华文新魏" panose="02010800040101010101" pitchFamily="2" charset="-122"/>
            </a:endParaRPr>
          </a:p>
        </p:txBody>
      </p:sp>
      <p:sp>
        <p:nvSpPr>
          <p:cNvPr id="76855" name="Oval 55"/>
          <p:cNvSpPr/>
          <p:nvPr/>
        </p:nvSpPr>
        <p:spPr>
          <a:xfrm>
            <a:off x="4283075" y="5159375"/>
            <a:ext cx="1524000" cy="457200"/>
          </a:xfrm>
          <a:prstGeom prst="ellipse">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76856" name="Text Box 56"/>
          <p:cNvSpPr txBox="1"/>
          <p:nvPr/>
        </p:nvSpPr>
        <p:spPr>
          <a:xfrm>
            <a:off x="4206875" y="5692775"/>
            <a:ext cx="1600200" cy="396875"/>
          </a:xfrm>
          <a:prstGeom prst="rect">
            <a:avLst/>
          </a:prstGeom>
          <a:noFill/>
          <a:ln w="9525">
            <a:noFill/>
          </a:ln>
        </p:spPr>
        <p:txBody>
          <a:bodyPr anchor="t" anchorCtr="0">
            <a:spAutoFit/>
          </a:bodyPr>
          <a:p>
            <a:pPr algn="ctr">
              <a:spcBef>
                <a:spcPct val="5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未被破坏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sp>
        <p:nvSpPr>
          <p:cNvPr id="76857" name="Freeform 57"/>
          <p:cNvSpPr/>
          <p:nvPr/>
        </p:nvSpPr>
        <p:spPr>
          <a:xfrm>
            <a:off x="5637213" y="4211638"/>
            <a:ext cx="855662" cy="1252537"/>
          </a:xfrm>
          <a:custGeom>
            <a:avLst/>
            <a:gdLst/>
            <a:ahLst/>
            <a:cxnLst>
              <a:cxn ang="0">
                <a:pos x="0" y="0"/>
              </a:cxn>
              <a:cxn ang="0">
                <a:pos x="2147483646" y="2147483646"/>
              </a:cxn>
              <a:cxn ang="0">
                <a:pos x="2147483646" y="2147483646"/>
              </a:cxn>
              <a:cxn ang="0">
                <a:pos x="2147483646" y="2147483646"/>
              </a:cxn>
            </a:cxnLst>
            <a:pathLst>
              <a:path w="539" h="789">
                <a:moveTo>
                  <a:pt x="0" y="0"/>
                </a:moveTo>
                <a:cubicBezTo>
                  <a:pt x="24" y="20"/>
                  <a:pt x="117" y="11"/>
                  <a:pt x="146" y="110"/>
                </a:cubicBezTo>
                <a:cubicBezTo>
                  <a:pt x="175" y="209"/>
                  <a:pt x="108" y="482"/>
                  <a:pt x="173" y="595"/>
                </a:cubicBezTo>
                <a:cubicBezTo>
                  <a:pt x="238" y="708"/>
                  <a:pt x="463" y="749"/>
                  <a:pt x="539" y="789"/>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65567" name="Text Box 58"/>
          <p:cNvSpPr txBox="1"/>
          <p:nvPr/>
        </p:nvSpPr>
        <p:spPr>
          <a:xfrm>
            <a:off x="6443663" y="5661025"/>
            <a:ext cx="1368425" cy="366713"/>
          </a:xfrm>
          <a:prstGeom prst="rect">
            <a:avLst/>
          </a:prstGeom>
          <a:noFill/>
          <a:ln w="9525">
            <a:noFill/>
          </a:ln>
        </p:spPr>
        <p:txBody>
          <a:bodyPr anchor="t" anchorCtr="0">
            <a:spAutoFit/>
          </a:bodyPr>
          <a:p>
            <a:pPr algn="ctr">
              <a:spcBef>
                <a:spcPct val="50000"/>
              </a:spcBef>
              <a:buClrTx/>
              <a:buFontTx/>
            </a:pPr>
            <a:r>
              <a:rPr lang="en-US" altLang="zh-CN" b="1" dirty="0">
                <a:solidFill>
                  <a:schemeClr val="folHlink"/>
                </a:solidFill>
                <a:latin typeface="Times New Roman" panose="02020603050405020304" pitchFamily="18" charset="0"/>
                <a:ea typeface="宋体" panose="02010600030101010101" pitchFamily="2" charset="-122"/>
              </a:rPr>
              <a:t>R14_irq</a:t>
            </a:r>
            <a:endParaRPr lang="en-US" altLang="zh-CN" b="1" dirty="0">
              <a:solidFill>
                <a:schemeClr val="folHlink"/>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500"/>
                                        <p:tgtEl>
                                          <p:spTgt spid="2"/>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76851"/>
                                        </p:tgtEl>
                                        <p:attrNameLst>
                                          <p:attrName>style.visibility</p:attrName>
                                        </p:attrNameLst>
                                      </p:cBhvr>
                                      <p:to>
                                        <p:strVal val="visible"/>
                                      </p:to>
                                    </p:set>
                                    <p:anim calcmode="lin" valueType="num">
                                      <p:cBhvr additive="base">
                                        <p:cTn id="11" dur="500" fill="hold"/>
                                        <p:tgtEl>
                                          <p:spTgt spid="76851"/>
                                        </p:tgtEl>
                                        <p:attrNameLst>
                                          <p:attrName>ppt_x</p:attrName>
                                        </p:attrNameLst>
                                      </p:cBhvr>
                                      <p:tavLst>
                                        <p:tav tm="0">
                                          <p:val>
                                            <p:strVal val="0-#ppt_w/2"/>
                                          </p:val>
                                        </p:tav>
                                        <p:tav tm="100000">
                                          <p:val>
                                            <p:strVal val="#ppt_x"/>
                                          </p:val>
                                        </p:tav>
                                      </p:tavLst>
                                    </p:anim>
                                    <p:anim calcmode="lin" valueType="num">
                                      <p:cBhvr additive="base">
                                        <p:cTn id="12" dur="500" fill="hold"/>
                                        <p:tgtEl>
                                          <p:spTgt spid="76851"/>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76818"/>
                                        </p:tgtEl>
                                        <p:attrNameLst>
                                          <p:attrName>style.visibility</p:attrName>
                                        </p:attrNameLst>
                                      </p:cBhvr>
                                      <p:to>
                                        <p:strVal val="visible"/>
                                      </p:to>
                                    </p:set>
                                    <p:animEffect transition="in" filter="slide(fromTop)">
                                      <p:cBhvr>
                                        <p:cTn id="16" dur="500"/>
                                        <p:tgtEl>
                                          <p:spTgt spid="7681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6852"/>
                                        </p:tgtEl>
                                        <p:attrNameLst>
                                          <p:attrName>style.visibility</p:attrName>
                                        </p:attrNameLst>
                                      </p:cBhvr>
                                      <p:to>
                                        <p:strVal val="visible"/>
                                      </p:to>
                                    </p:set>
                                    <p:anim calcmode="lin" valueType="num">
                                      <p:cBhvr additive="base">
                                        <p:cTn id="21" dur="500" fill="hold"/>
                                        <p:tgtEl>
                                          <p:spTgt spid="76852"/>
                                        </p:tgtEl>
                                        <p:attrNameLst>
                                          <p:attrName>ppt_x</p:attrName>
                                        </p:attrNameLst>
                                      </p:cBhvr>
                                      <p:tavLst>
                                        <p:tav tm="0">
                                          <p:val>
                                            <p:strVal val="0-#ppt_w/2"/>
                                          </p:val>
                                        </p:tav>
                                        <p:tav tm="100000">
                                          <p:val>
                                            <p:strVal val="#ppt_x"/>
                                          </p:val>
                                        </p:tav>
                                      </p:tavLst>
                                    </p:anim>
                                    <p:anim calcmode="lin" valueType="num">
                                      <p:cBhvr additive="base">
                                        <p:cTn id="22" dur="500" fill="hold"/>
                                        <p:tgtEl>
                                          <p:spTgt spid="76852"/>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499"/>
                                          </p:stCondLst>
                                        </p:cTn>
                                        <p:tgtEl>
                                          <p:spTgt spid="3"/>
                                        </p:tgtEl>
                                        <p:attrNameLst>
                                          <p:attrName>style.visibility</p:attrName>
                                        </p:attrNameLst>
                                      </p:cBhvr>
                                      <p:to>
                                        <p:strVal val="visible"/>
                                      </p:to>
                                    </p:se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76816"/>
                                        </p:tgtEl>
                                        <p:attrNameLst>
                                          <p:attrName>style.visibility</p:attrName>
                                        </p:attrNameLst>
                                      </p:cBhvr>
                                      <p:to>
                                        <p:strVal val="visible"/>
                                      </p:to>
                                    </p:set>
                                    <p:animEffect transition="in" filter="wipe(left)">
                                      <p:cBhvr>
                                        <p:cTn id="29" dur="500"/>
                                        <p:tgtEl>
                                          <p:spTgt spid="76816"/>
                                        </p:tgtEl>
                                      </p:cBhvr>
                                    </p:animEffect>
                                  </p:childTnLst>
                                </p:cTn>
                              </p:par>
                            </p:childTnLst>
                          </p:cTn>
                        </p:par>
                        <p:par>
                          <p:cTn id="30" fill="hold">
                            <p:stCondLst>
                              <p:cond delay="1500"/>
                            </p:stCondLst>
                            <p:childTnLst>
                              <p:par>
                                <p:cTn id="31" presetID="1" presetClass="entr" presetSubtype="0" fill="hold" grpId="0" nodeType="afterEffect">
                                  <p:stCondLst>
                                    <p:cond delay="0"/>
                                  </p:stCondLst>
                                  <p:childTnLst>
                                    <p:set>
                                      <p:cBhvr>
                                        <p:cTn id="32" dur="1" fill="hold">
                                          <p:stCondLst>
                                            <p:cond delay="499"/>
                                          </p:stCondLst>
                                        </p:cTn>
                                        <p:tgtEl>
                                          <p:spTgt spid="76820"/>
                                        </p:tgtEl>
                                        <p:attrNameLst>
                                          <p:attrName>style.visibility</p:attrName>
                                        </p:attrNameLst>
                                      </p:cBhvr>
                                      <p:to>
                                        <p:strVal val="visible"/>
                                      </p:to>
                                    </p:se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76857"/>
                                        </p:tgtEl>
                                        <p:attrNameLst>
                                          <p:attrName>style.visibility</p:attrName>
                                        </p:attrNameLst>
                                      </p:cBhvr>
                                      <p:to>
                                        <p:strVal val="visible"/>
                                      </p:to>
                                    </p:set>
                                    <p:animEffect transition="in" filter="wipe(left)">
                                      <p:cBhvr>
                                        <p:cTn id="36" dur="500"/>
                                        <p:tgtEl>
                                          <p:spTgt spid="76857"/>
                                        </p:tgtEl>
                                      </p:cBhvr>
                                    </p:animEffect>
                                  </p:childTnLst>
                                </p:cTn>
                              </p:par>
                            </p:childTnLst>
                          </p:cTn>
                        </p:par>
                        <p:par>
                          <p:cTn id="37" fill="hold">
                            <p:stCondLst>
                              <p:cond delay="2500"/>
                            </p:stCondLst>
                            <p:childTnLst>
                              <p:par>
                                <p:cTn id="38" presetID="12" presetClass="entr" presetSubtype="8" fill="hold" grpId="0" nodeType="afterEffect">
                                  <p:stCondLst>
                                    <p:cond delay="0"/>
                                  </p:stCondLst>
                                  <p:childTnLst>
                                    <p:set>
                                      <p:cBhvr>
                                        <p:cTn id="39" dur="1" fill="hold">
                                          <p:stCondLst>
                                            <p:cond delay="0"/>
                                          </p:stCondLst>
                                        </p:cTn>
                                        <p:tgtEl>
                                          <p:spTgt spid="76848"/>
                                        </p:tgtEl>
                                        <p:attrNameLst>
                                          <p:attrName>style.visibility</p:attrName>
                                        </p:attrNameLst>
                                      </p:cBhvr>
                                      <p:to>
                                        <p:strVal val="visible"/>
                                      </p:to>
                                    </p:set>
                                    <p:animEffect transition="in" filter="slide(fromLeft)">
                                      <p:cBhvr>
                                        <p:cTn id="40" dur="500"/>
                                        <p:tgtEl>
                                          <p:spTgt spid="76848"/>
                                        </p:tgtEl>
                                      </p:cBhvr>
                                    </p:animEffect>
                                  </p:childTnLst>
                                </p:cTn>
                              </p:par>
                            </p:childTnLst>
                          </p:cTn>
                        </p:par>
                        <p:par>
                          <p:cTn id="41" fill="hold">
                            <p:stCondLst>
                              <p:cond delay="3000"/>
                            </p:stCondLst>
                            <p:childTnLst>
                              <p:par>
                                <p:cTn id="42" presetID="1" presetClass="entr" presetSubtype="0" fill="hold" grpId="0" nodeType="afterEffect">
                                  <p:stCondLst>
                                    <p:cond delay="0"/>
                                  </p:stCondLst>
                                  <p:childTnLst>
                                    <p:set>
                                      <p:cBhvr>
                                        <p:cTn id="43" dur="1" fill="hold">
                                          <p:stCondLst>
                                            <p:cond delay="499"/>
                                          </p:stCondLst>
                                        </p:cTn>
                                        <p:tgtEl>
                                          <p:spTgt spid="76855"/>
                                        </p:tgtEl>
                                        <p:attrNameLst>
                                          <p:attrName>style.visibility</p:attrName>
                                        </p:attrNameLst>
                                      </p:cBhvr>
                                      <p:to>
                                        <p:strVal val="visible"/>
                                      </p:to>
                                    </p:set>
                                  </p:childTnLst>
                                </p:cTn>
                              </p:par>
                            </p:childTnLst>
                          </p:cTn>
                        </p:par>
                        <p:par>
                          <p:cTn id="44" fill="hold">
                            <p:stCondLst>
                              <p:cond delay="3500"/>
                            </p:stCondLst>
                            <p:childTnLst>
                              <p:par>
                                <p:cTn id="45" presetID="12" presetClass="entr" presetSubtype="1" fill="hold" grpId="0" nodeType="afterEffect">
                                  <p:stCondLst>
                                    <p:cond delay="0"/>
                                  </p:stCondLst>
                                  <p:childTnLst>
                                    <p:set>
                                      <p:cBhvr>
                                        <p:cTn id="46" dur="1" fill="hold">
                                          <p:stCondLst>
                                            <p:cond delay="0"/>
                                          </p:stCondLst>
                                        </p:cTn>
                                        <p:tgtEl>
                                          <p:spTgt spid="76856"/>
                                        </p:tgtEl>
                                        <p:attrNameLst>
                                          <p:attrName>style.visibility</p:attrName>
                                        </p:attrNameLst>
                                      </p:cBhvr>
                                      <p:to>
                                        <p:strVal val="visible"/>
                                      </p:to>
                                    </p:set>
                                    <p:animEffect transition="in" filter="slide(fromTop)">
                                      <p:cBhvr>
                                        <p:cTn id="47" dur="500"/>
                                        <p:tgtEl>
                                          <p:spTgt spid="76856"/>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76854"/>
                                        </p:tgtEl>
                                        <p:attrNameLst>
                                          <p:attrName>style.visibility</p:attrName>
                                        </p:attrNameLst>
                                      </p:cBhvr>
                                      <p:to>
                                        <p:strVal val="visible"/>
                                      </p:to>
                                    </p:set>
                                    <p:anim calcmode="lin" valueType="num">
                                      <p:cBhvr additive="base">
                                        <p:cTn id="52" dur="500" fill="hold"/>
                                        <p:tgtEl>
                                          <p:spTgt spid="76854"/>
                                        </p:tgtEl>
                                        <p:attrNameLst>
                                          <p:attrName>ppt_x</p:attrName>
                                        </p:attrNameLst>
                                      </p:cBhvr>
                                      <p:tavLst>
                                        <p:tav tm="0">
                                          <p:val>
                                            <p:strVal val="0-#ppt_w/2"/>
                                          </p:val>
                                        </p:tav>
                                        <p:tav tm="100000">
                                          <p:val>
                                            <p:strVal val="#ppt_x"/>
                                          </p:val>
                                        </p:tav>
                                      </p:tavLst>
                                    </p:anim>
                                    <p:anim calcmode="lin" valueType="num">
                                      <p:cBhvr additive="base">
                                        <p:cTn id="53" dur="500" fill="hold"/>
                                        <p:tgtEl>
                                          <p:spTgt spid="76854"/>
                                        </p:tgtEl>
                                        <p:attrNameLst>
                                          <p:attrName>ppt_y</p:attrName>
                                        </p:attrNameLst>
                                      </p:cBhvr>
                                      <p:tavLst>
                                        <p:tav tm="0">
                                          <p:val>
                                            <p:strVal val="#ppt_y"/>
                                          </p:val>
                                        </p:tav>
                                        <p:tav tm="100000">
                                          <p:val>
                                            <p:strVal val="#ppt_y"/>
                                          </p:val>
                                        </p:tav>
                                      </p:tavLst>
                                    </p:anim>
                                  </p:childTnLst>
                                </p:cTn>
                              </p:par>
                            </p:childTnLst>
                          </p:cTn>
                        </p:par>
                        <p:par>
                          <p:cTn id="54" fill="hold">
                            <p:stCondLst>
                              <p:cond delay="500"/>
                            </p:stCondLst>
                            <p:childTnLst>
                              <p:par>
                                <p:cTn id="55" presetID="12" presetClass="entr" presetSubtype="1" fill="hold" grpId="0" nodeType="afterEffect">
                                  <p:stCondLst>
                                    <p:cond delay="0"/>
                                  </p:stCondLst>
                                  <p:childTnLst>
                                    <p:set>
                                      <p:cBhvr>
                                        <p:cTn id="56" dur="1" fill="hold">
                                          <p:stCondLst>
                                            <p:cond delay="0"/>
                                          </p:stCondLst>
                                        </p:cTn>
                                        <p:tgtEl>
                                          <p:spTgt spid="76844"/>
                                        </p:tgtEl>
                                        <p:attrNameLst>
                                          <p:attrName>style.visibility</p:attrName>
                                        </p:attrNameLst>
                                      </p:cBhvr>
                                      <p:to>
                                        <p:strVal val="visible"/>
                                      </p:to>
                                    </p:set>
                                    <p:animEffect transition="in" filter="slide(fromTop)">
                                      <p:cBhvr>
                                        <p:cTn id="57" dur="500"/>
                                        <p:tgtEl>
                                          <p:spTgt spid="76844"/>
                                        </p:tgtEl>
                                      </p:cBhvr>
                                    </p:animEffect>
                                  </p:childTnLst>
                                </p:cTn>
                              </p:par>
                            </p:childTnLst>
                          </p:cTn>
                        </p:par>
                        <p:par>
                          <p:cTn id="58" fill="hold">
                            <p:stCondLst>
                              <p:cond delay="1000"/>
                            </p:stCondLst>
                            <p:childTnLst>
                              <p:par>
                                <p:cTn id="59" presetID="1" presetClass="entr" presetSubtype="0" fill="hold" grpId="0" nodeType="afterEffect">
                                  <p:stCondLst>
                                    <p:cond delay="0"/>
                                  </p:stCondLst>
                                  <p:childTnLst>
                                    <p:set>
                                      <p:cBhvr>
                                        <p:cTn id="60" dur="1" fill="hold">
                                          <p:stCondLst>
                                            <p:cond delay="499"/>
                                          </p:stCondLst>
                                        </p:cTn>
                                        <p:tgtEl>
                                          <p:spTgt spid="76821"/>
                                        </p:tgtEl>
                                        <p:attrNameLst>
                                          <p:attrName>style.visibility</p:attrName>
                                        </p:attrNameLst>
                                      </p:cBhvr>
                                      <p:to>
                                        <p:strVal val="visible"/>
                                      </p:to>
                                    </p:set>
                                  </p:childTnLst>
                                </p:cTn>
                              </p:par>
                            </p:childTnLst>
                          </p:cTn>
                        </p:par>
                        <p:par>
                          <p:cTn id="61" fill="hold">
                            <p:stCondLst>
                              <p:cond delay="1500"/>
                            </p:stCondLst>
                            <p:childTnLst>
                              <p:par>
                                <p:cTn id="62" presetID="22" presetClass="entr" presetSubtype="4" fill="hold" nodeType="afterEffect">
                                  <p:stCondLst>
                                    <p:cond delay="0"/>
                                  </p:stCondLst>
                                  <p:childTnLst>
                                    <p:set>
                                      <p:cBhvr>
                                        <p:cTn id="63" dur="1" fill="hold">
                                          <p:stCondLst>
                                            <p:cond delay="0"/>
                                          </p:stCondLst>
                                        </p:cTn>
                                        <p:tgtEl>
                                          <p:spTgt spid="76824"/>
                                        </p:tgtEl>
                                        <p:attrNameLst>
                                          <p:attrName>style.visibility</p:attrName>
                                        </p:attrNameLst>
                                      </p:cBhvr>
                                      <p:to>
                                        <p:strVal val="visible"/>
                                      </p:to>
                                    </p:set>
                                    <p:animEffect transition="in" filter="wipe(down)">
                                      <p:cBhvr>
                                        <p:cTn id="64" dur="500"/>
                                        <p:tgtEl>
                                          <p:spTgt spid="76824"/>
                                        </p:tgtEl>
                                      </p:cBhvr>
                                    </p:animEffect>
                                  </p:childTnLst>
                                </p:cTn>
                              </p:par>
                            </p:childTnLst>
                          </p:cTn>
                        </p:par>
                        <p:par>
                          <p:cTn id="65" fill="hold">
                            <p:stCondLst>
                              <p:cond delay="2000"/>
                            </p:stCondLst>
                            <p:childTnLst>
                              <p:par>
                                <p:cTn id="66" presetID="22" presetClass="entr" presetSubtype="2" fill="hold" nodeType="afterEffect">
                                  <p:stCondLst>
                                    <p:cond delay="0"/>
                                  </p:stCondLst>
                                  <p:childTnLst>
                                    <p:set>
                                      <p:cBhvr>
                                        <p:cTn id="67" dur="1" fill="hold">
                                          <p:stCondLst>
                                            <p:cond delay="0"/>
                                          </p:stCondLst>
                                        </p:cTn>
                                        <p:tgtEl>
                                          <p:spTgt spid="76823"/>
                                        </p:tgtEl>
                                        <p:attrNameLst>
                                          <p:attrName>style.visibility</p:attrName>
                                        </p:attrNameLst>
                                      </p:cBhvr>
                                      <p:to>
                                        <p:strVal val="visible"/>
                                      </p:to>
                                    </p:set>
                                    <p:animEffect transition="in" filter="wipe(right)">
                                      <p:cBhvr>
                                        <p:cTn id="68" dur="500"/>
                                        <p:tgtEl>
                                          <p:spTgt spid="76823"/>
                                        </p:tgtEl>
                                      </p:cBhvr>
                                    </p:animEffect>
                                  </p:childTnLst>
                                </p:cTn>
                              </p:par>
                            </p:childTnLst>
                          </p:cTn>
                        </p:par>
                        <p:par>
                          <p:cTn id="69" fill="hold">
                            <p:stCondLst>
                              <p:cond delay="2500"/>
                            </p:stCondLst>
                            <p:childTnLst>
                              <p:par>
                                <p:cTn id="70" presetID="12" presetClass="entr" presetSubtype="1" fill="hold" grpId="0" nodeType="afterEffect">
                                  <p:stCondLst>
                                    <p:cond delay="0"/>
                                  </p:stCondLst>
                                  <p:childTnLst>
                                    <p:set>
                                      <p:cBhvr>
                                        <p:cTn id="71" dur="1" fill="hold">
                                          <p:stCondLst>
                                            <p:cond delay="0"/>
                                          </p:stCondLst>
                                        </p:cTn>
                                        <p:tgtEl>
                                          <p:spTgt spid="76819"/>
                                        </p:tgtEl>
                                        <p:attrNameLst>
                                          <p:attrName>style.visibility</p:attrName>
                                        </p:attrNameLst>
                                      </p:cBhvr>
                                      <p:to>
                                        <p:strVal val="visible"/>
                                      </p:to>
                                    </p:set>
                                    <p:animEffect transition="in" filter="slide(fromTop)">
                                      <p:cBhvr>
                                        <p:cTn id="72" dur="500"/>
                                        <p:tgtEl>
                                          <p:spTgt spid="76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9" grpId="0" animBg="1"/>
      <p:bldP spid="76820" grpId="0" animBg="1"/>
      <p:bldP spid="76821" grpId="0" animBg="1"/>
      <p:bldP spid="76818" grpId="0" animBg="1"/>
      <p:bldP spid="76844" grpId="0" animBg="1"/>
      <p:bldP spid="76848" grpId="0" animBg="1"/>
      <p:bldP spid="76851" grpId="0" animBg="1"/>
      <p:bldP spid="76852" grpId="0" animBg="1"/>
      <p:bldP spid="76854" grpId="0" animBg="1"/>
      <p:bldP spid="76855" grpId="0" animBg="1"/>
      <p:bldP spid="7685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a:ln/>
        </p:spPr>
        <p:txBody>
          <a:bodyPr vert="horz" wrap="square" lIns="91440" tIns="45720" rIns="91440" bIns="45720" anchor="ctr" anchorCtr="0"/>
          <a:p>
            <a:pPr eaLnBrk="1" hangingPunct="1"/>
            <a:r>
              <a:rPr lang="en-US" altLang="zh-CN" dirty="0"/>
              <a:t>4.7  </a:t>
            </a:r>
            <a:r>
              <a:rPr lang="zh-CN" altLang="en-US" dirty="0"/>
              <a:t>内部寄存器</a:t>
            </a:r>
            <a:endParaRPr lang="zh-CN" altLang="en-US" dirty="0"/>
          </a:p>
        </p:txBody>
      </p:sp>
      <p:sp>
        <p:nvSpPr>
          <p:cNvPr id="66562"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en-US" altLang="zh-CN" dirty="0"/>
              <a:t>R14</a:t>
            </a:r>
            <a:r>
              <a:rPr lang="zh-CN" altLang="en-US" dirty="0"/>
              <a:t>寄存器注意要点</a:t>
            </a:r>
            <a:endParaRPr lang="zh-CN" altLang="en-US" dirty="0"/>
          </a:p>
        </p:txBody>
      </p:sp>
      <p:grpSp>
        <p:nvGrpSpPr>
          <p:cNvPr id="66563" name="Group 4"/>
          <p:cNvGrpSpPr/>
          <p:nvPr/>
        </p:nvGrpSpPr>
        <p:grpSpPr>
          <a:xfrm>
            <a:off x="2743200" y="2895600"/>
            <a:ext cx="4038600" cy="3048000"/>
            <a:chOff x="864" y="1824"/>
            <a:chExt cx="2544" cy="1920"/>
          </a:xfrm>
        </p:grpSpPr>
        <p:sp>
          <p:nvSpPr>
            <p:cNvPr id="66564" name="Rectangle 5"/>
            <p:cNvSpPr/>
            <p:nvPr/>
          </p:nvSpPr>
          <p:spPr>
            <a:xfrm>
              <a:off x="1056" y="2016"/>
              <a:ext cx="864" cy="129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6565" name="Rectangle 6"/>
            <p:cNvSpPr/>
            <p:nvPr/>
          </p:nvSpPr>
          <p:spPr>
            <a:xfrm>
              <a:off x="2352" y="2016"/>
              <a:ext cx="864" cy="129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6566" name="Rectangle 7"/>
            <p:cNvSpPr/>
            <p:nvPr/>
          </p:nvSpPr>
          <p:spPr>
            <a:xfrm>
              <a:off x="1056" y="3552"/>
              <a:ext cx="864"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R14</a:t>
              </a:r>
              <a:endParaRPr lang="en-US" altLang="zh-CN" sz="1600" dirty="0">
                <a:latin typeface="Times New Roman" panose="02020603050405020304" pitchFamily="18" charset="0"/>
                <a:ea typeface="宋体" panose="02010600030101010101" pitchFamily="2" charset="-122"/>
              </a:endParaRPr>
            </a:p>
          </p:txBody>
        </p:sp>
        <p:sp>
          <p:nvSpPr>
            <p:cNvPr id="66567" name="Rectangle 8"/>
            <p:cNvSpPr/>
            <p:nvPr/>
          </p:nvSpPr>
          <p:spPr>
            <a:xfrm>
              <a:off x="2352" y="3552"/>
              <a:ext cx="864"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R14_irq</a:t>
              </a:r>
              <a:endParaRPr lang="en-US" altLang="zh-CN" sz="1600" dirty="0">
                <a:latin typeface="Times New Roman" panose="02020603050405020304" pitchFamily="18" charset="0"/>
                <a:ea typeface="宋体" panose="02010600030101010101" pitchFamily="2" charset="-122"/>
              </a:endParaRPr>
            </a:p>
          </p:txBody>
        </p:sp>
        <p:sp>
          <p:nvSpPr>
            <p:cNvPr id="66568" name="Text Box 9"/>
            <p:cNvSpPr txBox="1"/>
            <p:nvPr/>
          </p:nvSpPr>
          <p:spPr>
            <a:xfrm>
              <a:off x="864" y="1824"/>
              <a:ext cx="1296" cy="212"/>
            </a:xfrm>
            <a:prstGeom prst="rect">
              <a:avLst/>
            </a:prstGeom>
            <a:noFill/>
            <a:ln w="9525">
              <a:noFill/>
            </a:ln>
          </p:spPr>
          <p:txBody>
            <a:bodyPr anchor="t" anchorCtr="0">
              <a:spAutoFit/>
            </a:bodyPr>
            <a:p>
              <a:pPr algn="ctr">
                <a:spcBef>
                  <a:spcPct val="50000"/>
                </a:spcBef>
                <a:buClrTx/>
                <a:buFontTx/>
              </a:pPr>
              <a:r>
                <a:rPr lang="zh-CN" altLang="en-US" sz="1600" dirty="0">
                  <a:latin typeface="Times New Roman" panose="02020603050405020304" pitchFamily="18" charset="0"/>
                  <a:ea typeface="宋体" panose="02010600030101010101" pitchFamily="2" charset="-122"/>
                </a:rPr>
                <a:t>用户模式下的程序</a:t>
              </a:r>
              <a:endParaRPr lang="zh-CN" altLang="en-US" sz="1600" dirty="0">
                <a:latin typeface="Times New Roman" panose="02020603050405020304" pitchFamily="18" charset="0"/>
                <a:ea typeface="宋体" panose="02010600030101010101" pitchFamily="2" charset="-122"/>
              </a:endParaRPr>
            </a:p>
          </p:txBody>
        </p:sp>
        <p:sp>
          <p:nvSpPr>
            <p:cNvPr id="66569" name="Text Box 10"/>
            <p:cNvSpPr txBox="1"/>
            <p:nvPr/>
          </p:nvSpPr>
          <p:spPr>
            <a:xfrm>
              <a:off x="2112" y="1824"/>
              <a:ext cx="1296" cy="212"/>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IRQ</a:t>
              </a:r>
              <a:r>
                <a:rPr lang="zh-CN" altLang="en-US" sz="1600" dirty="0">
                  <a:latin typeface="Times New Roman" panose="02020603050405020304" pitchFamily="18" charset="0"/>
                  <a:ea typeface="宋体" panose="02010600030101010101" pitchFamily="2" charset="-122"/>
                </a:rPr>
                <a:t>模式下的程序</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sp>
        <p:nvSpPr>
          <p:cNvPr id="66570" name="AutoShape 11"/>
          <p:cNvSpPr/>
          <p:nvPr/>
        </p:nvSpPr>
        <p:spPr>
          <a:xfrm>
            <a:off x="3581400" y="4800600"/>
            <a:ext cx="304800" cy="381000"/>
          </a:xfrm>
          <a:prstGeom prst="downArrow">
            <a:avLst>
              <a:gd name="adj1" fmla="val 50000"/>
              <a:gd name="adj2" fmla="val 3125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6571" name="Rectangle 12"/>
          <p:cNvSpPr/>
          <p:nvPr/>
        </p:nvSpPr>
        <p:spPr>
          <a:xfrm>
            <a:off x="5105400" y="3200400"/>
            <a:ext cx="1371600" cy="228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66572" name="AutoShape 15"/>
          <p:cNvSpPr/>
          <p:nvPr/>
        </p:nvSpPr>
        <p:spPr>
          <a:xfrm>
            <a:off x="3581400" y="3276600"/>
            <a:ext cx="304800" cy="457200"/>
          </a:xfrm>
          <a:prstGeom prst="downArrow">
            <a:avLst>
              <a:gd name="adj1" fmla="val 50000"/>
              <a:gd name="adj2" fmla="val 3750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nvGrpSpPr>
          <p:cNvPr id="66573" name="Group 17"/>
          <p:cNvGrpSpPr/>
          <p:nvPr/>
        </p:nvGrpSpPr>
        <p:grpSpPr>
          <a:xfrm>
            <a:off x="2362200" y="3810000"/>
            <a:ext cx="2057400" cy="946150"/>
            <a:chOff x="624" y="2400"/>
            <a:chExt cx="1296" cy="596"/>
          </a:xfrm>
        </p:grpSpPr>
        <p:sp>
          <p:nvSpPr>
            <p:cNvPr id="66574" name="Rectangle 18"/>
            <p:cNvSpPr/>
            <p:nvPr/>
          </p:nvSpPr>
          <p:spPr>
            <a:xfrm>
              <a:off x="1056" y="2544"/>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sp>
          <p:nvSpPr>
            <p:cNvPr id="66575" name="Rectangle 19"/>
            <p:cNvSpPr/>
            <p:nvPr/>
          </p:nvSpPr>
          <p:spPr>
            <a:xfrm>
              <a:off x="1056" y="2688"/>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66576" name="Rectangle 20"/>
            <p:cNvSpPr/>
            <p:nvPr/>
          </p:nvSpPr>
          <p:spPr>
            <a:xfrm>
              <a:off x="1056" y="2832"/>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X</a:t>
              </a:r>
              <a:endParaRPr lang="en-US" altLang="zh-CN" sz="1600" dirty="0">
                <a:latin typeface="Times New Roman" panose="02020603050405020304" pitchFamily="18" charset="0"/>
                <a:ea typeface="宋体" panose="02010600030101010101" pitchFamily="2" charset="-122"/>
              </a:endParaRPr>
            </a:p>
          </p:txBody>
        </p:sp>
        <p:sp>
          <p:nvSpPr>
            <p:cNvPr id="66577" name="Rectangle 21"/>
            <p:cNvSpPr/>
            <p:nvPr/>
          </p:nvSpPr>
          <p:spPr>
            <a:xfrm>
              <a:off x="1056" y="2400"/>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66578" name="Text Box 22"/>
            <p:cNvSpPr txBox="1"/>
            <p:nvPr/>
          </p:nvSpPr>
          <p:spPr>
            <a:xfrm>
              <a:off x="624" y="2784"/>
              <a:ext cx="480" cy="212"/>
            </a:xfrm>
            <a:prstGeom prst="rect">
              <a:avLst/>
            </a:prstGeom>
            <a:noFill/>
            <a:ln w="9525">
              <a:noFill/>
            </a:ln>
          </p:spPr>
          <p:txBody>
            <a:bodyPr anchor="t" anchorCtr="0">
              <a:spAutoFit/>
            </a:bodyPr>
            <a:p>
              <a:pPr>
                <a:spcBef>
                  <a:spcPct val="50000"/>
                </a:spcBef>
                <a:buClrTx/>
                <a:buFontTx/>
              </a:pPr>
              <a:r>
                <a:rPr lang="zh-CN" altLang="en-US" sz="1600" dirty="0">
                  <a:latin typeface="Times New Roman" panose="02020603050405020304" pitchFamily="18" charset="0"/>
                  <a:ea typeface="宋体" panose="02010600030101010101" pitchFamily="2" charset="-122"/>
                </a:rPr>
                <a:t>地址</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grpSp>
      <p:sp>
        <p:nvSpPr>
          <p:cNvPr id="66579" name="Rectangle 23"/>
          <p:cNvSpPr/>
          <p:nvPr/>
        </p:nvSpPr>
        <p:spPr>
          <a:xfrm>
            <a:off x="5105400" y="5638800"/>
            <a:ext cx="1371600" cy="30480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600" dirty="0">
                <a:solidFill>
                  <a:srgbClr val="FF0000"/>
                </a:solidFill>
                <a:latin typeface="Times New Roman" panose="02020603050405020304" pitchFamily="18" charset="0"/>
                <a:ea typeface="宋体" panose="02010600030101010101" pitchFamily="2" charset="-122"/>
              </a:rPr>
              <a:t>地址</a:t>
            </a:r>
            <a:r>
              <a:rPr lang="en-US" altLang="zh-CN" sz="1600" dirty="0">
                <a:solidFill>
                  <a:srgbClr val="FF0000"/>
                </a:solidFill>
                <a:latin typeface="Times New Roman" panose="02020603050405020304" pitchFamily="18" charset="0"/>
                <a:ea typeface="宋体" panose="02010600030101010101" pitchFamily="2" charset="-122"/>
              </a:rPr>
              <a:t>A</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66580" name="Line 24"/>
          <p:cNvSpPr/>
          <p:nvPr/>
        </p:nvSpPr>
        <p:spPr>
          <a:xfrm flipV="1">
            <a:off x="4343400" y="3276600"/>
            <a:ext cx="838200" cy="609600"/>
          </a:xfrm>
          <a:prstGeom prst="line">
            <a:avLst/>
          </a:prstGeom>
          <a:ln w="28575" cap="flat" cmpd="sng">
            <a:solidFill>
              <a:srgbClr val="FF0000"/>
            </a:solidFill>
            <a:prstDash val="solid"/>
            <a:round/>
            <a:headEnd type="none" w="med" len="med"/>
            <a:tailEnd type="triangle" w="med" len="med"/>
          </a:ln>
        </p:spPr>
      </p:sp>
      <p:sp>
        <p:nvSpPr>
          <p:cNvPr id="66581" name="Freeform 26"/>
          <p:cNvSpPr/>
          <p:nvPr/>
        </p:nvSpPr>
        <p:spPr>
          <a:xfrm>
            <a:off x="4325938" y="4614863"/>
            <a:ext cx="855662" cy="1252537"/>
          </a:xfrm>
          <a:custGeom>
            <a:avLst/>
            <a:gdLst/>
            <a:ahLst/>
            <a:cxnLst>
              <a:cxn ang="0">
                <a:pos x="0" y="0"/>
              </a:cxn>
              <a:cxn ang="0">
                <a:pos x="2147483646" y="2147483646"/>
              </a:cxn>
              <a:cxn ang="0">
                <a:pos x="2147483646" y="2147483646"/>
              </a:cxn>
              <a:cxn ang="0">
                <a:pos x="2147483646" y="2147483646"/>
              </a:cxn>
            </a:cxnLst>
            <a:pathLst>
              <a:path w="539" h="789">
                <a:moveTo>
                  <a:pt x="0" y="0"/>
                </a:moveTo>
                <a:cubicBezTo>
                  <a:pt x="24" y="20"/>
                  <a:pt x="117" y="11"/>
                  <a:pt x="146" y="110"/>
                </a:cubicBezTo>
                <a:cubicBezTo>
                  <a:pt x="175" y="209"/>
                  <a:pt x="108" y="482"/>
                  <a:pt x="173" y="595"/>
                </a:cubicBezTo>
                <a:cubicBezTo>
                  <a:pt x="238" y="708"/>
                  <a:pt x="463" y="749"/>
                  <a:pt x="539" y="789"/>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66582" name="AutoShape 27"/>
          <p:cNvSpPr/>
          <p:nvPr/>
        </p:nvSpPr>
        <p:spPr>
          <a:xfrm>
            <a:off x="381000" y="2971800"/>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1.</a:t>
            </a:r>
            <a:r>
              <a:rPr lang="zh-CN" altLang="en-US" sz="2000" dirty="0">
                <a:latin typeface="华文新魏" panose="02010800040101010101" pitchFamily="2" charset="-122"/>
                <a:ea typeface="华文新魏" panose="02010800040101010101" pitchFamily="2" charset="-122"/>
              </a:rPr>
              <a:t>执行用户模式下的程序；</a:t>
            </a:r>
            <a:endParaRPr lang="zh-CN" altLang="en-US" sz="2000" dirty="0">
              <a:latin typeface="华文新魏" panose="02010800040101010101" pitchFamily="2" charset="-122"/>
              <a:ea typeface="华文新魏" panose="02010800040101010101" pitchFamily="2" charset="-122"/>
            </a:endParaRPr>
          </a:p>
        </p:txBody>
      </p:sp>
      <p:sp>
        <p:nvSpPr>
          <p:cNvPr id="66583" name="AutoShape 28"/>
          <p:cNvSpPr/>
          <p:nvPr/>
        </p:nvSpPr>
        <p:spPr>
          <a:xfrm>
            <a:off x="381000" y="2971800"/>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2.</a:t>
            </a:r>
            <a:r>
              <a:rPr lang="zh-CN" altLang="en-US" sz="2000" dirty="0">
                <a:latin typeface="华文新魏" panose="02010800040101010101" pitchFamily="2" charset="-122"/>
                <a:ea typeface="华文新魏" panose="02010800040101010101" pitchFamily="2" charset="-122"/>
              </a:rPr>
              <a:t>发生</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中断，硬件将某个地址存入</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模式下的</a:t>
            </a:r>
            <a:r>
              <a:rPr lang="en-US" altLang="zh-CN" sz="2000" dirty="0">
                <a:latin typeface="华文新魏" panose="02010800040101010101" pitchFamily="2" charset="-122"/>
                <a:ea typeface="华文新魏" panose="02010800040101010101" pitchFamily="2" charset="-122"/>
              </a:rPr>
              <a:t>R14_irq</a:t>
            </a:r>
            <a:r>
              <a:rPr lang="zh-CN" altLang="en-US" sz="2000" dirty="0">
                <a:latin typeface="华文新魏" panose="02010800040101010101" pitchFamily="2" charset="-122"/>
                <a:ea typeface="华文新魏" panose="02010800040101010101" pitchFamily="2" charset="-122"/>
              </a:rPr>
              <a:t>寄存器，</a:t>
            </a:r>
            <a:r>
              <a:rPr lang="zh-CN" altLang="en-US" sz="2000" dirty="0">
                <a:solidFill>
                  <a:srgbClr val="FF0000"/>
                </a:solidFill>
                <a:latin typeface="华文新魏" panose="02010800040101010101" pitchFamily="2" charset="-122"/>
                <a:ea typeface="华文新魏" panose="02010800040101010101" pitchFamily="2" charset="-122"/>
              </a:rPr>
              <a:t>用户模式下的</a:t>
            </a:r>
            <a:r>
              <a:rPr lang="en-US" altLang="zh-CN" sz="2000" dirty="0">
                <a:solidFill>
                  <a:srgbClr val="FF0000"/>
                </a:solidFill>
                <a:latin typeface="华文新魏" panose="02010800040101010101" pitchFamily="2" charset="-122"/>
                <a:ea typeface="华文新魏" panose="02010800040101010101" pitchFamily="2" charset="-122"/>
              </a:rPr>
              <a:t>R14</a:t>
            </a:r>
            <a:r>
              <a:rPr lang="zh-CN" altLang="en-US" sz="2000" dirty="0">
                <a:solidFill>
                  <a:srgbClr val="FF0000"/>
                </a:solidFill>
                <a:latin typeface="华文新魏" panose="02010800040101010101" pitchFamily="2" charset="-122"/>
                <a:ea typeface="华文新魏" panose="02010800040101010101" pitchFamily="2" charset="-122"/>
              </a:rPr>
              <a:t>没有被破坏</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66584" name="AutoShape 29"/>
          <p:cNvSpPr/>
          <p:nvPr/>
        </p:nvSpPr>
        <p:spPr>
          <a:xfrm>
            <a:off x="381000" y="2971800"/>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3. IRQ</a:t>
            </a:r>
            <a:r>
              <a:rPr lang="zh-CN" altLang="en-US" sz="2000" dirty="0">
                <a:latin typeface="华文新魏" panose="02010800040101010101" pitchFamily="2" charset="-122"/>
                <a:ea typeface="华文新魏" panose="02010800040101010101" pitchFamily="2" charset="-122"/>
              </a:rPr>
              <a:t>服务程序</a:t>
            </a:r>
            <a:r>
              <a:rPr lang="en-US" altLang="zh-CN" sz="2000" dirty="0">
                <a:latin typeface="华文新魏" panose="02010800040101010101" pitchFamily="2" charset="-122"/>
                <a:ea typeface="华文新魏" panose="02010800040101010101" pitchFamily="2" charset="-122"/>
              </a:rPr>
              <a:t>A</a:t>
            </a:r>
            <a:r>
              <a:rPr lang="zh-CN" altLang="en-US" sz="2000" dirty="0">
                <a:latin typeface="华文新魏" panose="02010800040101010101" pitchFamily="2" charset="-122"/>
                <a:ea typeface="华文新魏" panose="02010800040101010101" pitchFamily="2" charset="-122"/>
              </a:rPr>
              <a:t>执行完毕，将</a:t>
            </a:r>
            <a:r>
              <a:rPr lang="en-US" altLang="zh-CN" sz="2000" dirty="0">
                <a:latin typeface="华文新魏" panose="02010800040101010101" pitchFamily="2" charset="-122"/>
                <a:ea typeface="华文新魏" panose="02010800040101010101" pitchFamily="2" charset="-122"/>
              </a:rPr>
              <a:t>R14_irq</a:t>
            </a:r>
            <a:r>
              <a:rPr lang="zh-CN" altLang="en-US" sz="2000" dirty="0">
                <a:latin typeface="华文新魏" panose="02010800040101010101" pitchFamily="2" charset="-122"/>
                <a:ea typeface="华文新魏" panose="02010800040101010101" pitchFamily="2" charset="-122"/>
              </a:rPr>
              <a:t>寄存器的内容减去某个常量后存入</a:t>
            </a:r>
            <a:r>
              <a:rPr lang="en-US" altLang="zh-CN" sz="2000" dirty="0">
                <a:latin typeface="华文新魏" panose="02010800040101010101" pitchFamily="2" charset="-122"/>
                <a:ea typeface="华文新魏" panose="02010800040101010101" pitchFamily="2" charset="-122"/>
              </a:rPr>
              <a:t>PC</a:t>
            </a:r>
            <a:r>
              <a:rPr lang="zh-CN" altLang="en-US" sz="2000" dirty="0">
                <a:latin typeface="华文新魏" panose="02010800040101010101" pitchFamily="2" charset="-122"/>
                <a:ea typeface="华文新魏" panose="02010800040101010101" pitchFamily="2" charset="-122"/>
              </a:rPr>
              <a:t>，返回之前被中断的程序；</a:t>
            </a:r>
            <a:endParaRPr lang="zh-CN" altLang="en-US" sz="2000" dirty="0">
              <a:latin typeface="华文新魏" panose="02010800040101010101" pitchFamily="2" charset="-122"/>
              <a:ea typeface="华文新魏" panose="02010800040101010101" pitchFamily="2" charset="-122"/>
            </a:endParaRPr>
          </a:p>
        </p:txBody>
      </p:sp>
      <p:sp>
        <p:nvSpPr>
          <p:cNvPr id="66585" name="Oval 30"/>
          <p:cNvSpPr/>
          <p:nvPr/>
        </p:nvSpPr>
        <p:spPr>
          <a:xfrm>
            <a:off x="2971800" y="5562600"/>
            <a:ext cx="1524000" cy="457200"/>
          </a:xfrm>
          <a:prstGeom prst="ellipse">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6586" name="Text Box 31"/>
          <p:cNvSpPr txBox="1"/>
          <p:nvPr/>
        </p:nvSpPr>
        <p:spPr>
          <a:xfrm>
            <a:off x="2895600" y="6096000"/>
            <a:ext cx="1600200" cy="396875"/>
          </a:xfrm>
          <a:prstGeom prst="rect">
            <a:avLst/>
          </a:prstGeom>
          <a:noFill/>
          <a:ln w="9525">
            <a:noFill/>
          </a:ln>
        </p:spPr>
        <p:txBody>
          <a:bodyPr anchor="t" anchorCtr="0">
            <a:spAutoFit/>
          </a:bodyPr>
          <a:p>
            <a:pPr algn="ctr">
              <a:spcBef>
                <a:spcPct val="5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未被破坏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grpSp>
        <p:nvGrpSpPr>
          <p:cNvPr id="4" name="Group 59"/>
          <p:cNvGrpSpPr/>
          <p:nvPr/>
        </p:nvGrpSpPr>
        <p:grpSpPr>
          <a:xfrm>
            <a:off x="6781800" y="2895600"/>
            <a:ext cx="2057400" cy="2362200"/>
            <a:chOff x="4272" y="1824"/>
            <a:chExt cx="1296" cy="1488"/>
          </a:xfrm>
        </p:grpSpPr>
        <p:sp>
          <p:nvSpPr>
            <p:cNvPr id="66588" name="Rectangle 32"/>
            <p:cNvSpPr/>
            <p:nvPr/>
          </p:nvSpPr>
          <p:spPr>
            <a:xfrm>
              <a:off x="4512" y="2016"/>
              <a:ext cx="864" cy="129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66589" name="Text Box 33"/>
            <p:cNvSpPr txBox="1"/>
            <p:nvPr/>
          </p:nvSpPr>
          <p:spPr>
            <a:xfrm>
              <a:off x="4272" y="1824"/>
              <a:ext cx="1296" cy="212"/>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IRQ</a:t>
              </a:r>
              <a:r>
                <a:rPr lang="zh-CN" altLang="en-US" sz="1600" dirty="0">
                  <a:latin typeface="Times New Roman" panose="02020603050405020304" pitchFamily="18" charset="0"/>
                  <a:ea typeface="宋体" panose="02010600030101010101" pitchFamily="2" charset="-122"/>
                </a:rPr>
                <a:t>模式下的程序</a:t>
              </a:r>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grpSp>
      <p:sp>
        <p:nvSpPr>
          <p:cNvPr id="81954" name="Rectangle 34"/>
          <p:cNvSpPr/>
          <p:nvPr/>
        </p:nvSpPr>
        <p:spPr>
          <a:xfrm>
            <a:off x="7162800" y="3200400"/>
            <a:ext cx="1371600" cy="228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81955" name="Rectangle 35"/>
          <p:cNvSpPr/>
          <p:nvPr/>
        </p:nvSpPr>
        <p:spPr>
          <a:xfrm>
            <a:off x="7162800" y="5029200"/>
            <a:ext cx="1371600" cy="228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return</a:t>
            </a:r>
            <a:endParaRPr lang="en-US" altLang="zh-CN" sz="1600" dirty="0">
              <a:latin typeface="Times New Roman" panose="02020603050405020304" pitchFamily="18" charset="0"/>
              <a:ea typeface="宋体" panose="02010600030101010101" pitchFamily="2" charset="-122"/>
            </a:endParaRPr>
          </a:p>
        </p:txBody>
      </p:sp>
      <p:sp>
        <p:nvSpPr>
          <p:cNvPr id="81956" name="AutoShape 36"/>
          <p:cNvSpPr/>
          <p:nvPr/>
        </p:nvSpPr>
        <p:spPr>
          <a:xfrm>
            <a:off x="7696200" y="3581400"/>
            <a:ext cx="304800" cy="1371600"/>
          </a:xfrm>
          <a:prstGeom prst="downArrow">
            <a:avLst>
              <a:gd name="adj1" fmla="val 50000"/>
              <a:gd name="adj2" fmla="val 11250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81962" name="AutoShape 42"/>
          <p:cNvSpPr/>
          <p:nvPr/>
        </p:nvSpPr>
        <p:spPr>
          <a:xfrm>
            <a:off x="5638800" y="3429000"/>
            <a:ext cx="304800" cy="304800"/>
          </a:xfrm>
          <a:prstGeom prst="downArrow">
            <a:avLst>
              <a:gd name="adj1" fmla="val 50000"/>
              <a:gd name="adj2" fmla="val 2500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81966" name="Freeform 46"/>
          <p:cNvSpPr/>
          <p:nvPr/>
        </p:nvSpPr>
        <p:spPr>
          <a:xfrm>
            <a:off x="6400800" y="5181600"/>
            <a:ext cx="1371600" cy="723900"/>
          </a:xfrm>
          <a:custGeom>
            <a:avLst/>
            <a:gdLst/>
            <a:ahLst/>
            <a:cxnLst>
              <a:cxn ang="0">
                <a:pos x="0" y="2147483646"/>
              </a:cxn>
              <a:cxn ang="0">
                <a:pos x="2147483646" y="2147483646"/>
              </a:cxn>
              <a:cxn ang="0">
                <a:pos x="2147483646" y="0"/>
              </a:cxn>
            </a:cxnLst>
            <a:pathLst>
              <a:path w="864" h="456">
                <a:moveTo>
                  <a:pt x="0" y="432"/>
                </a:moveTo>
                <a:cubicBezTo>
                  <a:pt x="240" y="444"/>
                  <a:pt x="480" y="456"/>
                  <a:pt x="624" y="384"/>
                </a:cubicBezTo>
                <a:cubicBezTo>
                  <a:pt x="768" y="312"/>
                  <a:pt x="824" y="48"/>
                  <a:pt x="864" y="0"/>
                </a:cubicBezTo>
              </a:path>
            </a:pathLst>
          </a:custGeom>
          <a:noFill/>
          <a:ln w="28575" cap="flat" cmpd="sng">
            <a:solidFill>
              <a:srgbClr val="800080"/>
            </a:solidFill>
            <a:prstDash val="dash"/>
            <a:round/>
            <a:headEnd type="none" w="med" len="med"/>
            <a:tailEnd type="triangle" w="med" len="med"/>
          </a:ln>
        </p:spPr>
        <p:txBody>
          <a:bodyPr/>
          <a:p>
            <a:endParaRPr lang="zh-CN" altLang="en-US"/>
          </a:p>
        </p:txBody>
      </p:sp>
      <p:grpSp>
        <p:nvGrpSpPr>
          <p:cNvPr id="5" name="Group 52"/>
          <p:cNvGrpSpPr/>
          <p:nvPr/>
        </p:nvGrpSpPr>
        <p:grpSpPr>
          <a:xfrm>
            <a:off x="4419600" y="3810000"/>
            <a:ext cx="2057400" cy="946150"/>
            <a:chOff x="2784" y="2400"/>
            <a:chExt cx="1296" cy="596"/>
          </a:xfrm>
        </p:grpSpPr>
        <p:sp>
          <p:nvSpPr>
            <p:cNvPr id="66596" name="Rectangle 37"/>
            <p:cNvSpPr/>
            <p:nvPr/>
          </p:nvSpPr>
          <p:spPr>
            <a:xfrm>
              <a:off x="3216" y="2544"/>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sp>
          <p:nvSpPr>
            <p:cNvPr id="66597" name="Rectangle 38"/>
            <p:cNvSpPr/>
            <p:nvPr/>
          </p:nvSpPr>
          <p:spPr>
            <a:xfrm>
              <a:off x="3216" y="2688"/>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66598" name="Rectangle 39"/>
            <p:cNvSpPr/>
            <p:nvPr/>
          </p:nvSpPr>
          <p:spPr>
            <a:xfrm>
              <a:off x="3216" y="2832"/>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X</a:t>
              </a:r>
              <a:endParaRPr lang="en-US" altLang="zh-CN" sz="1600" dirty="0">
                <a:latin typeface="Times New Roman" panose="02020603050405020304" pitchFamily="18" charset="0"/>
                <a:ea typeface="宋体" panose="02010600030101010101" pitchFamily="2" charset="-122"/>
              </a:endParaRPr>
            </a:p>
          </p:txBody>
        </p:sp>
        <p:sp>
          <p:nvSpPr>
            <p:cNvPr id="66599" name="Rectangle 41"/>
            <p:cNvSpPr/>
            <p:nvPr/>
          </p:nvSpPr>
          <p:spPr>
            <a:xfrm>
              <a:off x="3216" y="2400"/>
              <a:ext cx="864" cy="14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66600" name="Text Box 47"/>
            <p:cNvSpPr txBox="1"/>
            <p:nvPr/>
          </p:nvSpPr>
          <p:spPr>
            <a:xfrm>
              <a:off x="2784" y="2784"/>
              <a:ext cx="480" cy="212"/>
            </a:xfrm>
            <a:prstGeom prst="rect">
              <a:avLst/>
            </a:prstGeom>
            <a:noFill/>
            <a:ln w="9525">
              <a:noFill/>
            </a:ln>
          </p:spPr>
          <p:txBody>
            <a:bodyPr anchor="t" anchorCtr="0">
              <a:spAutoFit/>
            </a:bodyPr>
            <a:p>
              <a:pPr>
                <a:spcBef>
                  <a:spcPct val="50000"/>
                </a:spcBef>
                <a:buClrTx/>
                <a:buFontTx/>
              </a:pPr>
              <a:r>
                <a:rPr lang="zh-CN" altLang="en-US" sz="1600" dirty="0">
                  <a:latin typeface="Times New Roman" panose="02020603050405020304" pitchFamily="18" charset="0"/>
                  <a:ea typeface="宋体" panose="02010600030101010101" pitchFamily="2" charset="-122"/>
                </a:rPr>
                <a:t>地址</a:t>
              </a:r>
              <a:r>
                <a:rPr lang="en-US" altLang="zh-CN" sz="1600" dirty="0">
                  <a:latin typeface="Times New Roman" panose="02020603050405020304" pitchFamily="18" charset="0"/>
                  <a:ea typeface="宋体" panose="02010600030101010101" pitchFamily="2" charset="-122"/>
                </a:rPr>
                <a:t>B</a:t>
              </a:r>
              <a:endParaRPr lang="en-US" altLang="zh-CN" sz="1600" dirty="0">
                <a:latin typeface="Times New Roman" panose="02020603050405020304" pitchFamily="18" charset="0"/>
                <a:ea typeface="宋体" panose="02010600030101010101" pitchFamily="2" charset="-122"/>
              </a:endParaRPr>
            </a:p>
          </p:txBody>
        </p:sp>
      </p:grpSp>
      <p:sp>
        <p:nvSpPr>
          <p:cNvPr id="81968" name="Rectangle 48"/>
          <p:cNvSpPr/>
          <p:nvPr/>
        </p:nvSpPr>
        <p:spPr>
          <a:xfrm>
            <a:off x="5105400" y="5638800"/>
            <a:ext cx="1371600" cy="3048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sz="1600" dirty="0">
                <a:solidFill>
                  <a:srgbClr val="FF0000"/>
                </a:solidFill>
                <a:latin typeface="Times New Roman" panose="02020603050405020304" pitchFamily="18" charset="0"/>
                <a:ea typeface="宋体" panose="02010600030101010101" pitchFamily="2" charset="-122"/>
              </a:rPr>
              <a:t>地址</a:t>
            </a:r>
            <a:r>
              <a:rPr lang="en-US" altLang="zh-CN" sz="1600" dirty="0">
                <a:solidFill>
                  <a:srgbClr val="FF0000"/>
                </a:solidFill>
                <a:latin typeface="Times New Roman" panose="02020603050405020304" pitchFamily="18" charset="0"/>
                <a:ea typeface="宋体" panose="02010600030101010101" pitchFamily="2" charset="-122"/>
              </a:rPr>
              <a:t>B</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81970" name="AutoShape 50"/>
          <p:cNvSpPr/>
          <p:nvPr/>
        </p:nvSpPr>
        <p:spPr>
          <a:xfrm>
            <a:off x="381000" y="2971800"/>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4. </a:t>
            </a:r>
            <a:r>
              <a:rPr lang="zh-CN" altLang="en-US" sz="2000" dirty="0">
                <a:latin typeface="华文新魏" panose="02010800040101010101" pitchFamily="2" charset="-122"/>
                <a:ea typeface="华文新魏" panose="02010800040101010101" pitchFamily="2" charset="-122"/>
              </a:rPr>
              <a:t>如果在</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处理程序中打开</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中断，并且再次发生</a:t>
            </a:r>
            <a:r>
              <a:rPr lang="en-US" altLang="zh-CN" sz="2000" dirty="0">
                <a:latin typeface="华文新魏" panose="02010800040101010101" pitchFamily="2" charset="-122"/>
                <a:ea typeface="华文新魏" panose="02010800040101010101" pitchFamily="2" charset="-122"/>
              </a:rPr>
              <a:t>IRQ</a:t>
            </a:r>
            <a:r>
              <a:rPr lang="zh-CN" altLang="en-US" sz="2000" dirty="0">
                <a:latin typeface="华文新魏" panose="02010800040101010101" pitchFamily="2" charset="-122"/>
                <a:ea typeface="华文新魏" panose="02010800040101010101" pitchFamily="2" charset="-122"/>
              </a:rPr>
              <a:t>中断；</a:t>
            </a:r>
            <a:endParaRPr lang="zh-CN" altLang="en-US" sz="2000" dirty="0">
              <a:latin typeface="华文新魏" panose="02010800040101010101" pitchFamily="2" charset="-122"/>
              <a:ea typeface="华文新魏" panose="02010800040101010101" pitchFamily="2" charset="-122"/>
            </a:endParaRPr>
          </a:p>
        </p:txBody>
      </p:sp>
      <p:sp>
        <p:nvSpPr>
          <p:cNvPr id="81971" name="AutoShape 51"/>
          <p:cNvSpPr/>
          <p:nvPr/>
        </p:nvSpPr>
        <p:spPr>
          <a:xfrm>
            <a:off x="381000" y="2971800"/>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5. </a:t>
            </a:r>
            <a:r>
              <a:rPr lang="zh-CN" altLang="en-US" sz="2000" dirty="0">
                <a:latin typeface="华文新魏" panose="02010800040101010101" pitchFamily="2" charset="-122"/>
                <a:ea typeface="华文新魏" panose="02010800040101010101" pitchFamily="2" charset="-122"/>
              </a:rPr>
              <a:t>硬件将返回地址保存在</a:t>
            </a:r>
            <a:r>
              <a:rPr lang="en-US" altLang="zh-CN" sz="2000" dirty="0">
                <a:latin typeface="华文新魏" panose="02010800040101010101" pitchFamily="2" charset="-122"/>
                <a:ea typeface="华文新魏" panose="02010800040101010101" pitchFamily="2" charset="-122"/>
              </a:rPr>
              <a:t>R14_irq</a:t>
            </a:r>
            <a:r>
              <a:rPr lang="zh-CN" altLang="en-US" sz="2000" dirty="0">
                <a:latin typeface="华文新魏" panose="02010800040101010101" pitchFamily="2" charset="-122"/>
                <a:ea typeface="华文新魏" panose="02010800040101010101" pitchFamily="2" charset="-122"/>
              </a:rPr>
              <a:t>寄存器中，</a:t>
            </a:r>
            <a:r>
              <a:rPr lang="zh-CN" altLang="en-US" sz="2000" dirty="0">
                <a:solidFill>
                  <a:srgbClr val="FF0000"/>
                </a:solidFill>
                <a:latin typeface="华文新魏" panose="02010800040101010101" pitchFamily="2" charset="-122"/>
                <a:ea typeface="华文新魏" panose="02010800040101010101" pitchFamily="2" charset="-122"/>
              </a:rPr>
              <a:t>原来保存的返回地址将被覆盖，造成错误</a:t>
            </a:r>
            <a:r>
              <a:rPr lang="zh-CN" altLang="en-US" sz="2000"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81964" name="Freeform 44"/>
          <p:cNvSpPr/>
          <p:nvPr/>
        </p:nvSpPr>
        <p:spPr>
          <a:xfrm>
            <a:off x="4899025" y="4659313"/>
            <a:ext cx="282575" cy="1055687"/>
          </a:xfrm>
          <a:custGeom>
            <a:avLst/>
            <a:gdLst/>
            <a:ahLst/>
            <a:cxnLst>
              <a:cxn ang="0">
                <a:pos x="2147483646" y="0"/>
              </a:cxn>
              <a:cxn ang="0">
                <a:pos x="2147483646" y="2147483646"/>
              </a:cxn>
              <a:cxn ang="0">
                <a:pos x="2147483646" y="2147483646"/>
              </a:cxn>
              <a:cxn ang="0">
                <a:pos x="2147483646" y="2147483646"/>
              </a:cxn>
            </a:cxnLst>
            <a:pathLst>
              <a:path w="178" h="665">
                <a:moveTo>
                  <a:pt x="169" y="0"/>
                </a:moveTo>
                <a:cubicBezTo>
                  <a:pt x="148" y="20"/>
                  <a:pt x="65" y="38"/>
                  <a:pt x="41" y="110"/>
                </a:cubicBezTo>
                <a:cubicBezTo>
                  <a:pt x="17" y="182"/>
                  <a:pt x="0" y="338"/>
                  <a:pt x="23" y="430"/>
                </a:cubicBezTo>
                <a:cubicBezTo>
                  <a:pt x="46" y="522"/>
                  <a:pt x="146" y="616"/>
                  <a:pt x="178" y="665"/>
                </a:cubicBezTo>
              </a:path>
            </a:pathLst>
          </a:custGeom>
          <a:noFill/>
          <a:ln w="28575" cap="flat" cmpd="sng">
            <a:solidFill>
              <a:srgbClr val="800080"/>
            </a:solidFill>
            <a:prstDash val="dash"/>
            <a:round/>
            <a:headEnd type="none" w="med" len="med"/>
            <a:tailEnd type="triangle" w="med" len="med"/>
          </a:ln>
        </p:spPr>
        <p:txBody>
          <a:bodyPr/>
          <a:p>
            <a:endParaRPr lang="zh-CN" altLang="en-US"/>
          </a:p>
        </p:txBody>
      </p:sp>
      <p:sp>
        <p:nvSpPr>
          <p:cNvPr id="81960" name="AutoShape 40"/>
          <p:cNvSpPr/>
          <p:nvPr/>
        </p:nvSpPr>
        <p:spPr>
          <a:xfrm>
            <a:off x="5638800" y="4724400"/>
            <a:ext cx="304800" cy="304800"/>
          </a:xfrm>
          <a:prstGeom prst="downArrow">
            <a:avLst>
              <a:gd name="adj1" fmla="val 50000"/>
              <a:gd name="adj2" fmla="val 25000"/>
            </a:avLst>
          </a:prstGeom>
          <a:solidFill>
            <a:srgbClr val="6699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81963" name="Line 43"/>
          <p:cNvSpPr/>
          <p:nvPr/>
        </p:nvSpPr>
        <p:spPr>
          <a:xfrm flipV="1">
            <a:off x="6400800" y="3352800"/>
            <a:ext cx="838200" cy="609600"/>
          </a:xfrm>
          <a:prstGeom prst="line">
            <a:avLst/>
          </a:prstGeom>
          <a:ln w="28575" cap="flat" cmpd="sng">
            <a:solidFill>
              <a:srgbClr val="FF0000"/>
            </a:solidFill>
            <a:prstDash val="solid"/>
            <a:round/>
            <a:headEnd type="none" w="med" len="med"/>
            <a:tailEnd type="triangle" w="med" len="med"/>
          </a:ln>
        </p:spPr>
      </p:sp>
      <p:sp>
        <p:nvSpPr>
          <p:cNvPr id="81973" name="Oval 53"/>
          <p:cNvSpPr/>
          <p:nvPr/>
        </p:nvSpPr>
        <p:spPr>
          <a:xfrm>
            <a:off x="5029200" y="5562600"/>
            <a:ext cx="1524000" cy="457200"/>
          </a:xfrm>
          <a:prstGeom prst="ellipse">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81974" name="Text Box 54"/>
          <p:cNvSpPr txBox="1"/>
          <p:nvPr/>
        </p:nvSpPr>
        <p:spPr>
          <a:xfrm>
            <a:off x="4953000" y="6096000"/>
            <a:ext cx="2139950" cy="396875"/>
          </a:xfrm>
          <a:prstGeom prst="rect">
            <a:avLst/>
          </a:prstGeom>
          <a:noFill/>
          <a:ln w="9525">
            <a:noFill/>
          </a:ln>
        </p:spPr>
        <p:txBody>
          <a:bodyPr anchor="t" anchorCtr="0">
            <a:spAutoFit/>
          </a:bodyPr>
          <a:p>
            <a:pPr algn="ctr">
              <a:spcBef>
                <a:spcPct val="50000"/>
              </a:spcBef>
              <a:buClrTx/>
              <a:buFontTx/>
            </a:pPr>
            <a:r>
              <a:rPr lang="en-US" altLang="zh-CN" b="1" dirty="0">
                <a:solidFill>
                  <a:schemeClr val="folHlink"/>
                </a:solidFill>
                <a:latin typeface="Times New Roman" panose="02020603050405020304" pitchFamily="18" charset="0"/>
                <a:ea typeface="宋体" panose="02010600030101010101" pitchFamily="2" charset="-122"/>
              </a:rPr>
              <a:t>R14_irq </a:t>
            </a:r>
            <a:r>
              <a:rPr lang="zh-CN" altLang="en-US" sz="2000" dirty="0">
                <a:solidFill>
                  <a:srgbClr val="0000FF"/>
                </a:solidFill>
                <a:latin typeface="Times New Roman" panose="02020603050405020304" pitchFamily="18" charset="0"/>
                <a:ea typeface="华文新魏" panose="02010800040101010101" pitchFamily="2" charset="-122"/>
              </a:rPr>
              <a:t>被破坏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sp>
        <p:nvSpPr>
          <p:cNvPr id="81975" name="AutoShape 55"/>
          <p:cNvSpPr/>
          <p:nvPr/>
        </p:nvSpPr>
        <p:spPr>
          <a:xfrm>
            <a:off x="381000" y="2971800"/>
            <a:ext cx="1981200" cy="2743200"/>
          </a:xfrm>
          <a:prstGeom prst="roundRect">
            <a:avLst>
              <a:gd name="adj" fmla="val 4968"/>
            </a:avLst>
          </a:prstGeom>
          <a:solidFill>
            <a:srgbClr val="CCFFCC"/>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6. </a:t>
            </a:r>
            <a:r>
              <a:rPr lang="zh-CN" altLang="en-US" sz="2000" dirty="0">
                <a:latin typeface="华文新魏" panose="02010800040101010101" pitchFamily="2" charset="-122"/>
                <a:ea typeface="华文新魏" panose="02010800040101010101" pitchFamily="2" charset="-122"/>
              </a:rPr>
              <a:t>在程序</a:t>
            </a:r>
            <a:r>
              <a:rPr lang="en-US" altLang="zh-CN" sz="2000" dirty="0">
                <a:latin typeface="华文新魏" panose="02010800040101010101" pitchFamily="2" charset="-122"/>
                <a:ea typeface="华文新魏" panose="02010800040101010101" pitchFamily="2" charset="-122"/>
              </a:rPr>
              <a:t>B</a:t>
            </a:r>
            <a:r>
              <a:rPr lang="zh-CN" altLang="en-US" sz="2000" dirty="0">
                <a:latin typeface="华文新魏" panose="02010800040101010101" pitchFamily="2" charset="-122"/>
                <a:ea typeface="华文新魏" panose="02010800040101010101" pitchFamily="2" charset="-122"/>
              </a:rPr>
              <a:t>返回到程序</a:t>
            </a:r>
            <a:r>
              <a:rPr lang="en-US" altLang="zh-CN" sz="2000" dirty="0">
                <a:latin typeface="华文新魏" panose="02010800040101010101" pitchFamily="2" charset="-122"/>
                <a:ea typeface="华文新魏" panose="02010800040101010101" pitchFamily="2" charset="-122"/>
              </a:rPr>
              <a:t>A</a:t>
            </a:r>
            <a:r>
              <a:rPr lang="zh-CN" altLang="en-US" sz="2000" dirty="0">
                <a:latin typeface="华文新魏" panose="02010800040101010101" pitchFamily="2" charset="-122"/>
                <a:ea typeface="华文新魏" panose="02010800040101010101" pitchFamily="2" charset="-122"/>
              </a:rPr>
              <a:t>，然后在返回到用户模式下被中断的程序时，发生错误，将不能正确返回；</a:t>
            </a:r>
            <a:endParaRPr lang="zh-CN" altLang="en-US" sz="2000" dirty="0">
              <a:latin typeface="华文新魏" panose="02010800040101010101" pitchFamily="2" charset="-122"/>
              <a:ea typeface="华文新魏" panose="02010800040101010101" pitchFamily="2" charset="-122"/>
            </a:endParaRPr>
          </a:p>
        </p:txBody>
      </p:sp>
      <p:sp>
        <p:nvSpPr>
          <p:cNvPr id="66610" name="Rectangle 56"/>
          <p:cNvSpPr/>
          <p:nvPr/>
        </p:nvSpPr>
        <p:spPr>
          <a:xfrm>
            <a:off x="5105400" y="5029200"/>
            <a:ext cx="1371600" cy="228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return</a:t>
            </a:r>
            <a:endParaRPr lang="en-US" altLang="zh-CN" sz="1600" dirty="0">
              <a:latin typeface="Times New Roman" panose="02020603050405020304" pitchFamily="18" charset="0"/>
              <a:ea typeface="宋体" panose="02010600030101010101" pitchFamily="2" charset="-122"/>
            </a:endParaRPr>
          </a:p>
        </p:txBody>
      </p:sp>
      <p:sp>
        <p:nvSpPr>
          <p:cNvPr id="81977" name="Rectangle 57"/>
          <p:cNvSpPr/>
          <p:nvPr/>
        </p:nvSpPr>
        <p:spPr>
          <a:xfrm>
            <a:off x="5105400" y="5029200"/>
            <a:ext cx="13716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Times New Roman" panose="02020603050405020304" pitchFamily="18" charset="0"/>
                <a:ea typeface="宋体" panose="02010600030101010101" pitchFamily="2" charset="-122"/>
              </a:rPr>
              <a:t>return</a:t>
            </a:r>
            <a:endParaRPr lang="en-US" altLang="zh-CN" sz="1600" dirty="0">
              <a:latin typeface="Times New Roman" panose="02020603050405020304" pitchFamily="18" charset="0"/>
              <a:ea typeface="宋体" panose="02010600030101010101" pitchFamily="2" charset="-122"/>
            </a:endParaRPr>
          </a:p>
        </p:txBody>
      </p:sp>
      <p:sp>
        <p:nvSpPr>
          <p:cNvPr id="81978" name="Freeform 58"/>
          <p:cNvSpPr/>
          <p:nvPr/>
        </p:nvSpPr>
        <p:spPr>
          <a:xfrm>
            <a:off x="5791200" y="5181600"/>
            <a:ext cx="1588" cy="533400"/>
          </a:xfrm>
          <a:custGeom>
            <a:avLst/>
            <a:gdLst/>
            <a:ahLst/>
            <a:cxnLst>
              <a:cxn ang="0">
                <a:pos x="0" y="2147483646"/>
              </a:cxn>
              <a:cxn ang="0">
                <a:pos x="0" y="0"/>
              </a:cxn>
            </a:cxnLst>
            <a:pathLst>
              <a:path w="1" h="336">
                <a:moveTo>
                  <a:pt x="0" y="336"/>
                </a:moveTo>
                <a:cubicBezTo>
                  <a:pt x="0" y="200"/>
                  <a:pt x="0" y="64"/>
                  <a:pt x="0" y="0"/>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81980" name="Line 60"/>
          <p:cNvSpPr/>
          <p:nvPr/>
        </p:nvSpPr>
        <p:spPr>
          <a:xfrm flipH="1" flipV="1">
            <a:off x="6400800" y="4114800"/>
            <a:ext cx="838200" cy="1066800"/>
          </a:xfrm>
          <a:prstGeom prst="line">
            <a:avLst/>
          </a:prstGeom>
          <a:ln w="28575" cap="flat" cmpd="sng">
            <a:solidFill>
              <a:srgbClr val="FF0000"/>
            </a:solidFill>
            <a:prstDash val="solid"/>
            <a:round/>
            <a:headEnd type="none" w="med" len="med"/>
            <a:tailEnd type="triangle" w="med" len="med"/>
          </a:ln>
        </p:spPr>
      </p:sp>
      <p:sp>
        <p:nvSpPr>
          <p:cNvPr id="81981" name="AutoShape 61"/>
          <p:cNvSpPr/>
          <p:nvPr/>
        </p:nvSpPr>
        <p:spPr>
          <a:xfrm>
            <a:off x="381000" y="2971800"/>
            <a:ext cx="3200400" cy="2743200"/>
          </a:xfrm>
          <a:prstGeom prst="roundRect">
            <a:avLst>
              <a:gd name="adj" fmla="val 4968"/>
            </a:avLst>
          </a:prstGeom>
          <a:solidFill>
            <a:schemeClr val="hlink"/>
          </a:solidFill>
          <a:ln w="9525" cap="flat" cmpd="sng">
            <a:solidFill>
              <a:schemeClr val="tx1"/>
            </a:solidFill>
            <a:prstDash val="solid"/>
            <a:round/>
            <a:headEnd type="none" w="med" len="med"/>
            <a:tailEnd type="none" w="med" len="med"/>
          </a:ln>
        </p:spPr>
        <p:txBody>
          <a:bodyPr anchor="ctr" anchorCtr="0"/>
          <a:p>
            <a:pPr>
              <a:buClrTx/>
              <a:buFontTx/>
            </a:pP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解决办法是确保</a:t>
            </a:r>
            <a:r>
              <a:rPr lang="en-US" altLang="zh-CN" sz="2000" dirty="0">
                <a:latin typeface="华文新魏" panose="02010800040101010101" pitchFamily="2" charset="-122"/>
                <a:ea typeface="华文新魏" panose="02010800040101010101" pitchFamily="2" charset="-122"/>
              </a:rPr>
              <a:t>R14</a:t>
            </a:r>
            <a:r>
              <a:rPr lang="zh-CN" altLang="en-US" sz="2000" dirty="0">
                <a:latin typeface="华文新魏" panose="02010800040101010101" pitchFamily="2" charset="-122"/>
                <a:ea typeface="华文新魏" panose="02010800040101010101" pitchFamily="2" charset="-122"/>
              </a:rPr>
              <a:t>的对应版本在发生中断嵌套时不再保存任何有意义的值（将</a:t>
            </a:r>
            <a:r>
              <a:rPr lang="en-US" altLang="zh-CN" sz="2000" dirty="0">
                <a:latin typeface="华文新魏" panose="02010800040101010101" pitchFamily="2" charset="-122"/>
                <a:ea typeface="华文新魏" panose="02010800040101010101" pitchFamily="2" charset="-122"/>
              </a:rPr>
              <a:t>R14</a:t>
            </a:r>
            <a:r>
              <a:rPr lang="zh-CN" altLang="en-US" sz="2000" dirty="0">
                <a:latin typeface="华文新魏" panose="02010800040101010101" pitchFamily="2" charset="-122"/>
                <a:ea typeface="华文新魏" panose="02010800040101010101" pitchFamily="2" charset="-122"/>
              </a:rPr>
              <a:t>入栈），或者切换到其它处理器模式下。</a:t>
            </a:r>
            <a:endParaRPr lang="zh-CN" altLang="en-US" sz="20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970"/>
                                        </p:tgtEl>
                                        <p:attrNameLst>
                                          <p:attrName>style.visibility</p:attrName>
                                        </p:attrNameLst>
                                      </p:cBhvr>
                                      <p:to>
                                        <p:strVal val="visible"/>
                                      </p:to>
                                    </p:set>
                                    <p:anim calcmode="lin" valueType="num">
                                      <p:cBhvr additive="base">
                                        <p:cTn id="7" dur="500" fill="hold"/>
                                        <p:tgtEl>
                                          <p:spTgt spid="81970"/>
                                        </p:tgtEl>
                                        <p:attrNameLst>
                                          <p:attrName>ppt_x</p:attrName>
                                        </p:attrNameLst>
                                      </p:cBhvr>
                                      <p:tavLst>
                                        <p:tav tm="0">
                                          <p:val>
                                            <p:strVal val="0-#ppt_w/2"/>
                                          </p:val>
                                        </p:tav>
                                        <p:tav tm="100000">
                                          <p:val>
                                            <p:strVal val="#ppt_x"/>
                                          </p:val>
                                        </p:tav>
                                      </p:tavLst>
                                    </p:anim>
                                    <p:anim calcmode="lin" valueType="num">
                                      <p:cBhvr additive="base">
                                        <p:cTn id="8" dur="500" fill="hold"/>
                                        <p:tgtEl>
                                          <p:spTgt spid="819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Top)">
                                      <p:cBhvr>
                                        <p:cTn id="12" dur="500"/>
                                        <p:tgtEl>
                                          <p:spTgt spid="4"/>
                                        </p:tgtEl>
                                      </p:cBhvr>
                                    </p:animEffect>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81962"/>
                                        </p:tgtEl>
                                        <p:attrNameLst>
                                          <p:attrName>style.visibility</p:attrName>
                                        </p:attrNameLst>
                                      </p:cBhvr>
                                      <p:to>
                                        <p:strVal val="visible"/>
                                      </p:to>
                                    </p:set>
                                    <p:animEffect transition="in" filter="slide(fromTop)">
                                      <p:cBhvr>
                                        <p:cTn id="16" dur="500"/>
                                        <p:tgtEl>
                                          <p:spTgt spid="81962"/>
                                        </p:tgtEl>
                                      </p:cBhvr>
                                    </p:animEffect>
                                  </p:childTnLst>
                                </p:cTn>
                              </p:par>
                            </p:childTnLst>
                          </p:cTn>
                        </p:par>
                        <p:par>
                          <p:cTn id="17" fill="hold">
                            <p:stCondLst>
                              <p:cond delay="1500"/>
                            </p:stCondLst>
                            <p:childTnLst>
                              <p:par>
                                <p:cTn id="18" presetID="1" presetClass="entr" presetSubtype="0" fill="hold" nodeType="afterEffect">
                                  <p:stCondLst>
                                    <p:cond delay="0"/>
                                  </p:stCondLst>
                                  <p:childTnLst>
                                    <p:set>
                                      <p:cBhvr>
                                        <p:cTn id="19" dur="1" fill="hold">
                                          <p:stCondLst>
                                            <p:cond delay="499"/>
                                          </p:stCondLst>
                                        </p:cTn>
                                        <p:tgtEl>
                                          <p:spTgt spid="5"/>
                                        </p:tgtEl>
                                        <p:attrNameLst>
                                          <p:attrName>style.visibility</p:attrName>
                                        </p:attrNameLst>
                                      </p:cBhvr>
                                      <p:to>
                                        <p:strVal val="visible"/>
                                      </p:to>
                                    </p:se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81963"/>
                                        </p:tgtEl>
                                        <p:attrNameLst>
                                          <p:attrName>style.visibility</p:attrName>
                                        </p:attrNameLst>
                                      </p:cBhvr>
                                      <p:to>
                                        <p:strVal val="visible"/>
                                      </p:to>
                                    </p:set>
                                    <p:animEffect transition="in" filter="wipe(left)">
                                      <p:cBhvr>
                                        <p:cTn id="23" dur="500"/>
                                        <p:tgtEl>
                                          <p:spTgt spid="81963"/>
                                        </p:tgtEl>
                                      </p:cBhvr>
                                    </p:animEffect>
                                  </p:childTnLst>
                                </p:cTn>
                              </p:par>
                            </p:childTnLst>
                          </p:cTn>
                        </p:par>
                        <p:par>
                          <p:cTn id="24" fill="hold">
                            <p:stCondLst>
                              <p:cond delay="2500"/>
                            </p:stCondLst>
                            <p:childTnLst>
                              <p:par>
                                <p:cTn id="25" presetID="1" presetClass="entr" presetSubtype="0" fill="hold" grpId="0" nodeType="afterEffect">
                                  <p:stCondLst>
                                    <p:cond delay="0"/>
                                  </p:stCondLst>
                                  <p:childTnLst>
                                    <p:set>
                                      <p:cBhvr>
                                        <p:cTn id="26" dur="1" fill="hold">
                                          <p:stCondLst>
                                            <p:cond delay="499"/>
                                          </p:stCondLst>
                                        </p:cTn>
                                        <p:tgtEl>
                                          <p:spTgt spid="819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1971"/>
                                        </p:tgtEl>
                                        <p:attrNameLst>
                                          <p:attrName>style.visibility</p:attrName>
                                        </p:attrNameLst>
                                      </p:cBhvr>
                                      <p:to>
                                        <p:strVal val="visible"/>
                                      </p:to>
                                    </p:set>
                                    <p:anim calcmode="lin" valueType="num">
                                      <p:cBhvr additive="base">
                                        <p:cTn id="31" dur="500" fill="hold"/>
                                        <p:tgtEl>
                                          <p:spTgt spid="81971"/>
                                        </p:tgtEl>
                                        <p:attrNameLst>
                                          <p:attrName>ppt_x</p:attrName>
                                        </p:attrNameLst>
                                      </p:cBhvr>
                                      <p:tavLst>
                                        <p:tav tm="0">
                                          <p:val>
                                            <p:strVal val="0-#ppt_w/2"/>
                                          </p:val>
                                        </p:tav>
                                        <p:tav tm="100000">
                                          <p:val>
                                            <p:strVal val="#ppt_x"/>
                                          </p:val>
                                        </p:tav>
                                      </p:tavLst>
                                    </p:anim>
                                    <p:anim calcmode="lin" valueType="num">
                                      <p:cBhvr additive="base">
                                        <p:cTn id="32" dur="500" fill="hold"/>
                                        <p:tgtEl>
                                          <p:spTgt spid="81971"/>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81964"/>
                                        </p:tgtEl>
                                        <p:attrNameLst>
                                          <p:attrName>style.visibility</p:attrName>
                                        </p:attrNameLst>
                                      </p:cBhvr>
                                      <p:to>
                                        <p:strVal val="visible"/>
                                      </p:to>
                                    </p:set>
                                    <p:animEffect transition="in" filter="wipe(up)">
                                      <p:cBhvr>
                                        <p:cTn id="36" dur="500"/>
                                        <p:tgtEl>
                                          <p:spTgt spid="81964"/>
                                        </p:tgtEl>
                                      </p:cBhvr>
                                    </p:animEffect>
                                  </p:childTnLst>
                                </p:cTn>
                              </p:par>
                            </p:childTnLst>
                          </p:cTn>
                        </p:par>
                        <p:par>
                          <p:cTn id="37" fill="hold">
                            <p:stCondLst>
                              <p:cond delay="1000"/>
                            </p:stCondLst>
                            <p:childTnLst>
                              <p:par>
                                <p:cTn id="38" presetID="12" presetClass="entr" presetSubtype="8" fill="hold" grpId="0" nodeType="afterEffect">
                                  <p:stCondLst>
                                    <p:cond delay="0"/>
                                  </p:stCondLst>
                                  <p:childTnLst>
                                    <p:set>
                                      <p:cBhvr>
                                        <p:cTn id="39" dur="1" fill="hold">
                                          <p:stCondLst>
                                            <p:cond delay="0"/>
                                          </p:stCondLst>
                                        </p:cTn>
                                        <p:tgtEl>
                                          <p:spTgt spid="81968"/>
                                        </p:tgtEl>
                                        <p:attrNameLst>
                                          <p:attrName>style.visibility</p:attrName>
                                        </p:attrNameLst>
                                      </p:cBhvr>
                                      <p:to>
                                        <p:strVal val="visible"/>
                                      </p:to>
                                    </p:set>
                                    <p:animEffect transition="in" filter="slide(fromLeft)">
                                      <p:cBhvr>
                                        <p:cTn id="40" dur="500"/>
                                        <p:tgtEl>
                                          <p:spTgt spid="81968"/>
                                        </p:tgtEl>
                                      </p:cBhvr>
                                    </p:animEffect>
                                  </p:childTnLst>
                                </p:cTn>
                              </p:par>
                            </p:childTnLst>
                          </p:cTn>
                        </p:par>
                        <p:par>
                          <p:cTn id="41" fill="hold">
                            <p:stCondLst>
                              <p:cond delay="1500"/>
                            </p:stCondLst>
                            <p:childTnLst>
                              <p:par>
                                <p:cTn id="42" presetID="1" presetClass="entr" presetSubtype="0" fill="hold" grpId="0" nodeType="afterEffect">
                                  <p:stCondLst>
                                    <p:cond delay="0"/>
                                  </p:stCondLst>
                                  <p:childTnLst>
                                    <p:set>
                                      <p:cBhvr>
                                        <p:cTn id="43" dur="1" fill="hold">
                                          <p:stCondLst>
                                            <p:cond delay="499"/>
                                          </p:stCondLst>
                                        </p:cTn>
                                        <p:tgtEl>
                                          <p:spTgt spid="81973"/>
                                        </p:tgtEl>
                                        <p:attrNameLst>
                                          <p:attrName>style.visibility</p:attrName>
                                        </p:attrNameLst>
                                      </p:cBhvr>
                                      <p:to>
                                        <p:strVal val="visible"/>
                                      </p:to>
                                    </p:set>
                                  </p:childTnLst>
                                </p:cTn>
                              </p:par>
                            </p:childTnLst>
                          </p:cTn>
                        </p:par>
                        <p:par>
                          <p:cTn id="44" fill="hold">
                            <p:stCondLst>
                              <p:cond delay="2000"/>
                            </p:stCondLst>
                            <p:childTnLst>
                              <p:par>
                                <p:cTn id="45" presetID="12" presetClass="entr" presetSubtype="1" fill="hold" grpId="0" nodeType="afterEffect">
                                  <p:stCondLst>
                                    <p:cond delay="0"/>
                                  </p:stCondLst>
                                  <p:childTnLst>
                                    <p:set>
                                      <p:cBhvr>
                                        <p:cTn id="46" dur="1" fill="hold">
                                          <p:stCondLst>
                                            <p:cond delay="0"/>
                                          </p:stCondLst>
                                        </p:cTn>
                                        <p:tgtEl>
                                          <p:spTgt spid="81974"/>
                                        </p:tgtEl>
                                        <p:attrNameLst>
                                          <p:attrName>style.visibility</p:attrName>
                                        </p:attrNameLst>
                                      </p:cBhvr>
                                      <p:to>
                                        <p:strVal val="visible"/>
                                      </p:to>
                                    </p:set>
                                    <p:animEffect transition="in" filter="slide(fromTop)">
                                      <p:cBhvr>
                                        <p:cTn id="47" dur="500"/>
                                        <p:tgtEl>
                                          <p:spTgt spid="81974"/>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81975"/>
                                        </p:tgtEl>
                                        <p:attrNameLst>
                                          <p:attrName>style.visibility</p:attrName>
                                        </p:attrNameLst>
                                      </p:cBhvr>
                                      <p:to>
                                        <p:strVal val="visible"/>
                                      </p:to>
                                    </p:set>
                                    <p:anim calcmode="lin" valueType="num">
                                      <p:cBhvr additive="base">
                                        <p:cTn id="52" dur="500" fill="hold"/>
                                        <p:tgtEl>
                                          <p:spTgt spid="81975"/>
                                        </p:tgtEl>
                                        <p:attrNameLst>
                                          <p:attrName>ppt_x</p:attrName>
                                        </p:attrNameLst>
                                      </p:cBhvr>
                                      <p:tavLst>
                                        <p:tav tm="0">
                                          <p:val>
                                            <p:strVal val="0-#ppt_w/2"/>
                                          </p:val>
                                        </p:tav>
                                        <p:tav tm="100000">
                                          <p:val>
                                            <p:strVal val="#ppt_x"/>
                                          </p:val>
                                        </p:tav>
                                      </p:tavLst>
                                    </p:anim>
                                    <p:anim calcmode="lin" valueType="num">
                                      <p:cBhvr additive="base">
                                        <p:cTn id="53" dur="500" fill="hold"/>
                                        <p:tgtEl>
                                          <p:spTgt spid="81975"/>
                                        </p:tgtEl>
                                        <p:attrNameLst>
                                          <p:attrName>ppt_y</p:attrName>
                                        </p:attrNameLst>
                                      </p:cBhvr>
                                      <p:tavLst>
                                        <p:tav tm="0">
                                          <p:val>
                                            <p:strVal val="#ppt_y"/>
                                          </p:val>
                                        </p:tav>
                                        <p:tav tm="100000">
                                          <p:val>
                                            <p:strVal val="#ppt_y"/>
                                          </p:val>
                                        </p:tav>
                                      </p:tavLst>
                                    </p:anim>
                                  </p:childTnLst>
                                </p:cTn>
                              </p:par>
                            </p:childTnLst>
                          </p:cTn>
                        </p:par>
                        <p:par>
                          <p:cTn id="54" fill="hold">
                            <p:stCondLst>
                              <p:cond delay="500"/>
                            </p:stCondLst>
                            <p:childTnLst>
                              <p:par>
                                <p:cTn id="55" presetID="12" presetClass="entr" presetSubtype="1" fill="hold" grpId="0" nodeType="afterEffect">
                                  <p:stCondLst>
                                    <p:cond delay="0"/>
                                  </p:stCondLst>
                                  <p:childTnLst>
                                    <p:set>
                                      <p:cBhvr>
                                        <p:cTn id="56" dur="1" fill="hold">
                                          <p:stCondLst>
                                            <p:cond delay="0"/>
                                          </p:stCondLst>
                                        </p:cTn>
                                        <p:tgtEl>
                                          <p:spTgt spid="81956"/>
                                        </p:tgtEl>
                                        <p:attrNameLst>
                                          <p:attrName>style.visibility</p:attrName>
                                        </p:attrNameLst>
                                      </p:cBhvr>
                                      <p:to>
                                        <p:strVal val="visible"/>
                                      </p:to>
                                    </p:set>
                                    <p:animEffect transition="in" filter="slide(fromTop)">
                                      <p:cBhvr>
                                        <p:cTn id="57" dur="500"/>
                                        <p:tgtEl>
                                          <p:spTgt spid="81956"/>
                                        </p:tgtEl>
                                      </p:cBhvr>
                                    </p:animEffect>
                                  </p:childTnLst>
                                </p:cTn>
                              </p:par>
                            </p:childTnLst>
                          </p:cTn>
                        </p:par>
                        <p:par>
                          <p:cTn id="58" fill="hold">
                            <p:stCondLst>
                              <p:cond delay="1000"/>
                            </p:stCondLst>
                            <p:childTnLst>
                              <p:par>
                                <p:cTn id="59" presetID="1" presetClass="entr" presetSubtype="0" fill="hold" grpId="0" nodeType="afterEffect">
                                  <p:stCondLst>
                                    <p:cond delay="0"/>
                                  </p:stCondLst>
                                  <p:childTnLst>
                                    <p:set>
                                      <p:cBhvr>
                                        <p:cTn id="60" dur="1" fill="hold">
                                          <p:stCondLst>
                                            <p:cond delay="499"/>
                                          </p:stCondLst>
                                        </p:cTn>
                                        <p:tgtEl>
                                          <p:spTgt spid="81955"/>
                                        </p:tgtEl>
                                        <p:attrNameLst>
                                          <p:attrName>style.visibility</p:attrName>
                                        </p:attrNameLst>
                                      </p:cBhvr>
                                      <p:to>
                                        <p:strVal val="visible"/>
                                      </p:to>
                                    </p:se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81966"/>
                                        </p:tgtEl>
                                        <p:attrNameLst>
                                          <p:attrName>style.visibility</p:attrName>
                                        </p:attrNameLst>
                                      </p:cBhvr>
                                      <p:to>
                                        <p:strVal val="visible"/>
                                      </p:to>
                                    </p:set>
                                    <p:animEffect transition="in" filter="wipe(left)">
                                      <p:cBhvr>
                                        <p:cTn id="64" dur="500"/>
                                        <p:tgtEl>
                                          <p:spTgt spid="81966"/>
                                        </p:tgtEl>
                                      </p:cBhvr>
                                    </p:animEffect>
                                  </p:childTnLst>
                                </p:cTn>
                              </p:par>
                            </p:childTnLst>
                          </p:cTn>
                        </p:par>
                        <p:par>
                          <p:cTn id="65" fill="hold">
                            <p:stCondLst>
                              <p:cond delay="2000"/>
                            </p:stCondLst>
                            <p:childTnLst>
                              <p:par>
                                <p:cTn id="66" presetID="22" presetClass="entr" presetSubtype="2" fill="hold" nodeType="afterEffect">
                                  <p:stCondLst>
                                    <p:cond delay="0"/>
                                  </p:stCondLst>
                                  <p:childTnLst>
                                    <p:set>
                                      <p:cBhvr>
                                        <p:cTn id="67" dur="1" fill="hold">
                                          <p:stCondLst>
                                            <p:cond delay="0"/>
                                          </p:stCondLst>
                                        </p:cTn>
                                        <p:tgtEl>
                                          <p:spTgt spid="81980"/>
                                        </p:tgtEl>
                                        <p:attrNameLst>
                                          <p:attrName>style.visibility</p:attrName>
                                        </p:attrNameLst>
                                      </p:cBhvr>
                                      <p:to>
                                        <p:strVal val="visible"/>
                                      </p:to>
                                    </p:set>
                                    <p:animEffect transition="in" filter="wipe(right)">
                                      <p:cBhvr>
                                        <p:cTn id="68" dur="500"/>
                                        <p:tgtEl>
                                          <p:spTgt spid="81980"/>
                                        </p:tgtEl>
                                      </p:cBhvr>
                                    </p:animEffect>
                                  </p:childTnLst>
                                </p:cTn>
                              </p:par>
                            </p:childTnLst>
                          </p:cTn>
                        </p:par>
                        <p:par>
                          <p:cTn id="69" fill="hold">
                            <p:stCondLst>
                              <p:cond delay="2500"/>
                            </p:stCondLst>
                            <p:childTnLst>
                              <p:par>
                                <p:cTn id="70" presetID="12" presetClass="entr" presetSubtype="1" fill="hold" grpId="0" nodeType="afterEffect">
                                  <p:stCondLst>
                                    <p:cond delay="0"/>
                                  </p:stCondLst>
                                  <p:childTnLst>
                                    <p:set>
                                      <p:cBhvr>
                                        <p:cTn id="71" dur="1" fill="hold">
                                          <p:stCondLst>
                                            <p:cond delay="0"/>
                                          </p:stCondLst>
                                        </p:cTn>
                                        <p:tgtEl>
                                          <p:spTgt spid="81960"/>
                                        </p:tgtEl>
                                        <p:attrNameLst>
                                          <p:attrName>style.visibility</p:attrName>
                                        </p:attrNameLst>
                                      </p:cBhvr>
                                      <p:to>
                                        <p:strVal val="visible"/>
                                      </p:to>
                                    </p:set>
                                    <p:animEffect transition="in" filter="slide(fromTop)">
                                      <p:cBhvr>
                                        <p:cTn id="72" dur="500"/>
                                        <p:tgtEl>
                                          <p:spTgt spid="81960"/>
                                        </p:tgtEl>
                                      </p:cBhvr>
                                    </p:animEffect>
                                  </p:childTnLst>
                                </p:cTn>
                              </p:par>
                            </p:childTnLst>
                          </p:cTn>
                        </p:par>
                        <p:par>
                          <p:cTn id="73" fill="hold">
                            <p:stCondLst>
                              <p:cond delay="3000"/>
                            </p:stCondLst>
                            <p:childTnLst>
                              <p:par>
                                <p:cTn id="74" presetID="22" presetClass="entr" presetSubtype="4" fill="hold" nodeType="afterEffect">
                                  <p:stCondLst>
                                    <p:cond delay="0"/>
                                  </p:stCondLst>
                                  <p:childTnLst>
                                    <p:set>
                                      <p:cBhvr>
                                        <p:cTn id="75" dur="1" fill="hold">
                                          <p:stCondLst>
                                            <p:cond delay="0"/>
                                          </p:stCondLst>
                                        </p:cTn>
                                        <p:tgtEl>
                                          <p:spTgt spid="81978"/>
                                        </p:tgtEl>
                                        <p:attrNameLst>
                                          <p:attrName>style.visibility</p:attrName>
                                        </p:attrNameLst>
                                      </p:cBhvr>
                                      <p:to>
                                        <p:strVal val="visible"/>
                                      </p:to>
                                    </p:set>
                                    <p:animEffect transition="in" filter="wipe(down)">
                                      <p:cBhvr>
                                        <p:cTn id="76" dur="500"/>
                                        <p:tgtEl>
                                          <p:spTgt spid="81978"/>
                                        </p:tgtEl>
                                      </p:cBhvr>
                                    </p:animEffect>
                                  </p:childTnLst>
                                </p:cTn>
                              </p:par>
                            </p:childTnLst>
                          </p:cTn>
                        </p:par>
                        <p:par>
                          <p:cTn id="77" fill="hold">
                            <p:stCondLst>
                              <p:cond delay="3500"/>
                            </p:stCondLst>
                            <p:childTnLst>
                              <p:par>
                                <p:cTn id="78" presetID="1" presetClass="entr" presetSubtype="0" fill="hold" grpId="0" nodeType="afterEffect">
                                  <p:stCondLst>
                                    <p:cond delay="0"/>
                                  </p:stCondLst>
                                  <p:childTnLst>
                                    <p:set>
                                      <p:cBhvr>
                                        <p:cTn id="79" dur="1" fill="hold">
                                          <p:stCondLst>
                                            <p:cond delay="499"/>
                                          </p:stCondLst>
                                        </p:cTn>
                                        <p:tgtEl>
                                          <p:spTgt spid="8197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 presetClass="entr" presetSubtype="8" fill="hold" grpId="0" nodeType="clickEffect">
                                  <p:stCondLst>
                                    <p:cond delay="0"/>
                                  </p:stCondLst>
                                  <p:childTnLst>
                                    <p:set>
                                      <p:cBhvr>
                                        <p:cTn id="83" dur="1" fill="hold">
                                          <p:stCondLst>
                                            <p:cond delay="0"/>
                                          </p:stCondLst>
                                        </p:cTn>
                                        <p:tgtEl>
                                          <p:spTgt spid="81981"/>
                                        </p:tgtEl>
                                        <p:attrNameLst>
                                          <p:attrName>style.visibility</p:attrName>
                                        </p:attrNameLst>
                                      </p:cBhvr>
                                      <p:to>
                                        <p:strVal val="visible"/>
                                      </p:to>
                                    </p:set>
                                    <p:anim calcmode="lin" valueType="num">
                                      <p:cBhvr additive="base">
                                        <p:cTn id="84" dur="500" fill="hold"/>
                                        <p:tgtEl>
                                          <p:spTgt spid="81981"/>
                                        </p:tgtEl>
                                        <p:attrNameLst>
                                          <p:attrName>ppt_x</p:attrName>
                                        </p:attrNameLst>
                                      </p:cBhvr>
                                      <p:tavLst>
                                        <p:tav tm="0">
                                          <p:val>
                                            <p:strVal val="0-#ppt_w/2"/>
                                          </p:val>
                                        </p:tav>
                                        <p:tav tm="100000">
                                          <p:val>
                                            <p:strVal val="#ppt_x"/>
                                          </p:val>
                                        </p:tav>
                                      </p:tavLst>
                                    </p:anim>
                                    <p:anim calcmode="lin" valueType="num">
                                      <p:cBhvr additive="base">
                                        <p:cTn id="85" dur="500" fill="hold"/>
                                        <p:tgtEl>
                                          <p:spTgt spid="819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4" grpId="0" animBg="1"/>
      <p:bldP spid="81955" grpId="0" animBg="1"/>
      <p:bldP spid="81956" grpId="0" animBg="1"/>
      <p:bldP spid="81962" grpId="0" animBg="1"/>
      <p:bldP spid="81968" grpId="0" animBg="1"/>
      <p:bldP spid="81970" grpId="0" animBg="1"/>
      <p:bldP spid="81971" grpId="0" animBg="1"/>
      <p:bldP spid="81960" grpId="0" animBg="1"/>
      <p:bldP spid="81973" grpId="0" animBg="1"/>
      <p:bldP spid="81974" grpId="0"/>
      <p:bldP spid="81975" grpId="0" animBg="1"/>
      <p:bldP spid="81977" grpId="0" animBg="1"/>
      <p:bldP spid="8198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8967" name="Group 119"/>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67695" name="Text Box 114"/>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程序计数器</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
        <p:nvSpPr>
          <p:cNvPr id="67696" name="Line 115"/>
          <p:cNvSpPr/>
          <p:nvPr/>
        </p:nvSpPr>
        <p:spPr>
          <a:xfrm>
            <a:off x="7845425" y="3657600"/>
            <a:ext cx="0" cy="2122488"/>
          </a:xfrm>
          <a:prstGeom prst="line">
            <a:avLst/>
          </a:prstGeom>
          <a:ln w="12700" cap="flat" cmpd="sng">
            <a:solidFill>
              <a:schemeClr val="tx1"/>
            </a:solidFill>
            <a:prstDash val="solid"/>
            <a:round/>
            <a:headEnd type="none" w="med" len="med"/>
            <a:tailEnd type="none" w="med" len="med"/>
          </a:ln>
        </p:spPr>
      </p:sp>
      <p:sp>
        <p:nvSpPr>
          <p:cNvPr id="67697" name="Line 116"/>
          <p:cNvSpPr/>
          <p:nvPr/>
        </p:nvSpPr>
        <p:spPr>
          <a:xfrm>
            <a:off x="8759825" y="3657600"/>
            <a:ext cx="0" cy="2122488"/>
          </a:xfrm>
          <a:prstGeom prst="line">
            <a:avLst/>
          </a:prstGeom>
          <a:ln w="28575" cap="sq" cmpd="sng">
            <a:solidFill>
              <a:schemeClr val="tx1"/>
            </a:solidFill>
            <a:prstDash val="solid"/>
            <a:round/>
            <a:headEnd type="none" w="med" len="med"/>
            <a:tailEnd type="none" w="med" len="med"/>
          </a:ln>
        </p:spPr>
      </p:sp>
      <p:sp>
        <p:nvSpPr>
          <p:cNvPr id="78965" name="AutoShape 117"/>
          <p:cNvSpPr/>
          <p:nvPr/>
        </p:nvSpPr>
        <p:spPr>
          <a:xfrm>
            <a:off x="2514600" y="2590800"/>
            <a:ext cx="6096000" cy="30480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寄存器</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为</a:t>
            </a:r>
            <a:r>
              <a:rPr lang="zh-CN" altLang="en-US" sz="2400" dirty="0">
                <a:solidFill>
                  <a:srgbClr val="FF0000"/>
                </a:solidFill>
                <a:latin typeface="华文新魏" panose="02010800040101010101" pitchFamily="2" charset="-122"/>
                <a:ea typeface="华文新魏" panose="02010800040101010101" pitchFamily="2" charset="-122"/>
              </a:rPr>
              <a:t>程序计数器</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），它指向正在取指的地址。可以认为它是一个通用寄存器，但是对于它的使用有许多与指令相关的限制或特殊情况。如果</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使用的方式超出了这些限制，那么结果将是不可预测的。</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8965"/>
                                        </p:tgtEl>
                                        <p:attrNameLst>
                                          <p:attrName>style.visibility</p:attrName>
                                        </p:attrNameLst>
                                      </p:cBhvr>
                                      <p:to>
                                        <p:strVal val="visible"/>
                                      </p:to>
                                    </p:set>
                                    <p:anim calcmode="lin" valueType="num">
                                      <p:cBhvr additive="base">
                                        <p:cTn id="7" dur="500" fill="hold"/>
                                        <p:tgtEl>
                                          <p:spTgt spid="78965"/>
                                        </p:tgtEl>
                                        <p:attrNameLst>
                                          <p:attrName>ppt_x</p:attrName>
                                        </p:attrNameLst>
                                      </p:cBhvr>
                                      <p:tavLst>
                                        <p:tav tm="0">
                                          <p:val>
                                            <p:strVal val="1+#ppt_w/2"/>
                                          </p:val>
                                        </p:tav>
                                        <p:tav tm="100000">
                                          <p:val>
                                            <p:strVal val="#ppt_x"/>
                                          </p:val>
                                        </p:tav>
                                      </p:tavLst>
                                    </p:anim>
                                    <p:anim calcmode="lin" valueType="num">
                                      <p:cBhvr additive="base">
                                        <p:cTn id="8" dur="500" fill="hold"/>
                                        <p:tgtEl>
                                          <p:spTgt spid="789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6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4"/>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79877"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读</a:t>
            </a:r>
            <a:r>
              <a:rPr lang="en-US" altLang="zh-CN" dirty="0"/>
              <a:t>R15</a:t>
            </a:r>
            <a:r>
              <a:rPr lang="zh-CN" altLang="en-US" dirty="0"/>
              <a:t>的限制</a:t>
            </a:r>
            <a:endParaRPr lang="zh-CN" altLang="en-US" dirty="0"/>
          </a:p>
        </p:txBody>
      </p:sp>
      <p:sp>
        <p:nvSpPr>
          <p:cNvPr id="79878" name="Text Box 6"/>
          <p:cNvSpPr txBox="1"/>
          <p:nvPr/>
        </p:nvSpPr>
        <p:spPr>
          <a:xfrm>
            <a:off x="1219200" y="2420938"/>
            <a:ext cx="7010400" cy="15525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正常操作时，从</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读取的值是处理器正在取指的地址，即当前正在执行指令的地址加上</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个字节（两条</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指令的长度）。由于</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指令总是以字为单位，所以</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寄存器的最低两位总是为</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grpSp>
        <p:nvGrpSpPr>
          <p:cNvPr id="2" name="Group 23"/>
          <p:cNvGrpSpPr/>
          <p:nvPr/>
        </p:nvGrpSpPr>
        <p:grpSpPr>
          <a:xfrm>
            <a:off x="2819400" y="4249738"/>
            <a:ext cx="3810000" cy="1524000"/>
            <a:chOff x="1776" y="2880"/>
            <a:chExt cx="2400" cy="960"/>
          </a:xfrm>
        </p:grpSpPr>
        <p:sp>
          <p:nvSpPr>
            <p:cNvPr id="68613" name="Rectangle 8"/>
            <p:cNvSpPr/>
            <p:nvPr/>
          </p:nvSpPr>
          <p:spPr>
            <a:xfrm>
              <a:off x="2256" y="3120"/>
              <a:ext cx="1104" cy="24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Courier New" panose="02070309020205020404" pitchFamily="49" charset="0"/>
                  <a:ea typeface="华文新魏" panose="02010800040101010101" pitchFamily="2" charset="-122"/>
                </a:rPr>
                <a:t>LDR   R0,PC</a:t>
              </a:r>
              <a:endParaRPr lang="en-US" altLang="zh-CN" dirty="0">
                <a:latin typeface="Courier New" panose="02070309020205020404" pitchFamily="49" charset="0"/>
                <a:ea typeface="华文新魏" panose="02010800040101010101" pitchFamily="2" charset="-122"/>
              </a:endParaRPr>
            </a:p>
          </p:txBody>
        </p:sp>
        <p:sp>
          <p:nvSpPr>
            <p:cNvPr id="68614" name="Rectangle 9"/>
            <p:cNvSpPr/>
            <p:nvPr/>
          </p:nvSpPr>
          <p:spPr>
            <a:xfrm>
              <a:off x="2256" y="3360"/>
              <a:ext cx="1104" cy="24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p:txBody>
        </p:sp>
        <p:sp>
          <p:nvSpPr>
            <p:cNvPr id="68615" name="Rectangle 10"/>
            <p:cNvSpPr/>
            <p:nvPr/>
          </p:nvSpPr>
          <p:spPr>
            <a:xfrm>
              <a:off x="2256" y="3600"/>
              <a:ext cx="1104" cy="24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p:txBody>
        </p:sp>
        <p:sp>
          <p:nvSpPr>
            <p:cNvPr id="68616" name="Rectangle 11"/>
            <p:cNvSpPr/>
            <p:nvPr/>
          </p:nvSpPr>
          <p:spPr>
            <a:xfrm>
              <a:off x="1776" y="3600"/>
              <a:ext cx="480"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华文新魏" panose="02010800040101010101" pitchFamily="2" charset="-122"/>
                  <a:ea typeface="华文新魏" panose="02010800040101010101" pitchFamily="2" charset="-122"/>
                </a:rPr>
                <a:t>PC</a:t>
              </a:r>
              <a:endParaRPr lang="en-US" altLang="zh-CN" dirty="0">
                <a:latin typeface="华文新魏" panose="02010800040101010101" pitchFamily="2" charset="-122"/>
                <a:ea typeface="华文新魏" panose="02010800040101010101" pitchFamily="2" charset="-122"/>
              </a:endParaRPr>
            </a:p>
          </p:txBody>
        </p:sp>
        <p:sp>
          <p:nvSpPr>
            <p:cNvPr id="68617" name="Rectangle 12"/>
            <p:cNvSpPr/>
            <p:nvPr/>
          </p:nvSpPr>
          <p:spPr>
            <a:xfrm>
              <a:off x="1776" y="3360"/>
              <a:ext cx="480"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华文新魏" panose="02010800040101010101" pitchFamily="2" charset="-122"/>
                  <a:ea typeface="华文新魏" panose="02010800040101010101" pitchFamily="2" charset="-122"/>
                </a:rPr>
                <a:t>PC-4</a:t>
              </a:r>
              <a:endParaRPr lang="en-US" altLang="zh-CN" dirty="0">
                <a:latin typeface="华文新魏" panose="02010800040101010101" pitchFamily="2" charset="-122"/>
                <a:ea typeface="华文新魏" panose="02010800040101010101" pitchFamily="2" charset="-122"/>
              </a:endParaRPr>
            </a:p>
          </p:txBody>
        </p:sp>
        <p:sp>
          <p:nvSpPr>
            <p:cNvPr id="68618" name="Rectangle 13"/>
            <p:cNvSpPr/>
            <p:nvPr/>
          </p:nvSpPr>
          <p:spPr>
            <a:xfrm>
              <a:off x="1776" y="3120"/>
              <a:ext cx="480"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dirty="0">
                  <a:latin typeface="华文新魏" panose="02010800040101010101" pitchFamily="2" charset="-122"/>
                  <a:ea typeface="华文新魏" panose="02010800040101010101" pitchFamily="2" charset="-122"/>
                </a:rPr>
                <a:t>PC-8</a:t>
              </a:r>
              <a:endParaRPr lang="en-US" altLang="zh-CN" dirty="0">
                <a:latin typeface="华文新魏" panose="02010800040101010101" pitchFamily="2" charset="-122"/>
                <a:ea typeface="华文新魏" panose="02010800040101010101" pitchFamily="2" charset="-122"/>
              </a:endParaRPr>
            </a:p>
          </p:txBody>
        </p:sp>
        <p:sp>
          <p:nvSpPr>
            <p:cNvPr id="68619" name="Rectangle 14"/>
            <p:cNvSpPr/>
            <p:nvPr/>
          </p:nvSpPr>
          <p:spPr>
            <a:xfrm>
              <a:off x="3360" y="3120"/>
              <a:ext cx="816" cy="24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dirty="0">
                  <a:latin typeface="Courier New" panose="02070309020205020404" pitchFamily="49" charset="0"/>
                  <a:ea typeface="华文新魏" panose="02010800040101010101" pitchFamily="2" charset="-122"/>
                </a:rPr>
                <a:t>正在执行</a:t>
              </a:r>
              <a:endParaRPr lang="zh-CN" altLang="en-US" dirty="0">
                <a:latin typeface="Courier New" panose="02070309020205020404" pitchFamily="49" charset="0"/>
                <a:ea typeface="华文新魏" panose="02010800040101010101" pitchFamily="2" charset="-122"/>
              </a:endParaRPr>
            </a:p>
          </p:txBody>
        </p:sp>
        <p:sp>
          <p:nvSpPr>
            <p:cNvPr id="68620" name="Rectangle 15"/>
            <p:cNvSpPr/>
            <p:nvPr/>
          </p:nvSpPr>
          <p:spPr>
            <a:xfrm>
              <a:off x="3360" y="3360"/>
              <a:ext cx="816" cy="24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dirty="0">
                  <a:latin typeface="华文新魏" panose="02010800040101010101" pitchFamily="2" charset="-122"/>
                  <a:ea typeface="华文新魏" panose="02010800040101010101" pitchFamily="2" charset="-122"/>
                </a:rPr>
                <a:t>正在译码</a:t>
              </a:r>
              <a:endParaRPr lang="zh-CN" altLang="en-US" dirty="0">
                <a:latin typeface="华文新魏" panose="02010800040101010101" pitchFamily="2" charset="-122"/>
                <a:ea typeface="华文新魏" panose="02010800040101010101" pitchFamily="2" charset="-122"/>
              </a:endParaRPr>
            </a:p>
          </p:txBody>
        </p:sp>
        <p:sp>
          <p:nvSpPr>
            <p:cNvPr id="68621" name="Rectangle 16"/>
            <p:cNvSpPr/>
            <p:nvPr/>
          </p:nvSpPr>
          <p:spPr>
            <a:xfrm>
              <a:off x="3360" y="3600"/>
              <a:ext cx="816" cy="24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dirty="0">
                  <a:latin typeface="华文新魏" panose="02010800040101010101" pitchFamily="2" charset="-122"/>
                  <a:ea typeface="华文新魏" panose="02010800040101010101" pitchFamily="2" charset="-122"/>
                </a:rPr>
                <a:t>正在取指</a:t>
              </a:r>
              <a:endParaRPr lang="zh-CN" altLang="en-US" dirty="0">
                <a:latin typeface="华文新魏" panose="02010800040101010101" pitchFamily="2" charset="-122"/>
                <a:ea typeface="华文新魏" panose="02010800040101010101" pitchFamily="2" charset="-122"/>
              </a:endParaRPr>
            </a:p>
          </p:txBody>
        </p:sp>
        <p:sp>
          <p:nvSpPr>
            <p:cNvPr id="68622" name="Rectangle 17"/>
            <p:cNvSpPr/>
            <p:nvPr/>
          </p:nvSpPr>
          <p:spPr>
            <a:xfrm>
              <a:off x="3360" y="2880"/>
              <a:ext cx="816"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dirty="0">
                  <a:latin typeface="Courier New" panose="02070309020205020404" pitchFamily="49" charset="0"/>
                  <a:ea typeface="华文新魏" panose="02010800040101010101" pitchFamily="2" charset="-122"/>
                </a:rPr>
                <a:t>流水线状态</a:t>
              </a:r>
              <a:endParaRPr lang="zh-CN" altLang="en-US" dirty="0">
                <a:latin typeface="Courier New" panose="02070309020205020404" pitchFamily="49" charset="0"/>
                <a:ea typeface="华文新魏" panose="02010800040101010101" pitchFamily="2" charset="-122"/>
              </a:endParaRPr>
            </a:p>
          </p:txBody>
        </p:sp>
        <p:sp>
          <p:nvSpPr>
            <p:cNvPr id="68623" name="Rectangle 18"/>
            <p:cNvSpPr/>
            <p:nvPr/>
          </p:nvSpPr>
          <p:spPr>
            <a:xfrm>
              <a:off x="1776" y="2880"/>
              <a:ext cx="480"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dirty="0">
                  <a:latin typeface="华文新魏" panose="02010800040101010101" pitchFamily="2" charset="-122"/>
                  <a:ea typeface="华文新魏" panose="02010800040101010101" pitchFamily="2" charset="-122"/>
                </a:rPr>
                <a:t>地址</a:t>
              </a:r>
              <a:endParaRPr lang="zh-CN" altLang="en-US" dirty="0">
                <a:latin typeface="华文新魏" panose="02010800040101010101" pitchFamily="2" charset="-122"/>
                <a:ea typeface="华文新魏" panose="02010800040101010101" pitchFamily="2" charset="-122"/>
              </a:endParaRPr>
            </a:p>
          </p:txBody>
        </p:sp>
        <p:sp>
          <p:nvSpPr>
            <p:cNvPr id="68624" name="Rectangle 19"/>
            <p:cNvSpPr/>
            <p:nvPr/>
          </p:nvSpPr>
          <p:spPr>
            <a:xfrm>
              <a:off x="2256" y="2880"/>
              <a:ext cx="110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buClrTx/>
                <a:buFontTx/>
              </a:pPr>
              <a:r>
                <a:rPr lang="zh-CN" altLang="en-US" dirty="0">
                  <a:latin typeface="Courier New" panose="02070309020205020404" pitchFamily="49" charset="0"/>
                  <a:ea typeface="华文新魏" panose="02010800040101010101" pitchFamily="2" charset="-122"/>
                </a:rPr>
                <a:t>程序代码</a:t>
              </a:r>
              <a:endParaRPr lang="zh-CN" altLang="en-US" dirty="0">
                <a:latin typeface="Courier New" panose="02070309020205020404" pitchFamily="49" charset="0"/>
                <a:ea typeface="华文新魏" panose="020108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9877">
                                            <p:txEl>
                                              <p:charRg st="0" end="8"/>
                                            </p:txEl>
                                          </p:spTgt>
                                        </p:tgtEl>
                                        <p:attrNameLst>
                                          <p:attrName>style.visibility</p:attrName>
                                        </p:attrNameLst>
                                      </p:cBhvr>
                                      <p:to>
                                        <p:strVal val="visible"/>
                                      </p:to>
                                    </p:set>
                                    <p:anim calcmode="lin" valueType="num">
                                      <p:cBhvr additive="base">
                                        <p:cTn id="7" dur="500" fill="hold"/>
                                        <p:tgtEl>
                                          <p:spTgt spid="79877">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9877">
                                            <p:txEl>
                                              <p:charRg st="0" end="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9878"/>
                                        </p:tgtEl>
                                        <p:attrNameLst>
                                          <p:attrName>style.visibility</p:attrName>
                                        </p:attrNameLst>
                                      </p:cBhvr>
                                      <p:to>
                                        <p:strVal val="visible"/>
                                      </p:to>
                                    </p:set>
                                    <p:animEffect transition="in" filter="box(in)">
                                      <p:cBhvr>
                                        <p:cTn id="12" dur="500"/>
                                        <p:tgtEl>
                                          <p:spTgt spid="79878"/>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To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advAuto="1000" build="p"/>
      <p:bldP spid="7987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82947"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读</a:t>
            </a:r>
            <a:r>
              <a:rPr lang="en-US" altLang="zh-CN" dirty="0"/>
              <a:t>R15</a:t>
            </a:r>
            <a:r>
              <a:rPr lang="zh-CN" altLang="en-US" dirty="0"/>
              <a:t>的限制</a:t>
            </a:r>
            <a:endParaRPr lang="zh-CN" altLang="en-US" dirty="0"/>
          </a:p>
        </p:txBody>
      </p:sp>
      <p:sp>
        <p:nvSpPr>
          <p:cNvPr id="82948" name="Text Box 4"/>
          <p:cNvSpPr txBox="1"/>
          <p:nvPr/>
        </p:nvSpPr>
        <p:spPr>
          <a:xfrm>
            <a:off x="1187450" y="2420938"/>
            <a:ext cx="7010400" cy="3195637"/>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当使用</a:t>
            </a:r>
            <a:r>
              <a:rPr lang="en-US" altLang="zh-CN" sz="2400" dirty="0">
                <a:latin typeface="华文新魏" panose="02010800040101010101" pitchFamily="2" charset="-122"/>
                <a:ea typeface="华文新魏" panose="02010800040101010101" pitchFamily="2" charset="-122"/>
              </a:rPr>
              <a:t>STR</a:t>
            </a:r>
            <a:r>
              <a:rPr lang="zh-CN" altLang="en-US" sz="2400" dirty="0">
                <a:latin typeface="华文新魏" panose="02010800040101010101" pitchFamily="2" charset="-122"/>
                <a:ea typeface="华文新魏" panose="02010800040101010101" pitchFamily="2" charset="-122"/>
              </a:rPr>
              <a:t>或</a:t>
            </a:r>
            <a:r>
              <a:rPr lang="en-US" altLang="zh-CN" sz="2400" dirty="0">
                <a:latin typeface="华文新魏" panose="02010800040101010101" pitchFamily="2" charset="-122"/>
                <a:ea typeface="华文新魏" panose="02010800040101010101" pitchFamily="2" charset="-122"/>
              </a:rPr>
              <a:t>STM</a:t>
            </a:r>
            <a:r>
              <a:rPr lang="zh-CN" altLang="en-US" sz="2400" dirty="0">
                <a:latin typeface="华文新魏" panose="02010800040101010101" pitchFamily="2" charset="-122"/>
                <a:ea typeface="华文新魏" panose="02010800040101010101" pitchFamily="2" charset="-122"/>
              </a:rPr>
              <a:t>指令保存</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时，会有一个例外。这些指令可能将当前指令地址加</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字节或加</a:t>
            </a:r>
            <a:r>
              <a:rPr lang="en-US" altLang="zh-CN" sz="2400" dirty="0">
                <a:latin typeface="华文新魏" panose="02010800040101010101" pitchFamily="2" charset="-122"/>
                <a:ea typeface="华文新魏" panose="02010800040101010101" pitchFamily="2" charset="-122"/>
              </a:rPr>
              <a:t>12</a:t>
            </a:r>
            <a:r>
              <a:rPr lang="zh-CN" altLang="en-US" sz="2400" dirty="0">
                <a:latin typeface="华文新魏" panose="02010800040101010101" pitchFamily="2" charset="-122"/>
                <a:ea typeface="华文新魏" panose="02010800040101010101" pitchFamily="2" charset="-122"/>
              </a:rPr>
              <a:t>字节保存（将来可能还有其它数字）。偏移量是</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还是</a:t>
            </a:r>
            <a:r>
              <a:rPr lang="en-US" altLang="zh-CN" sz="2400" dirty="0">
                <a:latin typeface="华文新魏" panose="02010800040101010101" pitchFamily="2" charset="-122"/>
                <a:ea typeface="华文新魏" panose="02010800040101010101" pitchFamily="2" charset="-122"/>
              </a:rPr>
              <a:t>12</a:t>
            </a:r>
            <a:r>
              <a:rPr lang="zh-CN" altLang="en-US" sz="2400" dirty="0">
                <a:latin typeface="华文新魏" panose="02010800040101010101" pitchFamily="2" charset="-122"/>
                <a:ea typeface="华文新魏" panose="02010800040101010101" pitchFamily="2" charset="-122"/>
              </a:rPr>
              <a:t>取决于具体的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芯片，但是对于一个确定的芯片，这个值是一个常量。</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所以最好避免使用</a:t>
            </a:r>
            <a:r>
              <a:rPr lang="en-US" altLang="zh-CN" sz="2400" dirty="0">
                <a:latin typeface="华文新魏" panose="02010800040101010101" pitchFamily="2" charset="-122"/>
                <a:ea typeface="华文新魏" panose="02010800040101010101" pitchFamily="2" charset="-122"/>
              </a:rPr>
              <a:t>STR</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STM</a:t>
            </a:r>
            <a:r>
              <a:rPr lang="zh-CN" altLang="en-US" sz="2400" dirty="0">
                <a:latin typeface="华文新魏" panose="02010800040101010101" pitchFamily="2" charset="-122"/>
                <a:ea typeface="华文新魏" panose="02010800040101010101" pitchFamily="2" charset="-122"/>
              </a:rPr>
              <a:t>指令来保存</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，如果很难做到，那么应当在程序中计算出该芯片的偏移量。</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2947">
                                            <p:txEl>
                                              <p:charRg st="0" end="8"/>
                                            </p:txEl>
                                          </p:spTgt>
                                        </p:tgtEl>
                                        <p:attrNameLst>
                                          <p:attrName>style.visibility</p:attrName>
                                        </p:attrNameLst>
                                      </p:cBhvr>
                                      <p:to>
                                        <p:strVal val="visible"/>
                                      </p:to>
                                    </p:set>
                                    <p:anim calcmode="lin" valueType="num">
                                      <p:cBhvr additive="base">
                                        <p:cTn id="7" dur="500" fill="hold"/>
                                        <p:tgtEl>
                                          <p:spTgt spid="82947">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2947">
                                            <p:txEl>
                                              <p:charRg st="0" end="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82948"/>
                                        </p:tgtEl>
                                        <p:attrNameLst>
                                          <p:attrName>style.visibility</p:attrName>
                                        </p:attrNameLst>
                                      </p:cBhvr>
                                      <p:to>
                                        <p:strVal val="visible"/>
                                      </p:to>
                                    </p:set>
                                    <p:animEffect transition="in" filter="box(in)">
                                      <p:cBhvr>
                                        <p:cTn id="12"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dvAuto="1000" build="p"/>
      <p:bldP spid="8294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4"/>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70658"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读</a:t>
            </a:r>
            <a:r>
              <a:rPr lang="en-US" altLang="zh-CN" dirty="0"/>
              <a:t>R15</a:t>
            </a:r>
            <a:r>
              <a:rPr lang="zh-CN" altLang="en-US" dirty="0"/>
              <a:t>的限制</a:t>
            </a:r>
            <a:endParaRPr lang="zh-CN" altLang="en-US" dirty="0"/>
          </a:p>
        </p:txBody>
      </p:sp>
      <p:sp>
        <p:nvSpPr>
          <p:cNvPr id="77830" name="Text Box 6"/>
          <p:cNvSpPr txBox="1"/>
          <p:nvPr/>
        </p:nvSpPr>
        <p:spPr>
          <a:xfrm>
            <a:off x="1979613" y="2852738"/>
            <a:ext cx="5688012" cy="366712"/>
          </a:xfrm>
          <a:prstGeom prst="rect">
            <a:avLst/>
          </a:prstGeom>
          <a:noFill/>
          <a:ln w="9525">
            <a:noFill/>
          </a:ln>
        </p:spPr>
        <p:txBody>
          <a:bodyPr anchor="t" anchorCtr="0">
            <a:spAutoFit/>
          </a:bodyPr>
          <a:p>
            <a:pPr algn="ctr">
              <a:spcBef>
                <a:spcPct val="50000"/>
              </a:spcBef>
              <a:buClrTx/>
              <a:buFontTx/>
            </a:pPr>
            <a:r>
              <a:rPr lang="zh-CN" altLang="en-US" dirty="0">
                <a:latin typeface="Tahoma" panose="020B0604030504040204" pitchFamily="34" charset="0"/>
                <a:ea typeface="宋体" panose="02010600030101010101" pitchFamily="2" charset="-122"/>
              </a:rPr>
              <a:t>计算偏移量</a:t>
            </a:r>
            <a:r>
              <a:rPr lang="en-US" altLang="zh-CN" dirty="0">
                <a:latin typeface="Tahoma" panose="020B0604030504040204" pitchFamily="34"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PC</a:t>
            </a:r>
            <a:r>
              <a:rPr lang="zh-CN" altLang="en-US" dirty="0">
                <a:latin typeface="Tahoma" panose="020B0604030504040204" pitchFamily="34" charset="0"/>
                <a:ea typeface="宋体" panose="02010600030101010101" pitchFamily="2" charset="-122"/>
              </a:rPr>
              <a:t>值和当前指令地址的差</a:t>
            </a:r>
            <a:r>
              <a:rPr lang="en-US" altLang="zh-CN" dirty="0">
                <a:latin typeface="Tahoma" panose="020B0604030504040204" pitchFamily="34" charset="0"/>
                <a:ea typeface="宋体" panose="02010600030101010101" pitchFamily="2" charset="-122"/>
              </a:rPr>
              <a:t>)</a:t>
            </a:r>
            <a:r>
              <a:rPr lang="zh-CN" altLang="en-US" dirty="0">
                <a:latin typeface="Tahoma" panose="020B0604030504040204" pitchFamily="34" charset="0"/>
                <a:ea typeface="宋体" panose="02010600030101010101" pitchFamily="2" charset="-122"/>
              </a:rPr>
              <a:t>程序代码：</a:t>
            </a:r>
            <a:endParaRPr lang="zh-CN" altLang="en-US" dirty="0">
              <a:latin typeface="Tahoma" panose="020B0604030504040204" pitchFamily="34" charset="0"/>
              <a:ea typeface="宋体" panose="02010600030101010101" pitchFamily="2" charset="-122"/>
            </a:endParaRPr>
          </a:p>
        </p:txBody>
      </p:sp>
      <p:sp>
        <p:nvSpPr>
          <p:cNvPr id="77831" name="Text Box 7"/>
          <p:cNvSpPr txBox="1"/>
          <p:nvPr/>
        </p:nvSpPr>
        <p:spPr>
          <a:xfrm>
            <a:off x="1828800" y="3352800"/>
            <a:ext cx="6019800" cy="1446213"/>
          </a:xfrm>
          <a:prstGeom prst="rect">
            <a:avLst/>
          </a:prstGeom>
          <a:solidFill>
            <a:schemeClr val="bg1"/>
          </a:solidFill>
          <a:ln w="9525" cap="flat" cmpd="sng">
            <a:solidFill>
              <a:srgbClr val="000000"/>
            </a:solidFill>
            <a:prstDash val="solid"/>
            <a:miter/>
            <a:headEnd type="none" w="med" len="med"/>
            <a:tailEnd type="none" w="med" len="med"/>
          </a:ln>
        </p:spPr>
        <p:txBody>
          <a:bodyPr anchor="t" anchorCtr="0">
            <a:spAutoFit/>
          </a:bodyPr>
          <a:p>
            <a:pPr algn="just">
              <a:spcBef>
                <a:spcPct val="50000"/>
              </a:spcBef>
              <a:buClrTx/>
              <a:buFontTx/>
            </a:pPr>
            <a:r>
              <a:rPr lang="en-US" altLang="zh-CN" sz="1600" dirty="0">
                <a:latin typeface="Courier New" panose="02070309020205020404" pitchFamily="49" charset="0"/>
                <a:ea typeface="华文新魏" panose="02010800040101010101" pitchFamily="2" charset="-122"/>
              </a:rPr>
              <a:t>SUB	R1,PC,#4	;R1=</a:t>
            </a:r>
            <a:r>
              <a:rPr lang="zh-CN" altLang="en-US" sz="1600" dirty="0">
                <a:latin typeface="Courier New" panose="02070309020205020404" pitchFamily="49" charset="0"/>
                <a:ea typeface="华文新魏" panose="02010800040101010101" pitchFamily="2" charset="-122"/>
              </a:rPr>
              <a:t>下面</a:t>
            </a:r>
            <a:r>
              <a:rPr lang="en-US" altLang="zh-CN" sz="1600" dirty="0">
                <a:latin typeface="Courier New" panose="02070309020205020404" pitchFamily="49" charset="0"/>
                <a:ea typeface="华文新魏" panose="02010800040101010101" pitchFamily="2" charset="-122"/>
              </a:rPr>
              <a:t>STR</a:t>
            </a:r>
            <a:r>
              <a:rPr lang="zh-CN" altLang="en-US" sz="1600" dirty="0">
                <a:latin typeface="Courier New" panose="02070309020205020404" pitchFamily="49" charset="0"/>
                <a:ea typeface="华文新魏" panose="02010800040101010101" pitchFamily="2" charset="-122"/>
              </a:rPr>
              <a:t>指令的地址</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STR	PC,[R0]		;</a:t>
            </a:r>
            <a:r>
              <a:rPr lang="zh-CN" altLang="en-US" sz="1600" dirty="0">
                <a:latin typeface="Courier New" panose="02070309020205020404" pitchFamily="49" charset="0"/>
                <a:ea typeface="华文新魏" panose="02010800040101010101" pitchFamily="2" charset="-122"/>
              </a:rPr>
              <a:t>保存</a:t>
            </a:r>
            <a:r>
              <a:rPr lang="en-US" altLang="zh-CN" sz="1600" dirty="0">
                <a:latin typeface="Courier New" panose="02070309020205020404" pitchFamily="49" charset="0"/>
                <a:ea typeface="华文新魏" panose="02010800040101010101" pitchFamily="2" charset="-122"/>
              </a:rPr>
              <a:t>STR</a:t>
            </a:r>
            <a:r>
              <a:rPr lang="zh-CN" altLang="en-US" sz="1600" dirty="0">
                <a:latin typeface="Courier New" panose="02070309020205020404" pitchFamily="49" charset="0"/>
                <a:ea typeface="华文新魏" panose="02010800040101010101" pitchFamily="2" charset="-122"/>
              </a:rPr>
              <a:t>指令地址</a:t>
            </a:r>
            <a:r>
              <a:rPr lang="en-US" altLang="zh-CN" sz="1600" dirty="0">
                <a:latin typeface="Courier New" panose="02070309020205020404" pitchFamily="49" charset="0"/>
                <a:ea typeface="华文新魏" panose="02010800040101010101" pitchFamily="2" charset="-122"/>
              </a:rPr>
              <a:t>+</a:t>
            </a:r>
            <a:r>
              <a:rPr lang="zh-CN" altLang="en-US" sz="1600" dirty="0">
                <a:latin typeface="Courier New" panose="02070309020205020404" pitchFamily="49" charset="0"/>
                <a:ea typeface="华文新魏" panose="02010800040101010101" pitchFamily="2" charset="-122"/>
              </a:rPr>
              <a:t>偏移量</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LDR	R0,[R0]		;</a:t>
            </a:r>
            <a:r>
              <a:rPr lang="zh-CN" altLang="en-US" sz="1600" dirty="0">
                <a:latin typeface="Courier New" panose="02070309020205020404" pitchFamily="49" charset="0"/>
                <a:ea typeface="华文新魏" panose="02010800040101010101" pitchFamily="2" charset="-122"/>
              </a:rPr>
              <a:t>然后重装</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SUB	R0,R0,R1	;</a:t>
            </a:r>
            <a:r>
              <a:rPr lang="zh-CN" altLang="en-US" sz="1600" dirty="0">
                <a:latin typeface="Courier New" panose="02070309020205020404" pitchFamily="49" charset="0"/>
                <a:ea typeface="华文新魏" panose="02010800040101010101" pitchFamily="2" charset="-122"/>
              </a:rPr>
              <a:t>计算偏移量</a:t>
            </a:r>
            <a:endParaRPr lang="zh-CN" altLang="en-US" sz="1600" dirty="0">
              <a:latin typeface="Courier New" panose="02070309020205020404" pitchFamily="49" charset="0"/>
              <a:ea typeface="华文新魏" panose="02010800040101010101" pitchFamily="2" charset="-122"/>
            </a:endParaRPr>
          </a:p>
        </p:txBody>
      </p:sp>
      <p:sp>
        <p:nvSpPr>
          <p:cNvPr id="70661" name="Text Box 13"/>
          <p:cNvSpPr txBox="1"/>
          <p:nvPr/>
        </p:nvSpPr>
        <p:spPr>
          <a:xfrm>
            <a:off x="1187450" y="3357563"/>
            <a:ext cx="504825" cy="366712"/>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0</a:t>
            </a:r>
            <a:endParaRPr lang="en-US" altLang="zh-CN" dirty="0">
              <a:latin typeface="Tahoma" panose="020B0604030504040204" pitchFamily="34" charset="0"/>
              <a:ea typeface="宋体" panose="02010600030101010101" pitchFamily="2" charset="-122"/>
            </a:endParaRPr>
          </a:p>
        </p:txBody>
      </p:sp>
      <p:sp>
        <p:nvSpPr>
          <p:cNvPr id="70662" name="Text Box 14"/>
          <p:cNvSpPr txBox="1"/>
          <p:nvPr/>
        </p:nvSpPr>
        <p:spPr>
          <a:xfrm>
            <a:off x="1187450" y="3644900"/>
            <a:ext cx="504825" cy="366713"/>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4</a:t>
            </a:r>
            <a:endParaRPr lang="en-US" altLang="zh-CN" dirty="0">
              <a:latin typeface="Tahoma" panose="020B0604030504040204" pitchFamily="34" charset="0"/>
              <a:ea typeface="宋体" panose="02010600030101010101" pitchFamily="2" charset="-122"/>
            </a:endParaRPr>
          </a:p>
        </p:txBody>
      </p:sp>
      <p:sp>
        <p:nvSpPr>
          <p:cNvPr id="70663" name="Text Box 15"/>
          <p:cNvSpPr txBox="1"/>
          <p:nvPr/>
        </p:nvSpPr>
        <p:spPr>
          <a:xfrm>
            <a:off x="1187450" y="4005263"/>
            <a:ext cx="504825" cy="366712"/>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8</a:t>
            </a:r>
            <a:endParaRPr lang="en-US" altLang="zh-CN" dirty="0">
              <a:latin typeface="Tahoma" panose="020B0604030504040204" pitchFamily="34" charset="0"/>
              <a:ea typeface="宋体" panose="02010600030101010101" pitchFamily="2" charset="-122"/>
            </a:endParaRPr>
          </a:p>
        </p:txBody>
      </p:sp>
      <p:sp>
        <p:nvSpPr>
          <p:cNvPr id="70664" name="Text Box 16"/>
          <p:cNvSpPr txBox="1"/>
          <p:nvPr/>
        </p:nvSpPr>
        <p:spPr>
          <a:xfrm>
            <a:off x="1116013" y="4437063"/>
            <a:ext cx="504825" cy="366712"/>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12</a:t>
            </a:r>
            <a:endParaRPr lang="en-US" altLang="zh-CN" dirty="0">
              <a:latin typeface="Tahoma" panose="020B0604030504040204" pitchFamily="34" charset="0"/>
              <a:ea typeface="宋体" panose="02010600030101010101" pitchFamily="2" charset="-122"/>
            </a:endParaRPr>
          </a:p>
        </p:txBody>
      </p:sp>
      <p:sp>
        <p:nvSpPr>
          <p:cNvPr id="70665" name="Text Box 17"/>
          <p:cNvSpPr txBox="1"/>
          <p:nvPr/>
        </p:nvSpPr>
        <p:spPr>
          <a:xfrm>
            <a:off x="611188" y="2924175"/>
            <a:ext cx="1295400" cy="366713"/>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ARM</a:t>
            </a:r>
            <a:r>
              <a:rPr lang="zh-CN" altLang="en-US" dirty="0">
                <a:latin typeface="Tahoma" panose="020B0604030504040204" pitchFamily="34" charset="0"/>
                <a:ea typeface="宋体" panose="02010600030101010101" pitchFamily="2" charset="-122"/>
              </a:rPr>
              <a:t>状态</a:t>
            </a: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77830"/>
                                        </p:tgtEl>
                                        <p:attrNameLst>
                                          <p:attrName>style.visibility</p:attrName>
                                        </p:attrNameLst>
                                      </p:cBhvr>
                                      <p:to>
                                        <p:strVal val="visible"/>
                                      </p:to>
                                    </p:set>
                                    <p:animEffect transition="in" filter="box(in)">
                                      <p:cBhvr>
                                        <p:cTn id="7" dur="500"/>
                                        <p:tgtEl>
                                          <p:spTgt spid="77830"/>
                                        </p:tgtEl>
                                      </p:cBhvr>
                                    </p:animEffect>
                                  </p:childTnLst>
                                </p:cTn>
                              </p:par>
                            </p:childTnLst>
                          </p:cTn>
                        </p:par>
                        <p:par>
                          <p:cTn id="8" fill="hold">
                            <p:stCondLst>
                              <p:cond delay="500"/>
                            </p:stCondLst>
                            <p:childTnLst>
                              <p:par>
                                <p:cTn id="9" presetID="12" presetClass="entr" presetSubtype="1" fill="hold" grpId="0" nodeType="afterEffect">
                                  <p:stCondLst>
                                    <p:cond delay="0"/>
                                  </p:stCondLst>
                                  <p:childTnLst>
                                    <p:set>
                                      <p:cBhvr>
                                        <p:cTn id="10" dur="1" fill="hold">
                                          <p:stCondLst>
                                            <p:cond delay="0"/>
                                          </p:stCondLst>
                                        </p:cTn>
                                        <p:tgtEl>
                                          <p:spTgt spid="77831"/>
                                        </p:tgtEl>
                                        <p:attrNameLst>
                                          <p:attrName>style.visibility</p:attrName>
                                        </p:attrNameLst>
                                      </p:cBhvr>
                                      <p:to>
                                        <p:strVal val="visible"/>
                                      </p:to>
                                    </p:set>
                                    <p:animEffect transition="in" filter="slide(fromTop)">
                                      <p:cBhvr>
                                        <p:cTn id="11" dur="500"/>
                                        <p:tgtEl>
                                          <p:spTgt spid="77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0" grpId="0"/>
      <p:bldP spid="7783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4"/>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8397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写</a:t>
            </a:r>
            <a:r>
              <a:rPr lang="en-US" altLang="zh-CN" dirty="0"/>
              <a:t>R15</a:t>
            </a:r>
            <a:r>
              <a:rPr lang="zh-CN" altLang="en-US" dirty="0"/>
              <a:t>的限制</a:t>
            </a:r>
            <a:endParaRPr lang="zh-CN" altLang="en-US" dirty="0"/>
          </a:p>
        </p:txBody>
      </p:sp>
      <p:sp>
        <p:nvSpPr>
          <p:cNvPr id="83974" name="Text Box 6"/>
          <p:cNvSpPr txBox="1"/>
          <p:nvPr/>
        </p:nvSpPr>
        <p:spPr>
          <a:xfrm>
            <a:off x="1219200" y="2743200"/>
            <a:ext cx="7010400" cy="1187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正常操作时，写入</a:t>
            </a:r>
            <a:r>
              <a:rPr lang="en-US" altLang="zh-CN" sz="2400" dirty="0">
                <a:latin typeface="华文新魏" panose="02010800040101010101" pitchFamily="2" charset="-122"/>
                <a:ea typeface="华文新魏" panose="02010800040101010101" pitchFamily="2" charset="-122"/>
              </a:rPr>
              <a:t>R15 </a:t>
            </a:r>
            <a:r>
              <a:rPr lang="zh-CN" altLang="en-US" sz="2400" dirty="0">
                <a:latin typeface="华文新魏" panose="02010800040101010101" pitchFamily="2" charset="-122"/>
                <a:ea typeface="华文新魏" panose="02010800040101010101" pitchFamily="2" charset="-122"/>
              </a:rPr>
              <a:t>的值被当作一个指令地址，程序从这个地址处继续执行（相当于执行一次无条件跳转）。  </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3973">
                                            <p:txEl>
                                              <p:charRg st="0" end="8"/>
                                            </p:txEl>
                                          </p:spTgt>
                                        </p:tgtEl>
                                        <p:attrNameLst>
                                          <p:attrName>style.visibility</p:attrName>
                                        </p:attrNameLst>
                                      </p:cBhvr>
                                      <p:to>
                                        <p:strVal val="visible"/>
                                      </p:to>
                                    </p:set>
                                    <p:anim calcmode="lin" valueType="num">
                                      <p:cBhvr additive="base">
                                        <p:cTn id="7" dur="500" fill="hold"/>
                                        <p:tgtEl>
                                          <p:spTgt spid="83973">
                                            <p:txEl>
                                              <p:charRg st="0" end="8"/>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3973">
                                            <p:txEl>
                                              <p:charRg st="0" end="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83974"/>
                                        </p:tgtEl>
                                        <p:attrNameLst>
                                          <p:attrName>style.visibility</p:attrName>
                                        </p:attrNameLst>
                                      </p:cBhvr>
                                      <p:to>
                                        <p:strVal val="visible"/>
                                      </p:to>
                                    </p:set>
                                    <p:animEffect transition="in" filter="box(in)">
                                      <p:cBhvr>
                                        <p:cTn id="12" dur="500"/>
                                        <p:tgtEl>
                                          <p:spTgt spid="83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advAuto="1000" build="p"/>
      <p:bldP spid="8397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Grp="1"/>
          </p:cNvSpPr>
          <p:nvPr>
            <p:ph type="title"/>
          </p:nvPr>
        </p:nvSpPr>
        <p:spPr>
          <a:ln/>
        </p:spPr>
        <p:txBody>
          <a:bodyPr vert="horz" wrap="square" lIns="91440" tIns="45720" rIns="91440" bIns="45720" anchor="ctr" anchorCtr="0"/>
          <a:p>
            <a:pPr eaLnBrk="1" hangingPunct="1"/>
            <a:r>
              <a:rPr lang="en-US" altLang="zh-CN" dirty="0"/>
              <a:t>3.7  </a:t>
            </a:r>
            <a:r>
              <a:rPr lang="zh-CN" altLang="en-US" dirty="0"/>
              <a:t>内部寄存器</a:t>
            </a:r>
            <a:endParaRPr lang="zh-CN" altLang="en-US" dirty="0"/>
          </a:p>
        </p:txBody>
      </p:sp>
      <p:sp>
        <p:nvSpPr>
          <p:cNvPr id="72706"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写</a:t>
            </a:r>
            <a:r>
              <a:rPr lang="en-US" altLang="zh-CN" dirty="0"/>
              <a:t>R15</a:t>
            </a:r>
            <a:r>
              <a:rPr lang="zh-CN" altLang="en-US" dirty="0"/>
              <a:t>的限制</a:t>
            </a:r>
            <a:endParaRPr lang="zh-CN" altLang="en-US" dirty="0"/>
          </a:p>
        </p:txBody>
      </p:sp>
      <p:sp>
        <p:nvSpPr>
          <p:cNvPr id="88068" name="Text Box 4"/>
          <p:cNvSpPr txBox="1"/>
          <p:nvPr/>
        </p:nvSpPr>
        <p:spPr>
          <a:xfrm>
            <a:off x="1219200" y="2743200"/>
            <a:ext cx="7010400" cy="374332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由于</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指令以字节为边界，因此写入</a:t>
            </a:r>
            <a:r>
              <a:rPr lang="en-US" altLang="zh-CN" sz="2400" dirty="0">
                <a:latin typeface="华文新魏" panose="02010800040101010101" pitchFamily="2" charset="-122"/>
                <a:ea typeface="华文新魏" panose="02010800040101010101" pitchFamily="2" charset="-122"/>
              </a:rPr>
              <a:t>R15</a:t>
            </a:r>
            <a:r>
              <a:rPr lang="zh-CN" altLang="en-US" sz="2400" dirty="0">
                <a:latin typeface="华文新魏" panose="02010800040101010101" pitchFamily="2" charset="-122"/>
                <a:ea typeface="华文新魏" panose="02010800040101010101" pitchFamily="2" charset="-122"/>
              </a:rPr>
              <a:t>的值最低两位通常为</a:t>
            </a:r>
            <a:r>
              <a:rPr lang="en-US" altLang="zh-CN" sz="2400" dirty="0">
                <a:latin typeface="华文新魏" panose="02010800040101010101" pitchFamily="2" charset="-122"/>
                <a:ea typeface="华文新魏" panose="02010800040101010101" pitchFamily="2" charset="-122"/>
              </a:rPr>
              <a:t>0b00</a:t>
            </a:r>
            <a:r>
              <a:rPr lang="zh-CN" altLang="en-US" sz="2400" dirty="0">
                <a:latin typeface="华文新魏" panose="02010800040101010101" pitchFamily="2" charset="-122"/>
                <a:ea typeface="华文新魏" panose="02010800040101010101" pitchFamily="2" charset="-122"/>
              </a:rPr>
              <a:t>。具体的规则取决于内核结构的版本：</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在</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结构</a:t>
            </a:r>
            <a:r>
              <a:rPr lang="en-US" altLang="zh-CN" sz="2400" dirty="0">
                <a:solidFill>
                  <a:schemeClr val="tx1"/>
                </a:solidFill>
                <a:latin typeface="华文新魏" panose="02010800040101010101" pitchFamily="2" charset="-122"/>
                <a:ea typeface="华文新魏" panose="02010800040101010101" pitchFamily="2" charset="-122"/>
              </a:rPr>
              <a:t>V3</a:t>
            </a:r>
            <a:r>
              <a:rPr lang="zh-CN" altLang="en-US" sz="2400" dirty="0">
                <a:solidFill>
                  <a:schemeClr val="tx1"/>
                </a:solidFill>
                <a:latin typeface="华文新魏" panose="02010800040101010101" pitchFamily="2" charset="-122"/>
                <a:ea typeface="华文新魏" panose="02010800040101010101" pitchFamily="2" charset="-122"/>
              </a:rPr>
              <a:t>版及以下版本中，写入</a:t>
            </a:r>
            <a:r>
              <a:rPr lang="en-US" altLang="zh-CN" sz="2400" dirty="0">
                <a:solidFill>
                  <a:schemeClr val="tx1"/>
                </a:solidFill>
                <a:latin typeface="华文新魏" panose="02010800040101010101" pitchFamily="2" charset="-122"/>
                <a:ea typeface="华文新魏" panose="02010800040101010101" pitchFamily="2" charset="-122"/>
              </a:rPr>
              <a:t>R15</a:t>
            </a:r>
            <a:r>
              <a:rPr lang="zh-CN" altLang="en-US" sz="2400" dirty="0">
                <a:solidFill>
                  <a:schemeClr val="tx1"/>
                </a:solidFill>
                <a:latin typeface="华文新魏" panose="02010800040101010101" pitchFamily="2" charset="-122"/>
                <a:ea typeface="华文新魏" panose="02010800040101010101" pitchFamily="2" charset="-122"/>
              </a:rPr>
              <a:t>的值的最低两位被忽略，因此跳转地址由指令的实际目标地址（写入</a:t>
            </a:r>
            <a:r>
              <a:rPr lang="en-US" altLang="zh-CN" sz="2400" dirty="0">
                <a:solidFill>
                  <a:schemeClr val="tx1"/>
                </a:solidFill>
                <a:latin typeface="华文新魏" panose="02010800040101010101" pitchFamily="2" charset="-122"/>
                <a:ea typeface="华文新魏" panose="02010800040101010101" pitchFamily="2" charset="-122"/>
              </a:rPr>
              <a:t>R15</a:t>
            </a:r>
            <a:r>
              <a:rPr lang="zh-CN" altLang="en-US" sz="2400" dirty="0">
                <a:solidFill>
                  <a:schemeClr val="tx1"/>
                </a:solidFill>
                <a:latin typeface="华文新魏" panose="02010800040101010101" pitchFamily="2" charset="-122"/>
                <a:ea typeface="华文新魏" panose="02010800040101010101" pitchFamily="2" charset="-122"/>
              </a:rPr>
              <a:t>的值）和</a:t>
            </a:r>
            <a:r>
              <a:rPr lang="en-US" altLang="zh-CN" sz="2400" dirty="0">
                <a:solidFill>
                  <a:schemeClr val="tx1"/>
                </a:solidFill>
                <a:latin typeface="华文新魏" panose="02010800040101010101" pitchFamily="2" charset="-122"/>
                <a:ea typeface="华文新魏" panose="02010800040101010101" pitchFamily="2" charset="-122"/>
              </a:rPr>
              <a:t>0xFFFFFFFC</a:t>
            </a:r>
            <a:r>
              <a:rPr lang="zh-CN" altLang="en-US" sz="2400" dirty="0">
                <a:solidFill>
                  <a:schemeClr val="tx1"/>
                </a:solidFill>
                <a:latin typeface="华文新魏" panose="02010800040101010101" pitchFamily="2" charset="-122"/>
                <a:ea typeface="华文新魏" panose="02010800040101010101" pitchFamily="2" charset="-122"/>
              </a:rPr>
              <a:t>相与得到；</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在</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结构</a:t>
            </a:r>
            <a:r>
              <a:rPr lang="en-US" altLang="zh-CN" sz="2400" dirty="0">
                <a:solidFill>
                  <a:schemeClr val="tx1"/>
                </a:solidFill>
                <a:latin typeface="华文新魏" panose="02010800040101010101" pitchFamily="2" charset="-122"/>
                <a:ea typeface="华文新魏" panose="02010800040101010101" pitchFamily="2" charset="-122"/>
              </a:rPr>
              <a:t>V4</a:t>
            </a:r>
            <a:r>
              <a:rPr lang="zh-CN" altLang="en-US" sz="2400" dirty="0">
                <a:solidFill>
                  <a:schemeClr val="tx1"/>
                </a:solidFill>
                <a:latin typeface="华文新魏" panose="02010800040101010101" pitchFamily="2" charset="-122"/>
                <a:ea typeface="华文新魏" panose="02010800040101010101" pitchFamily="2" charset="-122"/>
              </a:rPr>
              <a:t>版及以上版本中，写入</a:t>
            </a:r>
            <a:r>
              <a:rPr lang="en-US" altLang="zh-CN" sz="2400" dirty="0">
                <a:solidFill>
                  <a:schemeClr val="tx1"/>
                </a:solidFill>
                <a:latin typeface="华文新魏" panose="02010800040101010101" pitchFamily="2" charset="-122"/>
                <a:ea typeface="华文新魏" panose="02010800040101010101" pitchFamily="2" charset="-122"/>
              </a:rPr>
              <a:t>R15</a:t>
            </a:r>
            <a:r>
              <a:rPr lang="zh-CN" altLang="en-US" sz="2400" dirty="0">
                <a:solidFill>
                  <a:schemeClr val="tx1"/>
                </a:solidFill>
                <a:latin typeface="华文新魏" panose="02010800040101010101" pitchFamily="2" charset="-122"/>
                <a:ea typeface="华文新魏" panose="02010800040101010101" pitchFamily="2" charset="-122"/>
              </a:rPr>
              <a:t>的值的最低两位为</a:t>
            </a:r>
            <a:r>
              <a:rPr lang="en-US" altLang="zh-CN" sz="2400" dirty="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，如果不是，结果将不可预测。</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88068"/>
                                        </p:tgtEl>
                                        <p:attrNameLst>
                                          <p:attrName>style.visibility</p:attrName>
                                        </p:attrNameLst>
                                      </p:cBhvr>
                                      <p:to>
                                        <p:strVal val="visible"/>
                                      </p:to>
                                    </p:set>
                                    <p:animEffect transition="in" filter="box(in)">
                                      <p:cBhvr>
                                        <p:cTn id="7"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73730"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8. </a:t>
            </a:r>
            <a:r>
              <a:rPr lang="zh-CN" altLang="en-US" sz="2800" dirty="0">
                <a:solidFill>
                  <a:srgbClr val="0000FF"/>
                </a:solidFill>
                <a:latin typeface="Times New Roman" panose="02020603050405020304" pitchFamily="18" charset="0"/>
                <a:ea typeface="宋体" panose="02010600030101010101" pitchFamily="2" charset="-122"/>
              </a:rPr>
              <a:t>程序状态寄存器</a:t>
            </a:r>
            <a:endParaRPr lang="zh-CN" altLang="en-US" sz="2800" dirty="0">
              <a:solidFill>
                <a:srgbClr val="0000FF"/>
              </a:solidFill>
              <a:latin typeface="Times New Roman" panose="02020603050405020304" pitchFamily="18" charset="0"/>
              <a:ea typeface="宋体" panose="02010600030101010101" pitchFamily="2" charset="-122"/>
            </a:endParaRPr>
          </a:p>
        </p:txBody>
      </p:sp>
      <p:sp>
        <p:nvSpPr>
          <p:cNvPr id="73731"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92"/>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87133" name="Rectangle 9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87134" name="Text Box 94"/>
          <p:cNvSpPr txBox="1"/>
          <p:nvPr/>
        </p:nvSpPr>
        <p:spPr>
          <a:xfrm>
            <a:off x="1116013" y="2133600"/>
            <a:ext cx="7010400" cy="4108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内核包含</a:t>
            </a: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个</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5</a:t>
            </a:r>
            <a:r>
              <a:rPr lang="zh-CN" altLang="en-US" sz="2400" dirty="0">
                <a:latin typeface="华文新魏" panose="02010800040101010101" pitchFamily="2" charset="-122"/>
                <a:ea typeface="华文新魏" panose="02010800040101010101" pitchFamily="2" charset="-122"/>
              </a:rPr>
              <a:t>个供异常处理程序使用的</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反映了当前处理器的状态，其包含：</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4</a:t>
            </a:r>
            <a:r>
              <a:rPr lang="zh-CN" altLang="en-US" sz="2400" dirty="0">
                <a:solidFill>
                  <a:schemeClr val="tx1"/>
                </a:solidFill>
                <a:latin typeface="华文新魏" panose="02010800040101010101" pitchFamily="2" charset="-122"/>
                <a:ea typeface="华文新魏" panose="02010800040101010101" pitchFamily="2" charset="-122"/>
              </a:rPr>
              <a:t>个条件代码标志（负</a:t>
            </a:r>
            <a:r>
              <a:rPr lang="en-US" altLang="zh-CN" sz="2400" dirty="0">
                <a:solidFill>
                  <a:schemeClr val="tx1"/>
                </a:solidFill>
                <a:latin typeface="华文新魏" panose="02010800040101010101" pitchFamily="2" charset="-122"/>
                <a:ea typeface="华文新魏" panose="02010800040101010101" pitchFamily="2" charset="-122"/>
              </a:rPr>
              <a:t>(N)</a:t>
            </a:r>
            <a:r>
              <a:rPr lang="zh-CN" altLang="en-US" sz="2400" dirty="0">
                <a:solidFill>
                  <a:schemeClr val="tx1"/>
                </a:solidFill>
                <a:latin typeface="华文新魏" panose="02010800040101010101" pitchFamily="2" charset="-122"/>
                <a:ea typeface="华文新魏" panose="02010800040101010101" pitchFamily="2" charset="-122"/>
              </a:rPr>
              <a:t>、零</a:t>
            </a:r>
            <a:r>
              <a:rPr lang="en-US" altLang="zh-CN" sz="2400" dirty="0">
                <a:solidFill>
                  <a:schemeClr val="tx1"/>
                </a:solidFill>
                <a:latin typeface="华文新魏" panose="02010800040101010101" pitchFamily="2" charset="-122"/>
                <a:ea typeface="华文新魏" panose="02010800040101010101" pitchFamily="2" charset="-122"/>
              </a:rPr>
              <a:t>(Z)</a:t>
            </a:r>
            <a:r>
              <a:rPr lang="zh-CN" altLang="en-US" sz="2400" dirty="0">
                <a:solidFill>
                  <a:schemeClr val="tx1"/>
                </a:solidFill>
                <a:latin typeface="华文新魏" panose="02010800040101010101" pitchFamily="2" charset="-122"/>
                <a:ea typeface="华文新魏" panose="02010800040101010101" pitchFamily="2" charset="-122"/>
              </a:rPr>
              <a:t>、进位</a:t>
            </a:r>
            <a:r>
              <a:rPr lang="en-US" altLang="zh-CN" sz="2400" dirty="0">
                <a:solidFill>
                  <a:schemeClr val="tx1"/>
                </a:solidFill>
                <a:latin typeface="华文新魏" panose="02010800040101010101" pitchFamily="2" charset="-122"/>
                <a:ea typeface="华文新魏" panose="02010800040101010101" pitchFamily="2" charset="-122"/>
              </a:rPr>
              <a:t>(C)</a:t>
            </a:r>
            <a:r>
              <a:rPr lang="zh-CN" altLang="en-US" sz="2400" dirty="0">
                <a:solidFill>
                  <a:schemeClr val="tx1"/>
                </a:solidFill>
                <a:latin typeface="华文新魏" panose="02010800040101010101" pitchFamily="2" charset="-122"/>
                <a:ea typeface="华文新魏" panose="02010800040101010101" pitchFamily="2" charset="-122"/>
              </a:rPr>
              <a:t>和溢出</a:t>
            </a:r>
            <a:r>
              <a:rPr lang="en-US" altLang="zh-CN" sz="2400" dirty="0">
                <a:solidFill>
                  <a:schemeClr val="tx1"/>
                </a:solidFill>
                <a:latin typeface="华文新魏" panose="02010800040101010101" pitchFamily="2" charset="-122"/>
                <a:ea typeface="华文新魏" panose="02010800040101010101" pitchFamily="2" charset="-122"/>
              </a:rPr>
              <a:t>(V) </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个中断禁止位，分别控制一种类型的中断；</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chemeClr val="tx1"/>
                </a:solidFill>
                <a:latin typeface="华文新魏" panose="02010800040101010101" pitchFamily="2" charset="-122"/>
                <a:ea typeface="华文新魏" panose="02010800040101010101" pitchFamily="2" charset="-122"/>
              </a:rPr>
              <a:t>5</a:t>
            </a:r>
            <a:r>
              <a:rPr lang="zh-CN" altLang="en-US" sz="2400" dirty="0">
                <a:solidFill>
                  <a:schemeClr val="tx1"/>
                </a:solidFill>
                <a:latin typeface="华文新魏" panose="02010800040101010101" pitchFamily="2" charset="-122"/>
                <a:ea typeface="华文新魏" panose="02010800040101010101" pitchFamily="2" charset="-122"/>
              </a:rPr>
              <a:t>个对当前处理器模式进行编码的位；</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个用于指示当前执行指令</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还是</a:t>
            </a: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的位。 </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7133">
                                            <p:txEl>
                                              <p:charRg st="0" end="3"/>
                                            </p:txEl>
                                          </p:spTgt>
                                        </p:tgtEl>
                                        <p:attrNameLst>
                                          <p:attrName>style.visibility</p:attrName>
                                        </p:attrNameLst>
                                      </p:cBhvr>
                                      <p:to>
                                        <p:strVal val="visible"/>
                                      </p:to>
                                    </p:set>
                                    <p:anim calcmode="lin" valueType="num">
                                      <p:cBhvr additive="base">
                                        <p:cTn id="7" dur="500" fill="hold"/>
                                        <p:tgtEl>
                                          <p:spTgt spid="87133">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7133">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87134"/>
                                        </p:tgtEl>
                                        <p:attrNameLst>
                                          <p:attrName>style.visibility</p:attrName>
                                        </p:attrNameLst>
                                      </p:cBhvr>
                                      <p:to>
                                        <p:strVal val="visible"/>
                                      </p:to>
                                    </p:set>
                                    <p:animEffect transition="in" filter="box(in)">
                                      <p:cBhvr>
                                        <p:cTn id="12" dur="500"/>
                                        <p:tgtEl>
                                          <p:spTgt spid="87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33" grpId="0" advAuto="1000" build="p"/>
      <p:bldP spid="8713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5117" name="Group 125"/>
          <p:cNvGraphicFramePr>
            <a:graphicFrameLocks noGrp="1"/>
          </p:cNvGraphicFramePr>
          <p:nvPr/>
        </p:nvGraphicFramePr>
        <p:xfrm>
          <a:off x="457200" y="609600"/>
          <a:ext cx="8305800" cy="6096000"/>
        </p:xfrm>
        <a:graphic>
          <a:graphicData uri="http://schemas.openxmlformats.org/drawingml/2006/table">
            <a:tbl>
              <a:tblPr/>
              <a:tblGrid>
                <a:gridCol w="685800"/>
                <a:gridCol w="1176338"/>
                <a:gridCol w="957262"/>
                <a:gridCol w="914400"/>
                <a:gridCol w="914400"/>
                <a:gridCol w="914400"/>
                <a:gridCol w="914400"/>
                <a:gridCol w="914400"/>
                <a:gridCol w="914400"/>
              </a:tblGrid>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寄存器类别</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寄存器在汇编中的名称</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各模式下实际访问的寄存器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用户</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rowSpan="1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通用寄存器和程序计数器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R4(v1)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R5(v2)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R6(v3)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R7(v4)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R8(v5)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R8_fiq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R9(SB,v6)</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R9_fiq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R10(SL,v7)</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R10_fiq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R11(FP,v8)</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R11_fiq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R12(IP)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6">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R13(SP)</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R13_fiq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R14(LR)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R15(PC)</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R15</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2032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FF"/>
                    </a:solidFill>
                  </a:tcPr>
                </a:tc>
                <a:tc hMerge="1">
                  <a:tcPr/>
                </a:tc>
                <a:tc hMerge="1">
                  <a:tcPr/>
                </a:tc>
                <a:tc hMerge="1">
                  <a:tcPr/>
                </a:tc>
                <a:tc hMerge="1">
                  <a:tcPr/>
                </a:tc>
                <a:tc hMerge="1">
                  <a:tcPr/>
                </a:tc>
                <a:tc hMerge="1">
                  <a:tcPr/>
                </a:tc>
              </a:tr>
              <a:tr h="203200">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hMerge="1">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SPSR_abt</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SPSR_und</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SPSR_irq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a:t>
                      </a:r>
                      <a:endPar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FF"/>
                    </a:solidFill>
                  </a:tcPr>
                </a:tc>
              </a:tr>
            </a:tbl>
          </a:graphicData>
        </a:graphic>
      </p:graphicFrame>
      <p:sp>
        <p:nvSpPr>
          <p:cNvPr id="75887" name="Text Box 119"/>
          <p:cNvSpPr txBox="1"/>
          <p:nvPr/>
        </p:nvSpPr>
        <p:spPr>
          <a:xfrm>
            <a:off x="2667000" y="1524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程序状态寄存器</a:t>
            </a:r>
            <a:r>
              <a:rPr lang="en-US" altLang="zh-CN" sz="2400" dirty="0">
                <a:latin typeface="华文新魏" panose="02010800040101010101" pitchFamily="2" charset="-122"/>
                <a:ea typeface="华文新魏" panose="02010800040101010101" pitchFamily="2" charset="-122"/>
              </a:rPr>
              <a:t>CPSR</a:t>
            </a:r>
            <a:endParaRPr lang="en-US" altLang="zh-CN" sz="2400" dirty="0">
              <a:latin typeface="华文新魏" panose="02010800040101010101" pitchFamily="2" charset="-122"/>
              <a:ea typeface="华文新魏" panose="02010800040101010101" pitchFamily="2" charset="-122"/>
            </a:endParaRPr>
          </a:p>
        </p:txBody>
      </p:sp>
      <p:sp>
        <p:nvSpPr>
          <p:cNvPr id="75888" name="Line 120"/>
          <p:cNvSpPr/>
          <p:nvPr/>
        </p:nvSpPr>
        <p:spPr>
          <a:xfrm>
            <a:off x="7845425" y="3657600"/>
            <a:ext cx="0" cy="2122488"/>
          </a:xfrm>
          <a:prstGeom prst="line">
            <a:avLst/>
          </a:prstGeom>
          <a:ln w="12700" cap="flat" cmpd="sng">
            <a:solidFill>
              <a:schemeClr val="tx1"/>
            </a:solidFill>
            <a:prstDash val="solid"/>
            <a:round/>
            <a:headEnd type="none" w="med" len="med"/>
            <a:tailEnd type="none" w="med" len="med"/>
          </a:ln>
        </p:spPr>
      </p:sp>
      <p:sp>
        <p:nvSpPr>
          <p:cNvPr id="75889" name="Line 121"/>
          <p:cNvSpPr/>
          <p:nvPr/>
        </p:nvSpPr>
        <p:spPr>
          <a:xfrm>
            <a:off x="8759825" y="3657600"/>
            <a:ext cx="0" cy="2122488"/>
          </a:xfrm>
          <a:prstGeom prst="line">
            <a:avLst/>
          </a:prstGeom>
          <a:ln w="28575" cap="sq" cmpd="sng">
            <a:solidFill>
              <a:schemeClr val="tx1"/>
            </a:solidFill>
            <a:prstDash val="solid"/>
            <a:round/>
            <a:headEnd type="none" w="med" len="med"/>
            <a:tailEnd type="none" w="med" len="med"/>
          </a:ln>
        </p:spPr>
      </p:sp>
      <p:sp>
        <p:nvSpPr>
          <p:cNvPr id="85114" name="AutoShape 122"/>
          <p:cNvSpPr/>
          <p:nvPr/>
        </p:nvSpPr>
        <p:spPr>
          <a:xfrm>
            <a:off x="2514600" y="2895600"/>
            <a:ext cx="6096000" cy="3048000"/>
          </a:xfrm>
          <a:prstGeom prst="roundRect">
            <a:avLst>
              <a:gd name="adj" fmla="val 5704"/>
            </a:avLst>
          </a:prstGeom>
          <a:solidFill>
            <a:srgbClr val="FFFF99"/>
          </a:solidFill>
          <a:ln w="9525" cap="flat" cmpd="sng">
            <a:solidFill>
              <a:schemeClr val="tx1"/>
            </a:solidFill>
            <a:prstDash val="solid"/>
            <a:round/>
            <a:headEnd type="none" w="med" len="med"/>
            <a:tailEnd type="none" w="med" len="med"/>
          </a:ln>
        </p:spPr>
        <p:txBody>
          <a:bodyPr anchor="ctr" anchorCtr="0"/>
          <a:p>
            <a:pPr>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寄存器</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为</a:t>
            </a:r>
            <a:r>
              <a:rPr lang="zh-CN" altLang="en-US" sz="2400" dirty="0">
                <a:solidFill>
                  <a:srgbClr val="FF0000"/>
                </a:solidFill>
                <a:latin typeface="华文新魏" panose="02010800040101010101" pitchFamily="2" charset="-122"/>
                <a:ea typeface="华文新魏" panose="02010800040101010101" pitchFamily="2" charset="-122"/>
              </a:rPr>
              <a:t>程序状态寄存器</a:t>
            </a:r>
            <a:r>
              <a:rPr lang="zh-CN" altLang="en-US" sz="2400" dirty="0">
                <a:latin typeface="华文新魏" panose="02010800040101010101" pitchFamily="2" charset="-122"/>
                <a:ea typeface="华文新魏" panose="02010800040101010101" pitchFamily="2" charset="-122"/>
              </a:rPr>
              <a:t>，在异常模式中，另外一个寄存器</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程序状态保存寄存器（</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可以被访问。每种异常都有自己的</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，在进入异常时它保存</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的当前值，异常退出时可通过它恢复</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5114"/>
                                        </p:tgtEl>
                                        <p:attrNameLst>
                                          <p:attrName>style.visibility</p:attrName>
                                        </p:attrNameLst>
                                      </p:cBhvr>
                                      <p:to>
                                        <p:strVal val="visible"/>
                                      </p:to>
                                    </p:set>
                                    <p:anim calcmode="lin" valueType="num">
                                      <p:cBhvr additive="base">
                                        <p:cTn id="7" dur="500" fill="hold"/>
                                        <p:tgtEl>
                                          <p:spTgt spid="85114"/>
                                        </p:tgtEl>
                                        <p:attrNameLst>
                                          <p:attrName>ppt_x</p:attrName>
                                        </p:attrNameLst>
                                      </p:cBhvr>
                                      <p:tavLst>
                                        <p:tav tm="0">
                                          <p:val>
                                            <p:strVal val="1+#ppt_w/2"/>
                                          </p:val>
                                        </p:tav>
                                        <p:tav tm="100000">
                                          <p:val>
                                            <p:strVal val="#ppt_x"/>
                                          </p:val>
                                        </p:tav>
                                      </p:tavLst>
                                    </p:anim>
                                    <p:anim calcmode="lin" valueType="num">
                                      <p:cBhvr additive="base">
                                        <p:cTn id="8" dur="500" fill="hold"/>
                                        <p:tgtEl>
                                          <p:spTgt spid="851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05"/>
          <p:cNvGrpSpPr/>
          <p:nvPr/>
        </p:nvGrpSpPr>
        <p:grpSpPr>
          <a:xfrm>
            <a:off x="609600" y="3733800"/>
            <a:ext cx="8077200" cy="838200"/>
            <a:chOff x="384" y="2352"/>
            <a:chExt cx="5088" cy="528"/>
          </a:xfrm>
        </p:grpSpPr>
        <p:grpSp>
          <p:nvGrpSpPr>
            <p:cNvPr id="76802" name="Group 74"/>
            <p:cNvGrpSpPr/>
            <p:nvPr/>
          </p:nvGrpSpPr>
          <p:grpSpPr>
            <a:xfrm>
              <a:off x="384" y="2592"/>
              <a:ext cx="4896" cy="288"/>
              <a:chOff x="384" y="2208"/>
              <a:chExt cx="4896" cy="288"/>
            </a:xfrm>
          </p:grpSpPr>
          <p:sp>
            <p:nvSpPr>
              <p:cNvPr id="76803" name="Rectangle 7"/>
              <p:cNvSpPr/>
              <p:nvPr/>
            </p:nvSpPr>
            <p:spPr>
              <a:xfrm>
                <a:off x="384" y="2208"/>
                <a:ext cx="4896" cy="288"/>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76804" name="Rectangle 8"/>
              <p:cNvSpPr/>
              <p:nvPr/>
            </p:nvSpPr>
            <p:spPr>
              <a:xfrm>
                <a:off x="384"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N</a:t>
                </a:r>
                <a:endParaRPr lang="en-US" altLang="zh-CN" sz="2000" dirty="0">
                  <a:latin typeface="华文新魏" panose="02010800040101010101" pitchFamily="2" charset="-122"/>
                  <a:ea typeface="华文新魏" panose="02010800040101010101" pitchFamily="2" charset="-122"/>
                </a:endParaRPr>
              </a:p>
            </p:txBody>
          </p:sp>
          <p:sp>
            <p:nvSpPr>
              <p:cNvPr id="76805" name="Rectangle 9"/>
              <p:cNvSpPr/>
              <p:nvPr/>
            </p:nvSpPr>
            <p:spPr>
              <a:xfrm>
                <a:off x="672"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Z</a:t>
                </a:r>
                <a:endParaRPr lang="en-US" altLang="zh-CN" sz="2000" dirty="0">
                  <a:latin typeface="华文新魏" panose="02010800040101010101" pitchFamily="2" charset="-122"/>
                  <a:ea typeface="华文新魏" panose="02010800040101010101" pitchFamily="2" charset="-122"/>
                </a:endParaRPr>
              </a:p>
            </p:txBody>
          </p:sp>
          <p:sp>
            <p:nvSpPr>
              <p:cNvPr id="76806" name="Rectangle 10"/>
              <p:cNvSpPr/>
              <p:nvPr/>
            </p:nvSpPr>
            <p:spPr>
              <a:xfrm>
                <a:off x="960"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C</a:t>
                </a:r>
                <a:endParaRPr lang="en-US" altLang="zh-CN" sz="2000" dirty="0">
                  <a:latin typeface="华文新魏" panose="02010800040101010101" pitchFamily="2" charset="-122"/>
                  <a:ea typeface="华文新魏" panose="02010800040101010101" pitchFamily="2" charset="-122"/>
                </a:endParaRPr>
              </a:p>
            </p:txBody>
          </p:sp>
          <p:sp>
            <p:nvSpPr>
              <p:cNvPr id="76807" name="Rectangle 11"/>
              <p:cNvSpPr/>
              <p:nvPr/>
            </p:nvSpPr>
            <p:spPr>
              <a:xfrm>
                <a:off x="1248"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V</a:t>
                </a:r>
                <a:endParaRPr lang="en-US" altLang="zh-CN" sz="2000" dirty="0">
                  <a:latin typeface="华文新魏" panose="02010800040101010101" pitchFamily="2" charset="-122"/>
                  <a:ea typeface="华文新魏" panose="02010800040101010101" pitchFamily="2" charset="-122"/>
                </a:endParaRPr>
              </a:p>
            </p:txBody>
          </p:sp>
          <p:sp>
            <p:nvSpPr>
              <p:cNvPr id="76808" name="Rectangle 12"/>
              <p:cNvSpPr/>
              <p:nvPr/>
            </p:nvSpPr>
            <p:spPr>
              <a:xfrm>
                <a:off x="1536" y="2208"/>
                <a:ext cx="288"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华文新魏" panose="02010800040101010101" pitchFamily="2" charset="-122"/>
                  </a:rPr>
                  <a:t>—</a:t>
                </a:r>
                <a:endParaRPr lang="en-US" altLang="zh-CN" sz="2000" dirty="0">
                  <a:latin typeface="华文新魏" panose="02010800040101010101" pitchFamily="2" charset="-122"/>
                  <a:ea typeface="华文新魏" panose="02010800040101010101" pitchFamily="2" charset="-122"/>
                </a:endParaRPr>
              </a:p>
            </p:txBody>
          </p:sp>
          <p:sp>
            <p:nvSpPr>
              <p:cNvPr id="76809" name="Rectangle 13"/>
              <p:cNvSpPr/>
              <p:nvPr/>
            </p:nvSpPr>
            <p:spPr>
              <a:xfrm>
                <a:off x="1824" y="2208"/>
                <a:ext cx="288"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华文新魏" panose="02010800040101010101" pitchFamily="2" charset="-122"/>
                  </a:rPr>
                  <a:t>—</a:t>
                </a:r>
                <a:endParaRPr lang="en-US" altLang="zh-CN" sz="2000" dirty="0">
                  <a:latin typeface="华文新魏" panose="02010800040101010101" pitchFamily="2" charset="-122"/>
                  <a:ea typeface="华文新魏" panose="02010800040101010101" pitchFamily="2" charset="-122"/>
                </a:endParaRPr>
              </a:p>
            </p:txBody>
          </p:sp>
          <p:sp>
            <p:nvSpPr>
              <p:cNvPr id="76810" name="Rectangle 14"/>
              <p:cNvSpPr/>
              <p:nvPr/>
            </p:nvSpPr>
            <p:spPr>
              <a:xfrm>
                <a:off x="2976"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I</a:t>
                </a:r>
                <a:endParaRPr lang="en-US" altLang="zh-CN" sz="2000" dirty="0">
                  <a:latin typeface="华文新魏" panose="02010800040101010101" pitchFamily="2" charset="-122"/>
                  <a:ea typeface="华文新魏" panose="02010800040101010101" pitchFamily="2" charset="-122"/>
                </a:endParaRPr>
              </a:p>
            </p:txBody>
          </p:sp>
          <p:sp>
            <p:nvSpPr>
              <p:cNvPr id="76811" name="Rectangle 15"/>
              <p:cNvSpPr/>
              <p:nvPr/>
            </p:nvSpPr>
            <p:spPr>
              <a:xfrm>
                <a:off x="4992"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M0</a:t>
                </a:r>
                <a:endParaRPr lang="en-US" altLang="zh-CN" sz="2000" dirty="0">
                  <a:latin typeface="华文新魏" panose="02010800040101010101" pitchFamily="2" charset="-122"/>
                  <a:ea typeface="华文新魏" panose="02010800040101010101" pitchFamily="2" charset="-122"/>
                </a:endParaRPr>
              </a:p>
            </p:txBody>
          </p:sp>
          <p:sp>
            <p:nvSpPr>
              <p:cNvPr id="76812" name="Rectangle 16"/>
              <p:cNvSpPr/>
              <p:nvPr/>
            </p:nvSpPr>
            <p:spPr>
              <a:xfrm>
                <a:off x="4704"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M1</a:t>
                </a:r>
                <a:endParaRPr lang="en-US" altLang="zh-CN" sz="2000" dirty="0">
                  <a:latin typeface="华文新魏" panose="02010800040101010101" pitchFamily="2" charset="-122"/>
                  <a:ea typeface="华文新魏" panose="02010800040101010101" pitchFamily="2" charset="-122"/>
                </a:endParaRPr>
              </a:p>
            </p:txBody>
          </p:sp>
          <p:sp>
            <p:nvSpPr>
              <p:cNvPr id="76813" name="Rectangle 17"/>
              <p:cNvSpPr/>
              <p:nvPr/>
            </p:nvSpPr>
            <p:spPr>
              <a:xfrm>
                <a:off x="4416"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M2</a:t>
                </a:r>
                <a:endParaRPr lang="en-US" altLang="zh-CN" sz="2000" dirty="0">
                  <a:latin typeface="华文新魏" panose="02010800040101010101" pitchFamily="2" charset="-122"/>
                  <a:ea typeface="华文新魏" panose="02010800040101010101" pitchFamily="2" charset="-122"/>
                </a:endParaRPr>
              </a:p>
            </p:txBody>
          </p:sp>
          <p:sp>
            <p:nvSpPr>
              <p:cNvPr id="76814" name="Rectangle 18"/>
              <p:cNvSpPr/>
              <p:nvPr/>
            </p:nvSpPr>
            <p:spPr>
              <a:xfrm>
                <a:off x="4128"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M3</a:t>
                </a:r>
                <a:endParaRPr lang="en-US" altLang="zh-CN" sz="2000" dirty="0">
                  <a:latin typeface="华文新魏" panose="02010800040101010101" pitchFamily="2" charset="-122"/>
                  <a:ea typeface="华文新魏" panose="02010800040101010101" pitchFamily="2" charset="-122"/>
                </a:endParaRPr>
              </a:p>
            </p:txBody>
          </p:sp>
          <p:sp>
            <p:nvSpPr>
              <p:cNvPr id="76815" name="Rectangle 19"/>
              <p:cNvSpPr/>
              <p:nvPr/>
            </p:nvSpPr>
            <p:spPr>
              <a:xfrm>
                <a:off x="3840"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M4</a:t>
                </a:r>
                <a:endParaRPr lang="en-US" altLang="zh-CN" sz="2000" dirty="0">
                  <a:latin typeface="华文新魏" panose="02010800040101010101" pitchFamily="2" charset="-122"/>
                  <a:ea typeface="华文新魏" panose="02010800040101010101" pitchFamily="2" charset="-122"/>
                </a:endParaRPr>
              </a:p>
            </p:txBody>
          </p:sp>
          <p:sp>
            <p:nvSpPr>
              <p:cNvPr id="76816" name="Rectangle 20"/>
              <p:cNvSpPr/>
              <p:nvPr/>
            </p:nvSpPr>
            <p:spPr>
              <a:xfrm>
                <a:off x="3552"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T</a:t>
                </a:r>
                <a:endParaRPr lang="en-US" altLang="zh-CN" sz="2000" dirty="0">
                  <a:latin typeface="华文新魏" panose="02010800040101010101" pitchFamily="2" charset="-122"/>
                  <a:ea typeface="华文新魏" panose="02010800040101010101" pitchFamily="2" charset="-122"/>
                </a:endParaRPr>
              </a:p>
            </p:txBody>
          </p:sp>
          <p:sp>
            <p:nvSpPr>
              <p:cNvPr id="76817" name="Rectangle 21"/>
              <p:cNvSpPr/>
              <p:nvPr/>
            </p:nvSpPr>
            <p:spPr>
              <a:xfrm>
                <a:off x="3264" y="2208"/>
                <a:ext cx="288"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F</a:t>
                </a:r>
                <a:endParaRPr lang="en-US" altLang="zh-CN" sz="2000" dirty="0">
                  <a:latin typeface="华文新魏" panose="02010800040101010101" pitchFamily="2" charset="-122"/>
                  <a:ea typeface="华文新魏" panose="02010800040101010101" pitchFamily="2" charset="-122"/>
                </a:endParaRPr>
              </a:p>
            </p:txBody>
          </p:sp>
          <p:sp>
            <p:nvSpPr>
              <p:cNvPr id="76818" name="Rectangle 22"/>
              <p:cNvSpPr/>
              <p:nvPr/>
            </p:nvSpPr>
            <p:spPr>
              <a:xfrm>
                <a:off x="2688" y="2208"/>
                <a:ext cx="288"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Times New Roman" panose="02020603050405020304" pitchFamily="18" charset="0"/>
                    <a:ea typeface="华文新魏" panose="02010800040101010101" pitchFamily="2" charset="-122"/>
                  </a:rPr>
                  <a:t>—</a:t>
                </a:r>
                <a:endParaRPr lang="en-US" altLang="zh-CN" sz="2000" dirty="0">
                  <a:latin typeface="华文新魏" panose="02010800040101010101" pitchFamily="2" charset="-122"/>
                  <a:ea typeface="华文新魏" panose="02010800040101010101" pitchFamily="2" charset="-122"/>
                </a:endParaRPr>
              </a:p>
            </p:txBody>
          </p:sp>
          <p:sp>
            <p:nvSpPr>
              <p:cNvPr id="76819" name="Rectangle 23"/>
              <p:cNvSpPr/>
              <p:nvPr/>
            </p:nvSpPr>
            <p:spPr>
              <a:xfrm>
                <a:off x="2112" y="2208"/>
                <a:ext cx="576"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 . .</a:t>
                </a:r>
                <a:endParaRPr lang="en-US" altLang="zh-CN" sz="2000" dirty="0">
                  <a:latin typeface="华文新魏" panose="02010800040101010101" pitchFamily="2" charset="-122"/>
                  <a:ea typeface="华文新魏" panose="02010800040101010101" pitchFamily="2" charset="-122"/>
                </a:endParaRPr>
              </a:p>
            </p:txBody>
          </p:sp>
        </p:grpSp>
        <p:sp>
          <p:nvSpPr>
            <p:cNvPr id="76820" name="Text Box 104"/>
            <p:cNvSpPr txBox="1"/>
            <p:nvPr/>
          </p:nvSpPr>
          <p:spPr>
            <a:xfrm>
              <a:off x="384" y="2352"/>
              <a:ext cx="5088" cy="231"/>
            </a:xfrm>
            <a:prstGeom prst="rect">
              <a:avLst/>
            </a:prstGeom>
            <a:noFill/>
            <a:ln w="9525">
              <a:noFill/>
            </a:ln>
          </p:spPr>
          <p:txBody>
            <a:bodyPr anchor="t" anchorCtr="0">
              <a:spAutoFit/>
            </a:bodyPr>
            <a:p>
              <a:pPr>
                <a:spcBef>
                  <a:spcPct val="50000"/>
                </a:spcBef>
                <a:buClrTx/>
                <a:buFontTx/>
              </a:pPr>
              <a:r>
                <a:rPr lang="en-US" altLang="zh-CN" dirty="0">
                  <a:latin typeface="华文新魏" panose="02010800040101010101" pitchFamily="2" charset="-122"/>
                  <a:ea typeface="华文新魏" panose="02010800040101010101" pitchFamily="2" charset="-122"/>
                </a:rPr>
                <a:t>31    30    29   28   27    26                      8      7     6      5      4      3      2      1      0</a:t>
              </a:r>
              <a:endParaRPr lang="en-US" altLang="zh-CN" dirty="0">
                <a:latin typeface="华文新魏" panose="02010800040101010101" pitchFamily="2" charset="-122"/>
                <a:ea typeface="华文新魏" panose="02010800040101010101" pitchFamily="2" charset="-122"/>
              </a:endParaRPr>
            </a:p>
          </p:txBody>
        </p:sp>
      </p:grpSp>
      <p:sp>
        <p:nvSpPr>
          <p:cNvPr id="76821"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76822"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grpSp>
        <p:nvGrpSpPr>
          <p:cNvPr id="4" name="Group 28"/>
          <p:cNvGrpSpPr/>
          <p:nvPr/>
        </p:nvGrpSpPr>
        <p:grpSpPr>
          <a:xfrm>
            <a:off x="838200" y="3276600"/>
            <a:ext cx="1371600" cy="457200"/>
            <a:chOff x="672" y="2112"/>
            <a:chExt cx="864" cy="288"/>
          </a:xfrm>
        </p:grpSpPr>
        <p:sp>
          <p:nvSpPr>
            <p:cNvPr id="76824" name="Line 24"/>
            <p:cNvSpPr/>
            <p:nvPr/>
          </p:nvSpPr>
          <p:spPr>
            <a:xfrm flipV="1">
              <a:off x="672" y="2256"/>
              <a:ext cx="0" cy="144"/>
            </a:xfrm>
            <a:prstGeom prst="line">
              <a:avLst/>
            </a:prstGeom>
            <a:ln w="9525" cap="flat" cmpd="sng">
              <a:solidFill>
                <a:schemeClr val="tx1"/>
              </a:solidFill>
              <a:prstDash val="solid"/>
              <a:round/>
              <a:headEnd type="none" w="med" len="med"/>
              <a:tailEnd type="none" w="med" len="med"/>
            </a:ln>
          </p:spPr>
        </p:sp>
        <p:sp>
          <p:nvSpPr>
            <p:cNvPr id="76825" name="Line 25"/>
            <p:cNvSpPr/>
            <p:nvPr/>
          </p:nvSpPr>
          <p:spPr>
            <a:xfrm flipV="1">
              <a:off x="1536" y="2256"/>
              <a:ext cx="0" cy="144"/>
            </a:xfrm>
            <a:prstGeom prst="line">
              <a:avLst/>
            </a:prstGeom>
            <a:ln w="9525" cap="flat" cmpd="sng">
              <a:solidFill>
                <a:schemeClr val="tx1"/>
              </a:solidFill>
              <a:prstDash val="solid"/>
              <a:round/>
              <a:headEnd type="none" w="med" len="med"/>
              <a:tailEnd type="none" w="med" len="med"/>
            </a:ln>
          </p:spPr>
        </p:sp>
        <p:sp>
          <p:nvSpPr>
            <p:cNvPr id="76826" name="Line 26"/>
            <p:cNvSpPr/>
            <p:nvPr/>
          </p:nvSpPr>
          <p:spPr>
            <a:xfrm>
              <a:off x="672" y="2256"/>
              <a:ext cx="864" cy="0"/>
            </a:xfrm>
            <a:prstGeom prst="line">
              <a:avLst/>
            </a:prstGeom>
            <a:ln w="9525" cap="flat" cmpd="sng">
              <a:solidFill>
                <a:schemeClr val="tx1"/>
              </a:solidFill>
              <a:prstDash val="solid"/>
              <a:round/>
              <a:headEnd type="none" w="med" len="med"/>
              <a:tailEnd type="none" w="med" len="med"/>
            </a:ln>
          </p:spPr>
        </p:sp>
        <p:sp>
          <p:nvSpPr>
            <p:cNvPr id="76827" name="Line 27"/>
            <p:cNvSpPr/>
            <p:nvPr/>
          </p:nvSpPr>
          <p:spPr>
            <a:xfrm flipV="1">
              <a:off x="1104" y="2112"/>
              <a:ext cx="0" cy="144"/>
            </a:xfrm>
            <a:prstGeom prst="line">
              <a:avLst/>
            </a:prstGeom>
            <a:ln w="9525" cap="flat" cmpd="sng">
              <a:solidFill>
                <a:schemeClr val="tx1"/>
              </a:solidFill>
              <a:prstDash val="solid"/>
              <a:round/>
              <a:headEnd type="none" w="med" len="med"/>
              <a:tailEnd type="none" w="med" len="med"/>
            </a:ln>
          </p:spPr>
        </p:sp>
      </p:grpSp>
      <p:sp>
        <p:nvSpPr>
          <p:cNvPr id="100381" name="Text Box 29"/>
          <p:cNvSpPr txBox="1"/>
          <p:nvPr/>
        </p:nvSpPr>
        <p:spPr>
          <a:xfrm>
            <a:off x="685800" y="2895600"/>
            <a:ext cx="1752600" cy="396875"/>
          </a:xfrm>
          <a:prstGeom prst="rect">
            <a:avLst/>
          </a:prstGeom>
          <a:noFill/>
          <a:ln w="9525">
            <a:noFill/>
          </a:ln>
        </p:spPr>
        <p:txBody>
          <a:bodyPr anchor="t" anchorCtr="0">
            <a:spAutoFit/>
          </a:bodyPr>
          <a:p>
            <a:pPr algn="ctr">
              <a:spcBef>
                <a:spcPct val="50000"/>
              </a:spcBef>
              <a:buClrTx/>
              <a:buFontTx/>
            </a:pPr>
            <a:r>
              <a:rPr lang="zh-CN" altLang="en-US" sz="2000" dirty="0">
                <a:latin typeface="华文新魏" panose="02010800040101010101" pitchFamily="2" charset="-122"/>
                <a:ea typeface="华文新魏" panose="02010800040101010101" pitchFamily="2" charset="-122"/>
              </a:rPr>
              <a:t>条件代码标志</a:t>
            </a:r>
            <a:endParaRPr lang="zh-CN" altLang="en-US" sz="2000" dirty="0">
              <a:latin typeface="华文新魏" panose="02010800040101010101" pitchFamily="2" charset="-122"/>
              <a:ea typeface="华文新魏" panose="02010800040101010101" pitchFamily="2" charset="-122"/>
            </a:endParaRPr>
          </a:p>
        </p:txBody>
      </p:sp>
      <p:sp>
        <p:nvSpPr>
          <p:cNvPr id="100387" name="Text Box 35"/>
          <p:cNvSpPr txBox="1"/>
          <p:nvPr/>
        </p:nvSpPr>
        <p:spPr>
          <a:xfrm>
            <a:off x="2743200" y="2895600"/>
            <a:ext cx="1752600" cy="396875"/>
          </a:xfrm>
          <a:prstGeom prst="rect">
            <a:avLst/>
          </a:prstGeom>
          <a:noFill/>
          <a:ln w="9525">
            <a:noFill/>
          </a:ln>
        </p:spPr>
        <p:txBody>
          <a:bodyPr anchor="t" anchorCtr="0">
            <a:spAutoFit/>
          </a:bodyPr>
          <a:p>
            <a:pPr algn="ctr">
              <a:spcBef>
                <a:spcPct val="50000"/>
              </a:spcBef>
              <a:buClrTx/>
              <a:buFontTx/>
            </a:pPr>
            <a:r>
              <a:rPr lang="zh-CN" altLang="en-US" sz="2000" dirty="0">
                <a:latin typeface="华文新魏" panose="02010800040101010101" pitchFamily="2" charset="-122"/>
                <a:ea typeface="华文新魏" panose="02010800040101010101" pitchFamily="2" charset="-122"/>
              </a:rPr>
              <a:t>保留</a:t>
            </a:r>
            <a:endParaRPr lang="zh-CN" altLang="en-US" sz="2000" dirty="0">
              <a:latin typeface="华文新魏" panose="02010800040101010101" pitchFamily="2" charset="-122"/>
              <a:ea typeface="华文新魏" panose="02010800040101010101" pitchFamily="2" charset="-122"/>
            </a:endParaRPr>
          </a:p>
        </p:txBody>
      </p:sp>
      <p:grpSp>
        <p:nvGrpSpPr>
          <p:cNvPr id="5" name="Group 37"/>
          <p:cNvGrpSpPr/>
          <p:nvPr/>
        </p:nvGrpSpPr>
        <p:grpSpPr>
          <a:xfrm>
            <a:off x="2667000" y="3276600"/>
            <a:ext cx="1828800" cy="457200"/>
            <a:chOff x="1824" y="2112"/>
            <a:chExt cx="1152" cy="288"/>
          </a:xfrm>
        </p:grpSpPr>
        <p:sp>
          <p:nvSpPr>
            <p:cNvPr id="76831" name="Line 31"/>
            <p:cNvSpPr/>
            <p:nvPr/>
          </p:nvSpPr>
          <p:spPr>
            <a:xfrm flipV="1">
              <a:off x="1824" y="2256"/>
              <a:ext cx="0" cy="144"/>
            </a:xfrm>
            <a:prstGeom prst="line">
              <a:avLst/>
            </a:prstGeom>
            <a:ln w="9525" cap="flat" cmpd="sng">
              <a:solidFill>
                <a:schemeClr val="tx1"/>
              </a:solidFill>
              <a:prstDash val="solid"/>
              <a:round/>
              <a:headEnd type="none" w="med" len="med"/>
              <a:tailEnd type="none" w="med" len="med"/>
            </a:ln>
          </p:spPr>
        </p:sp>
        <p:sp>
          <p:nvSpPr>
            <p:cNvPr id="76832" name="Line 33"/>
            <p:cNvSpPr/>
            <p:nvPr/>
          </p:nvSpPr>
          <p:spPr>
            <a:xfrm>
              <a:off x="1824" y="2256"/>
              <a:ext cx="1152" cy="0"/>
            </a:xfrm>
            <a:prstGeom prst="line">
              <a:avLst/>
            </a:prstGeom>
            <a:ln w="9525" cap="flat" cmpd="sng">
              <a:solidFill>
                <a:schemeClr val="tx1"/>
              </a:solidFill>
              <a:prstDash val="solid"/>
              <a:round/>
              <a:headEnd type="none" w="med" len="med"/>
              <a:tailEnd type="none" w="med" len="med"/>
            </a:ln>
          </p:spPr>
        </p:sp>
        <p:sp>
          <p:nvSpPr>
            <p:cNvPr id="76833" name="Line 34"/>
            <p:cNvSpPr/>
            <p:nvPr/>
          </p:nvSpPr>
          <p:spPr>
            <a:xfrm flipV="1">
              <a:off x="2400" y="2112"/>
              <a:ext cx="0" cy="144"/>
            </a:xfrm>
            <a:prstGeom prst="line">
              <a:avLst/>
            </a:prstGeom>
            <a:ln w="9525" cap="flat" cmpd="sng">
              <a:solidFill>
                <a:schemeClr val="tx1"/>
              </a:solidFill>
              <a:prstDash val="solid"/>
              <a:round/>
              <a:headEnd type="none" w="med" len="med"/>
              <a:tailEnd type="none" w="med" len="med"/>
            </a:ln>
          </p:spPr>
        </p:sp>
        <p:sp>
          <p:nvSpPr>
            <p:cNvPr id="76834" name="Line 36"/>
            <p:cNvSpPr/>
            <p:nvPr/>
          </p:nvSpPr>
          <p:spPr>
            <a:xfrm flipV="1">
              <a:off x="2976" y="2256"/>
              <a:ext cx="0" cy="144"/>
            </a:xfrm>
            <a:prstGeom prst="line">
              <a:avLst/>
            </a:prstGeom>
            <a:ln w="9525" cap="flat" cmpd="sng">
              <a:solidFill>
                <a:schemeClr val="tx1"/>
              </a:solidFill>
              <a:prstDash val="solid"/>
              <a:round/>
              <a:headEnd type="none" w="med" len="med"/>
              <a:tailEnd type="none" w="med" len="med"/>
            </a:ln>
          </p:spPr>
        </p:sp>
      </p:grpSp>
      <p:grpSp>
        <p:nvGrpSpPr>
          <p:cNvPr id="6" name="Group 75"/>
          <p:cNvGrpSpPr/>
          <p:nvPr/>
        </p:nvGrpSpPr>
        <p:grpSpPr>
          <a:xfrm>
            <a:off x="4953000" y="3276600"/>
            <a:ext cx="3124200" cy="457200"/>
            <a:chOff x="3120" y="1920"/>
            <a:chExt cx="1968" cy="288"/>
          </a:xfrm>
        </p:grpSpPr>
        <p:sp>
          <p:nvSpPr>
            <p:cNvPr id="76836" name="Line 39"/>
            <p:cNvSpPr/>
            <p:nvPr/>
          </p:nvSpPr>
          <p:spPr>
            <a:xfrm flipV="1">
              <a:off x="3120" y="2064"/>
              <a:ext cx="0" cy="144"/>
            </a:xfrm>
            <a:prstGeom prst="line">
              <a:avLst/>
            </a:prstGeom>
            <a:ln w="9525" cap="flat" cmpd="sng">
              <a:solidFill>
                <a:schemeClr val="tx1"/>
              </a:solidFill>
              <a:prstDash val="solid"/>
              <a:round/>
              <a:headEnd type="none" w="med" len="med"/>
              <a:tailEnd type="none" w="med" len="med"/>
            </a:ln>
          </p:spPr>
        </p:sp>
        <p:sp>
          <p:nvSpPr>
            <p:cNvPr id="76837" name="Line 40"/>
            <p:cNvSpPr/>
            <p:nvPr/>
          </p:nvSpPr>
          <p:spPr>
            <a:xfrm>
              <a:off x="3120" y="2064"/>
              <a:ext cx="1968" cy="0"/>
            </a:xfrm>
            <a:prstGeom prst="line">
              <a:avLst/>
            </a:prstGeom>
            <a:ln w="9525" cap="flat" cmpd="sng">
              <a:solidFill>
                <a:schemeClr val="tx1"/>
              </a:solidFill>
              <a:prstDash val="solid"/>
              <a:round/>
              <a:headEnd type="none" w="med" len="med"/>
              <a:tailEnd type="none" w="med" len="med"/>
            </a:ln>
          </p:spPr>
        </p:sp>
        <p:sp>
          <p:nvSpPr>
            <p:cNvPr id="76838" name="Line 41"/>
            <p:cNvSpPr/>
            <p:nvPr/>
          </p:nvSpPr>
          <p:spPr>
            <a:xfrm flipV="1">
              <a:off x="4128" y="1920"/>
              <a:ext cx="0" cy="144"/>
            </a:xfrm>
            <a:prstGeom prst="line">
              <a:avLst/>
            </a:prstGeom>
            <a:ln w="9525" cap="flat" cmpd="sng">
              <a:solidFill>
                <a:schemeClr val="tx1"/>
              </a:solidFill>
              <a:prstDash val="solid"/>
              <a:round/>
              <a:headEnd type="none" w="med" len="med"/>
              <a:tailEnd type="none" w="med" len="med"/>
            </a:ln>
          </p:spPr>
        </p:sp>
        <p:sp>
          <p:nvSpPr>
            <p:cNvPr id="76839" name="Line 42"/>
            <p:cNvSpPr/>
            <p:nvPr/>
          </p:nvSpPr>
          <p:spPr>
            <a:xfrm flipV="1">
              <a:off x="5088" y="2064"/>
              <a:ext cx="0" cy="144"/>
            </a:xfrm>
            <a:prstGeom prst="line">
              <a:avLst/>
            </a:prstGeom>
            <a:ln w="9525" cap="flat" cmpd="sng">
              <a:solidFill>
                <a:schemeClr val="tx1"/>
              </a:solidFill>
              <a:prstDash val="solid"/>
              <a:round/>
              <a:headEnd type="none" w="med" len="med"/>
              <a:tailEnd type="none" w="med" len="med"/>
            </a:ln>
          </p:spPr>
        </p:sp>
      </p:grpSp>
      <p:sp>
        <p:nvSpPr>
          <p:cNvPr id="100395" name="Text Box 43"/>
          <p:cNvSpPr txBox="1"/>
          <p:nvPr/>
        </p:nvSpPr>
        <p:spPr>
          <a:xfrm>
            <a:off x="5638800" y="2895600"/>
            <a:ext cx="1752600" cy="396875"/>
          </a:xfrm>
          <a:prstGeom prst="rect">
            <a:avLst/>
          </a:prstGeom>
          <a:noFill/>
          <a:ln w="9525">
            <a:noFill/>
          </a:ln>
        </p:spPr>
        <p:txBody>
          <a:bodyPr anchor="t" anchorCtr="0">
            <a:spAutoFit/>
          </a:bodyPr>
          <a:p>
            <a:pPr algn="ctr">
              <a:spcBef>
                <a:spcPct val="50000"/>
              </a:spcBef>
              <a:buClrTx/>
              <a:buFontTx/>
            </a:pPr>
            <a:r>
              <a:rPr lang="zh-CN" altLang="en-US" sz="2000" dirty="0">
                <a:latin typeface="华文新魏" panose="02010800040101010101" pitchFamily="2" charset="-122"/>
                <a:ea typeface="华文新魏" panose="02010800040101010101" pitchFamily="2" charset="-122"/>
              </a:rPr>
              <a:t>控制位</a:t>
            </a:r>
            <a:endParaRPr lang="zh-CN" altLang="en-US" sz="2000" dirty="0">
              <a:latin typeface="华文新魏" panose="02010800040101010101" pitchFamily="2" charset="-122"/>
              <a:ea typeface="华文新魏" panose="02010800040101010101" pitchFamily="2" charset="-122"/>
            </a:endParaRPr>
          </a:p>
        </p:txBody>
      </p:sp>
      <p:grpSp>
        <p:nvGrpSpPr>
          <p:cNvPr id="7" name="Group 80"/>
          <p:cNvGrpSpPr/>
          <p:nvPr/>
        </p:nvGrpSpPr>
        <p:grpSpPr>
          <a:xfrm>
            <a:off x="2209800" y="4572000"/>
            <a:ext cx="228600" cy="304800"/>
            <a:chOff x="1392" y="2496"/>
            <a:chExt cx="144" cy="192"/>
          </a:xfrm>
        </p:grpSpPr>
        <p:sp>
          <p:nvSpPr>
            <p:cNvPr id="76842" name="Line 44"/>
            <p:cNvSpPr/>
            <p:nvPr/>
          </p:nvSpPr>
          <p:spPr>
            <a:xfrm>
              <a:off x="1392" y="2496"/>
              <a:ext cx="0" cy="192"/>
            </a:xfrm>
            <a:prstGeom prst="line">
              <a:avLst/>
            </a:prstGeom>
            <a:ln w="9525" cap="flat" cmpd="sng">
              <a:solidFill>
                <a:schemeClr val="tx1"/>
              </a:solidFill>
              <a:prstDash val="solid"/>
              <a:round/>
              <a:headEnd type="none" w="med" len="med"/>
              <a:tailEnd type="none" w="med" len="med"/>
            </a:ln>
          </p:spPr>
        </p:sp>
        <p:sp>
          <p:nvSpPr>
            <p:cNvPr id="76843" name="Line 48"/>
            <p:cNvSpPr/>
            <p:nvPr/>
          </p:nvSpPr>
          <p:spPr>
            <a:xfrm>
              <a:off x="1392" y="2688"/>
              <a:ext cx="144" cy="0"/>
            </a:xfrm>
            <a:prstGeom prst="line">
              <a:avLst/>
            </a:prstGeom>
            <a:ln w="9525" cap="flat" cmpd="sng">
              <a:solidFill>
                <a:schemeClr val="tx1"/>
              </a:solidFill>
              <a:prstDash val="solid"/>
              <a:round/>
              <a:headEnd type="none" w="med" len="med"/>
              <a:tailEnd type="none" w="med" len="med"/>
            </a:ln>
          </p:spPr>
        </p:sp>
      </p:grpSp>
      <p:grpSp>
        <p:nvGrpSpPr>
          <p:cNvPr id="8" name="Group 79"/>
          <p:cNvGrpSpPr/>
          <p:nvPr/>
        </p:nvGrpSpPr>
        <p:grpSpPr>
          <a:xfrm>
            <a:off x="1752600" y="4572000"/>
            <a:ext cx="685800" cy="609600"/>
            <a:chOff x="1104" y="2496"/>
            <a:chExt cx="432" cy="384"/>
          </a:xfrm>
        </p:grpSpPr>
        <p:sp>
          <p:nvSpPr>
            <p:cNvPr id="76845" name="Line 45"/>
            <p:cNvSpPr/>
            <p:nvPr/>
          </p:nvSpPr>
          <p:spPr>
            <a:xfrm>
              <a:off x="1104" y="2496"/>
              <a:ext cx="0" cy="384"/>
            </a:xfrm>
            <a:prstGeom prst="line">
              <a:avLst/>
            </a:prstGeom>
            <a:ln w="9525" cap="flat" cmpd="sng">
              <a:solidFill>
                <a:schemeClr val="tx1"/>
              </a:solidFill>
              <a:prstDash val="solid"/>
              <a:round/>
              <a:headEnd type="none" w="med" len="med"/>
              <a:tailEnd type="none" w="med" len="med"/>
            </a:ln>
          </p:spPr>
        </p:sp>
        <p:sp>
          <p:nvSpPr>
            <p:cNvPr id="76846" name="Line 49"/>
            <p:cNvSpPr/>
            <p:nvPr/>
          </p:nvSpPr>
          <p:spPr>
            <a:xfrm>
              <a:off x="1104" y="2880"/>
              <a:ext cx="432" cy="0"/>
            </a:xfrm>
            <a:prstGeom prst="line">
              <a:avLst/>
            </a:prstGeom>
            <a:ln w="9525" cap="flat" cmpd="sng">
              <a:solidFill>
                <a:schemeClr val="tx1"/>
              </a:solidFill>
              <a:prstDash val="solid"/>
              <a:round/>
              <a:headEnd type="none" w="med" len="med"/>
              <a:tailEnd type="none" w="med" len="med"/>
            </a:ln>
          </p:spPr>
        </p:sp>
      </p:grpSp>
      <p:grpSp>
        <p:nvGrpSpPr>
          <p:cNvPr id="9" name="Group 78"/>
          <p:cNvGrpSpPr/>
          <p:nvPr/>
        </p:nvGrpSpPr>
        <p:grpSpPr>
          <a:xfrm>
            <a:off x="1295400" y="4572000"/>
            <a:ext cx="1143000" cy="990600"/>
            <a:chOff x="816" y="2496"/>
            <a:chExt cx="720" cy="624"/>
          </a:xfrm>
        </p:grpSpPr>
        <p:sp>
          <p:nvSpPr>
            <p:cNvPr id="76848" name="Line 46"/>
            <p:cNvSpPr/>
            <p:nvPr/>
          </p:nvSpPr>
          <p:spPr>
            <a:xfrm>
              <a:off x="816" y="2496"/>
              <a:ext cx="0" cy="624"/>
            </a:xfrm>
            <a:prstGeom prst="line">
              <a:avLst/>
            </a:prstGeom>
            <a:ln w="9525" cap="flat" cmpd="sng">
              <a:solidFill>
                <a:schemeClr val="tx1"/>
              </a:solidFill>
              <a:prstDash val="solid"/>
              <a:round/>
              <a:headEnd type="none" w="med" len="med"/>
              <a:tailEnd type="none" w="med" len="med"/>
            </a:ln>
          </p:spPr>
        </p:sp>
        <p:sp>
          <p:nvSpPr>
            <p:cNvPr id="76849" name="Line 50"/>
            <p:cNvSpPr/>
            <p:nvPr/>
          </p:nvSpPr>
          <p:spPr>
            <a:xfrm>
              <a:off x="816" y="3120"/>
              <a:ext cx="720" cy="0"/>
            </a:xfrm>
            <a:prstGeom prst="line">
              <a:avLst/>
            </a:prstGeom>
            <a:ln w="9525" cap="flat" cmpd="sng">
              <a:solidFill>
                <a:schemeClr val="tx1"/>
              </a:solidFill>
              <a:prstDash val="solid"/>
              <a:round/>
              <a:headEnd type="none" w="med" len="med"/>
              <a:tailEnd type="none" w="med" len="med"/>
            </a:ln>
          </p:spPr>
        </p:sp>
      </p:grpSp>
      <p:grpSp>
        <p:nvGrpSpPr>
          <p:cNvPr id="10" name="Group 77"/>
          <p:cNvGrpSpPr/>
          <p:nvPr/>
        </p:nvGrpSpPr>
        <p:grpSpPr>
          <a:xfrm>
            <a:off x="838200" y="4572000"/>
            <a:ext cx="1600200" cy="1371600"/>
            <a:chOff x="528" y="2496"/>
            <a:chExt cx="1008" cy="864"/>
          </a:xfrm>
        </p:grpSpPr>
        <p:sp>
          <p:nvSpPr>
            <p:cNvPr id="76851" name="Line 47"/>
            <p:cNvSpPr/>
            <p:nvPr/>
          </p:nvSpPr>
          <p:spPr>
            <a:xfrm>
              <a:off x="528" y="2496"/>
              <a:ext cx="0" cy="864"/>
            </a:xfrm>
            <a:prstGeom prst="line">
              <a:avLst/>
            </a:prstGeom>
            <a:ln w="9525" cap="flat" cmpd="sng">
              <a:solidFill>
                <a:schemeClr val="tx1"/>
              </a:solidFill>
              <a:prstDash val="solid"/>
              <a:round/>
              <a:headEnd type="none" w="med" len="med"/>
              <a:tailEnd type="none" w="med" len="med"/>
            </a:ln>
          </p:spPr>
        </p:sp>
        <p:sp>
          <p:nvSpPr>
            <p:cNvPr id="76852" name="Line 51"/>
            <p:cNvSpPr/>
            <p:nvPr/>
          </p:nvSpPr>
          <p:spPr>
            <a:xfrm>
              <a:off x="528" y="3360"/>
              <a:ext cx="1008" cy="0"/>
            </a:xfrm>
            <a:prstGeom prst="line">
              <a:avLst/>
            </a:prstGeom>
            <a:ln w="9525" cap="flat" cmpd="sng">
              <a:solidFill>
                <a:schemeClr val="tx1"/>
              </a:solidFill>
              <a:prstDash val="solid"/>
              <a:round/>
              <a:headEnd type="none" w="med" len="med"/>
              <a:tailEnd type="none" w="med" len="med"/>
            </a:ln>
          </p:spPr>
        </p:sp>
      </p:grpSp>
      <p:grpSp>
        <p:nvGrpSpPr>
          <p:cNvPr id="11" name="Group 83"/>
          <p:cNvGrpSpPr/>
          <p:nvPr/>
        </p:nvGrpSpPr>
        <p:grpSpPr>
          <a:xfrm>
            <a:off x="5867400" y="4572000"/>
            <a:ext cx="1447800" cy="990600"/>
            <a:chOff x="3696" y="2496"/>
            <a:chExt cx="912" cy="624"/>
          </a:xfrm>
        </p:grpSpPr>
        <p:sp>
          <p:nvSpPr>
            <p:cNvPr id="76854" name="Line 53"/>
            <p:cNvSpPr/>
            <p:nvPr/>
          </p:nvSpPr>
          <p:spPr>
            <a:xfrm>
              <a:off x="3696" y="2496"/>
              <a:ext cx="0" cy="624"/>
            </a:xfrm>
            <a:prstGeom prst="line">
              <a:avLst/>
            </a:prstGeom>
            <a:ln w="9525" cap="flat" cmpd="sng">
              <a:solidFill>
                <a:schemeClr val="tx1"/>
              </a:solidFill>
              <a:prstDash val="solid"/>
              <a:round/>
              <a:headEnd type="none" w="med" len="med"/>
              <a:tailEnd type="none" w="med" len="med"/>
            </a:ln>
          </p:spPr>
        </p:sp>
        <p:sp>
          <p:nvSpPr>
            <p:cNvPr id="76855" name="Line 57"/>
            <p:cNvSpPr/>
            <p:nvPr/>
          </p:nvSpPr>
          <p:spPr>
            <a:xfrm>
              <a:off x="3696" y="3120"/>
              <a:ext cx="912" cy="0"/>
            </a:xfrm>
            <a:prstGeom prst="line">
              <a:avLst/>
            </a:prstGeom>
            <a:ln w="9525" cap="flat" cmpd="sng">
              <a:solidFill>
                <a:schemeClr val="tx1"/>
              </a:solidFill>
              <a:prstDash val="solid"/>
              <a:round/>
              <a:headEnd type="none" w="med" len="med"/>
              <a:tailEnd type="none" w="med" len="med"/>
            </a:ln>
          </p:spPr>
        </p:sp>
      </p:grpSp>
      <p:grpSp>
        <p:nvGrpSpPr>
          <p:cNvPr id="12" name="Group 82"/>
          <p:cNvGrpSpPr/>
          <p:nvPr/>
        </p:nvGrpSpPr>
        <p:grpSpPr>
          <a:xfrm>
            <a:off x="5410200" y="4572000"/>
            <a:ext cx="1905000" cy="1371600"/>
            <a:chOff x="3408" y="2496"/>
            <a:chExt cx="1200" cy="864"/>
          </a:xfrm>
        </p:grpSpPr>
        <p:sp>
          <p:nvSpPr>
            <p:cNvPr id="76857" name="Line 54"/>
            <p:cNvSpPr/>
            <p:nvPr/>
          </p:nvSpPr>
          <p:spPr>
            <a:xfrm>
              <a:off x="3408" y="2496"/>
              <a:ext cx="0" cy="864"/>
            </a:xfrm>
            <a:prstGeom prst="line">
              <a:avLst/>
            </a:prstGeom>
            <a:ln w="9525" cap="flat" cmpd="sng">
              <a:solidFill>
                <a:schemeClr val="tx1"/>
              </a:solidFill>
              <a:prstDash val="solid"/>
              <a:round/>
              <a:headEnd type="none" w="med" len="med"/>
              <a:tailEnd type="none" w="med" len="med"/>
            </a:ln>
          </p:spPr>
        </p:sp>
        <p:sp>
          <p:nvSpPr>
            <p:cNvPr id="76858" name="Line 58"/>
            <p:cNvSpPr/>
            <p:nvPr/>
          </p:nvSpPr>
          <p:spPr>
            <a:xfrm>
              <a:off x="3408" y="3360"/>
              <a:ext cx="1200" cy="0"/>
            </a:xfrm>
            <a:prstGeom prst="line">
              <a:avLst/>
            </a:prstGeom>
            <a:ln w="9525" cap="flat" cmpd="sng">
              <a:solidFill>
                <a:schemeClr val="tx1"/>
              </a:solidFill>
              <a:prstDash val="solid"/>
              <a:round/>
              <a:headEnd type="none" w="med" len="med"/>
              <a:tailEnd type="none" w="med" len="med"/>
            </a:ln>
          </p:spPr>
        </p:sp>
      </p:grpSp>
      <p:grpSp>
        <p:nvGrpSpPr>
          <p:cNvPr id="13" name="Group 81"/>
          <p:cNvGrpSpPr/>
          <p:nvPr/>
        </p:nvGrpSpPr>
        <p:grpSpPr>
          <a:xfrm>
            <a:off x="4953000" y="4572000"/>
            <a:ext cx="2282825" cy="1736725"/>
            <a:chOff x="3120" y="2496"/>
            <a:chExt cx="1488" cy="1104"/>
          </a:xfrm>
        </p:grpSpPr>
        <p:sp>
          <p:nvSpPr>
            <p:cNvPr id="76860" name="Line 55"/>
            <p:cNvSpPr/>
            <p:nvPr/>
          </p:nvSpPr>
          <p:spPr>
            <a:xfrm>
              <a:off x="3120" y="2496"/>
              <a:ext cx="0" cy="1104"/>
            </a:xfrm>
            <a:prstGeom prst="line">
              <a:avLst/>
            </a:prstGeom>
            <a:ln w="9525" cap="flat" cmpd="sng">
              <a:solidFill>
                <a:schemeClr val="tx1"/>
              </a:solidFill>
              <a:prstDash val="solid"/>
              <a:round/>
              <a:headEnd type="none" w="med" len="med"/>
              <a:tailEnd type="none" w="med" len="med"/>
            </a:ln>
          </p:spPr>
        </p:sp>
        <p:sp>
          <p:nvSpPr>
            <p:cNvPr id="76861" name="Line 59"/>
            <p:cNvSpPr/>
            <p:nvPr/>
          </p:nvSpPr>
          <p:spPr>
            <a:xfrm>
              <a:off x="3120" y="3600"/>
              <a:ext cx="1488" cy="0"/>
            </a:xfrm>
            <a:prstGeom prst="line">
              <a:avLst/>
            </a:prstGeom>
            <a:ln w="9525" cap="flat" cmpd="sng">
              <a:solidFill>
                <a:schemeClr val="tx1"/>
              </a:solidFill>
              <a:prstDash val="solid"/>
              <a:round/>
              <a:headEnd type="none" w="med" len="med"/>
              <a:tailEnd type="none" w="med" len="med"/>
            </a:ln>
          </p:spPr>
        </p:sp>
      </p:grpSp>
      <p:sp>
        <p:nvSpPr>
          <p:cNvPr id="100417" name="Text Box 65"/>
          <p:cNvSpPr txBox="1"/>
          <p:nvPr/>
        </p:nvSpPr>
        <p:spPr>
          <a:xfrm>
            <a:off x="2514600" y="4648200"/>
            <a:ext cx="2273300" cy="396875"/>
          </a:xfrm>
          <a:prstGeom prst="rect">
            <a:avLst/>
          </a:prstGeom>
          <a:noFill/>
          <a:ln w="9525">
            <a:noFill/>
          </a:ln>
        </p:spPr>
        <p:txBody>
          <a:bodyPr anchor="t" anchorCtr="0">
            <a:spAutoFit/>
          </a:bodyPr>
          <a:p>
            <a:pPr>
              <a:spcBef>
                <a:spcPct val="50000"/>
              </a:spcBef>
              <a:buClrTx/>
              <a:buFontTx/>
            </a:pPr>
            <a:r>
              <a:rPr lang="zh-CN" altLang="en-US" sz="2000" dirty="0">
                <a:latin typeface="华文新魏" panose="02010800040101010101" pitchFamily="2" charset="-122"/>
                <a:ea typeface="华文新魏" panose="02010800040101010101" pitchFamily="2" charset="-122"/>
              </a:rPr>
              <a:t>溢出标志 </a:t>
            </a:r>
            <a:r>
              <a:rPr lang="en-US" altLang="zh-CN" sz="2000" dirty="0">
                <a:latin typeface="Times New Roman" panose="02020603050405020304" pitchFamily="18" charset="0"/>
                <a:ea typeface="华文新魏" panose="02010800040101010101" pitchFamily="2" charset="-122"/>
              </a:rPr>
              <a:t>oVerflow</a:t>
            </a:r>
            <a:endParaRPr lang="en-US" altLang="zh-CN" sz="2000" dirty="0">
              <a:latin typeface="Times New Roman" panose="02020603050405020304" pitchFamily="18" charset="0"/>
              <a:ea typeface="华文新魏" panose="02010800040101010101" pitchFamily="2" charset="-122"/>
            </a:endParaRPr>
          </a:p>
        </p:txBody>
      </p:sp>
      <p:sp>
        <p:nvSpPr>
          <p:cNvPr id="100418" name="Text Box 66"/>
          <p:cNvSpPr txBox="1"/>
          <p:nvPr/>
        </p:nvSpPr>
        <p:spPr>
          <a:xfrm>
            <a:off x="2411413" y="4953000"/>
            <a:ext cx="2736850" cy="396875"/>
          </a:xfrm>
          <a:prstGeom prst="rect">
            <a:avLst/>
          </a:prstGeom>
          <a:noFill/>
          <a:ln w="9525">
            <a:noFill/>
          </a:ln>
        </p:spPr>
        <p:txBody>
          <a:bodyPr anchor="t" anchorCtr="0">
            <a:spAutoFit/>
          </a:bodyPr>
          <a:p>
            <a:pPr>
              <a:spcBef>
                <a:spcPct val="50000"/>
              </a:spcBef>
              <a:buClrTx/>
              <a:buFontTx/>
            </a:pPr>
            <a:r>
              <a:rPr lang="zh-CN" altLang="en-US" sz="2000" dirty="0">
                <a:latin typeface="华文新魏" panose="02010800040101010101" pitchFamily="2" charset="-122"/>
                <a:ea typeface="华文新魏" panose="02010800040101010101" pitchFamily="2" charset="-122"/>
              </a:rPr>
              <a:t>进位或借位扩展 </a:t>
            </a:r>
            <a:r>
              <a:rPr lang="en-US" altLang="zh-CN" sz="2000" dirty="0">
                <a:latin typeface="Times New Roman" panose="02020603050405020304" pitchFamily="18" charset="0"/>
                <a:ea typeface="华文新魏" panose="02010800040101010101" pitchFamily="2" charset="-122"/>
              </a:rPr>
              <a:t>Carry</a:t>
            </a:r>
            <a:endParaRPr lang="en-US" altLang="zh-CN" sz="2000" dirty="0">
              <a:latin typeface="Times New Roman" panose="02020603050405020304" pitchFamily="18" charset="0"/>
              <a:ea typeface="华文新魏" panose="02010800040101010101" pitchFamily="2" charset="-122"/>
            </a:endParaRPr>
          </a:p>
        </p:txBody>
      </p:sp>
      <p:sp>
        <p:nvSpPr>
          <p:cNvPr id="100419" name="Text Box 67"/>
          <p:cNvSpPr txBox="1"/>
          <p:nvPr/>
        </p:nvSpPr>
        <p:spPr>
          <a:xfrm>
            <a:off x="2514600" y="5410200"/>
            <a:ext cx="2133600" cy="396875"/>
          </a:xfrm>
          <a:prstGeom prst="rect">
            <a:avLst/>
          </a:prstGeom>
          <a:noFill/>
          <a:ln w="9525">
            <a:noFill/>
          </a:ln>
        </p:spPr>
        <p:txBody>
          <a:bodyPr anchor="t" anchorCtr="0">
            <a:spAutoFit/>
          </a:bodyPr>
          <a:p>
            <a:pPr>
              <a:spcBef>
                <a:spcPct val="50000"/>
              </a:spcBef>
              <a:buClrTx/>
              <a:buFontTx/>
            </a:pPr>
            <a:r>
              <a:rPr lang="zh-CN" altLang="en-US" sz="2000" dirty="0">
                <a:latin typeface="华文新魏" panose="02010800040101010101" pitchFamily="2" charset="-122"/>
                <a:ea typeface="华文新魏" panose="02010800040101010101" pitchFamily="2" charset="-122"/>
              </a:rPr>
              <a:t>零 </a:t>
            </a:r>
            <a:r>
              <a:rPr lang="en-US" altLang="zh-CN" sz="2000" dirty="0">
                <a:latin typeface="Times New Roman" panose="02020603050405020304" pitchFamily="18" charset="0"/>
                <a:ea typeface="华文新魏" panose="02010800040101010101" pitchFamily="2" charset="-122"/>
              </a:rPr>
              <a:t>Zero</a:t>
            </a:r>
            <a:endParaRPr lang="en-US" altLang="zh-CN" sz="2000" dirty="0">
              <a:latin typeface="Times New Roman" panose="02020603050405020304" pitchFamily="18" charset="0"/>
              <a:ea typeface="华文新魏" panose="02010800040101010101" pitchFamily="2" charset="-122"/>
            </a:endParaRPr>
          </a:p>
        </p:txBody>
      </p:sp>
      <p:sp>
        <p:nvSpPr>
          <p:cNvPr id="100420" name="Text Box 68"/>
          <p:cNvSpPr txBox="1"/>
          <p:nvPr/>
        </p:nvSpPr>
        <p:spPr>
          <a:xfrm>
            <a:off x="2514600" y="5791200"/>
            <a:ext cx="2273300" cy="396875"/>
          </a:xfrm>
          <a:prstGeom prst="rect">
            <a:avLst/>
          </a:prstGeom>
          <a:noFill/>
          <a:ln w="9525">
            <a:noFill/>
          </a:ln>
        </p:spPr>
        <p:txBody>
          <a:bodyPr anchor="t" anchorCtr="0">
            <a:spAutoFit/>
          </a:bodyPr>
          <a:p>
            <a:pPr>
              <a:spcBef>
                <a:spcPct val="50000"/>
              </a:spcBef>
              <a:buClrTx/>
              <a:buFontTx/>
            </a:pPr>
            <a:r>
              <a:rPr lang="zh-CN" altLang="en-US" sz="2000" dirty="0">
                <a:latin typeface="华文新魏" panose="02010800040101010101" pitchFamily="2" charset="-122"/>
                <a:ea typeface="华文新魏" panose="02010800040101010101" pitchFamily="2" charset="-122"/>
              </a:rPr>
              <a:t>负或小于  </a:t>
            </a:r>
            <a:r>
              <a:rPr lang="en-US" altLang="zh-CN" sz="2000" dirty="0">
                <a:latin typeface="Times New Roman" panose="02020603050405020304" pitchFamily="18" charset="0"/>
                <a:ea typeface="华文新魏" panose="02010800040101010101" pitchFamily="2" charset="-122"/>
              </a:rPr>
              <a:t>Negative</a:t>
            </a:r>
            <a:endParaRPr lang="en-US" altLang="zh-CN" sz="2000" dirty="0">
              <a:latin typeface="Times New Roman" panose="02020603050405020304" pitchFamily="18" charset="0"/>
              <a:ea typeface="华文新魏" panose="02010800040101010101" pitchFamily="2" charset="-122"/>
            </a:endParaRPr>
          </a:p>
        </p:txBody>
      </p:sp>
      <p:sp>
        <p:nvSpPr>
          <p:cNvPr id="100421" name="Text Box 69"/>
          <p:cNvSpPr txBox="1"/>
          <p:nvPr/>
        </p:nvSpPr>
        <p:spPr>
          <a:xfrm>
            <a:off x="7164388" y="6165850"/>
            <a:ext cx="2232025" cy="396875"/>
          </a:xfrm>
          <a:prstGeom prst="rect">
            <a:avLst/>
          </a:prstGeom>
          <a:noFill/>
          <a:ln w="9525">
            <a:noFill/>
          </a:ln>
        </p:spPr>
        <p:txBody>
          <a:bodyPr anchor="t" anchorCtr="0">
            <a:spAutoFit/>
          </a:bodyPr>
          <a:p>
            <a:pPr>
              <a:spcBef>
                <a:spcPct val="50000"/>
              </a:spcBef>
              <a:buClrTx/>
              <a:buFontTx/>
            </a:pPr>
            <a:r>
              <a:rPr lang="en-US" altLang="zh-CN" sz="2000" dirty="0">
                <a:latin typeface="华文新魏" panose="02010800040101010101" pitchFamily="2" charset="-122"/>
                <a:ea typeface="华文新魏" panose="02010800040101010101" pitchFamily="2" charset="-122"/>
              </a:rPr>
              <a:t>I</a:t>
            </a:r>
            <a:r>
              <a:rPr lang="en-US" altLang="zh-CN" sz="2000" dirty="0">
                <a:latin typeface="Times New Roman" panose="02020603050405020304" pitchFamily="18" charset="0"/>
                <a:ea typeface="华文新魏" panose="02010800040101010101" pitchFamily="2" charset="-122"/>
              </a:rPr>
              <a:t>RQ</a:t>
            </a:r>
            <a:r>
              <a:rPr lang="zh-CN" altLang="en-US" sz="2000" dirty="0">
                <a:latin typeface="华文新魏" panose="02010800040101010101" pitchFamily="2" charset="-122"/>
                <a:ea typeface="华文新魏" panose="02010800040101010101" pitchFamily="2" charset="-122"/>
              </a:rPr>
              <a:t>禁止 </a:t>
            </a:r>
            <a:r>
              <a:rPr lang="en-US" altLang="zh-CN" sz="2000" dirty="0">
                <a:latin typeface="Times New Roman" panose="02020603050405020304" pitchFamily="18" charset="0"/>
                <a:ea typeface="华文新魏" panose="02010800040101010101" pitchFamily="2" charset="-122"/>
              </a:rPr>
              <a:t>Interrupt</a:t>
            </a:r>
            <a:endParaRPr lang="en-US" altLang="zh-CN" sz="2000" dirty="0">
              <a:latin typeface="Times New Roman" panose="02020603050405020304" pitchFamily="18" charset="0"/>
              <a:ea typeface="华文新魏" panose="02010800040101010101" pitchFamily="2" charset="-122"/>
            </a:endParaRPr>
          </a:p>
        </p:txBody>
      </p:sp>
      <p:sp>
        <p:nvSpPr>
          <p:cNvPr id="100422" name="Text Box 70"/>
          <p:cNvSpPr txBox="1"/>
          <p:nvPr/>
        </p:nvSpPr>
        <p:spPr>
          <a:xfrm>
            <a:off x="7315200" y="5715000"/>
            <a:ext cx="1828800" cy="396875"/>
          </a:xfrm>
          <a:prstGeom prst="rect">
            <a:avLst/>
          </a:prstGeom>
          <a:noFill/>
          <a:ln w="9525">
            <a:noFill/>
          </a:ln>
        </p:spPr>
        <p:txBody>
          <a:bodyPr anchor="t" anchorCtr="0">
            <a:spAutoFit/>
          </a:bodyPr>
          <a:p>
            <a:pPr>
              <a:spcBef>
                <a:spcPct val="50000"/>
              </a:spcBef>
              <a:buClrTx/>
              <a:buFontTx/>
            </a:pPr>
            <a:r>
              <a:rPr lang="en-US" altLang="zh-CN" sz="2000" dirty="0">
                <a:latin typeface="Times New Roman" panose="02020603050405020304" pitchFamily="18" charset="0"/>
                <a:ea typeface="华文新魏" panose="02010800040101010101" pitchFamily="2" charset="-122"/>
              </a:rPr>
              <a:t>FIQ</a:t>
            </a:r>
            <a:r>
              <a:rPr lang="zh-CN" altLang="en-US" sz="2000" dirty="0">
                <a:latin typeface="华文新魏" panose="02010800040101010101" pitchFamily="2" charset="-122"/>
                <a:ea typeface="华文新魏" panose="02010800040101010101" pitchFamily="2" charset="-122"/>
              </a:rPr>
              <a:t>禁止 </a:t>
            </a:r>
            <a:r>
              <a:rPr lang="en-US" altLang="zh-CN" sz="2000" dirty="0">
                <a:latin typeface="Times New Roman" panose="02020603050405020304" pitchFamily="18" charset="0"/>
                <a:ea typeface="华文新魏" panose="02010800040101010101" pitchFamily="2" charset="-122"/>
              </a:rPr>
              <a:t>Fast</a:t>
            </a:r>
            <a:endParaRPr lang="en-US" altLang="zh-CN" sz="2000" dirty="0">
              <a:latin typeface="Times New Roman" panose="02020603050405020304" pitchFamily="18" charset="0"/>
              <a:ea typeface="华文新魏" panose="02010800040101010101" pitchFamily="2" charset="-122"/>
            </a:endParaRPr>
          </a:p>
        </p:txBody>
      </p:sp>
      <p:sp>
        <p:nvSpPr>
          <p:cNvPr id="100423" name="Text Box 71"/>
          <p:cNvSpPr txBox="1"/>
          <p:nvPr/>
        </p:nvSpPr>
        <p:spPr>
          <a:xfrm>
            <a:off x="7315200" y="5334000"/>
            <a:ext cx="1828800" cy="396875"/>
          </a:xfrm>
          <a:prstGeom prst="rect">
            <a:avLst/>
          </a:prstGeom>
          <a:noFill/>
          <a:ln w="9525">
            <a:noFill/>
          </a:ln>
        </p:spPr>
        <p:txBody>
          <a:bodyPr anchor="t" anchorCtr="0">
            <a:spAutoFit/>
          </a:bodyPr>
          <a:p>
            <a:pPr>
              <a:spcBef>
                <a:spcPct val="50000"/>
              </a:spcBef>
              <a:buClrTx/>
              <a:buFontTx/>
            </a:pPr>
            <a:r>
              <a:rPr lang="zh-CN" altLang="en-US" sz="2000" dirty="0">
                <a:latin typeface="华文新魏" panose="02010800040101010101" pitchFamily="2" charset="-122"/>
                <a:ea typeface="华文新魏" panose="02010800040101010101" pitchFamily="2" charset="-122"/>
              </a:rPr>
              <a:t>状态位 </a:t>
            </a:r>
            <a:r>
              <a:rPr lang="en-US" altLang="zh-CN" sz="2000" dirty="0">
                <a:latin typeface="Times New Roman" panose="02020603050405020304" pitchFamily="18" charset="0"/>
                <a:ea typeface="华文新魏" panose="02010800040101010101" pitchFamily="2" charset="-122"/>
              </a:rPr>
              <a:t>Thumb</a:t>
            </a:r>
            <a:endParaRPr lang="en-US" altLang="zh-CN" sz="2000" dirty="0">
              <a:latin typeface="Times New Roman" panose="02020603050405020304" pitchFamily="18" charset="0"/>
              <a:ea typeface="华文新魏" panose="02010800040101010101" pitchFamily="2" charset="-122"/>
            </a:endParaRPr>
          </a:p>
        </p:txBody>
      </p:sp>
      <p:grpSp>
        <p:nvGrpSpPr>
          <p:cNvPr id="14" name="Group 76"/>
          <p:cNvGrpSpPr/>
          <p:nvPr/>
        </p:nvGrpSpPr>
        <p:grpSpPr>
          <a:xfrm>
            <a:off x="6324600" y="4572000"/>
            <a:ext cx="1752600" cy="533400"/>
            <a:chOff x="3984" y="2496"/>
            <a:chExt cx="1104" cy="336"/>
          </a:xfrm>
        </p:grpSpPr>
        <p:sp>
          <p:nvSpPr>
            <p:cNvPr id="76870" name="Line 61"/>
            <p:cNvSpPr/>
            <p:nvPr/>
          </p:nvSpPr>
          <p:spPr>
            <a:xfrm>
              <a:off x="3984" y="2496"/>
              <a:ext cx="0" cy="144"/>
            </a:xfrm>
            <a:prstGeom prst="line">
              <a:avLst/>
            </a:prstGeom>
            <a:ln w="9525" cap="flat" cmpd="sng">
              <a:solidFill>
                <a:schemeClr val="tx1"/>
              </a:solidFill>
              <a:prstDash val="solid"/>
              <a:round/>
              <a:headEnd type="none" w="med" len="med"/>
              <a:tailEnd type="none" w="med" len="med"/>
            </a:ln>
          </p:spPr>
        </p:sp>
        <p:sp>
          <p:nvSpPr>
            <p:cNvPr id="76871" name="Line 62"/>
            <p:cNvSpPr/>
            <p:nvPr/>
          </p:nvSpPr>
          <p:spPr>
            <a:xfrm>
              <a:off x="5088" y="2496"/>
              <a:ext cx="0" cy="144"/>
            </a:xfrm>
            <a:prstGeom prst="line">
              <a:avLst/>
            </a:prstGeom>
            <a:ln w="9525" cap="flat" cmpd="sng">
              <a:solidFill>
                <a:schemeClr val="tx1"/>
              </a:solidFill>
              <a:prstDash val="solid"/>
              <a:round/>
              <a:headEnd type="none" w="med" len="med"/>
              <a:tailEnd type="none" w="med" len="med"/>
            </a:ln>
          </p:spPr>
        </p:sp>
        <p:sp>
          <p:nvSpPr>
            <p:cNvPr id="76872" name="Line 63"/>
            <p:cNvSpPr/>
            <p:nvPr/>
          </p:nvSpPr>
          <p:spPr>
            <a:xfrm flipV="1">
              <a:off x="3984" y="2640"/>
              <a:ext cx="1104" cy="0"/>
            </a:xfrm>
            <a:prstGeom prst="line">
              <a:avLst/>
            </a:prstGeom>
            <a:ln w="9525" cap="flat" cmpd="sng">
              <a:solidFill>
                <a:schemeClr val="tx1"/>
              </a:solidFill>
              <a:prstDash val="solid"/>
              <a:round/>
              <a:headEnd type="none" w="med" len="med"/>
              <a:tailEnd type="none" w="med" len="med"/>
            </a:ln>
          </p:spPr>
        </p:sp>
        <p:sp>
          <p:nvSpPr>
            <p:cNvPr id="76873" name="Line 64"/>
            <p:cNvSpPr/>
            <p:nvPr/>
          </p:nvSpPr>
          <p:spPr>
            <a:xfrm>
              <a:off x="4464" y="2640"/>
              <a:ext cx="0" cy="192"/>
            </a:xfrm>
            <a:prstGeom prst="line">
              <a:avLst/>
            </a:prstGeom>
            <a:ln w="9525" cap="flat" cmpd="sng">
              <a:solidFill>
                <a:schemeClr val="tx1"/>
              </a:solidFill>
              <a:prstDash val="solid"/>
              <a:round/>
              <a:headEnd type="none" w="med" len="med"/>
              <a:tailEnd type="none" w="med" len="med"/>
            </a:ln>
          </p:spPr>
        </p:sp>
        <p:sp>
          <p:nvSpPr>
            <p:cNvPr id="76874" name="Line 72"/>
            <p:cNvSpPr/>
            <p:nvPr/>
          </p:nvSpPr>
          <p:spPr>
            <a:xfrm flipV="1">
              <a:off x="4464" y="2832"/>
              <a:ext cx="144" cy="0"/>
            </a:xfrm>
            <a:prstGeom prst="line">
              <a:avLst/>
            </a:prstGeom>
            <a:ln w="9525" cap="flat" cmpd="sng">
              <a:solidFill>
                <a:schemeClr val="tx1"/>
              </a:solidFill>
              <a:prstDash val="solid"/>
              <a:round/>
              <a:headEnd type="none" w="med" len="med"/>
              <a:tailEnd type="none" w="med" len="med"/>
            </a:ln>
          </p:spPr>
        </p:sp>
      </p:grpSp>
      <p:sp>
        <p:nvSpPr>
          <p:cNvPr id="100425" name="Text Box 73"/>
          <p:cNvSpPr txBox="1"/>
          <p:nvPr/>
        </p:nvSpPr>
        <p:spPr>
          <a:xfrm>
            <a:off x="7315200" y="4953000"/>
            <a:ext cx="1828800" cy="396875"/>
          </a:xfrm>
          <a:prstGeom prst="rect">
            <a:avLst/>
          </a:prstGeom>
          <a:noFill/>
          <a:ln w="9525">
            <a:noFill/>
          </a:ln>
        </p:spPr>
        <p:txBody>
          <a:bodyPr anchor="t" anchorCtr="0">
            <a:spAutoFit/>
          </a:bodyPr>
          <a:p>
            <a:pPr>
              <a:spcBef>
                <a:spcPct val="50000"/>
              </a:spcBef>
              <a:buClrTx/>
              <a:buFontTx/>
            </a:pPr>
            <a:r>
              <a:rPr lang="zh-CN" altLang="en-US" sz="2000" dirty="0">
                <a:latin typeface="华文新魏" panose="02010800040101010101" pitchFamily="2" charset="-122"/>
                <a:ea typeface="华文新魏" panose="02010800040101010101" pitchFamily="2" charset="-122"/>
              </a:rPr>
              <a:t>模式位 </a:t>
            </a:r>
            <a:r>
              <a:rPr lang="en-US" altLang="zh-CN" sz="2000" dirty="0">
                <a:latin typeface="Times New Roman" panose="02020603050405020304" pitchFamily="18" charset="0"/>
                <a:ea typeface="华文新魏" panose="02010800040101010101" pitchFamily="2" charset="-122"/>
              </a:rPr>
              <a:t>Mode</a:t>
            </a:r>
            <a:endParaRPr lang="en-US" altLang="zh-CN" sz="2000" dirty="0">
              <a:latin typeface="Times New Roman" panose="02020603050405020304" pitchFamily="18" charset="0"/>
              <a:ea typeface="华文新魏" panose="02010800040101010101" pitchFamily="2" charset="-122"/>
            </a:endParaRPr>
          </a:p>
        </p:txBody>
      </p:sp>
      <p:sp>
        <p:nvSpPr>
          <p:cNvPr id="100438" name="Rectangle 86"/>
          <p:cNvSpPr/>
          <p:nvPr/>
        </p:nvSpPr>
        <p:spPr>
          <a:xfrm>
            <a:off x="6096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N</a:t>
            </a:r>
            <a:endParaRPr lang="en-US" altLang="zh-CN" sz="2000" dirty="0">
              <a:latin typeface="华文新魏" panose="02010800040101010101" pitchFamily="2" charset="-122"/>
              <a:ea typeface="华文新魏" panose="02010800040101010101" pitchFamily="2" charset="-122"/>
            </a:endParaRPr>
          </a:p>
        </p:txBody>
      </p:sp>
      <p:sp>
        <p:nvSpPr>
          <p:cNvPr id="100439" name="Rectangle 87"/>
          <p:cNvSpPr/>
          <p:nvPr/>
        </p:nvSpPr>
        <p:spPr>
          <a:xfrm>
            <a:off x="10668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Z</a:t>
            </a:r>
            <a:endParaRPr lang="en-US" altLang="zh-CN" sz="2000" dirty="0">
              <a:latin typeface="华文新魏" panose="02010800040101010101" pitchFamily="2" charset="-122"/>
              <a:ea typeface="华文新魏" panose="02010800040101010101" pitchFamily="2" charset="-122"/>
            </a:endParaRPr>
          </a:p>
        </p:txBody>
      </p:sp>
      <p:sp>
        <p:nvSpPr>
          <p:cNvPr id="100440" name="Rectangle 88"/>
          <p:cNvSpPr/>
          <p:nvPr/>
        </p:nvSpPr>
        <p:spPr>
          <a:xfrm>
            <a:off x="15240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C</a:t>
            </a:r>
            <a:endParaRPr lang="en-US" altLang="zh-CN" sz="2000" dirty="0">
              <a:latin typeface="华文新魏" panose="02010800040101010101" pitchFamily="2" charset="-122"/>
              <a:ea typeface="华文新魏" panose="02010800040101010101" pitchFamily="2" charset="-122"/>
            </a:endParaRPr>
          </a:p>
        </p:txBody>
      </p:sp>
      <p:sp>
        <p:nvSpPr>
          <p:cNvPr id="100441" name="Rectangle 89"/>
          <p:cNvSpPr/>
          <p:nvPr/>
        </p:nvSpPr>
        <p:spPr>
          <a:xfrm>
            <a:off x="19812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V</a:t>
            </a:r>
            <a:endParaRPr lang="en-US" altLang="zh-CN" sz="2000" dirty="0">
              <a:latin typeface="华文新魏" panose="02010800040101010101" pitchFamily="2" charset="-122"/>
              <a:ea typeface="华文新魏" panose="02010800040101010101" pitchFamily="2" charset="-122"/>
            </a:endParaRPr>
          </a:p>
        </p:txBody>
      </p:sp>
      <p:sp>
        <p:nvSpPr>
          <p:cNvPr id="100444" name="Rectangle 92"/>
          <p:cNvSpPr/>
          <p:nvPr/>
        </p:nvSpPr>
        <p:spPr>
          <a:xfrm>
            <a:off x="47244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I</a:t>
            </a:r>
            <a:endParaRPr lang="en-US" altLang="zh-CN" sz="2000" dirty="0">
              <a:latin typeface="华文新魏" panose="02010800040101010101" pitchFamily="2" charset="-122"/>
              <a:ea typeface="华文新魏" panose="02010800040101010101" pitchFamily="2" charset="-122"/>
            </a:endParaRPr>
          </a:p>
        </p:txBody>
      </p:sp>
      <p:grpSp>
        <p:nvGrpSpPr>
          <p:cNvPr id="15" name="Group 103"/>
          <p:cNvGrpSpPr/>
          <p:nvPr/>
        </p:nvGrpSpPr>
        <p:grpSpPr>
          <a:xfrm>
            <a:off x="6096000" y="4114800"/>
            <a:ext cx="2286000" cy="457200"/>
            <a:chOff x="3888" y="960"/>
            <a:chExt cx="1440" cy="288"/>
          </a:xfrm>
        </p:grpSpPr>
        <p:sp>
          <p:nvSpPr>
            <p:cNvPr id="76882" name="Rectangle 93"/>
            <p:cNvSpPr/>
            <p:nvPr/>
          </p:nvSpPr>
          <p:spPr>
            <a:xfrm>
              <a:off x="5040" y="960"/>
              <a:ext cx="288" cy="2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M0</a:t>
              </a:r>
              <a:endParaRPr lang="en-US" altLang="zh-CN" sz="2000" dirty="0">
                <a:latin typeface="华文新魏" panose="02010800040101010101" pitchFamily="2" charset="-122"/>
                <a:ea typeface="华文新魏" panose="02010800040101010101" pitchFamily="2" charset="-122"/>
              </a:endParaRPr>
            </a:p>
          </p:txBody>
        </p:sp>
        <p:sp>
          <p:nvSpPr>
            <p:cNvPr id="76883" name="Rectangle 94"/>
            <p:cNvSpPr/>
            <p:nvPr/>
          </p:nvSpPr>
          <p:spPr>
            <a:xfrm>
              <a:off x="4752" y="960"/>
              <a:ext cx="288" cy="2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M1</a:t>
              </a:r>
              <a:endParaRPr lang="en-US" altLang="zh-CN" sz="2000" dirty="0">
                <a:latin typeface="华文新魏" panose="02010800040101010101" pitchFamily="2" charset="-122"/>
                <a:ea typeface="华文新魏" panose="02010800040101010101" pitchFamily="2" charset="-122"/>
              </a:endParaRPr>
            </a:p>
          </p:txBody>
        </p:sp>
        <p:sp>
          <p:nvSpPr>
            <p:cNvPr id="76884" name="Rectangle 95"/>
            <p:cNvSpPr/>
            <p:nvPr/>
          </p:nvSpPr>
          <p:spPr>
            <a:xfrm>
              <a:off x="4464" y="960"/>
              <a:ext cx="288" cy="2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M2</a:t>
              </a:r>
              <a:endParaRPr lang="en-US" altLang="zh-CN" sz="2000" dirty="0">
                <a:latin typeface="华文新魏" panose="02010800040101010101" pitchFamily="2" charset="-122"/>
                <a:ea typeface="华文新魏" panose="02010800040101010101" pitchFamily="2" charset="-122"/>
              </a:endParaRPr>
            </a:p>
          </p:txBody>
        </p:sp>
        <p:sp>
          <p:nvSpPr>
            <p:cNvPr id="76885" name="Rectangle 96"/>
            <p:cNvSpPr/>
            <p:nvPr/>
          </p:nvSpPr>
          <p:spPr>
            <a:xfrm>
              <a:off x="4176" y="960"/>
              <a:ext cx="288" cy="2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M3</a:t>
              </a:r>
              <a:endParaRPr lang="en-US" altLang="zh-CN" sz="2000" dirty="0">
                <a:latin typeface="华文新魏" panose="02010800040101010101" pitchFamily="2" charset="-122"/>
                <a:ea typeface="华文新魏" panose="02010800040101010101" pitchFamily="2" charset="-122"/>
              </a:endParaRPr>
            </a:p>
          </p:txBody>
        </p:sp>
        <p:sp>
          <p:nvSpPr>
            <p:cNvPr id="76886" name="Rectangle 97"/>
            <p:cNvSpPr/>
            <p:nvPr/>
          </p:nvSpPr>
          <p:spPr>
            <a:xfrm>
              <a:off x="3888" y="960"/>
              <a:ext cx="288" cy="2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M4</a:t>
              </a:r>
              <a:endParaRPr lang="en-US" altLang="zh-CN" sz="2000" dirty="0">
                <a:latin typeface="华文新魏" panose="02010800040101010101" pitchFamily="2" charset="-122"/>
                <a:ea typeface="华文新魏" panose="02010800040101010101" pitchFamily="2" charset="-122"/>
              </a:endParaRPr>
            </a:p>
          </p:txBody>
        </p:sp>
      </p:grpSp>
      <p:sp>
        <p:nvSpPr>
          <p:cNvPr id="100450" name="Rectangle 98"/>
          <p:cNvSpPr/>
          <p:nvPr/>
        </p:nvSpPr>
        <p:spPr>
          <a:xfrm>
            <a:off x="56388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T</a:t>
            </a:r>
            <a:endParaRPr lang="en-US" altLang="zh-CN" sz="2000" dirty="0">
              <a:latin typeface="华文新魏" panose="02010800040101010101" pitchFamily="2" charset="-122"/>
              <a:ea typeface="华文新魏" panose="02010800040101010101" pitchFamily="2" charset="-122"/>
            </a:endParaRPr>
          </a:p>
        </p:txBody>
      </p:sp>
      <p:sp>
        <p:nvSpPr>
          <p:cNvPr id="100451" name="Rectangle 99"/>
          <p:cNvSpPr/>
          <p:nvPr/>
        </p:nvSpPr>
        <p:spPr>
          <a:xfrm>
            <a:off x="5181600" y="4114800"/>
            <a:ext cx="457200" cy="4572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2000" dirty="0">
                <a:latin typeface="华文新魏" panose="02010800040101010101" pitchFamily="2" charset="-122"/>
                <a:ea typeface="华文新魏" panose="02010800040101010101" pitchFamily="2" charset="-122"/>
              </a:rPr>
              <a:t>F</a:t>
            </a:r>
            <a:endParaRPr lang="en-US" altLang="zh-CN" sz="2000" dirty="0">
              <a:latin typeface="华文新魏" panose="02010800040101010101" pitchFamily="2" charset="-122"/>
              <a:ea typeface="华文新魏" panose="02010800040101010101" pitchFamily="2" charset="-122"/>
            </a:endParaRPr>
          </a:p>
        </p:txBody>
      </p:sp>
      <p:sp>
        <p:nvSpPr>
          <p:cNvPr id="100454" name="Text Box 102"/>
          <p:cNvSpPr txBox="1"/>
          <p:nvPr/>
        </p:nvSpPr>
        <p:spPr>
          <a:xfrm>
            <a:off x="3352800" y="2438400"/>
            <a:ext cx="3048000" cy="396875"/>
          </a:xfrm>
          <a:prstGeom prst="rect">
            <a:avLst/>
          </a:prstGeom>
          <a:noFill/>
          <a:ln w="9525">
            <a:noFill/>
          </a:ln>
        </p:spPr>
        <p:txBody>
          <a:bodyPr anchor="t" anchorCtr="0">
            <a:spAutoFit/>
          </a:bodyPr>
          <a:p>
            <a:pPr algn="ctr">
              <a:spcBef>
                <a:spcPct val="50000"/>
              </a:spcBef>
              <a:buClrTx/>
              <a:buFontTx/>
            </a:pPr>
            <a:r>
              <a:rPr lang="en-US" altLang="zh-CN" sz="2000" dirty="0">
                <a:solidFill>
                  <a:srgbClr val="0000FF"/>
                </a:solidFill>
                <a:latin typeface="华文新魏" panose="02010800040101010101" pitchFamily="2" charset="-122"/>
                <a:ea typeface="华文新魏" panose="02010800040101010101" pitchFamily="2" charset="-122"/>
              </a:rPr>
              <a:t>CPSR</a:t>
            </a:r>
            <a:r>
              <a:rPr lang="zh-CN" altLang="en-US" sz="2000" dirty="0">
                <a:solidFill>
                  <a:srgbClr val="0000FF"/>
                </a:solidFill>
                <a:latin typeface="华文新魏" panose="02010800040101010101" pitchFamily="2" charset="-122"/>
                <a:ea typeface="华文新魏" panose="02010800040101010101" pitchFamily="2" charset="-122"/>
              </a:rPr>
              <a:t>寄存器的格式</a:t>
            </a:r>
            <a:endParaRPr lang="zh-CN" altLang="en-US" sz="2000"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0454"/>
                                        </p:tgtEl>
                                        <p:attrNameLst>
                                          <p:attrName>style.visibility</p:attrName>
                                        </p:attrNameLst>
                                      </p:cBhvr>
                                      <p:to>
                                        <p:strVal val="visible"/>
                                      </p:to>
                                    </p:set>
                                    <p:anim calcmode="lin" valueType="num">
                                      <p:cBhvr additive="base">
                                        <p:cTn id="7" dur="500" fill="hold"/>
                                        <p:tgtEl>
                                          <p:spTgt spid="100454"/>
                                        </p:tgtEl>
                                        <p:attrNameLst>
                                          <p:attrName>ppt_x</p:attrName>
                                        </p:attrNameLst>
                                      </p:cBhvr>
                                      <p:tavLst>
                                        <p:tav tm="0">
                                          <p:val>
                                            <p:strVal val="1+#ppt_w/2"/>
                                          </p:val>
                                        </p:tav>
                                        <p:tav tm="100000">
                                          <p:val>
                                            <p:strVal val="#ppt_x"/>
                                          </p:val>
                                        </p:tav>
                                      </p:tavLst>
                                    </p:anim>
                                    <p:anim calcmode="lin" valueType="num">
                                      <p:cBhvr additive="base">
                                        <p:cTn id="8" dur="500" fill="hold"/>
                                        <p:tgtEl>
                                          <p:spTgt spid="1004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slide(fromBottom)">
                                      <p:cBhvr>
                                        <p:cTn id="16" dur="500"/>
                                        <p:tgtEl>
                                          <p:spTgt spid="4"/>
                                        </p:tgtEl>
                                      </p:cBhvr>
                                    </p:animEffect>
                                  </p:childTnLst>
                                </p:cTn>
                              </p:par>
                            </p:childTnLst>
                          </p:cTn>
                        </p:par>
                        <p:par>
                          <p:cTn id="17" fill="hold">
                            <p:stCondLst>
                              <p:cond delay="1500"/>
                            </p:stCondLst>
                            <p:childTnLst>
                              <p:par>
                                <p:cTn id="18" presetID="16" presetClass="entr" presetSubtype="37" fill="hold" grpId="0" nodeType="afterEffect">
                                  <p:stCondLst>
                                    <p:cond delay="0"/>
                                  </p:stCondLst>
                                  <p:childTnLst>
                                    <p:set>
                                      <p:cBhvr>
                                        <p:cTn id="19" dur="1" fill="hold">
                                          <p:stCondLst>
                                            <p:cond delay="0"/>
                                          </p:stCondLst>
                                        </p:cTn>
                                        <p:tgtEl>
                                          <p:spTgt spid="100381"/>
                                        </p:tgtEl>
                                        <p:attrNameLst>
                                          <p:attrName>style.visibility</p:attrName>
                                        </p:attrNameLst>
                                      </p:cBhvr>
                                      <p:to>
                                        <p:strVal val="visible"/>
                                      </p:to>
                                    </p:set>
                                    <p:animEffect transition="in" filter="barn(outVertical)">
                                      <p:cBhvr>
                                        <p:cTn id="20" dur="500"/>
                                        <p:tgtEl>
                                          <p:spTgt spid="100381"/>
                                        </p:tgtEl>
                                      </p:cBhvr>
                                    </p:animEffect>
                                  </p:childTnLst>
                                </p:cTn>
                              </p:par>
                            </p:childTnLst>
                          </p:cTn>
                        </p:par>
                        <p:par>
                          <p:cTn id="21" fill="hold">
                            <p:stCondLst>
                              <p:cond delay="2000"/>
                            </p:stCondLst>
                            <p:childTnLst>
                              <p:par>
                                <p:cTn id="22" presetID="12" presetClass="entr" presetSubtype="4"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lide(fromBottom)">
                                      <p:cBhvr>
                                        <p:cTn id="24" dur="500"/>
                                        <p:tgtEl>
                                          <p:spTgt spid="5"/>
                                        </p:tgtEl>
                                      </p:cBhvr>
                                    </p:animEffect>
                                  </p:childTnLst>
                                </p:cTn>
                              </p:par>
                            </p:childTnLst>
                          </p:cTn>
                        </p:par>
                        <p:par>
                          <p:cTn id="25" fill="hold">
                            <p:stCondLst>
                              <p:cond delay="2500"/>
                            </p:stCondLst>
                            <p:childTnLst>
                              <p:par>
                                <p:cTn id="26" presetID="16" presetClass="entr" presetSubtype="37" fill="hold" grpId="0" nodeType="afterEffect">
                                  <p:stCondLst>
                                    <p:cond delay="0"/>
                                  </p:stCondLst>
                                  <p:childTnLst>
                                    <p:set>
                                      <p:cBhvr>
                                        <p:cTn id="27" dur="1" fill="hold">
                                          <p:stCondLst>
                                            <p:cond delay="0"/>
                                          </p:stCondLst>
                                        </p:cTn>
                                        <p:tgtEl>
                                          <p:spTgt spid="100387"/>
                                        </p:tgtEl>
                                        <p:attrNameLst>
                                          <p:attrName>style.visibility</p:attrName>
                                        </p:attrNameLst>
                                      </p:cBhvr>
                                      <p:to>
                                        <p:strVal val="visible"/>
                                      </p:to>
                                    </p:set>
                                    <p:animEffect transition="in" filter="barn(outVertical)">
                                      <p:cBhvr>
                                        <p:cTn id="28" dur="500"/>
                                        <p:tgtEl>
                                          <p:spTgt spid="100387"/>
                                        </p:tgtEl>
                                      </p:cBhvr>
                                    </p:animEffect>
                                  </p:childTnLst>
                                </p:cTn>
                              </p:par>
                            </p:childTnLst>
                          </p:cTn>
                        </p:par>
                        <p:par>
                          <p:cTn id="29" fill="hold">
                            <p:stCondLst>
                              <p:cond delay="3000"/>
                            </p:stCondLst>
                            <p:childTnLst>
                              <p:par>
                                <p:cTn id="30" presetID="1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lide(fromBottom)">
                                      <p:cBhvr>
                                        <p:cTn id="32" dur="500"/>
                                        <p:tgtEl>
                                          <p:spTgt spid="6"/>
                                        </p:tgtEl>
                                      </p:cBhvr>
                                    </p:animEffect>
                                  </p:childTnLst>
                                </p:cTn>
                              </p:par>
                            </p:childTnLst>
                          </p:cTn>
                        </p:par>
                        <p:par>
                          <p:cTn id="33" fill="hold">
                            <p:stCondLst>
                              <p:cond delay="3500"/>
                            </p:stCondLst>
                            <p:childTnLst>
                              <p:par>
                                <p:cTn id="34" presetID="16" presetClass="entr" presetSubtype="37" fill="hold" grpId="0" nodeType="afterEffect">
                                  <p:stCondLst>
                                    <p:cond delay="0"/>
                                  </p:stCondLst>
                                  <p:childTnLst>
                                    <p:set>
                                      <p:cBhvr>
                                        <p:cTn id="35" dur="1" fill="hold">
                                          <p:stCondLst>
                                            <p:cond delay="0"/>
                                          </p:stCondLst>
                                        </p:cTn>
                                        <p:tgtEl>
                                          <p:spTgt spid="100395"/>
                                        </p:tgtEl>
                                        <p:attrNameLst>
                                          <p:attrName>style.visibility</p:attrName>
                                        </p:attrNameLst>
                                      </p:cBhvr>
                                      <p:to>
                                        <p:strVal val="visible"/>
                                      </p:to>
                                    </p:set>
                                    <p:animEffect transition="in" filter="barn(outVertical)">
                                      <p:cBhvr>
                                        <p:cTn id="36" dur="500"/>
                                        <p:tgtEl>
                                          <p:spTgt spid="100395"/>
                                        </p:tgtEl>
                                      </p:cBhvr>
                                    </p:animEffect>
                                  </p:childTnLst>
                                </p:cTn>
                              </p:par>
                            </p:childTnLst>
                          </p:cTn>
                        </p:par>
                      </p:childTnLst>
                    </p:cTn>
                  </p:par>
                  <p:par>
                    <p:cTn id="37" fill="hold">
                      <p:stCondLst>
                        <p:cond delay="indefinite"/>
                      </p:stCondLst>
                      <p:childTnLst>
                        <p:par>
                          <p:cTn id="38" fill="hold">
                            <p:stCondLst>
                              <p:cond delay="0"/>
                            </p:stCondLst>
                            <p:childTnLst>
                              <p:par>
                                <p:cTn id="39" presetID="11" presetClass="entr" presetSubtype="0" fill="hold" grpId="0" nodeType="clickEffect">
                                  <p:stCondLst>
                                    <p:cond delay="0"/>
                                  </p:stCondLst>
                                  <p:childTnLst>
                                    <p:set>
                                      <p:cBhvr>
                                        <p:cTn id="40" dur="1000">
                                          <p:stCondLst>
                                            <p:cond delay="0"/>
                                          </p:stCondLst>
                                        </p:cTn>
                                        <p:tgtEl>
                                          <p:spTgt spid="100438"/>
                                        </p:tgtEl>
                                        <p:attrNameLst>
                                          <p:attrName>style.visibility</p:attrName>
                                        </p:attrNameLst>
                                      </p:cBhvr>
                                      <p:to>
                                        <p:strVal val="visible"/>
                                      </p:to>
                                    </p:se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100420"/>
                                        </p:tgtEl>
                                        <p:attrNameLst>
                                          <p:attrName>style.visibility</p:attrName>
                                        </p:attrNameLst>
                                      </p:cBhvr>
                                      <p:to>
                                        <p:strVal val="visible"/>
                                      </p:to>
                                    </p:set>
                                    <p:animEffect transition="in" filter="wipe(left)">
                                      <p:cBhvr>
                                        <p:cTn id="48" dur="500"/>
                                        <p:tgtEl>
                                          <p:spTgt spid="100420"/>
                                        </p:tgtEl>
                                      </p:cBhvr>
                                    </p:animEffect>
                                  </p:childTnLst>
                                </p:cTn>
                              </p:par>
                            </p:childTnLst>
                          </p:cTn>
                        </p:par>
                      </p:childTnLst>
                    </p:cTn>
                  </p:par>
                  <p:par>
                    <p:cTn id="49" fill="hold">
                      <p:stCondLst>
                        <p:cond delay="indefinite"/>
                      </p:stCondLst>
                      <p:childTnLst>
                        <p:par>
                          <p:cTn id="50" fill="hold">
                            <p:stCondLst>
                              <p:cond delay="0"/>
                            </p:stCondLst>
                            <p:childTnLst>
                              <p:par>
                                <p:cTn id="51" presetID="11" presetClass="entr" presetSubtype="0" fill="hold" grpId="0" nodeType="clickEffect">
                                  <p:stCondLst>
                                    <p:cond delay="0"/>
                                  </p:stCondLst>
                                  <p:childTnLst>
                                    <p:set>
                                      <p:cBhvr>
                                        <p:cTn id="52" dur="1000">
                                          <p:stCondLst>
                                            <p:cond delay="0"/>
                                          </p:stCondLst>
                                        </p:cTn>
                                        <p:tgtEl>
                                          <p:spTgt spid="100439"/>
                                        </p:tgtEl>
                                        <p:attrNameLst>
                                          <p:attrName>style.visibility</p:attrName>
                                        </p:attrNameLst>
                                      </p:cBhvr>
                                      <p:to>
                                        <p:strVal val="visible"/>
                                      </p:to>
                                    </p:set>
                                  </p:childTnLst>
                                </p:cTn>
                              </p:par>
                            </p:childTnLst>
                          </p:cTn>
                        </p:par>
                        <p:par>
                          <p:cTn id="53" fill="hold">
                            <p:stCondLst>
                              <p:cond delay="1000"/>
                            </p:stCondLst>
                            <p:childTnLst>
                              <p:par>
                                <p:cTn id="54" presetID="22" presetClass="entr" presetSubtype="8" fill="hold"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par>
                          <p:cTn id="57" fill="hold">
                            <p:stCondLst>
                              <p:cond delay="1500"/>
                            </p:stCondLst>
                            <p:childTnLst>
                              <p:par>
                                <p:cTn id="58" presetID="22" presetClass="entr" presetSubtype="8" fill="hold" grpId="0" nodeType="afterEffect">
                                  <p:stCondLst>
                                    <p:cond delay="0"/>
                                  </p:stCondLst>
                                  <p:childTnLst>
                                    <p:set>
                                      <p:cBhvr>
                                        <p:cTn id="59" dur="1" fill="hold">
                                          <p:stCondLst>
                                            <p:cond delay="0"/>
                                          </p:stCondLst>
                                        </p:cTn>
                                        <p:tgtEl>
                                          <p:spTgt spid="100419"/>
                                        </p:tgtEl>
                                        <p:attrNameLst>
                                          <p:attrName>style.visibility</p:attrName>
                                        </p:attrNameLst>
                                      </p:cBhvr>
                                      <p:to>
                                        <p:strVal val="visible"/>
                                      </p:to>
                                    </p:set>
                                    <p:animEffect transition="in" filter="wipe(left)">
                                      <p:cBhvr>
                                        <p:cTn id="60" dur="500"/>
                                        <p:tgtEl>
                                          <p:spTgt spid="100419"/>
                                        </p:tgtEl>
                                      </p:cBhvr>
                                    </p:animEffect>
                                  </p:childTnLst>
                                </p:cTn>
                              </p:par>
                            </p:childTnLst>
                          </p:cTn>
                        </p:par>
                      </p:childTnLst>
                    </p:cTn>
                  </p:par>
                  <p:par>
                    <p:cTn id="61" fill="hold">
                      <p:stCondLst>
                        <p:cond delay="indefinite"/>
                      </p:stCondLst>
                      <p:childTnLst>
                        <p:par>
                          <p:cTn id="62" fill="hold">
                            <p:stCondLst>
                              <p:cond delay="0"/>
                            </p:stCondLst>
                            <p:childTnLst>
                              <p:par>
                                <p:cTn id="63" presetID="11" presetClass="entr" presetSubtype="0" fill="hold" grpId="0" nodeType="clickEffect">
                                  <p:stCondLst>
                                    <p:cond delay="0"/>
                                  </p:stCondLst>
                                  <p:childTnLst>
                                    <p:set>
                                      <p:cBhvr>
                                        <p:cTn id="64" dur="1000">
                                          <p:stCondLst>
                                            <p:cond delay="0"/>
                                          </p:stCondLst>
                                        </p:cTn>
                                        <p:tgtEl>
                                          <p:spTgt spid="100440"/>
                                        </p:tgtEl>
                                        <p:attrNameLst>
                                          <p:attrName>style.visibility</p:attrName>
                                        </p:attrNameLst>
                                      </p:cBhvr>
                                      <p:to>
                                        <p:strVal val="visible"/>
                                      </p:to>
                                    </p:set>
                                  </p:childTnLst>
                                </p:cTn>
                              </p:par>
                            </p:childTnLst>
                          </p:cTn>
                        </p:par>
                        <p:par>
                          <p:cTn id="65" fill="hold">
                            <p:stCondLst>
                              <p:cond delay="1000"/>
                            </p:stCondLst>
                            <p:childTnLst>
                              <p:par>
                                <p:cTn id="66" presetID="22" presetClass="entr" presetSubtype="8" fill="hold" nodeType="after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wipe(left)">
                                      <p:cBhvr>
                                        <p:cTn id="68" dur="500"/>
                                        <p:tgtEl>
                                          <p:spTgt spid="8"/>
                                        </p:tgtEl>
                                      </p:cBhvr>
                                    </p:animEffect>
                                  </p:childTnLst>
                                </p:cTn>
                              </p:par>
                            </p:childTnLst>
                          </p:cTn>
                        </p:par>
                        <p:par>
                          <p:cTn id="69" fill="hold">
                            <p:stCondLst>
                              <p:cond delay="1500"/>
                            </p:stCondLst>
                            <p:childTnLst>
                              <p:par>
                                <p:cTn id="70" presetID="22" presetClass="entr" presetSubtype="8" fill="hold" grpId="0" nodeType="afterEffect">
                                  <p:stCondLst>
                                    <p:cond delay="0"/>
                                  </p:stCondLst>
                                  <p:childTnLst>
                                    <p:set>
                                      <p:cBhvr>
                                        <p:cTn id="71" dur="1" fill="hold">
                                          <p:stCondLst>
                                            <p:cond delay="0"/>
                                          </p:stCondLst>
                                        </p:cTn>
                                        <p:tgtEl>
                                          <p:spTgt spid="100418"/>
                                        </p:tgtEl>
                                        <p:attrNameLst>
                                          <p:attrName>style.visibility</p:attrName>
                                        </p:attrNameLst>
                                      </p:cBhvr>
                                      <p:to>
                                        <p:strVal val="visible"/>
                                      </p:to>
                                    </p:set>
                                    <p:animEffect transition="in" filter="wipe(left)">
                                      <p:cBhvr>
                                        <p:cTn id="72" dur="500"/>
                                        <p:tgtEl>
                                          <p:spTgt spid="100418"/>
                                        </p:tgtEl>
                                      </p:cBhvr>
                                    </p:animEffect>
                                  </p:childTnLst>
                                </p:cTn>
                              </p:par>
                            </p:childTnLst>
                          </p:cTn>
                        </p:par>
                      </p:childTnLst>
                    </p:cTn>
                  </p:par>
                  <p:par>
                    <p:cTn id="73" fill="hold">
                      <p:stCondLst>
                        <p:cond delay="indefinite"/>
                      </p:stCondLst>
                      <p:childTnLst>
                        <p:par>
                          <p:cTn id="74" fill="hold">
                            <p:stCondLst>
                              <p:cond delay="0"/>
                            </p:stCondLst>
                            <p:childTnLst>
                              <p:par>
                                <p:cTn id="75" presetID="11" presetClass="entr" presetSubtype="0" fill="hold" grpId="0" nodeType="clickEffect">
                                  <p:stCondLst>
                                    <p:cond delay="0"/>
                                  </p:stCondLst>
                                  <p:childTnLst>
                                    <p:set>
                                      <p:cBhvr>
                                        <p:cTn id="76" dur="1000">
                                          <p:stCondLst>
                                            <p:cond delay="0"/>
                                          </p:stCondLst>
                                        </p:cTn>
                                        <p:tgtEl>
                                          <p:spTgt spid="100441"/>
                                        </p:tgtEl>
                                        <p:attrNameLst>
                                          <p:attrName>style.visibility</p:attrName>
                                        </p:attrNameLst>
                                      </p:cBhvr>
                                      <p:to>
                                        <p:strVal val="visible"/>
                                      </p:to>
                                    </p:set>
                                  </p:childTnLst>
                                </p:cTn>
                              </p:par>
                            </p:childTnLst>
                          </p:cTn>
                        </p:par>
                        <p:par>
                          <p:cTn id="77" fill="hold">
                            <p:stCondLst>
                              <p:cond delay="1000"/>
                            </p:stCondLst>
                            <p:childTnLst>
                              <p:par>
                                <p:cTn id="78" presetID="22" presetClass="entr" presetSubtype="8" fill="hold" nodeType="after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wipe(left)">
                                      <p:cBhvr>
                                        <p:cTn id="80" dur="500"/>
                                        <p:tgtEl>
                                          <p:spTgt spid="7"/>
                                        </p:tgtEl>
                                      </p:cBhvr>
                                    </p:animEffect>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100417"/>
                                        </p:tgtEl>
                                        <p:attrNameLst>
                                          <p:attrName>style.visibility</p:attrName>
                                        </p:attrNameLst>
                                      </p:cBhvr>
                                      <p:to>
                                        <p:strVal val="visible"/>
                                      </p:to>
                                    </p:set>
                                    <p:animEffect transition="in" filter="wipe(left)">
                                      <p:cBhvr>
                                        <p:cTn id="84" dur="500"/>
                                        <p:tgtEl>
                                          <p:spTgt spid="100417"/>
                                        </p:tgtEl>
                                      </p:cBhvr>
                                    </p:animEffect>
                                  </p:childTnLst>
                                </p:cTn>
                              </p:par>
                            </p:childTnLst>
                          </p:cTn>
                        </p:par>
                      </p:childTnLst>
                    </p:cTn>
                  </p:par>
                  <p:par>
                    <p:cTn id="85" fill="hold">
                      <p:stCondLst>
                        <p:cond delay="indefinite"/>
                      </p:stCondLst>
                      <p:childTnLst>
                        <p:par>
                          <p:cTn id="86" fill="hold">
                            <p:stCondLst>
                              <p:cond delay="0"/>
                            </p:stCondLst>
                            <p:childTnLst>
                              <p:par>
                                <p:cTn id="87" presetID="11" presetClass="entr" presetSubtype="0" fill="hold" grpId="0" nodeType="clickEffect">
                                  <p:stCondLst>
                                    <p:cond delay="0"/>
                                  </p:stCondLst>
                                  <p:childTnLst>
                                    <p:set>
                                      <p:cBhvr>
                                        <p:cTn id="88" dur="1000">
                                          <p:stCondLst>
                                            <p:cond delay="0"/>
                                          </p:stCondLst>
                                        </p:cTn>
                                        <p:tgtEl>
                                          <p:spTgt spid="100444"/>
                                        </p:tgtEl>
                                        <p:attrNameLst>
                                          <p:attrName>style.visibility</p:attrName>
                                        </p:attrNameLst>
                                      </p:cBhvr>
                                      <p:to>
                                        <p:strVal val="visible"/>
                                      </p:to>
                                    </p:se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13"/>
                                        </p:tgtEl>
                                        <p:attrNameLst>
                                          <p:attrName>style.visibility</p:attrName>
                                        </p:attrNameLst>
                                      </p:cBhvr>
                                      <p:to>
                                        <p:strVal val="visible"/>
                                      </p:to>
                                    </p:set>
                                    <p:animEffect transition="in" filter="wipe(left)">
                                      <p:cBhvr>
                                        <p:cTn id="92" dur="500"/>
                                        <p:tgtEl>
                                          <p:spTgt spid="13"/>
                                        </p:tgtEl>
                                      </p:cBhvr>
                                    </p:animEffect>
                                  </p:childTnLst>
                                </p:cTn>
                              </p:par>
                            </p:childTnLst>
                          </p:cTn>
                        </p:par>
                        <p:par>
                          <p:cTn id="93" fill="hold">
                            <p:stCondLst>
                              <p:cond delay="1500"/>
                            </p:stCondLst>
                            <p:childTnLst>
                              <p:par>
                                <p:cTn id="94" presetID="22" presetClass="entr" presetSubtype="8" fill="hold" grpId="0" nodeType="afterEffect">
                                  <p:stCondLst>
                                    <p:cond delay="0"/>
                                  </p:stCondLst>
                                  <p:childTnLst>
                                    <p:set>
                                      <p:cBhvr>
                                        <p:cTn id="95" dur="1" fill="hold">
                                          <p:stCondLst>
                                            <p:cond delay="0"/>
                                          </p:stCondLst>
                                        </p:cTn>
                                        <p:tgtEl>
                                          <p:spTgt spid="100421"/>
                                        </p:tgtEl>
                                        <p:attrNameLst>
                                          <p:attrName>style.visibility</p:attrName>
                                        </p:attrNameLst>
                                      </p:cBhvr>
                                      <p:to>
                                        <p:strVal val="visible"/>
                                      </p:to>
                                    </p:set>
                                    <p:animEffect transition="in" filter="wipe(left)">
                                      <p:cBhvr>
                                        <p:cTn id="96" dur="500"/>
                                        <p:tgtEl>
                                          <p:spTgt spid="100421"/>
                                        </p:tgtEl>
                                      </p:cBhvr>
                                    </p:animEffect>
                                  </p:childTnLst>
                                </p:cTn>
                              </p:par>
                            </p:childTnLst>
                          </p:cTn>
                        </p:par>
                      </p:childTnLst>
                    </p:cTn>
                  </p:par>
                  <p:par>
                    <p:cTn id="97" fill="hold">
                      <p:stCondLst>
                        <p:cond delay="indefinite"/>
                      </p:stCondLst>
                      <p:childTnLst>
                        <p:par>
                          <p:cTn id="98" fill="hold">
                            <p:stCondLst>
                              <p:cond delay="0"/>
                            </p:stCondLst>
                            <p:childTnLst>
                              <p:par>
                                <p:cTn id="99" presetID="11" presetClass="entr" presetSubtype="0" fill="hold" grpId="0" nodeType="clickEffect">
                                  <p:stCondLst>
                                    <p:cond delay="0"/>
                                  </p:stCondLst>
                                  <p:childTnLst>
                                    <p:set>
                                      <p:cBhvr>
                                        <p:cTn id="100" dur="1000">
                                          <p:stCondLst>
                                            <p:cond delay="0"/>
                                          </p:stCondLst>
                                        </p:cTn>
                                        <p:tgtEl>
                                          <p:spTgt spid="100451"/>
                                        </p:tgtEl>
                                        <p:attrNameLst>
                                          <p:attrName>style.visibility</p:attrName>
                                        </p:attrNameLst>
                                      </p:cBhvr>
                                      <p:to>
                                        <p:strVal val="visible"/>
                                      </p:to>
                                    </p:set>
                                  </p:childTnLst>
                                </p:cTn>
                              </p:par>
                            </p:childTnLst>
                          </p:cTn>
                        </p:par>
                        <p:par>
                          <p:cTn id="101" fill="hold">
                            <p:stCondLst>
                              <p:cond delay="1000"/>
                            </p:stCondLst>
                            <p:childTnLst>
                              <p:par>
                                <p:cTn id="102" presetID="22" presetClass="entr" presetSubtype="8" fill="hold" nodeType="afterEffect">
                                  <p:stCondLst>
                                    <p:cond delay="0"/>
                                  </p:stCondLst>
                                  <p:childTnLst>
                                    <p:set>
                                      <p:cBhvr>
                                        <p:cTn id="103" dur="1" fill="hold">
                                          <p:stCondLst>
                                            <p:cond delay="0"/>
                                          </p:stCondLst>
                                        </p:cTn>
                                        <p:tgtEl>
                                          <p:spTgt spid="12"/>
                                        </p:tgtEl>
                                        <p:attrNameLst>
                                          <p:attrName>style.visibility</p:attrName>
                                        </p:attrNameLst>
                                      </p:cBhvr>
                                      <p:to>
                                        <p:strVal val="visible"/>
                                      </p:to>
                                    </p:set>
                                    <p:animEffect transition="in" filter="wipe(left)">
                                      <p:cBhvr>
                                        <p:cTn id="104" dur="500"/>
                                        <p:tgtEl>
                                          <p:spTgt spid="12"/>
                                        </p:tgtEl>
                                      </p:cBhvr>
                                    </p:animEffect>
                                  </p:childTnLst>
                                </p:cTn>
                              </p:par>
                            </p:childTnLst>
                          </p:cTn>
                        </p:par>
                        <p:par>
                          <p:cTn id="105" fill="hold">
                            <p:stCondLst>
                              <p:cond delay="1500"/>
                            </p:stCondLst>
                            <p:childTnLst>
                              <p:par>
                                <p:cTn id="106" presetID="22" presetClass="entr" presetSubtype="8" fill="hold" grpId="0" nodeType="afterEffect">
                                  <p:stCondLst>
                                    <p:cond delay="0"/>
                                  </p:stCondLst>
                                  <p:childTnLst>
                                    <p:set>
                                      <p:cBhvr>
                                        <p:cTn id="107" dur="1" fill="hold">
                                          <p:stCondLst>
                                            <p:cond delay="0"/>
                                          </p:stCondLst>
                                        </p:cTn>
                                        <p:tgtEl>
                                          <p:spTgt spid="100422"/>
                                        </p:tgtEl>
                                        <p:attrNameLst>
                                          <p:attrName>style.visibility</p:attrName>
                                        </p:attrNameLst>
                                      </p:cBhvr>
                                      <p:to>
                                        <p:strVal val="visible"/>
                                      </p:to>
                                    </p:set>
                                    <p:animEffect transition="in" filter="wipe(left)">
                                      <p:cBhvr>
                                        <p:cTn id="108" dur="500"/>
                                        <p:tgtEl>
                                          <p:spTgt spid="100422"/>
                                        </p:tgtEl>
                                      </p:cBhvr>
                                    </p:animEffect>
                                  </p:childTnLst>
                                </p:cTn>
                              </p:par>
                            </p:childTnLst>
                          </p:cTn>
                        </p:par>
                      </p:childTnLst>
                    </p:cTn>
                  </p:par>
                  <p:par>
                    <p:cTn id="109" fill="hold">
                      <p:stCondLst>
                        <p:cond delay="indefinite"/>
                      </p:stCondLst>
                      <p:childTnLst>
                        <p:par>
                          <p:cTn id="110" fill="hold">
                            <p:stCondLst>
                              <p:cond delay="0"/>
                            </p:stCondLst>
                            <p:childTnLst>
                              <p:par>
                                <p:cTn id="111" presetID="11" presetClass="entr" presetSubtype="0" fill="hold" grpId="0" nodeType="clickEffect">
                                  <p:stCondLst>
                                    <p:cond delay="0"/>
                                  </p:stCondLst>
                                  <p:childTnLst>
                                    <p:set>
                                      <p:cBhvr>
                                        <p:cTn id="112" dur="1000">
                                          <p:stCondLst>
                                            <p:cond delay="0"/>
                                          </p:stCondLst>
                                        </p:cTn>
                                        <p:tgtEl>
                                          <p:spTgt spid="100450"/>
                                        </p:tgtEl>
                                        <p:attrNameLst>
                                          <p:attrName>style.visibility</p:attrName>
                                        </p:attrNameLst>
                                      </p:cBhvr>
                                      <p:to>
                                        <p:strVal val="visible"/>
                                      </p:to>
                                    </p:set>
                                  </p:childTnLst>
                                </p:cTn>
                              </p:par>
                            </p:childTnLst>
                          </p:cTn>
                        </p:par>
                        <p:par>
                          <p:cTn id="113" fill="hold">
                            <p:stCondLst>
                              <p:cond delay="1000"/>
                            </p:stCondLst>
                            <p:childTnLst>
                              <p:par>
                                <p:cTn id="114" presetID="22" presetClass="entr" presetSubtype="8" fill="hold" nodeType="afterEffect">
                                  <p:stCondLst>
                                    <p:cond delay="0"/>
                                  </p:stCondLst>
                                  <p:childTnLst>
                                    <p:set>
                                      <p:cBhvr>
                                        <p:cTn id="115" dur="1" fill="hold">
                                          <p:stCondLst>
                                            <p:cond delay="0"/>
                                          </p:stCondLst>
                                        </p:cTn>
                                        <p:tgtEl>
                                          <p:spTgt spid="11"/>
                                        </p:tgtEl>
                                        <p:attrNameLst>
                                          <p:attrName>style.visibility</p:attrName>
                                        </p:attrNameLst>
                                      </p:cBhvr>
                                      <p:to>
                                        <p:strVal val="visible"/>
                                      </p:to>
                                    </p:set>
                                    <p:animEffect transition="in" filter="wipe(left)">
                                      <p:cBhvr>
                                        <p:cTn id="116" dur="500"/>
                                        <p:tgtEl>
                                          <p:spTgt spid="11"/>
                                        </p:tgtEl>
                                      </p:cBhvr>
                                    </p:animEffect>
                                  </p:childTnLst>
                                </p:cTn>
                              </p:par>
                            </p:childTnLst>
                          </p:cTn>
                        </p:par>
                        <p:par>
                          <p:cTn id="117" fill="hold">
                            <p:stCondLst>
                              <p:cond delay="1500"/>
                            </p:stCondLst>
                            <p:childTnLst>
                              <p:par>
                                <p:cTn id="118" presetID="22" presetClass="entr" presetSubtype="8" fill="hold" grpId="0" nodeType="afterEffect">
                                  <p:stCondLst>
                                    <p:cond delay="0"/>
                                  </p:stCondLst>
                                  <p:childTnLst>
                                    <p:set>
                                      <p:cBhvr>
                                        <p:cTn id="119" dur="1" fill="hold">
                                          <p:stCondLst>
                                            <p:cond delay="0"/>
                                          </p:stCondLst>
                                        </p:cTn>
                                        <p:tgtEl>
                                          <p:spTgt spid="100423"/>
                                        </p:tgtEl>
                                        <p:attrNameLst>
                                          <p:attrName>style.visibility</p:attrName>
                                        </p:attrNameLst>
                                      </p:cBhvr>
                                      <p:to>
                                        <p:strVal val="visible"/>
                                      </p:to>
                                    </p:set>
                                    <p:animEffect transition="in" filter="wipe(left)">
                                      <p:cBhvr>
                                        <p:cTn id="120" dur="500"/>
                                        <p:tgtEl>
                                          <p:spTgt spid="100423"/>
                                        </p:tgtEl>
                                      </p:cBhvr>
                                    </p:animEffect>
                                  </p:childTnLst>
                                </p:cTn>
                              </p:par>
                            </p:childTnLst>
                          </p:cTn>
                        </p:par>
                      </p:childTnLst>
                    </p:cTn>
                  </p:par>
                  <p:par>
                    <p:cTn id="121" fill="hold">
                      <p:stCondLst>
                        <p:cond delay="indefinite"/>
                      </p:stCondLst>
                      <p:childTnLst>
                        <p:par>
                          <p:cTn id="122" fill="hold">
                            <p:stCondLst>
                              <p:cond delay="0"/>
                            </p:stCondLst>
                            <p:childTnLst>
                              <p:par>
                                <p:cTn id="123" presetID="11" presetClass="entr" presetSubtype="0" fill="hold" nodeType="clickEffect">
                                  <p:stCondLst>
                                    <p:cond delay="0"/>
                                  </p:stCondLst>
                                  <p:childTnLst>
                                    <p:set>
                                      <p:cBhvr>
                                        <p:cTn id="124" dur="1000">
                                          <p:stCondLst>
                                            <p:cond delay="0"/>
                                          </p:stCondLst>
                                        </p:cTn>
                                        <p:tgtEl>
                                          <p:spTgt spid="15"/>
                                        </p:tgtEl>
                                        <p:attrNameLst>
                                          <p:attrName>style.visibility</p:attrName>
                                        </p:attrNameLst>
                                      </p:cBhvr>
                                      <p:to>
                                        <p:strVal val="visible"/>
                                      </p:to>
                                    </p:set>
                                  </p:childTnLst>
                                </p:cTn>
                              </p:par>
                            </p:childTnLst>
                          </p:cTn>
                        </p:par>
                        <p:par>
                          <p:cTn id="125" fill="hold">
                            <p:stCondLst>
                              <p:cond delay="1000"/>
                            </p:stCondLst>
                            <p:childTnLst>
                              <p:par>
                                <p:cTn id="126" presetID="22" presetClass="entr" presetSubtype="1" fill="hold" nodeType="afterEffect">
                                  <p:stCondLst>
                                    <p:cond delay="0"/>
                                  </p:stCondLst>
                                  <p:childTnLst>
                                    <p:set>
                                      <p:cBhvr>
                                        <p:cTn id="127" dur="1" fill="hold">
                                          <p:stCondLst>
                                            <p:cond delay="0"/>
                                          </p:stCondLst>
                                        </p:cTn>
                                        <p:tgtEl>
                                          <p:spTgt spid="14"/>
                                        </p:tgtEl>
                                        <p:attrNameLst>
                                          <p:attrName>style.visibility</p:attrName>
                                        </p:attrNameLst>
                                      </p:cBhvr>
                                      <p:to>
                                        <p:strVal val="visible"/>
                                      </p:to>
                                    </p:set>
                                    <p:animEffect transition="in" filter="wipe(up)">
                                      <p:cBhvr>
                                        <p:cTn id="128" dur="500"/>
                                        <p:tgtEl>
                                          <p:spTgt spid="14"/>
                                        </p:tgtEl>
                                      </p:cBhvr>
                                    </p:animEffect>
                                  </p:childTnLst>
                                </p:cTn>
                              </p:par>
                            </p:childTnLst>
                          </p:cTn>
                        </p:par>
                        <p:par>
                          <p:cTn id="129" fill="hold">
                            <p:stCondLst>
                              <p:cond delay="1500"/>
                            </p:stCondLst>
                            <p:childTnLst>
                              <p:par>
                                <p:cTn id="130" presetID="22" presetClass="entr" presetSubtype="8" fill="hold" grpId="0" nodeType="afterEffect">
                                  <p:stCondLst>
                                    <p:cond delay="0"/>
                                  </p:stCondLst>
                                  <p:childTnLst>
                                    <p:set>
                                      <p:cBhvr>
                                        <p:cTn id="131" dur="1" fill="hold">
                                          <p:stCondLst>
                                            <p:cond delay="0"/>
                                          </p:stCondLst>
                                        </p:cTn>
                                        <p:tgtEl>
                                          <p:spTgt spid="100425"/>
                                        </p:tgtEl>
                                        <p:attrNameLst>
                                          <p:attrName>style.visibility</p:attrName>
                                        </p:attrNameLst>
                                      </p:cBhvr>
                                      <p:to>
                                        <p:strVal val="visible"/>
                                      </p:to>
                                    </p:set>
                                    <p:animEffect transition="in" filter="wipe(left)">
                                      <p:cBhvr>
                                        <p:cTn id="132" dur="500"/>
                                        <p:tgtEl>
                                          <p:spTgt spid="100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81" grpId="0"/>
      <p:bldP spid="100387" grpId="0"/>
      <p:bldP spid="100395" grpId="0"/>
      <p:bldP spid="100417" grpId="0"/>
      <p:bldP spid="100418" grpId="0"/>
      <p:bldP spid="100419" grpId="0"/>
      <p:bldP spid="100420" grpId="0"/>
      <p:bldP spid="100421" grpId="0"/>
      <p:bldP spid="100422" grpId="0"/>
      <p:bldP spid="100423" grpId="0"/>
      <p:bldP spid="100425" grpId="0"/>
      <p:bldP spid="100438" grpId="0" animBg="1"/>
      <p:bldP spid="100439" grpId="0" animBg="1"/>
      <p:bldP spid="100440" grpId="0" animBg="1"/>
      <p:bldP spid="100441" grpId="0" animBg="1"/>
      <p:bldP spid="100444" grpId="0" animBg="1"/>
      <p:bldP spid="100450" grpId="0" animBg="1"/>
      <p:bldP spid="100451" grpId="0" animBg="1"/>
      <p:bldP spid="10045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78850"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99334" name="Text Box 6"/>
          <p:cNvSpPr txBox="1"/>
          <p:nvPr/>
        </p:nvSpPr>
        <p:spPr>
          <a:xfrm>
            <a:off x="1219200" y="2743200"/>
            <a:ext cx="7010400" cy="15525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每个异常模式还带有一个程序状态保存寄存器 （</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），它用于保存在异常发生之前的</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通过特殊指令（</a:t>
            </a:r>
            <a:r>
              <a:rPr lang="en-US" altLang="zh-CN" sz="2400" dirty="0">
                <a:latin typeface="华文新魏" panose="02010800040101010101" pitchFamily="2" charset="-122"/>
                <a:ea typeface="华文新魏" panose="02010800040101010101" pitchFamily="2" charset="-122"/>
              </a:rPr>
              <a:t>MRS</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MSR</a:t>
            </a:r>
            <a:r>
              <a:rPr lang="zh-CN" altLang="en-US" sz="2400" dirty="0">
                <a:latin typeface="华文新魏" panose="02010800040101010101" pitchFamily="2" charset="-122"/>
                <a:ea typeface="华文新魏" panose="02010800040101010101" pitchFamily="2" charset="-122"/>
              </a:rPr>
              <a:t>）进行访问。</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9334"/>
                                        </p:tgtEl>
                                        <p:attrNameLst>
                                          <p:attrName>style.visibility</p:attrName>
                                        </p:attrNameLst>
                                      </p:cBhvr>
                                      <p:to>
                                        <p:strVal val="visible"/>
                                      </p:to>
                                    </p:set>
                                    <p:animEffect transition="in" filter="box(in)">
                                      <p:cBhvr>
                                        <p:cTn id="7" dur="500"/>
                                        <p:tgtEl>
                                          <p:spTgt spid="99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101381"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条件代码标志</a:t>
            </a:r>
            <a:endParaRPr lang="zh-CN" altLang="en-US" dirty="0"/>
          </a:p>
        </p:txBody>
      </p:sp>
      <p:sp>
        <p:nvSpPr>
          <p:cNvPr id="101382" name="Text Box 6"/>
          <p:cNvSpPr txBox="1"/>
          <p:nvPr/>
        </p:nvSpPr>
        <p:spPr>
          <a:xfrm>
            <a:off x="1116013" y="2420938"/>
            <a:ext cx="7010400" cy="3195637"/>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大多数</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数值处理指令</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可以选择是否影响条件代码标志位。通常如果指令带</a:t>
            </a:r>
            <a:r>
              <a:rPr lang="en-US" altLang="zh-CN" sz="2400" dirty="0">
                <a:latin typeface="华文新魏" panose="02010800040101010101" pitchFamily="2" charset="-122"/>
                <a:ea typeface="华文新魏" panose="02010800040101010101" pitchFamily="2" charset="-122"/>
              </a:rPr>
              <a:t>S</a:t>
            </a:r>
            <a:r>
              <a:rPr lang="zh-CN" altLang="en-US" sz="2400" dirty="0">
                <a:latin typeface="华文新魏" panose="02010800040101010101" pitchFamily="2" charset="-122"/>
                <a:ea typeface="华文新魏" panose="02010800040101010101" pitchFamily="2" charset="-122"/>
              </a:rPr>
              <a:t>后缀，则该指令的执行会影响条件代码标志；但有一些指令的执行总是会影响条件代码标志。</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N</a:t>
            </a: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Z</a:t>
            </a: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C</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V</a:t>
            </a:r>
            <a:r>
              <a:rPr lang="zh-CN" altLang="en-US" sz="2400" dirty="0">
                <a:latin typeface="华文新魏" panose="02010800040101010101" pitchFamily="2" charset="-122"/>
                <a:ea typeface="华文新魏" panose="02010800040101010101" pitchFamily="2" charset="-122"/>
              </a:rPr>
              <a:t>位都是条件代码标志。算术操作、逻辑操作、</a:t>
            </a:r>
            <a:r>
              <a:rPr lang="en-US" altLang="zh-CN" sz="2400" dirty="0">
                <a:latin typeface="华文新魏" panose="02010800040101010101" pitchFamily="2" charset="-122"/>
                <a:ea typeface="华文新魏" panose="02010800040101010101" pitchFamily="2" charset="-122"/>
              </a:rPr>
              <a:t>MSR</a:t>
            </a:r>
            <a:r>
              <a:rPr lang="zh-CN" altLang="en-US" sz="2400" dirty="0">
                <a:latin typeface="华文新魏" panose="02010800040101010101" pitchFamily="2" charset="-122"/>
                <a:ea typeface="华文新魏" panose="02010800040101010101" pitchFamily="2" charset="-122"/>
              </a:rPr>
              <a:t>或者</a:t>
            </a:r>
            <a:r>
              <a:rPr lang="en-US" altLang="zh-CN" sz="2400" dirty="0">
                <a:latin typeface="华文新魏" panose="02010800040101010101" pitchFamily="2" charset="-122"/>
                <a:ea typeface="华文新魏" panose="02010800040101010101" pitchFamily="2" charset="-122"/>
              </a:rPr>
              <a:t>LDM</a:t>
            </a:r>
            <a:r>
              <a:rPr lang="zh-CN" altLang="en-US" sz="2400" dirty="0">
                <a:latin typeface="华文新魏" panose="02010800040101010101" pitchFamily="2" charset="-122"/>
                <a:ea typeface="华文新魏" panose="02010800040101010101" pitchFamily="2" charset="-122"/>
              </a:rPr>
              <a:t>指令可以对这些位进行设置。所有</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指令都可按条件来执行，而</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指令中只有分支指令可按条件执行。</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1381">
                                            <p:txEl>
                                              <p:charRg st="0" end="7"/>
                                            </p:txEl>
                                          </p:spTgt>
                                        </p:tgtEl>
                                        <p:attrNameLst>
                                          <p:attrName>style.visibility</p:attrName>
                                        </p:attrNameLst>
                                      </p:cBhvr>
                                      <p:to>
                                        <p:strVal val="visible"/>
                                      </p:to>
                                    </p:set>
                                    <p:anim calcmode="lin" valueType="num">
                                      <p:cBhvr additive="base">
                                        <p:cTn id="7" dur="500" fill="hold"/>
                                        <p:tgtEl>
                                          <p:spTgt spid="101381">
                                            <p:txEl>
                                              <p:charRg st="0" end="7"/>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1381">
                                            <p:txEl>
                                              <p:charRg st="0" end="7"/>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01382"/>
                                        </p:tgtEl>
                                        <p:attrNameLst>
                                          <p:attrName>style.visibility</p:attrName>
                                        </p:attrNameLst>
                                      </p:cBhvr>
                                      <p:to>
                                        <p:strVal val="visible"/>
                                      </p:to>
                                    </p:set>
                                    <p:animEffect transition="in" filter="box(in)">
                                      <p:cBhvr>
                                        <p:cTn id="12" dur="500"/>
                                        <p:tgtEl>
                                          <p:spTgt spid="101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1" grpId="0" advAuto="1000" build="p"/>
      <p:bldP spid="10138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80898"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条件代码标志</a:t>
            </a:r>
            <a:endParaRPr lang="zh-CN" altLang="en-US" dirty="0"/>
          </a:p>
        </p:txBody>
      </p:sp>
      <p:sp>
        <p:nvSpPr>
          <p:cNvPr id="102407" name="Text Box 7"/>
          <p:cNvSpPr txBox="1"/>
          <p:nvPr/>
        </p:nvSpPr>
        <p:spPr>
          <a:xfrm>
            <a:off x="1187450" y="2565400"/>
            <a:ext cx="7010400" cy="2647950"/>
          </a:xfrm>
          <a:prstGeom prst="rect">
            <a:avLst/>
          </a:prstGeom>
          <a:noFill/>
          <a:ln w="9525">
            <a:noFill/>
          </a:ln>
        </p:spPr>
        <p:txBody>
          <a:bodyPr anchor="t" anchorCtr="0">
            <a:spAutoFit/>
          </a:bodyPr>
          <a:p>
            <a:pPr>
              <a:spcBef>
                <a:spcPct val="50000"/>
              </a:spcBef>
              <a:buClrTx/>
              <a:buFontTx/>
            </a:pPr>
            <a:r>
              <a:rPr lang="zh-CN" altLang="en-US" sz="2400" dirty="0">
                <a:latin typeface="华文新魏" panose="02010800040101010101" pitchFamily="2" charset="-122"/>
                <a:ea typeface="华文新魏" panose="02010800040101010101" pitchFamily="2" charset="-122"/>
              </a:rPr>
              <a:t>各标志位的含义如下：</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N   </a:t>
            </a:r>
            <a:r>
              <a:rPr lang="zh-CN" altLang="en-US" sz="2400" dirty="0">
                <a:latin typeface="华文新魏" panose="02010800040101010101" pitchFamily="2" charset="-122"/>
                <a:ea typeface="华文新魏" panose="02010800040101010101" pitchFamily="2" charset="-122"/>
              </a:rPr>
              <a:t>运算结果的最高位反映在该标志位。对于有符号二进制补码，结果为负数时</a:t>
            </a:r>
            <a:r>
              <a:rPr lang="en-US" altLang="zh-CN" sz="2400" dirty="0">
                <a:latin typeface="华文新魏" panose="02010800040101010101" pitchFamily="2" charset="-122"/>
                <a:ea typeface="华文新魏" panose="02010800040101010101" pitchFamily="2" charset="-122"/>
              </a:rPr>
              <a:t>N=1</a:t>
            </a:r>
            <a:r>
              <a:rPr lang="zh-CN" altLang="en-US" sz="2400" dirty="0">
                <a:latin typeface="华文新魏" panose="02010800040101010101" pitchFamily="2" charset="-122"/>
                <a:ea typeface="华文新魏" panose="02010800040101010101" pitchFamily="2" charset="-122"/>
              </a:rPr>
              <a:t>，结果为正数或零时</a:t>
            </a:r>
            <a:r>
              <a:rPr lang="en-US" altLang="zh-CN" sz="2400" dirty="0">
                <a:latin typeface="华文新魏" panose="02010800040101010101" pitchFamily="2" charset="-122"/>
                <a:ea typeface="华文新魏" panose="02010800040101010101" pitchFamily="2" charset="-122"/>
              </a:rPr>
              <a:t>N=0</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Z   </a:t>
            </a:r>
            <a:r>
              <a:rPr lang="zh-CN" altLang="en-US" sz="2400" dirty="0">
                <a:latin typeface="华文新魏" panose="02010800040101010101" pitchFamily="2" charset="-122"/>
                <a:ea typeface="华文新魏" panose="02010800040101010101" pitchFamily="2" charset="-122"/>
              </a:rPr>
              <a:t>指令结果为</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时</a:t>
            </a:r>
            <a:r>
              <a:rPr lang="en-US" altLang="zh-CN" sz="2400" dirty="0">
                <a:latin typeface="华文新魏" panose="02010800040101010101" pitchFamily="2" charset="-122"/>
                <a:ea typeface="华文新魏" panose="02010800040101010101" pitchFamily="2" charset="-122"/>
              </a:rPr>
              <a:t>Z=1</a:t>
            </a:r>
            <a:r>
              <a:rPr lang="zh-CN" altLang="en-US" sz="2400" dirty="0">
                <a:latin typeface="华文新魏" panose="02010800040101010101" pitchFamily="2" charset="-122"/>
                <a:ea typeface="华文新魏" panose="02010800040101010101" pitchFamily="2" charset="-122"/>
              </a:rPr>
              <a:t>（通常表示比较结果</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相等</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），否则</a:t>
            </a:r>
            <a:r>
              <a:rPr lang="en-US" altLang="zh-CN" sz="2400" dirty="0">
                <a:latin typeface="华文新魏" panose="02010800040101010101" pitchFamily="2" charset="-122"/>
                <a:ea typeface="华文新魏" panose="02010800040101010101" pitchFamily="2" charset="-122"/>
              </a:rPr>
              <a:t>Z=0</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02407"/>
                                        </p:tgtEl>
                                        <p:attrNameLst>
                                          <p:attrName>style.visibility</p:attrName>
                                        </p:attrNameLst>
                                      </p:cBhvr>
                                      <p:to>
                                        <p:strVal val="visible"/>
                                      </p:to>
                                    </p:set>
                                    <p:animEffect transition="in" filter="box(in)">
                                      <p:cBhvr>
                                        <p:cTn id="7" dur="500"/>
                                        <p:tgtEl>
                                          <p:spTgt spid="102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1028"/>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81922" name="Rectangle 1029"/>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条件代码标志</a:t>
            </a:r>
            <a:endParaRPr lang="zh-CN" altLang="en-US" dirty="0"/>
          </a:p>
        </p:txBody>
      </p:sp>
      <p:sp>
        <p:nvSpPr>
          <p:cNvPr id="103430" name="Text Box 1030"/>
          <p:cNvSpPr txBox="1"/>
          <p:nvPr/>
        </p:nvSpPr>
        <p:spPr>
          <a:xfrm>
            <a:off x="1187450" y="2492375"/>
            <a:ext cx="7010400" cy="3378200"/>
          </a:xfrm>
          <a:prstGeom prst="rect">
            <a:avLst/>
          </a:prstGeom>
          <a:noFill/>
          <a:ln w="9525">
            <a:noFill/>
          </a:ln>
        </p:spPr>
        <p:txBody>
          <a:bodyPr anchor="t" anchorCtr="0">
            <a:spAutoFit/>
          </a:bodyPr>
          <a:p>
            <a:pPr>
              <a:spcBef>
                <a:spcPct val="50000"/>
              </a:spcBef>
              <a:buClrTx/>
              <a:buFontTx/>
            </a:pPr>
            <a:r>
              <a:rPr lang="zh-CN" altLang="en-US" sz="2400" dirty="0">
                <a:latin typeface="华文新魏" panose="02010800040101010101" pitchFamily="2" charset="-122"/>
                <a:ea typeface="华文新魏" panose="02010800040101010101" pitchFamily="2" charset="-122"/>
              </a:rPr>
              <a:t>各标志位的含义如下：</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C   </a:t>
            </a:r>
            <a:r>
              <a:rPr lang="zh-CN" altLang="en-US" sz="2400" dirty="0">
                <a:latin typeface="华文新魏" panose="02010800040101010101" pitchFamily="2" charset="-122"/>
                <a:ea typeface="华文新魏" panose="02010800040101010101" pitchFamily="2" charset="-122"/>
              </a:rPr>
              <a:t>当进行加法运算</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包括</a:t>
            </a:r>
            <a:r>
              <a:rPr lang="en-US" altLang="zh-CN" sz="2400" dirty="0">
                <a:latin typeface="华文新魏" panose="02010800040101010101" pitchFamily="2" charset="-122"/>
                <a:ea typeface="华文新魏" panose="02010800040101010101" pitchFamily="2" charset="-122"/>
              </a:rPr>
              <a:t>CMN</a:t>
            </a:r>
            <a:r>
              <a:rPr lang="zh-CN" altLang="en-US" sz="2400" dirty="0">
                <a:latin typeface="华文新魏" panose="02010800040101010101" pitchFamily="2" charset="-122"/>
                <a:ea typeface="华文新魏" panose="02010800040101010101" pitchFamily="2" charset="-122"/>
              </a:rPr>
              <a:t>指令</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，并且最高位产生进位时</a:t>
            </a:r>
            <a:r>
              <a:rPr lang="en-US" altLang="zh-CN" sz="2400" dirty="0">
                <a:latin typeface="华文新魏" panose="02010800040101010101" pitchFamily="2" charset="-122"/>
                <a:ea typeface="华文新魏" panose="02010800040101010101" pitchFamily="2" charset="-122"/>
              </a:rPr>
              <a:t>C=1</a:t>
            </a:r>
            <a:r>
              <a:rPr lang="zh-CN" altLang="en-US" sz="2400" dirty="0">
                <a:latin typeface="华文新魏" panose="02010800040101010101" pitchFamily="2" charset="-122"/>
                <a:ea typeface="华文新魏" panose="02010800040101010101" pitchFamily="2" charset="-122"/>
              </a:rPr>
              <a:t>，否则</a:t>
            </a:r>
            <a:r>
              <a:rPr lang="en-US" altLang="zh-CN" sz="2400" dirty="0">
                <a:latin typeface="华文新魏" panose="02010800040101010101" pitchFamily="2" charset="-122"/>
                <a:ea typeface="华文新魏" panose="02010800040101010101" pitchFamily="2" charset="-122"/>
              </a:rPr>
              <a:t>C=0</a:t>
            </a:r>
            <a:r>
              <a:rPr lang="zh-CN" altLang="en-US" sz="2400" dirty="0">
                <a:latin typeface="华文新魏" panose="02010800040101010101" pitchFamily="2" charset="-122"/>
                <a:ea typeface="华文新魏" panose="02010800040101010101" pitchFamily="2" charset="-122"/>
              </a:rPr>
              <a:t>。当进行减法运算</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包括</a:t>
            </a:r>
            <a:r>
              <a:rPr lang="en-US" altLang="zh-CN" sz="2400" dirty="0">
                <a:latin typeface="华文新魏" panose="02010800040101010101" pitchFamily="2" charset="-122"/>
                <a:ea typeface="华文新魏" panose="02010800040101010101" pitchFamily="2" charset="-122"/>
              </a:rPr>
              <a:t>CMP </a:t>
            </a:r>
            <a:r>
              <a:rPr lang="zh-CN" altLang="en-US" sz="2400" dirty="0">
                <a:latin typeface="华文新魏" panose="02010800040101010101" pitchFamily="2" charset="-122"/>
                <a:ea typeface="华文新魏" panose="02010800040101010101" pitchFamily="2" charset="-122"/>
              </a:rPr>
              <a:t>指令</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，并且最高位产生借位时</a:t>
            </a:r>
            <a:r>
              <a:rPr lang="en-US" altLang="zh-CN" sz="2400" dirty="0">
                <a:latin typeface="华文新魏" panose="02010800040101010101" pitchFamily="2" charset="-122"/>
                <a:ea typeface="华文新魏" panose="02010800040101010101" pitchFamily="2" charset="-122"/>
              </a:rPr>
              <a:t>C=0</a:t>
            </a:r>
            <a:r>
              <a:rPr lang="zh-CN" altLang="en-US" sz="2400" dirty="0">
                <a:latin typeface="华文新魏" panose="02010800040101010101" pitchFamily="2" charset="-122"/>
                <a:ea typeface="华文新魏" panose="02010800040101010101" pitchFamily="2" charset="-122"/>
              </a:rPr>
              <a:t>，否则</a:t>
            </a:r>
            <a:r>
              <a:rPr lang="en-US" altLang="zh-CN" sz="2400" dirty="0">
                <a:latin typeface="华文新魏" panose="02010800040101010101" pitchFamily="2" charset="-122"/>
                <a:ea typeface="华文新魏" panose="02010800040101010101" pitchFamily="2" charset="-122"/>
              </a:rPr>
              <a:t>C=1</a:t>
            </a:r>
            <a:r>
              <a:rPr lang="zh-CN" altLang="en-US" sz="2400" dirty="0">
                <a:latin typeface="华文新魏" panose="02010800040101010101" pitchFamily="2" charset="-122"/>
                <a:ea typeface="华文新魏" panose="02010800040101010101" pitchFamily="2" charset="-122"/>
              </a:rPr>
              <a:t>。对于结合移位操作的非加法</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减法指令，</a:t>
            </a:r>
            <a:r>
              <a:rPr lang="en-US" altLang="zh-CN" sz="2400" dirty="0">
                <a:latin typeface="华文新魏" panose="02010800040101010101" pitchFamily="2" charset="-122"/>
                <a:ea typeface="华文新魏" panose="02010800040101010101" pitchFamily="2" charset="-122"/>
              </a:rPr>
              <a:t>C</a:t>
            </a:r>
            <a:r>
              <a:rPr lang="zh-CN" altLang="en-US" sz="2400" dirty="0">
                <a:latin typeface="华文新魏" panose="02010800040101010101" pitchFamily="2" charset="-122"/>
                <a:ea typeface="华文新魏" panose="02010800040101010101" pitchFamily="2" charset="-122"/>
              </a:rPr>
              <a:t>为从最高位最后移出的值，其它指令</a:t>
            </a:r>
            <a:r>
              <a:rPr lang="en-US" altLang="zh-CN" sz="2400" dirty="0">
                <a:latin typeface="华文新魏" panose="02010800040101010101" pitchFamily="2" charset="-122"/>
                <a:ea typeface="华文新魏" panose="02010800040101010101" pitchFamily="2" charset="-122"/>
              </a:rPr>
              <a:t>C</a:t>
            </a:r>
            <a:r>
              <a:rPr lang="zh-CN" altLang="en-US" sz="2400" dirty="0">
                <a:latin typeface="华文新魏" panose="02010800040101010101" pitchFamily="2" charset="-122"/>
                <a:ea typeface="华文新魏" panose="02010800040101010101" pitchFamily="2" charset="-122"/>
              </a:rPr>
              <a:t>通常不变； </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en-US" altLang="zh-CN" sz="2400" dirty="0">
                <a:latin typeface="华文新魏" panose="02010800040101010101" pitchFamily="2" charset="-122"/>
                <a:ea typeface="华文新魏" panose="02010800040101010101" pitchFamily="2" charset="-122"/>
              </a:rPr>
              <a:t>V</a:t>
            </a:r>
            <a:r>
              <a:rPr lang="zh-CN" altLang="en-US" sz="2400" dirty="0">
                <a:latin typeface="华文新魏" panose="02010800040101010101" pitchFamily="2" charset="-122"/>
                <a:ea typeface="华文新魏" panose="02010800040101010101" pitchFamily="2" charset="-122"/>
              </a:rPr>
              <a:t>当进行加法</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减法运算，并且发生有符号溢出时</a:t>
            </a:r>
            <a:r>
              <a:rPr lang="en-US" altLang="zh-CN" sz="2400" dirty="0">
                <a:latin typeface="华文新魏" panose="02010800040101010101" pitchFamily="2" charset="-122"/>
                <a:ea typeface="华文新魏" panose="02010800040101010101" pitchFamily="2" charset="-122"/>
              </a:rPr>
              <a:t>V=1</a:t>
            </a:r>
            <a:r>
              <a:rPr lang="zh-CN" altLang="en-US" sz="2400" dirty="0">
                <a:latin typeface="华文新魏" panose="02010800040101010101" pitchFamily="2" charset="-122"/>
                <a:ea typeface="华文新魏" panose="02010800040101010101" pitchFamily="2" charset="-122"/>
              </a:rPr>
              <a:t>，否则</a:t>
            </a:r>
            <a:r>
              <a:rPr lang="en-US" altLang="zh-CN" sz="2400" dirty="0">
                <a:latin typeface="华文新魏" panose="02010800040101010101" pitchFamily="2" charset="-122"/>
                <a:ea typeface="华文新魏" panose="02010800040101010101" pitchFamily="2" charset="-122"/>
              </a:rPr>
              <a:t>V=0</a:t>
            </a:r>
            <a:r>
              <a:rPr lang="zh-CN" altLang="en-US" sz="2400" dirty="0">
                <a:latin typeface="华文新魏" panose="02010800040101010101" pitchFamily="2" charset="-122"/>
                <a:ea typeface="华文新魏" panose="02010800040101010101" pitchFamily="2" charset="-122"/>
              </a:rPr>
              <a:t>，其它指令</a:t>
            </a:r>
            <a:r>
              <a:rPr lang="en-US" altLang="zh-CN" sz="2400" dirty="0">
                <a:latin typeface="华文新魏" panose="02010800040101010101" pitchFamily="2" charset="-122"/>
                <a:ea typeface="华文新魏" panose="02010800040101010101" pitchFamily="2" charset="-122"/>
              </a:rPr>
              <a:t>V</a:t>
            </a:r>
            <a:r>
              <a:rPr lang="zh-CN" altLang="en-US" sz="2400" dirty="0">
                <a:latin typeface="华文新魏" panose="02010800040101010101" pitchFamily="2" charset="-122"/>
                <a:ea typeface="华文新魏" panose="02010800040101010101" pitchFamily="2" charset="-122"/>
              </a:rPr>
              <a:t>通常不变。</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03430"/>
                                        </p:tgtEl>
                                        <p:attrNameLst>
                                          <p:attrName>style.visibility</p:attrName>
                                        </p:attrNameLst>
                                      </p:cBhvr>
                                      <p:to>
                                        <p:strVal val="visible"/>
                                      </p:to>
                                    </p:set>
                                    <p:animEffect transition="in" filter="box(in)">
                                      <p:cBhvr>
                                        <p:cTn id="7" dur="500"/>
                                        <p:tgtEl>
                                          <p:spTgt spid="103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107523"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控制位</a:t>
            </a:r>
            <a:endParaRPr lang="zh-CN" altLang="en-US" dirty="0"/>
          </a:p>
        </p:txBody>
      </p:sp>
      <p:sp>
        <p:nvSpPr>
          <p:cNvPr id="107524" name="Text Box 4"/>
          <p:cNvSpPr txBox="1"/>
          <p:nvPr/>
        </p:nvSpPr>
        <p:spPr>
          <a:xfrm>
            <a:off x="900113" y="2565400"/>
            <a:ext cx="7010400" cy="33782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CPSR</a:t>
            </a:r>
            <a:r>
              <a:rPr lang="zh-CN" altLang="en-US" sz="2400" dirty="0">
                <a:latin typeface="华文新魏" panose="02010800040101010101" pitchFamily="2" charset="-122"/>
                <a:ea typeface="华文新魏" panose="02010800040101010101" pitchFamily="2" charset="-122"/>
              </a:rPr>
              <a:t>的最低</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位为控制位，当发生异常时，这些位被硬件改变。当处理器处于一个特权模式时，可用软件操作这些位。</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它们分别是：</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中断禁止位；</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T</a:t>
            </a:r>
            <a:r>
              <a:rPr lang="zh-CN" altLang="en-US" sz="2400" dirty="0">
                <a:solidFill>
                  <a:schemeClr val="tx1"/>
                </a:solidFill>
                <a:latin typeface="华文新魏" panose="02010800040101010101" pitchFamily="2" charset="-122"/>
                <a:ea typeface="华文新魏" panose="02010800040101010101" pitchFamily="2" charset="-122"/>
              </a:rPr>
              <a:t>位；</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模式位。</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7523">
                                            <p:txEl>
                                              <p:charRg st="0" end="4"/>
                                            </p:txEl>
                                          </p:spTgt>
                                        </p:tgtEl>
                                        <p:attrNameLst>
                                          <p:attrName>style.visibility</p:attrName>
                                        </p:attrNameLst>
                                      </p:cBhvr>
                                      <p:to>
                                        <p:strVal val="visible"/>
                                      </p:to>
                                    </p:set>
                                    <p:anim calcmode="lin" valueType="num">
                                      <p:cBhvr additive="base">
                                        <p:cTn id="7" dur="500" fill="hold"/>
                                        <p:tgtEl>
                                          <p:spTgt spid="107523">
                                            <p:txEl>
                                              <p:charRg st="0" end="4"/>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7523">
                                            <p:txEl>
                                              <p:charRg st="0" end="4"/>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07524"/>
                                        </p:tgtEl>
                                        <p:attrNameLst>
                                          <p:attrName>style.visibility</p:attrName>
                                        </p:attrNameLst>
                                      </p:cBhvr>
                                      <p:to>
                                        <p:strVal val="visible"/>
                                      </p:to>
                                    </p:set>
                                    <p:animEffect transition="in" filter="box(in)">
                                      <p:cBhvr>
                                        <p:cTn id="12" dur="5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advAuto="1000" build="p"/>
      <p:bldP spid="10752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83970"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控制位</a:t>
            </a:r>
            <a:endParaRPr lang="zh-CN" altLang="en-US" dirty="0"/>
          </a:p>
        </p:txBody>
      </p:sp>
      <p:sp>
        <p:nvSpPr>
          <p:cNvPr id="105478" name="Text Box 6"/>
          <p:cNvSpPr txBox="1"/>
          <p:nvPr/>
        </p:nvSpPr>
        <p:spPr>
          <a:xfrm>
            <a:off x="1042988" y="2420938"/>
            <a:ext cx="7010400" cy="3195637"/>
          </a:xfrm>
          <a:prstGeom prst="rect">
            <a:avLst/>
          </a:prstGeom>
          <a:noFill/>
          <a:ln w="9525">
            <a:noFill/>
          </a:ln>
        </p:spPr>
        <p:txBody>
          <a:bodyPr anchor="t" anchorCtr="0">
            <a:spAutoFit/>
          </a:bodyPr>
          <a:p>
            <a:pPr>
              <a:spcBef>
                <a:spcPct val="50000"/>
              </a:spcBef>
              <a:buClr>
                <a:srgbClr val="008000"/>
              </a:buClr>
              <a:buFont typeface="Wingdings" panose="05000000000000000000" pitchFamily="2" charset="2"/>
              <a:buChar char="Ø"/>
            </a:pPr>
            <a:r>
              <a:rPr lang="zh-CN" altLang="en-US" sz="2400" dirty="0">
                <a:latin typeface="华文新魏" panose="02010800040101010101" pitchFamily="2" charset="-122"/>
                <a:ea typeface="华文新魏" panose="02010800040101010101" pitchFamily="2" charset="-122"/>
              </a:rPr>
              <a:t>中断禁止位包括</a:t>
            </a:r>
            <a:r>
              <a:rPr lang="en-US" altLang="zh-CN" sz="2400" dirty="0">
                <a:latin typeface="华文新魏" panose="02010800040101010101" pitchFamily="2" charset="-122"/>
                <a:ea typeface="华文新魏" panose="02010800040101010101" pitchFamily="2" charset="-122"/>
              </a:rPr>
              <a:t>I</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F</a:t>
            </a:r>
            <a:r>
              <a:rPr lang="zh-CN" altLang="en-US" sz="2400" dirty="0">
                <a:latin typeface="华文新魏" panose="02010800040101010101" pitchFamily="2" charset="-122"/>
                <a:ea typeface="华文新魏" panose="02010800040101010101" pitchFamily="2" charset="-122"/>
              </a:rPr>
              <a:t>位：</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当</a:t>
            </a:r>
            <a:r>
              <a:rPr lang="en-US" altLang="zh-CN" sz="2400" dirty="0">
                <a:solidFill>
                  <a:schemeClr val="tx1"/>
                </a:solidFill>
                <a:latin typeface="华文新魏" panose="02010800040101010101" pitchFamily="2" charset="-122"/>
                <a:ea typeface="华文新魏" panose="02010800040101010101" pitchFamily="2" charset="-122"/>
              </a:rPr>
              <a:t>I</a:t>
            </a:r>
            <a:r>
              <a:rPr lang="zh-CN" altLang="en-US" sz="2400" dirty="0">
                <a:solidFill>
                  <a:schemeClr val="tx1"/>
                </a:solidFill>
                <a:latin typeface="华文新魏" panose="02010800040101010101" pitchFamily="2" charset="-122"/>
                <a:ea typeface="华文新魏" panose="02010800040101010101" pitchFamily="2" charset="-122"/>
              </a:rPr>
              <a:t>位置位时，</a:t>
            </a:r>
            <a:r>
              <a:rPr lang="en-US" altLang="zh-CN" sz="2400" dirty="0">
                <a:solidFill>
                  <a:schemeClr val="tx1"/>
                </a:solidFill>
                <a:latin typeface="华文新魏" panose="02010800040101010101" pitchFamily="2" charset="-122"/>
                <a:ea typeface="华文新魏" panose="02010800040101010101" pitchFamily="2" charset="-122"/>
              </a:rPr>
              <a:t>IRQ</a:t>
            </a:r>
            <a:r>
              <a:rPr lang="zh-CN" altLang="en-US" sz="2400" dirty="0">
                <a:solidFill>
                  <a:schemeClr val="tx1"/>
                </a:solidFill>
                <a:latin typeface="华文新魏" panose="02010800040101010101" pitchFamily="2" charset="-122"/>
                <a:ea typeface="华文新魏" panose="02010800040101010101" pitchFamily="2" charset="-122"/>
              </a:rPr>
              <a:t>中断被禁止；</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当</a:t>
            </a:r>
            <a:r>
              <a:rPr lang="en-US" altLang="zh-CN" sz="2400" dirty="0">
                <a:solidFill>
                  <a:schemeClr val="tx1"/>
                </a:solidFill>
                <a:latin typeface="华文新魏" panose="02010800040101010101" pitchFamily="2" charset="-122"/>
                <a:ea typeface="华文新魏" panose="02010800040101010101" pitchFamily="2" charset="-122"/>
              </a:rPr>
              <a:t>F</a:t>
            </a:r>
            <a:r>
              <a:rPr lang="zh-CN" altLang="en-US" sz="2400" dirty="0">
                <a:solidFill>
                  <a:schemeClr val="tx1"/>
                </a:solidFill>
                <a:latin typeface="华文新魏" panose="02010800040101010101" pitchFamily="2" charset="-122"/>
                <a:ea typeface="华文新魏" panose="02010800040101010101" pitchFamily="2" charset="-122"/>
              </a:rPr>
              <a:t>位置位时，</a:t>
            </a:r>
            <a:r>
              <a:rPr lang="en-US" altLang="zh-CN" sz="2400" dirty="0">
                <a:solidFill>
                  <a:schemeClr val="tx1"/>
                </a:solidFill>
                <a:latin typeface="华文新魏" panose="02010800040101010101" pitchFamily="2" charset="-122"/>
                <a:ea typeface="华文新魏" panose="02010800040101010101" pitchFamily="2" charset="-122"/>
              </a:rPr>
              <a:t>FIQ</a:t>
            </a:r>
            <a:r>
              <a:rPr lang="zh-CN" altLang="en-US" sz="2400" dirty="0">
                <a:solidFill>
                  <a:schemeClr val="tx1"/>
                </a:solidFill>
                <a:latin typeface="华文新魏" panose="02010800040101010101" pitchFamily="2" charset="-122"/>
                <a:ea typeface="华文新魏" panose="02010800040101010101" pitchFamily="2" charset="-122"/>
              </a:rPr>
              <a:t>中断被禁止。</a:t>
            </a:r>
            <a:endParaRPr lang="zh-CN" altLang="en-US" sz="2400" dirty="0">
              <a:solidFill>
                <a:schemeClr val="tx1"/>
              </a:solidFill>
              <a:latin typeface="华文新魏" panose="02010800040101010101" pitchFamily="2" charset="-122"/>
              <a:ea typeface="华文新魏" panose="02010800040101010101" pitchFamily="2" charset="-122"/>
            </a:endParaRPr>
          </a:p>
          <a:p>
            <a:pPr>
              <a:spcBef>
                <a:spcPct val="50000"/>
              </a:spcBef>
              <a:buClr>
                <a:srgbClr val="008000"/>
              </a:buClr>
              <a:buFont typeface="Wingdings" panose="05000000000000000000" pitchFamily="2" charset="2"/>
              <a:buChar char="Ø"/>
            </a:pPr>
            <a:r>
              <a:rPr lang="en-US" altLang="zh-CN" sz="2400" dirty="0">
                <a:latin typeface="华文新魏" panose="02010800040101010101" pitchFamily="2" charset="-122"/>
                <a:ea typeface="华文新魏" panose="02010800040101010101" pitchFamily="2" charset="-122"/>
              </a:rPr>
              <a:t>T</a:t>
            </a:r>
            <a:r>
              <a:rPr lang="zh-CN" altLang="en-US" sz="2400" dirty="0">
                <a:latin typeface="华文新魏" panose="02010800040101010101" pitchFamily="2" charset="-122"/>
                <a:ea typeface="华文新魏" panose="02010800040101010101" pitchFamily="2" charset="-122"/>
              </a:rPr>
              <a:t>位反映了正在操作的状态：</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当</a:t>
            </a:r>
            <a:r>
              <a:rPr lang="en-US" altLang="zh-CN" sz="2400" dirty="0">
                <a:solidFill>
                  <a:schemeClr val="tx1"/>
                </a:solidFill>
                <a:latin typeface="华文新魏" panose="02010800040101010101" pitchFamily="2" charset="-122"/>
                <a:ea typeface="华文新魏" panose="02010800040101010101" pitchFamily="2" charset="-122"/>
              </a:rPr>
              <a:t>T</a:t>
            </a:r>
            <a:r>
              <a:rPr lang="zh-CN" altLang="en-US" sz="2400" dirty="0">
                <a:solidFill>
                  <a:schemeClr val="tx1"/>
                </a:solidFill>
                <a:latin typeface="华文新魏" panose="02010800040101010101" pitchFamily="2" charset="-122"/>
                <a:ea typeface="华文新魏" panose="02010800040101010101" pitchFamily="2" charset="-122"/>
              </a:rPr>
              <a:t>位为</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时，处理器正在</a:t>
            </a: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状态下运行；</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当</a:t>
            </a:r>
            <a:r>
              <a:rPr lang="en-US" altLang="zh-CN" sz="2400" dirty="0">
                <a:solidFill>
                  <a:schemeClr val="tx1"/>
                </a:solidFill>
                <a:latin typeface="华文新魏" panose="02010800040101010101" pitchFamily="2" charset="-122"/>
                <a:ea typeface="华文新魏" panose="02010800040101010101" pitchFamily="2" charset="-122"/>
              </a:rPr>
              <a:t>T</a:t>
            </a:r>
            <a:r>
              <a:rPr lang="zh-CN" altLang="en-US" sz="2400" dirty="0">
                <a:solidFill>
                  <a:schemeClr val="tx1"/>
                </a:solidFill>
                <a:latin typeface="华文新魏" panose="02010800040101010101" pitchFamily="2" charset="-122"/>
                <a:ea typeface="华文新魏" panose="02010800040101010101" pitchFamily="2" charset="-122"/>
              </a:rPr>
              <a:t>位清零时，处理器正在</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状态下运行。</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05478"/>
                                        </p:tgtEl>
                                        <p:attrNameLst>
                                          <p:attrName>style.visibility</p:attrName>
                                        </p:attrNameLst>
                                      </p:cBhvr>
                                      <p:to>
                                        <p:strVal val="visible"/>
                                      </p:to>
                                    </p:set>
                                    <p:animEffect transition="in" filter="box(in)">
                                      <p:cBhvr>
                                        <p:cTn id="7" dur="500"/>
                                        <p:tgtEl>
                                          <p:spTgt spid="10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84994"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控制位</a:t>
            </a:r>
            <a:endParaRPr lang="zh-CN" altLang="en-US" dirty="0"/>
          </a:p>
        </p:txBody>
      </p:sp>
      <p:sp>
        <p:nvSpPr>
          <p:cNvPr id="108550" name="Text Box 6"/>
          <p:cNvSpPr txBox="1"/>
          <p:nvPr/>
        </p:nvSpPr>
        <p:spPr>
          <a:xfrm>
            <a:off x="1219200" y="2743200"/>
            <a:ext cx="7010400" cy="2100263"/>
          </a:xfrm>
          <a:prstGeom prst="rect">
            <a:avLst/>
          </a:prstGeom>
          <a:noFill/>
          <a:ln w="9525">
            <a:noFill/>
          </a:ln>
        </p:spPr>
        <p:txBody>
          <a:bodyPr anchor="t" anchorCtr="0">
            <a:spAutoFit/>
          </a:bodyPr>
          <a:p>
            <a:pPr>
              <a:spcBef>
                <a:spcPct val="50000"/>
              </a:spcBef>
              <a:buClr>
                <a:srgbClr val="008000"/>
              </a:buClr>
              <a:buFont typeface="Wingdings" panose="05000000000000000000" pitchFamily="2" charset="2"/>
              <a:buChar char="Ø"/>
            </a:pPr>
            <a:r>
              <a:rPr lang="zh-CN" altLang="en-US" sz="2400" dirty="0">
                <a:latin typeface="华文新魏" panose="02010800040101010101" pitchFamily="2" charset="-122"/>
                <a:ea typeface="华文新魏" panose="02010800040101010101" pitchFamily="2" charset="-122"/>
              </a:rPr>
              <a:t>模式位包括</a:t>
            </a:r>
            <a:r>
              <a:rPr lang="en-US" altLang="zh-CN" sz="2400" dirty="0">
                <a:latin typeface="华文新魏" panose="02010800040101010101" pitchFamily="2" charset="-122"/>
                <a:ea typeface="华文新魏" panose="02010800040101010101" pitchFamily="2" charset="-122"/>
              </a:rPr>
              <a:t>M4</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M3</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M2</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M1</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M0</a:t>
            </a:r>
            <a:r>
              <a:rPr lang="zh-CN" altLang="en-US" sz="2400" dirty="0">
                <a:latin typeface="华文新魏" panose="02010800040101010101" pitchFamily="2" charset="-122"/>
                <a:ea typeface="华文新魏" panose="02010800040101010101" pitchFamily="2" charset="-122"/>
              </a:rPr>
              <a:t>，这些位决定处理器的操作模式。</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8000"/>
              </a:buClr>
              <a:buFont typeface="Wingdings" panose="05000000000000000000" pitchFamily="2" charset="2"/>
            </a:pPr>
            <a:r>
              <a:rPr lang="zh-CN" altLang="en-US" sz="2400" dirty="0">
                <a:solidFill>
                  <a:srgbClr val="FF0000"/>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：不是所有模式位的组合都定义了有效的处理器模式，如果使用了错误的设置，将引起一个无法恢复的错误。</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08550"/>
                                        </p:tgtEl>
                                        <p:attrNameLst>
                                          <p:attrName>style.visibility</p:attrName>
                                        </p:attrNameLst>
                                      </p:cBhvr>
                                      <p:to>
                                        <p:strVal val="visible"/>
                                      </p:to>
                                    </p:set>
                                    <p:animEffect transition="in" filter="box(in)">
                                      <p:cBhvr>
                                        <p:cTn id="7" dur="500"/>
                                        <p:tgtEl>
                                          <p:spTgt spid="108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0686" name="Group 94"/>
          <p:cNvGraphicFramePr>
            <a:graphicFrameLocks noGrp="1"/>
          </p:cNvGraphicFramePr>
          <p:nvPr/>
        </p:nvGraphicFramePr>
        <p:xfrm>
          <a:off x="914400" y="1752600"/>
          <a:ext cx="7620000" cy="4144963"/>
        </p:xfrm>
        <a:graphic>
          <a:graphicData uri="http://schemas.openxmlformats.org/drawingml/2006/table">
            <a:tbl>
              <a:tblPr/>
              <a:tblGrid>
                <a:gridCol w="762000"/>
                <a:gridCol w="914400"/>
                <a:gridCol w="3124200"/>
                <a:gridCol w="2819400"/>
              </a:tblGrid>
              <a:tr h="3352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M[4:0]</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可见的</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Thumb</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可见的</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ARM</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状态寄存器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3352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10000</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用户</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R7,SP,LR,PC,CPSR</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R14,PC, CPSR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62784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10001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快中断</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R7,SP_fiq,LR_fiq,PC,CPSR,</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SPSR_fiq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R7,R8_fiq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R14_fiq,PC,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 SPSR_fiq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62784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10010</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中断</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R7,SP_irq,LR_irq,PC,CPSR, SPSR_fiq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R12,R13_irq,R14_irq,PC,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 SPSR_irq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62784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10011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管理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R7,SP_svc,LR_svc,PC,CPSR, SPSR_svc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R12,R13_svc,R14_svc,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PC,CPSR, SPSR_svc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62784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中止</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R7,SP_abt,LR_abt,PC,CPSR, SPSR_abt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R12,R13_abt,R14_abt,PC,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CPSR, SPSR_abt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62784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11011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未定义</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R7,SP_und,LR_und,PC,CPSR, SPSR_und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R0</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R12,R13_und,R14_und,</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PC,CPSR,SPSR_und</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3352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系统</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R7,SP,LR,PC,CPSR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R0</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R14,PC, CPSR </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r>
            </a:tbl>
          </a:graphicData>
        </a:graphic>
      </p:graphicFrame>
      <p:sp>
        <p:nvSpPr>
          <p:cNvPr id="110689" name="Text Box 97"/>
          <p:cNvSpPr txBox="1"/>
          <p:nvPr/>
        </p:nvSpPr>
        <p:spPr>
          <a:xfrm>
            <a:off x="2667000" y="1219200"/>
            <a:ext cx="4343400" cy="457200"/>
          </a:xfrm>
          <a:prstGeom prst="rect">
            <a:avLst/>
          </a:prstGeom>
          <a:noFill/>
          <a:ln w="9525">
            <a:noFill/>
          </a:ln>
        </p:spPr>
        <p:txBody>
          <a:bodyPr anchor="t" anchorCtr="0">
            <a:spAutoFit/>
          </a:bodyPr>
          <a:p>
            <a:pPr algn="ctr">
              <a:spcBef>
                <a:spcPct val="50000"/>
              </a:spcBef>
              <a:buClrTx/>
              <a:buFontTx/>
            </a:pP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模式位设置表</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10689"/>
                                        </p:tgtEl>
                                        <p:attrNameLst>
                                          <p:attrName>style.visibility</p:attrName>
                                        </p:attrNameLst>
                                      </p:cBhvr>
                                      <p:to>
                                        <p:strVal val="visible"/>
                                      </p:to>
                                    </p:set>
                                    <p:anim calcmode="lin" valueType="num">
                                      <p:cBhvr additive="base">
                                        <p:cTn id="7" dur="500" fill="hold"/>
                                        <p:tgtEl>
                                          <p:spTgt spid="110689"/>
                                        </p:tgtEl>
                                        <p:attrNameLst>
                                          <p:attrName>ppt_x</p:attrName>
                                        </p:attrNameLst>
                                      </p:cBhvr>
                                      <p:tavLst>
                                        <p:tav tm="0">
                                          <p:val>
                                            <p:strVal val="1+#ppt_w/2"/>
                                          </p:val>
                                        </p:tav>
                                        <p:tav tm="100000">
                                          <p:val>
                                            <p:strVal val="#ppt_x"/>
                                          </p:val>
                                        </p:tav>
                                      </p:tavLst>
                                    </p:anim>
                                    <p:anim calcmode="lin" valueType="num">
                                      <p:cBhvr additive="base">
                                        <p:cTn id="8" dur="500" fill="hold"/>
                                        <p:tgtEl>
                                          <p:spTgt spid="11068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110686"/>
                                        </p:tgtEl>
                                        <p:attrNameLst>
                                          <p:attrName>style.visibility</p:attrName>
                                        </p:attrNameLst>
                                      </p:cBhvr>
                                      <p:to>
                                        <p:strVal val="visible"/>
                                      </p:to>
                                    </p:set>
                                    <p:animEffect transition="in" filter="slide(fromTop)">
                                      <p:cBhvr>
                                        <p:cTn id="12" dur="500"/>
                                        <p:tgtEl>
                                          <p:spTgt spid="110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8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4"/>
          <p:cNvSpPr>
            <a:spLocks noGrp="1"/>
          </p:cNvSpPr>
          <p:nvPr>
            <p:ph type="title"/>
          </p:nvPr>
        </p:nvSpPr>
        <p:spPr>
          <a:ln/>
        </p:spPr>
        <p:txBody>
          <a:bodyPr vert="horz" wrap="square" lIns="91440" tIns="45720" rIns="91440" bIns="45720" anchor="ctr" anchorCtr="0"/>
          <a:p>
            <a:pPr eaLnBrk="1" hangingPunct="1"/>
            <a:r>
              <a:rPr lang="en-US" altLang="zh-CN" dirty="0"/>
              <a:t>3.8  </a:t>
            </a:r>
            <a:r>
              <a:rPr lang="zh-CN" altLang="en-US" dirty="0"/>
              <a:t>程序状态寄存器</a:t>
            </a:r>
            <a:endParaRPr lang="zh-CN" altLang="en-US" dirty="0"/>
          </a:p>
        </p:txBody>
      </p:sp>
      <p:sp>
        <p:nvSpPr>
          <p:cNvPr id="109573"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保留位</a:t>
            </a:r>
            <a:endParaRPr lang="zh-CN" altLang="en-US" dirty="0"/>
          </a:p>
        </p:txBody>
      </p:sp>
      <p:sp>
        <p:nvSpPr>
          <p:cNvPr id="109574" name="Text Box 6"/>
          <p:cNvSpPr txBox="1"/>
          <p:nvPr/>
        </p:nvSpPr>
        <p:spPr>
          <a:xfrm>
            <a:off x="1219200" y="2743200"/>
            <a:ext cx="7010400" cy="1917700"/>
          </a:xfrm>
          <a:prstGeom prst="rect">
            <a:avLst/>
          </a:prstGeom>
          <a:noFill/>
          <a:ln w="9525">
            <a:noFill/>
          </a:ln>
        </p:spPr>
        <p:txBody>
          <a:bodyPr anchor="t" anchorCtr="0">
            <a:spAutoFit/>
          </a:bodyPr>
          <a:p>
            <a:pPr>
              <a:spcBef>
                <a:spcPct val="50000"/>
              </a:spcBef>
              <a:buClr>
                <a:srgbClr val="008000"/>
              </a:buClr>
              <a:buFont typeface="Wingdings" panose="05000000000000000000" pitchFamily="2" charset="2"/>
            </a:pPr>
            <a:r>
              <a:rPr lang="en-US" altLang="zh-CN" sz="2400" dirty="0">
                <a:latin typeface="华文新魏" panose="02010800040101010101" pitchFamily="2" charset="-122"/>
                <a:ea typeface="华文新魏" panose="02010800040101010101" pitchFamily="2" charset="-122"/>
              </a:rPr>
              <a:t>        CPSR</a:t>
            </a:r>
            <a:r>
              <a:rPr lang="zh-CN" altLang="en-US" sz="2400" dirty="0">
                <a:latin typeface="华文新魏" panose="02010800040101010101" pitchFamily="2" charset="-122"/>
                <a:ea typeface="华文新魏" panose="02010800040101010101" pitchFamily="2" charset="-122"/>
              </a:rPr>
              <a:t>中的保留位被保留将来使用。为了提高程序的可移植性，当改变</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标志和控制位时，请不要改变这些保留位。另外，请确保程序的运行不受保留位的值影响，因为将来的处理器可能会将这些位设置为</a:t>
            </a: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或者</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 </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9573">
                                            <p:txEl>
                                              <p:charRg st="0" end="4"/>
                                            </p:txEl>
                                          </p:spTgt>
                                        </p:tgtEl>
                                        <p:attrNameLst>
                                          <p:attrName>style.visibility</p:attrName>
                                        </p:attrNameLst>
                                      </p:cBhvr>
                                      <p:to>
                                        <p:strVal val="visible"/>
                                      </p:to>
                                    </p:set>
                                    <p:anim calcmode="lin" valueType="num">
                                      <p:cBhvr additive="base">
                                        <p:cTn id="7" dur="500" fill="hold"/>
                                        <p:tgtEl>
                                          <p:spTgt spid="109573">
                                            <p:txEl>
                                              <p:charRg st="0" end="4"/>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9573">
                                            <p:txEl>
                                              <p:charRg st="0" end="4"/>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09574"/>
                                        </p:tgtEl>
                                        <p:attrNameLst>
                                          <p:attrName>style.visibility</p:attrName>
                                        </p:attrNameLst>
                                      </p:cBhvr>
                                      <p:to>
                                        <p:strVal val="visible"/>
                                      </p:to>
                                    </p:set>
                                    <p:animEffect transition="in" filter="box(in)">
                                      <p:cBhvr>
                                        <p:cTn id="12" dur="500"/>
                                        <p:tgtEl>
                                          <p:spTgt spid="109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advAuto="1000" build="p"/>
      <p:bldP spid="10957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88066"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88067"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9.</a:t>
            </a:r>
            <a:r>
              <a:rPr lang="zh-CN" altLang="en-US" sz="2800" dirty="0">
                <a:solidFill>
                  <a:srgbClr val="0000FF"/>
                </a:solidFill>
                <a:latin typeface="Times New Roman" panose="02020603050405020304" pitchFamily="18" charset="0"/>
                <a:ea typeface="宋体" panose="02010600030101010101" pitchFamily="2" charset="-122"/>
              </a:rPr>
              <a:t>异常</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32451"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32452" name="Text Box 4"/>
          <p:cNvSpPr txBox="1"/>
          <p:nvPr/>
        </p:nvSpPr>
        <p:spPr>
          <a:xfrm>
            <a:off x="1258888" y="2420938"/>
            <a:ext cx="7010400" cy="2830512"/>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只要正常的程序流被暂时中止，处理器就进入异常模式。例如响应一个来自外设的中断。在处理异常之前，</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内核保存当前的处理器状态（</a:t>
            </a:r>
            <a:r>
              <a:rPr lang="en-US" altLang="zh-CN" sz="2400" dirty="0">
                <a:latin typeface="华文新魏" panose="02010800040101010101" pitchFamily="2" charset="-122"/>
                <a:ea typeface="华文新魏" panose="02010800040101010101" pitchFamily="2" charset="-122"/>
              </a:rPr>
              <a:t>CPSR-&gt;SPSR</a:t>
            </a:r>
            <a:r>
              <a:rPr lang="zh-CN" altLang="en-US" sz="2400" dirty="0">
                <a:latin typeface="华文新魏" panose="02010800040101010101" pitchFamily="2" charset="-122"/>
                <a:ea typeface="华文新魏" panose="02010800040101010101" pitchFamily="2" charset="-122"/>
              </a:rPr>
              <a:t>），这样当处理程序结束时可以恢复执行原来的程序（</a:t>
            </a:r>
            <a:r>
              <a:rPr lang="en-US" altLang="zh-CN" sz="2400" dirty="0">
                <a:latin typeface="华文新魏" panose="02010800040101010101" pitchFamily="2" charset="-122"/>
                <a:ea typeface="华文新魏" panose="02010800040101010101" pitchFamily="2" charset="-122"/>
              </a:rPr>
              <a:t>SPSR-&gt;CPSR</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如果同时发生两个或更多异常，那么将按照固定的顺序来处理异常，详见</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异常优先级</a:t>
            </a:r>
            <a:r>
              <a:rPr lang="zh-CN" altLang="en-US"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部分。          </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32451">
                                            <p:txEl>
                                              <p:charRg st="0" end="3"/>
                                            </p:txEl>
                                          </p:spTgt>
                                        </p:tgtEl>
                                        <p:attrNameLst>
                                          <p:attrName>style.visibility</p:attrName>
                                        </p:attrNameLst>
                                      </p:cBhvr>
                                      <p:to>
                                        <p:strVal val="visible"/>
                                      </p:to>
                                    </p:set>
                                    <p:anim calcmode="lin" valueType="num">
                                      <p:cBhvr additive="base">
                                        <p:cTn id="7" dur="500" fill="hold"/>
                                        <p:tgtEl>
                                          <p:spTgt spid="232451">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2451">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32452"/>
                                        </p:tgtEl>
                                        <p:attrNameLst>
                                          <p:attrName>style.visibility</p:attrName>
                                        </p:attrNameLst>
                                      </p:cBhvr>
                                      <p:to>
                                        <p:strVal val="visible"/>
                                      </p:to>
                                    </p:set>
                                    <p:animEffect transition="in" filter="box(in)">
                                      <p:cBhvr>
                                        <p:cTn id="12" dur="500"/>
                                        <p:tgtEl>
                                          <p:spTgt spid="232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advAuto="1000" build="p"/>
      <p:bldP spid="23245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Text Box 2"/>
          <p:cNvSpPr txBox="1"/>
          <p:nvPr/>
        </p:nvSpPr>
        <p:spPr>
          <a:xfrm>
            <a:off x="1258888" y="188913"/>
            <a:ext cx="7705725" cy="762000"/>
          </a:xfrm>
          <a:prstGeom prst="rect">
            <a:avLst/>
          </a:prstGeom>
          <a:noFill/>
          <a:ln w="9525">
            <a:noFill/>
          </a:ln>
        </p:spPr>
        <p:txBody>
          <a:bodyPr anchor="t" anchorCtr="0">
            <a:spAutoFit/>
          </a:bodyPr>
          <a:p>
            <a:pPr algn="ctr">
              <a:spcBef>
                <a:spcPct val="50000"/>
              </a:spcBef>
              <a:buClrTx/>
              <a:buFontTx/>
            </a:pPr>
            <a:r>
              <a:rPr lang="zh-CN" altLang="en-US" sz="4400" dirty="0">
                <a:latin typeface="华文新魏" panose="02010800040101010101" pitchFamily="2" charset="-122"/>
                <a:ea typeface="华文新魏" panose="02010800040101010101" pitchFamily="2" charset="-122"/>
              </a:rPr>
              <a:t>异常入口</a:t>
            </a:r>
            <a:r>
              <a:rPr lang="en-US" altLang="zh-CN" sz="4400" dirty="0">
                <a:latin typeface="华文新魏" panose="02010800040101010101" pitchFamily="2" charset="-122"/>
                <a:ea typeface="华文新魏" panose="02010800040101010101" pitchFamily="2" charset="-122"/>
              </a:rPr>
              <a:t>/</a:t>
            </a:r>
            <a:r>
              <a:rPr lang="zh-CN" altLang="en-US" sz="4400" dirty="0">
                <a:latin typeface="华文新魏" panose="02010800040101010101" pitchFamily="2" charset="-122"/>
                <a:ea typeface="华文新魏" panose="02010800040101010101" pitchFamily="2" charset="-122"/>
              </a:rPr>
              <a:t>出口汇总</a:t>
            </a:r>
            <a:endParaRPr lang="zh-CN" altLang="en-US" sz="4400" dirty="0">
              <a:latin typeface="华文新魏" panose="02010800040101010101" pitchFamily="2" charset="-122"/>
              <a:ea typeface="华文新魏" panose="02010800040101010101" pitchFamily="2" charset="-122"/>
            </a:endParaRPr>
          </a:p>
        </p:txBody>
      </p:sp>
      <p:graphicFrame>
        <p:nvGraphicFramePr>
          <p:cNvPr id="233475" name="Group 3"/>
          <p:cNvGraphicFramePr>
            <a:graphicFrameLocks noGrp="1"/>
          </p:cNvGraphicFramePr>
          <p:nvPr/>
        </p:nvGraphicFramePr>
        <p:xfrm>
          <a:off x="685800" y="1219200"/>
          <a:ext cx="7924800" cy="4968875"/>
        </p:xfrm>
        <a:graphic>
          <a:graphicData uri="http://schemas.openxmlformats.org/drawingml/2006/table">
            <a:tbl>
              <a:tblPr/>
              <a:tblGrid>
                <a:gridCol w="1447800"/>
                <a:gridCol w="2209800"/>
                <a:gridCol w="1295400"/>
                <a:gridCol w="1371600"/>
                <a:gridCol w="1600200"/>
              </a:tblGrid>
              <a:tr h="335323">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异常类型</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返回指令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之前的状态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备注</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323">
                <a:tc vMerge="1">
                  <a:tcPr/>
                </a:tc>
                <a:tc vMerge="1">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ARM R14_x</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Thumb R14_x</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2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BL</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MOV    PC,R14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此处</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为</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BL</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SWI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，为定义的指令取指或预取指中止指令的地址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32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软件中断 </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SWI</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MOVS  PC,R14_svc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2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未定义的指令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MOVS  PC,R14_und</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2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预取指中止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SUBS   PC,R14_abt,#4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50489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SUBS   PC,R14_fiq,#4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此处</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为由于</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占先而没有被执行的指令的地址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204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SUBS   PC,R14_irq,#4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106693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SUBS   PC,R14_abt,#8</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PC+8</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PC+8</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此处</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为产生数据中止的装载或保存指令的地址。</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306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复位</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复位时保存在</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R14_svc</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中的值不可预知。</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3535" name="Text Box 63"/>
          <p:cNvSpPr txBox="1"/>
          <p:nvPr/>
        </p:nvSpPr>
        <p:spPr>
          <a:xfrm>
            <a:off x="533400" y="6172200"/>
            <a:ext cx="8229600" cy="641350"/>
          </a:xfrm>
          <a:prstGeom prst="rect">
            <a:avLst/>
          </a:prstGeom>
          <a:noFill/>
          <a:ln w="9525">
            <a:noFill/>
          </a:ln>
        </p:spPr>
        <p:txBody>
          <a:bodyPr anchor="t" anchorCtr="0">
            <a:spAutoFit/>
          </a:bodyPr>
          <a:p>
            <a:pPr>
              <a:spcBef>
                <a:spcPct val="50000"/>
              </a:spcBef>
              <a:buClrTx/>
              <a:buFontTx/>
            </a:pPr>
            <a:r>
              <a:rPr lang="zh-CN" altLang="en-US" dirty="0">
                <a:solidFill>
                  <a:srgbClr val="FF0000"/>
                </a:solidFill>
                <a:latin typeface="华文新魏" panose="02010800040101010101" pitchFamily="2" charset="-122"/>
                <a:ea typeface="华文新魏" panose="02010800040101010101" pitchFamily="2" charset="-122"/>
              </a:rPr>
              <a:t>注意</a:t>
            </a:r>
            <a:r>
              <a:rPr lang="zh-CN" altLang="en-US" dirty="0">
                <a:latin typeface="华文新魏" panose="02010800040101010101" pitchFamily="2" charset="-122"/>
                <a:ea typeface="华文新魏" panose="02010800040101010101" pitchFamily="2" charset="-122"/>
              </a:rPr>
              <a:t>：</a:t>
            </a:r>
            <a:r>
              <a:rPr lang="zh-CN" altLang="en-US" dirty="0">
                <a:latin typeface="Times New Roman" panose="02020603050405020304" pitchFamily="18" charset="0"/>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MOVS  PC,R14_svc</a:t>
            </a:r>
            <a:r>
              <a:rPr lang="en-US" altLang="zh-CN" dirty="0">
                <a:latin typeface="Times New Roman" panose="02020603050405020304" pitchFamily="18" charset="0"/>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是指在管理模式执行</a:t>
            </a:r>
            <a:r>
              <a:rPr lang="en-US" altLang="zh-CN" dirty="0">
                <a:latin typeface="华文新魏" panose="02010800040101010101" pitchFamily="2" charset="-122"/>
                <a:ea typeface="华文新魏" panose="02010800040101010101" pitchFamily="2" charset="-122"/>
              </a:rPr>
              <a:t>MOVS  PC,R14</a:t>
            </a:r>
            <a:r>
              <a:rPr lang="zh-CN" altLang="en-US" dirty="0">
                <a:latin typeface="华文新魏" panose="02010800040101010101" pitchFamily="2" charset="-122"/>
                <a:ea typeface="华文新魏" panose="02010800040101010101" pitchFamily="2" charset="-122"/>
              </a:rPr>
              <a:t>指令。</a:t>
            </a:r>
            <a:r>
              <a:rPr lang="zh-CN" altLang="en-US" dirty="0">
                <a:latin typeface="Times New Roman" panose="02020603050405020304" pitchFamily="18" charset="0"/>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MOVS  PC,R14_und</a:t>
            </a:r>
            <a:r>
              <a:rPr lang="en-US" altLang="zh-CN" dirty="0">
                <a:latin typeface="Times New Roman" panose="02020603050405020304" pitchFamily="18" charset="0"/>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a:t>
            </a:r>
            <a:r>
              <a:rPr lang="zh-CN" altLang="en-US" dirty="0">
                <a:latin typeface="Times New Roman" panose="02020603050405020304" pitchFamily="18" charset="0"/>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SUBS  PC,R14_abt,#4</a:t>
            </a:r>
            <a:r>
              <a:rPr lang="en-US" altLang="zh-CN" dirty="0">
                <a:latin typeface="Times New Roman" panose="02020603050405020304" pitchFamily="18" charset="0"/>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等指令也是类似的。</a:t>
            </a:r>
            <a:endParaRPr lang="zh-CN" altLang="en-US"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33474"/>
                                        </p:tgtEl>
                                        <p:attrNameLst>
                                          <p:attrName>style.visibility</p:attrName>
                                        </p:attrNameLst>
                                      </p:cBhvr>
                                      <p:to>
                                        <p:strVal val="visible"/>
                                      </p:to>
                                    </p:set>
                                    <p:anim calcmode="lin" valueType="num">
                                      <p:cBhvr additive="base">
                                        <p:cTn id="7" dur="500" fill="hold"/>
                                        <p:tgtEl>
                                          <p:spTgt spid="233474"/>
                                        </p:tgtEl>
                                        <p:attrNameLst>
                                          <p:attrName>ppt_x</p:attrName>
                                        </p:attrNameLst>
                                      </p:cBhvr>
                                      <p:tavLst>
                                        <p:tav tm="0">
                                          <p:val>
                                            <p:strVal val="1+#ppt_w/2"/>
                                          </p:val>
                                        </p:tav>
                                        <p:tav tm="100000">
                                          <p:val>
                                            <p:strVal val="#ppt_x"/>
                                          </p:val>
                                        </p:tav>
                                      </p:tavLst>
                                    </p:anim>
                                    <p:anim calcmode="lin" valueType="num">
                                      <p:cBhvr additive="base">
                                        <p:cTn id="8" dur="500" fill="hold"/>
                                        <p:tgtEl>
                                          <p:spTgt spid="23347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12" fill="hold" nodeType="afterEffect">
                                  <p:stCondLst>
                                    <p:cond delay="0"/>
                                  </p:stCondLst>
                                  <p:childTnLst>
                                    <p:set>
                                      <p:cBhvr>
                                        <p:cTn id="11" dur="1" fill="hold">
                                          <p:stCondLst>
                                            <p:cond delay="0"/>
                                          </p:stCondLst>
                                        </p:cTn>
                                        <p:tgtEl>
                                          <p:spTgt spid="233475"/>
                                        </p:tgtEl>
                                        <p:attrNameLst>
                                          <p:attrName>style.visibility</p:attrName>
                                        </p:attrNameLst>
                                      </p:cBhvr>
                                      <p:to>
                                        <p:strVal val="visible"/>
                                      </p:to>
                                    </p:set>
                                    <p:animEffect transition="in" filter="strips(downLeft)">
                                      <p:cBhvr>
                                        <p:cTn id="12" dur="500"/>
                                        <p:tgtEl>
                                          <p:spTgt spid="23347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33535"/>
                                        </p:tgtEl>
                                        <p:attrNameLst>
                                          <p:attrName>style.visibility</p:attrName>
                                        </p:attrNameLst>
                                      </p:cBhvr>
                                      <p:to>
                                        <p:strVal val="visible"/>
                                      </p:to>
                                    </p:set>
                                    <p:anim calcmode="lin" valueType="num">
                                      <p:cBhvr additive="base">
                                        <p:cTn id="16" dur="500" fill="hold"/>
                                        <p:tgtEl>
                                          <p:spTgt spid="233535"/>
                                        </p:tgtEl>
                                        <p:attrNameLst>
                                          <p:attrName>ppt_x</p:attrName>
                                        </p:attrNameLst>
                                      </p:cBhvr>
                                      <p:tavLst>
                                        <p:tav tm="0">
                                          <p:val>
                                            <p:strVal val="0-#ppt_w/2"/>
                                          </p:val>
                                        </p:tav>
                                        <p:tav tm="100000">
                                          <p:val>
                                            <p:strVal val="#ppt_x"/>
                                          </p:val>
                                        </p:tav>
                                      </p:tavLst>
                                    </p:anim>
                                    <p:anim calcmode="lin" valueType="num">
                                      <p:cBhvr additive="base">
                                        <p:cTn id="17" dur="500" fill="hold"/>
                                        <p:tgtEl>
                                          <p:spTgt spid="2335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p:bldP spid="23353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34499"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异常的入口和出口处理</a:t>
            </a:r>
            <a:endParaRPr lang="zh-CN" altLang="en-US" dirty="0"/>
          </a:p>
        </p:txBody>
      </p:sp>
      <p:sp>
        <p:nvSpPr>
          <p:cNvPr id="234500" name="Text Box 4"/>
          <p:cNvSpPr txBox="1"/>
          <p:nvPr/>
        </p:nvSpPr>
        <p:spPr>
          <a:xfrm>
            <a:off x="1219200" y="2420938"/>
            <a:ext cx="7010400" cy="1187450"/>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如果异常处理程序已经把返回地址拷贝到堆栈，那么可以使用一条多寄存器传送指令来恢复用户寄存器并实现返回。</a:t>
            </a:r>
            <a:endParaRPr lang="zh-CN" altLang="en-US" sz="2400" dirty="0">
              <a:latin typeface="华文新魏" panose="02010800040101010101" pitchFamily="2" charset="-122"/>
              <a:ea typeface="华文新魏" panose="02010800040101010101" pitchFamily="2" charset="-122"/>
            </a:endParaRPr>
          </a:p>
        </p:txBody>
      </p:sp>
      <p:sp>
        <p:nvSpPr>
          <p:cNvPr id="234501" name="Text Box 5"/>
          <p:cNvSpPr txBox="1"/>
          <p:nvPr/>
        </p:nvSpPr>
        <p:spPr>
          <a:xfrm>
            <a:off x="2133600" y="4402138"/>
            <a:ext cx="5029200" cy="1446212"/>
          </a:xfrm>
          <a:prstGeom prst="rect">
            <a:avLst/>
          </a:prstGeom>
          <a:solidFill>
            <a:schemeClr val="bg1"/>
          </a:solidFill>
          <a:ln w="9525" cap="flat" cmpd="sng">
            <a:solidFill>
              <a:srgbClr val="000000"/>
            </a:solidFill>
            <a:prstDash val="solid"/>
            <a:miter/>
            <a:headEnd type="none" w="med" len="med"/>
            <a:tailEnd type="none" w="med" len="med"/>
          </a:ln>
        </p:spPr>
        <p:txBody>
          <a:bodyPr anchor="t" anchorCtr="0">
            <a:spAutoFit/>
          </a:bodyPr>
          <a:p>
            <a:pPr algn="just">
              <a:spcBef>
                <a:spcPct val="50000"/>
              </a:spcBef>
              <a:buClrTx/>
              <a:buFontTx/>
            </a:pPr>
            <a:r>
              <a:rPr lang="en-US" altLang="zh-CN" sz="1600" dirty="0">
                <a:latin typeface="Courier New" panose="02070309020205020404" pitchFamily="49" charset="0"/>
                <a:ea typeface="华文新魏" panose="02010800040101010101" pitchFamily="2" charset="-122"/>
              </a:rPr>
              <a:t>SUB    LR,LR,#4	;</a:t>
            </a:r>
            <a:r>
              <a:rPr lang="zh-CN" altLang="en-US" sz="1600" dirty="0">
                <a:latin typeface="Courier New" panose="02070309020205020404" pitchFamily="49" charset="0"/>
                <a:ea typeface="华文新魏" panose="02010800040101010101" pitchFamily="2" charset="-122"/>
              </a:rPr>
              <a:t>计算返回地址</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STMFD  SP!,{R0-R3,LR}	;</a:t>
            </a:r>
            <a:r>
              <a:rPr lang="zh-CN" altLang="en-US" sz="1600" dirty="0">
                <a:latin typeface="Courier New" panose="02070309020205020404" pitchFamily="49" charset="0"/>
                <a:ea typeface="华文新魏" panose="02010800040101010101" pitchFamily="2" charset="-122"/>
              </a:rPr>
              <a:t>保存使用到的寄存器</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 . .</a:t>
            </a:r>
            <a:endParaRPr lang="en-US" altLang="zh-CN"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LDMFD  SP!,{R0-R3,PC}^	;</a:t>
            </a:r>
            <a:r>
              <a:rPr lang="zh-CN" altLang="en-US" sz="1600" dirty="0">
                <a:latin typeface="Courier New" panose="02070309020205020404" pitchFamily="49" charset="0"/>
                <a:ea typeface="华文新魏" panose="02010800040101010101" pitchFamily="2" charset="-122"/>
              </a:rPr>
              <a:t>中断返回</a:t>
            </a:r>
            <a:endParaRPr lang="zh-CN" altLang="en-US" sz="1600" dirty="0">
              <a:latin typeface="Courier New" panose="02070309020205020404" pitchFamily="49" charset="0"/>
              <a:ea typeface="华文新魏" panose="02010800040101010101" pitchFamily="2" charset="-122"/>
            </a:endParaRPr>
          </a:p>
        </p:txBody>
      </p:sp>
      <p:sp>
        <p:nvSpPr>
          <p:cNvPr id="234502" name="Text Box 6"/>
          <p:cNvSpPr txBox="1"/>
          <p:nvPr/>
        </p:nvSpPr>
        <p:spPr>
          <a:xfrm>
            <a:off x="1981200" y="3944938"/>
            <a:ext cx="53340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中断处理代码的开始部分和退出部分</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34499">
                                            <p:txEl>
                                              <p:charRg st="0" end="11"/>
                                            </p:txEl>
                                          </p:spTgt>
                                        </p:tgtEl>
                                        <p:attrNameLst>
                                          <p:attrName>style.visibility</p:attrName>
                                        </p:attrNameLst>
                                      </p:cBhvr>
                                      <p:to>
                                        <p:strVal val="visible"/>
                                      </p:to>
                                    </p:set>
                                    <p:anim calcmode="lin" valueType="num">
                                      <p:cBhvr additive="base">
                                        <p:cTn id="7" dur="500" fill="hold"/>
                                        <p:tgtEl>
                                          <p:spTgt spid="234499">
                                            <p:txEl>
                                              <p:charRg st="0" end="1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4499">
                                            <p:txEl>
                                              <p:charRg st="0" end="1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34500"/>
                                        </p:tgtEl>
                                        <p:attrNameLst>
                                          <p:attrName>style.visibility</p:attrName>
                                        </p:attrNameLst>
                                      </p:cBhvr>
                                      <p:to>
                                        <p:strVal val="visible"/>
                                      </p:to>
                                    </p:set>
                                    <p:animEffect transition="in" filter="box(in)">
                                      <p:cBhvr>
                                        <p:cTn id="12" dur="500"/>
                                        <p:tgtEl>
                                          <p:spTgt spid="234500"/>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234502"/>
                                        </p:tgtEl>
                                        <p:attrNameLst>
                                          <p:attrName>style.visibility</p:attrName>
                                        </p:attrNameLst>
                                      </p:cBhvr>
                                      <p:to>
                                        <p:strVal val="visible"/>
                                      </p:to>
                                    </p:set>
                                    <p:anim calcmode="lin" valueType="num">
                                      <p:cBhvr additive="base">
                                        <p:cTn id="16" dur="500" fill="hold"/>
                                        <p:tgtEl>
                                          <p:spTgt spid="234502"/>
                                        </p:tgtEl>
                                        <p:attrNameLst>
                                          <p:attrName>ppt_x</p:attrName>
                                        </p:attrNameLst>
                                      </p:cBhvr>
                                      <p:tavLst>
                                        <p:tav tm="0">
                                          <p:val>
                                            <p:strVal val="1+#ppt_w/2"/>
                                          </p:val>
                                        </p:tav>
                                        <p:tav tm="100000">
                                          <p:val>
                                            <p:strVal val="#ppt_x"/>
                                          </p:val>
                                        </p:tav>
                                      </p:tavLst>
                                    </p:anim>
                                    <p:anim calcmode="lin" valueType="num">
                                      <p:cBhvr additive="base">
                                        <p:cTn id="17" dur="500" fill="hold"/>
                                        <p:tgtEl>
                                          <p:spTgt spid="234502"/>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2" presetClass="entr" presetSubtype="1" fill="hold" grpId="0" nodeType="afterEffect">
                                  <p:stCondLst>
                                    <p:cond delay="0"/>
                                  </p:stCondLst>
                                  <p:childTnLst>
                                    <p:set>
                                      <p:cBhvr>
                                        <p:cTn id="20" dur="1" fill="hold">
                                          <p:stCondLst>
                                            <p:cond delay="0"/>
                                          </p:stCondLst>
                                        </p:cTn>
                                        <p:tgtEl>
                                          <p:spTgt spid="234501"/>
                                        </p:tgtEl>
                                        <p:attrNameLst>
                                          <p:attrName>style.visibility</p:attrName>
                                        </p:attrNameLst>
                                      </p:cBhvr>
                                      <p:to>
                                        <p:strVal val="visible"/>
                                      </p:to>
                                    </p:set>
                                    <p:animEffect transition="in" filter="slide(fromTop)">
                                      <p:cBhvr>
                                        <p:cTn id="21" dur="500"/>
                                        <p:tgtEl>
                                          <p:spTgt spid="234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advAuto="1000" build="p"/>
      <p:bldP spid="234500" grpId="0"/>
      <p:bldP spid="234501" grpId="0" animBg="1"/>
      <p:bldP spid="23450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Text Box 2"/>
          <p:cNvSpPr txBox="1"/>
          <p:nvPr/>
        </p:nvSpPr>
        <p:spPr>
          <a:xfrm>
            <a:off x="1219200" y="2743200"/>
            <a:ext cx="7010400" cy="1187450"/>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如果异常处理程序已经把返回地址拷贝到堆栈，那么可以使用一条多寄存器传送指令来恢复用户寄存器并实现返回。</a:t>
            </a:r>
            <a:endParaRPr lang="zh-CN" altLang="en-US" sz="2400" dirty="0">
              <a:latin typeface="华文新魏" panose="02010800040101010101" pitchFamily="2" charset="-122"/>
              <a:ea typeface="华文新魏" panose="02010800040101010101" pitchFamily="2" charset="-122"/>
            </a:endParaRPr>
          </a:p>
        </p:txBody>
      </p:sp>
      <p:sp>
        <p:nvSpPr>
          <p:cNvPr id="92162" name="Text Box 3"/>
          <p:cNvSpPr txBox="1"/>
          <p:nvPr/>
        </p:nvSpPr>
        <p:spPr>
          <a:xfrm>
            <a:off x="1981200" y="4267200"/>
            <a:ext cx="53340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中断处理代码的开始部分和退出部分</a:t>
            </a:r>
            <a:endParaRPr lang="zh-CN" altLang="en-US" sz="2400" dirty="0">
              <a:latin typeface="华文新魏" panose="02010800040101010101" pitchFamily="2" charset="-122"/>
              <a:ea typeface="华文新魏" panose="02010800040101010101" pitchFamily="2" charset="-122"/>
            </a:endParaRPr>
          </a:p>
        </p:txBody>
      </p:sp>
      <p:sp>
        <p:nvSpPr>
          <p:cNvPr id="92163" name="Rectangle 4"/>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92164" name="Rectangle 5"/>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异常的入口和出口处理</a:t>
            </a:r>
            <a:endParaRPr lang="zh-CN" altLang="en-US" dirty="0"/>
          </a:p>
        </p:txBody>
      </p:sp>
      <p:sp>
        <p:nvSpPr>
          <p:cNvPr id="92165" name="Text Box 6"/>
          <p:cNvSpPr txBox="1"/>
          <p:nvPr/>
        </p:nvSpPr>
        <p:spPr>
          <a:xfrm>
            <a:off x="2133600" y="4724400"/>
            <a:ext cx="5029200" cy="1446213"/>
          </a:xfrm>
          <a:prstGeom prst="rect">
            <a:avLst/>
          </a:prstGeom>
          <a:solidFill>
            <a:schemeClr val="bg1"/>
          </a:solidFill>
          <a:ln w="9525" cap="flat" cmpd="sng">
            <a:solidFill>
              <a:srgbClr val="000000"/>
            </a:solidFill>
            <a:prstDash val="solid"/>
            <a:miter/>
            <a:headEnd type="none" w="med" len="med"/>
            <a:tailEnd type="none" w="med" len="med"/>
          </a:ln>
        </p:spPr>
        <p:txBody>
          <a:bodyPr anchor="t" anchorCtr="0">
            <a:spAutoFit/>
          </a:bodyPr>
          <a:p>
            <a:pPr algn="just">
              <a:spcBef>
                <a:spcPct val="50000"/>
              </a:spcBef>
              <a:buClrTx/>
              <a:buFontTx/>
            </a:pPr>
            <a:r>
              <a:rPr lang="en-US" altLang="zh-CN" sz="1600" dirty="0">
                <a:latin typeface="Courier New" panose="02070309020205020404" pitchFamily="49" charset="0"/>
                <a:ea typeface="华文新魏" panose="02010800040101010101" pitchFamily="2" charset="-122"/>
              </a:rPr>
              <a:t>SUB    LR,LR,#4	;</a:t>
            </a:r>
            <a:r>
              <a:rPr lang="zh-CN" altLang="en-US" sz="1600" dirty="0">
                <a:latin typeface="Courier New" panose="02070309020205020404" pitchFamily="49" charset="0"/>
                <a:ea typeface="华文新魏" panose="02010800040101010101" pitchFamily="2" charset="-122"/>
              </a:rPr>
              <a:t>计算返回地址</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STMFD  SP!,{R0-R3,LR}	;</a:t>
            </a:r>
            <a:r>
              <a:rPr lang="zh-CN" altLang="en-US" sz="1600" dirty="0">
                <a:latin typeface="Courier New" panose="02070309020205020404" pitchFamily="49" charset="0"/>
                <a:ea typeface="华文新魏" panose="02010800040101010101" pitchFamily="2" charset="-122"/>
              </a:rPr>
              <a:t>保存使用到的寄存器</a:t>
            </a:r>
            <a:endParaRPr lang="zh-CN" altLang="en-US"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 . .</a:t>
            </a:r>
            <a:endParaRPr lang="en-US" altLang="zh-CN" sz="1600" dirty="0">
              <a:latin typeface="Courier New" panose="02070309020205020404" pitchFamily="49" charset="0"/>
              <a:ea typeface="华文新魏" panose="02010800040101010101" pitchFamily="2" charset="-122"/>
            </a:endParaRPr>
          </a:p>
          <a:p>
            <a:pPr algn="just">
              <a:spcBef>
                <a:spcPct val="50000"/>
              </a:spcBef>
              <a:buClrTx/>
              <a:buFontTx/>
            </a:pPr>
            <a:r>
              <a:rPr lang="en-US" altLang="zh-CN" sz="1600" dirty="0">
                <a:latin typeface="Courier New" panose="02070309020205020404" pitchFamily="49" charset="0"/>
                <a:ea typeface="华文新魏" panose="02010800040101010101" pitchFamily="2" charset="-122"/>
              </a:rPr>
              <a:t>LDMFD  SP!,{R0-R3,PC}^	;</a:t>
            </a:r>
            <a:r>
              <a:rPr lang="zh-CN" altLang="en-US" sz="1600" dirty="0">
                <a:latin typeface="Courier New" panose="02070309020205020404" pitchFamily="49" charset="0"/>
                <a:ea typeface="华文新魏" panose="02010800040101010101" pitchFamily="2" charset="-122"/>
              </a:rPr>
              <a:t>中断返回</a:t>
            </a:r>
            <a:endParaRPr lang="zh-CN" altLang="en-US" sz="1600" dirty="0">
              <a:latin typeface="Courier New" panose="02070309020205020404" pitchFamily="49" charset="0"/>
              <a:ea typeface="华文新魏" panose="02010800040101010101" pitchFamily="2" charset="-122"/>
            </a:endParaRPr>
          </a:p>
        </p:txBody>
      </p:sp>
      <p:sp>
        <p:nvSpPr>
          <p:cNvPr id="235527" name="Text Box 7"/>
          <p:cNvSpPr txBox="1"/>
          <p:nvPr/>
        </p:nvSpPr>
        <p:spPr>
          <a:xfrm>
            <a:off x="1219200" y="2819400"/>
            <a:ext cx="7010400" cy="2657475"/>
          </a:xfrm>
          <a:prstGeom prst="rect">
            <a:avLst/>
          </a:prstGeom>
          <a:solidFill>
            <a:schemeClr val="hlink"/>
          </a:solidFill>
          <a:ln w="9525" cap="flat" cmpd="sng">
            <a:solidFill>
              <a:schemeClr val="tx1"/>
            </a:solidFill>
            <a:prstDash val="solid"/>
            <a:miter/>
            <a:headEnd type="none" w="med" len="med"/>
            <a:tailEnd type="none" w="med" len="med"/>
          </a:ln>
        </p:spPr>
        <p:txBody>
          <a:bodyPr anchor="t" anchorCtr="0">
            <a:spAutoFit/>
          </a:bodyPr>
          <a:p>
            <a:pPr algn="just">
              <a:spcBef>
                <a:spcPct val="50000"/>
              </a:spcBef>
              <a:buClrTx/>
              <a:buFontTx/>
            </a:pPr>
            <a:r>
              <a:rPr lang="zh-CN" altLang="en-US" sz="2400" dirty="0">
                <a:solidFill>
                  <a:srgbClr val="0000FF"/>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：中断返回指令的寄存器列表（其中必须包括</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）后的</a:t>
            </a:r>
            <a:r>
              <a:rPr lang="zh-CN" altLang="en-US" sz="2400" dirty="0">
                <a:latin typeface="Times New Roman" panose="02020603050405020304" pitchFamily="18" charset="0"/>
                <a:ea typeface="华文新魏" panose="02010800040101010101" pitchFamily="2" charset="-122"/>
              </a:rPr>
              <a:t>“</a:t>
            </a:r>
            <a:r>
              <a:rPr lang="en-US" altLang="zh-CN" sz="2400" dirty="0">
                <a:solidFill>
                  <a:schemeClr val="folHlink"/>
                </a:solidFill>
                <a:latin typeface="华文新魏" panose="02010800040101010101" pitchFamily="2" charset="-122"/>
                <a:ea typeface="华文新魏" panose="02010800040101010101" pitchFamily="2" charset="-122"/>
              </a:rPr>
              <a:t>^</a:t>
            </a:r>
            <a:r>
              <a:rPr lang="en-US" altLang="zh-CN"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符号表示这是一条特殊形式的指令。这条指令在从存储器中装载</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的同时（</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是最后恢复的），</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也得到恢复。这里使用的堆栈指针</a:t>
            </a:r>
            <a:r>
              <a:rPr lang="en-US" altLang="zh-CN" sz="2400" dirty="0">
                <a:latin typeface="华文新魏" panose="02010800040101010101" pitchFamily="2" charset="-122"/>
                <a:ea typeface="华文新魏" panose="02010800040101010101" pitchFamily="2" charset="-122"/>
              </a:rPr>
              <a:t>SP</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R13</a:t>
            </a:r>
            <a:r>
              <a:rPr lang="zh-CN" altLang="en-US" sz="2400" dirty="0">
                <a:latin typeface="华文新魏" panose="02010800040101010101" pitchFamily="2" charset="-122"/>
                <a:ea typeface="华文新魏" panose="02010800040101010101" pitchFamily="2" charset="-122"/>
              </a:rPr>
              <a:t>）是属于异常模式的寄存器，每个异常模式有自己的堆栈指针。这个堆栈指针应必须在系统启动时初始化。 </a:t>
            </a:r>
            <a:endParaRPr lang="zh-CN" altLang="en-US" sz="2400" dirty="0">
              <a:latin typeface="华文新魏" panose="02010800040101010101" pitchFamily="2" charset="-122"/>
              <a:ea typeface="华文新魏" panose="02010800040101010101" pitchFamily="2" charset="-122"/>
            </a:endParaRPr>
          </a:p>
        </p:txBody>
      </p:sp>
      <p:sp>
        <p:nvSpPr>
          <p:cNvPr id="235528" name="Oval 8"/>
          <p:cNvSpPr/>
          <p:nvPr/>
        </p:nvSpPr>
        <p:spPr>
          <a:xfrm>
            <a:off x="4724400" y="5791200"/>
            <a:ext cx="228600" cy="304800"/>
          </a:xfrm>
          <a:prstGeom prst="ellipse">
            <a:avLst/>
          </a:prstGeom>
          <a:noFill/>
          <a:ln w="28575"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35528"/>
                                        </p:tgtEl>
                                        <p:attrNameLst>
                                          <p:attrName>style.visibility</p:attrName>
                                        </p:attrNameLst>
                                      </p:cBhvr>
                                      <p:to>
                                        <p:strVal val="visible"/>
                                      </p:to>
                                    </p:set>
                                  </p:childTnLst>
                                </p:cTn>
                              </p:par>
                            </p:childTnLst>
                          </p:cTn>
                        </p:par>
                        <p:par>
                          <p:cTn id="7" fill="hold">
                            <p:stCondLst>
                              <p:cond delay="500"/>
                            </p:stCondLst>
                            <p:childTnLst>
                              <p:par>
                                <p:cTn id="8" presetID="12" presetClass="entr" presetSubtype="4" fill="hold" grpId="0" nodeType="afterEffect">
                                  <p:stCondLst>
                                    <p:cond delay="0"/>
                                  </p:stCondLst>
                                  <p:childTnLst>
                                    <p:set>
                                      <p:cBhvr>
                                        <p:cTn id="9" dur="1" fill="hold">
                                          <p:stCondLst>
                                            <p:cond delay="0"/>
                                          </p:stCondLst>
                                        </p:cTn>
                                        <p:tgtEl>
                                          <p:spTgt spid="235527"/>
                                        </p:tgtEl>
                                        <p:attrNameLst>
                                          <p:attrName>style.visibility</p:attrName>
                                        </p:attrNameLst>
                                      </p:cBhvr>
                                      <p:to>
                                        <p:strVal val="visible"/>
                                      </p:to>
                                    </p:set>
                                    <p:animEffect transition="in" filter="slide(fromBottom)">
                                      <p:cBhvr>
                                        <p:cTn id="10" dur="500"/>
                                        <p:tgtEl>
                                          <p:spTgt spid="235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7" grpId="0" animBg="1"/>
      <p:bldP spid="23552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36547"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进入异常</a:t>
            </a:r>
            <a:endParaRPr lang="zh-CN" altLang="en-US" dirty="0"/>
          </a:p>
        </p:txBody>
      </p:sp>
      <p:sp>
        <p:nvSpPr>
          <p:cNvPr id="236548" name="Text Box 4"/>
          <p:cNvSpPr txBox="1"/>
          <p:nvPr/>
        </p:nvSpPr>
        <p:spPr>
          <a:xfrm>
            <a:off x="1219200" y="2276475"/>
            <a:ext cx="7010400" cy="457200"/>
          </a:xfrm>
          <a:prstGeom prst="rect">
            <a:avLst/>
          </a:prstGeom>
          <a:noFill/>
          <a:ln w="9525">
            <a:noFill/>
          </a:ln>
        </p:spPr>
        <p:txBody>
          <a:bodyPr anchor="t" anchorCtr="0">
            <a:spAutoFit/>
          </a:bodyPr>
          <a:p>
            <a:pPr algn="just">
              <a:spcBef>
                <a:spcPct val="50000"/>
              </a:spcBef>
              <a:buClrTx/>
              <a:buFontTx/>
            </a:pPr>
            <a:r>
              <a:rPr lang="zh-CN" altLang="en-US" sz="2400" dirty="0">
                <a:latin typeface="华文新魏" panose="02010800040101010101" pitchFamily="2" charset="-122"/>
                <a:ea typeface="华文新魏" panose="02010800040101010101" pitchFamily="2" charset="-122"/>
              </a:rPr>
              <a:t>在异常发生后，</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内核会作以下工作：</a:t>
            </a:r>
            <a:endParaRPr lang="zh-CN" altLang="en-US" sz="2400" dirty="0">
              <a:latin typeface="华文新魏" panose="02010800040101010101" pitchFamily="2" charset="-122"/>
              <a:ea typeface="华文新魏" panose="02010800040101010101" pitchFamily="2" charset="-122"/>
            </a:endParaRPr>
          </a:p>
        </p:txBody>
      </p:sp>
      <p:sp>
        <p:nvSpPr>
          <p:cNvPr id="236549" name="Text Box 5"/>
          <p:cNvSpPr txBox="1"/>
          <p:nvPr/>
        </p:nvSpPr>
        <p:spPr>
          <a:xfrm>
            <a:off x="1219200" y="2962275"/>
            <a:ext cx="7010400" cy="301307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在适当的</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中保存下一条指令的地址，当异常入口来自：</a:t>
            </a:r>
            <a:endParaRPr lang="zh-CN" altLang="en-US" sz="2400" dirty="0">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状态，那么</a:t>
            </a:r>
            <a:r>
              <a:rPr lang="en-US" altLang="zh-CN" sz="2400" dirty="0">
                <a:solidFill>
                  <a:schemeClr val="tx1"/>
                </a:solidFill>
                <a:latin typeface="华文新魏" panose="02010800040101010101" pitchFamily="2" charset="-122"/>
                <a:ea typeface="华文新魏" panose="02010800040101010101" pitchFamily="2" charset="-122"/>
              </a:rPr>
              <a:t>ARM7TDMI</a:t>
            </a:r>
            <a:r>
              <a:rPr lang="zh-CN" altLang="en-US" sz="2400" dirty="0">
                <a:solidFill>
                  <a:schemeClr val="tx1"/>
                </a:solidFill>
                <a:latin typeface="华文新魏" panose="02010800040101010101" pitchFamily="2" charset="-122"/>
                <a:ea typeface="华文新魏" panose="02010800040101010101" pitchFamily="2" charset="-122"/>
              </a:rPr>
              <a:t>将当前指令地址加</a:t>
            </a:r>
            <a:r>
              <a:rPr lang="en-US" altLang="zh-CN" sz="2400" dirty="0">
                <a:solidFill>
                  <a:schemeClr val="tx1"/>
                </a:solidFill>
                <a:latin typeface="华文新魏" panose="02010800040101010101" pitchFamily="2" charset="-122"/>
                <a:ea typeface="华文新魏" panose="02010800040101010101" pitchFamily="2" charset="-122"/>
              </a:rPr>
              <a:t>4</a:t>
            </a:r>
            <a:r>
              <a:rPr lang="zh-CN" altLang="en-US" sz="2400" dirty="0">
                <a:solidFill>
                  <a:schemeClr val="tx1"/>
                </a:solidFill>
                <a:latin typeface="华文新魏" panose="02010800040101010101" pitchFamily="2" charset="-122"/>
                <a:ea typeface="华文新魏" panose="02010800040101010101" pitchFamily="2" charset="-122"/>
              </a:rPr>
              <a:t>或加</a:t>
            </a:r>
            <a:r>
              <a:rPr lang="en-US" altLang="zh-CN" sz="2400" dirty="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复制（取决于异常的类型）到</a:t>
            </a:r>
            <a:r>
              <a:rPr lang="en-US" altLang="zh-CN" sz="2400" dirty="0">
                <a:solidFill>
                  <a:schemeClr val="tx1"/>
                </a:solidFill>
                <a:latin typeface="华文新魏" panose="02010800040101010101" pitchFamily="2" charset="-122"/>
                <a:ea typeface="华文新魏" panose="02010800040101010101" pitchFamily="2" charset="-122"/>
              </a:rPr>
              <a:t>LR</a:t>
            </a:r>
            <a:r>
              <a:rPr lang="zh-CN" altLang="en-US" sz="2400" dirty="0">
                <a:solidFill>
                  <a:schemeClr val="tx1"/>
                </a:solidFill>
                <a:latin typeface="华文新魏" panose="02010800040101010101" pitchFamily="2" charset="-122"/>
                <a:ea typeface="华文新魏" panose="02010800040101010101" pitchFamily="2" charset="-122"/>
              </a:rPr>
              <a:t>中；</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为</a:t>
            </a: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状态，那么</a:t>
            </a:r>
            <a:r>
              <a:rPr lang="en-US" altLang="zh-CN" sz="2400" dirty="0">
                <a:solidFill>
                  <a:schemeClr val="tx1"/>
                </a:solidFill>
                <a:latin typeface="华文新魏" panose="02010800040101010101" pitchFamily="2" charset="-122"/>
                <a:ea typeface="华文新魏" panose="02010800040101010101" pitchFamily="2" charset="-122"/>
              </a:rPr>
              <a:t>ARM7TDMI</a:t>
            </a:r>
            <a:r>
              <a:rPr lang="zh-CN" altLang="en-US" sz="2400" dirty="0">
                <a:solidFill>
                  <a:schemeClr val="tx1"/>
                </a:solidFill>
                <a:latin typeface="华文新魏" panose="02010800040101010101" pitchFamily="2" charset="-122"/>
                <a:ea typeface="华文新魏" panose="02010800040101010101" pitchFamily="2" charset="-122"/>
              </a:rPr>
              <a:t>将当前指令地址加</a:t>
            </a:r>
            <a:r>
              <a:rPr lang="en-US" altLang="zh-CN" sz="2400" dirty="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4</a:t>
            </a:r>
            <a:r>
              <a:rPr lang="zh-CN" altLang="en-US" sz="2400" dirty="0">
                <a:solidFill>
                  <a:schemeClr val="tx1"/>
                </a:solidFill>
                <a:latin typeface="华文新魏" panose="02010800040101010101" pitchFamily="2" charset="-122"/>
                <a:ea typeface="华文新魏" panose="02010800040101010101" pitchFamily="2" charset="-122"/>
              </a:rPr>
              <a:t>或加</a:t>
            </a:r>
            <a:r>
              <a:rPr lang="en-US" altLang="zh-CN" sz="2400" dirty="0">
                <a:solidFill>
                  <a:schemeClr val="tx1"/>
                </a:solidFill>
                <a:latin typeface="华文新魏" panose="02010800040101010101" pitchFamily="2" charset="-122"/>
                <a:ea typeface="华文新魏" panose="02010800040101010101" pitchFamily="2" charset="-122"/>
              </a:rPr>
              <a:t>8 </a:t>
            </a:r>
            <a:r>
              <a:rPr lang="zh-CN" altLang="en-US" sz="2400" dirty="0">
                <a:solidFill>
                  <a:schemeClr val="tx1"/>
                </a:solidFill>
                <a:latin typeface="华文新魏" panose="02010800040101010101" pitchFamily="2" charset="-122"/>
                <a:ea typeface="华文新魏" panose="02010800040101010101" pitchFamily="2" charset="-122"/>
              </a:rPr>
              <a:t>（取决于异常的类型）复制到</a:t>
            </a:r>
            <a:r>
              <a:rPr lang="en-US" altLang="zh-CN" sz="2400" dirty="0">
                <a:solidFill>
                  <a:schemeClr val="tx1"/>
                </a:solidFill>
                <a:latin typeface="华文新魏" panose="02010800040101010101" pitchFamily="2" charset="-122"/>
                <a:ea typeface="华文新魏" panose="02010800040101010101" pitchFamily="2" charset="-122"/>
              </a:rPr>
              <a:t>LR</a:t>
            </a:r>
            <a:r>
              <a:rPr lang="zh-CN" altLang="en-US" sz="2400" dirty="0">
                <a:solidFill>
                  <a:schemeClr val="tx1"/>
                </a:solidFill>
                <a:latin typeface="华文新魏" panose="02010800040101010101" pitchFamily="2" charset="-122"/>
                <a:ea typeface="华文新魏" panose="02010800040101010101" pitchFamily="2" charset="-122"/>
              </a:rPr>
              <a:t>中；异常处理器程序不必确定状态。</a:t>
            </a:r>
            <a:endParaRPr lang="zh-CN" altLang="en-US" sz="24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36547">
                                            <p:txEl>
                                              <p:charRg st="0" end="5"/>
                                            </p:txEl>
                                          </p:spTgt>
                                        </p:tgtEl>
                                        <p:attrNameLst>
                                          <p:attrName>style.visibility</p:attrName>
                                        </p:attrNameLst>
                                      </p:cBhvr>
                                      <p:to>
                                        <p:strVal val="visible"/>
                                      </p:to>
                                    </p:set>
                                    <p:anim calcmode="lin" valueType="num">
                                      <p:cBhvr additive="base">
                                        <p:cTn id="7" dur="500" fill="hold"/>
                                        <p:tgtEl>
                                          <p:spTgt spid="236547">
                                            <p:txEl>
                                              <p:charRg st="0"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6547">
                                            <p:txEl>
                                              <p:charRg st="0" end="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36548"/>
                                        </p:tgtEl>
                                        <p:attrNameLst>
                                          <p:attrName>style.visibility</p:attrName>
                                        </p:attrNameLst>
                                      </p:cBhvr>
                                      <p:to>
                                        <p:strVal val="visible"/>
                                      </p:to>
                                    </p:set>
                                    <p:animEffect transition="in" filter="box(in)">
                                      <p:cBhvr>
                                        <p:cTn id="12" dur="500"/>
                                        <p:tgtEl>
                                          <p:spTgt spid="236548"/>
                                        </p:tgtEl>
                                      </p:cBhvr>
                                    </p:animEffect>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236549"/>
                                        </p:tgtEl>
                                        <p:attrNameLst>
                                          <p:attrName>style.visibility</p:attrName>
                                        </p:attrNameLst>
                                      </p:cBhvr>
                                      <p:to>
                                        <p:strVal val="visible"/>
                                      </p:to>
                                    </p:set>
                                    <p:animEffect transition="in" filter="slide(fromTop)">
                                      <p:cBhvr>
                                        <p:cTn id="16" dur="500"/>
                                        <p:tgtEl>
                                          <p:spTgt spid="236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advAuto="1000" build="p"/>
      <p:bldP spid="236548" grpId="0"/>
      <p:bldP spid="23654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94210"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进入异常</a:t>
            </a:r>
            <a:endParaRPr lang="zh-CN" altLang="en-US" dirty="0"/>
          </a:p>
        </p:txBody>
      </p:sp>
      <p:sp>
        <p:nvSpPr>
          <p:cNvPr id="94211" name="Text Box 4"/>
          <p:cNvSpPr txBox="1"/>
          <p:nvPr/>
        </p:nvSpPr>
        <p:spPr>
          <a:xfrm>
            <a:off x="1219200" y="2743200"/>
            <a:ext cx="7010400" cy="457200"/>
          </a:xfrm>
          <a:prstGeom prst="rect">
            <a:avLst/>
          </a:prstGeom>
          <a:noFill/>
          <a:ln w="9525">
            <a:noFill/>
          </a:ln>
        </p:spPr>
        <p:txBody>
          <a:bodyPr anchor="t" anchorCtr="0">
            <a:spAutoFit/>
          </a:bodyPr>
          <a:p>
            <a:pPr algn="just">
              <a:spcBef>
                <a:spcPct val="50000"/>
              </a:spcBef>
              <a:buClrTx/>
              <a:buFontTx/>
            </a:pPr>
            <a:r>
              <a:rPr lang="zh-CN" altLang="en-US" sz="2400" dirty="0">
                <a:latin typeface="华文新魏" panose="02010800040101010101" pitchFamily="2" charset="-122"/>
                <a:ea typeface="华文新魏" panose="02010800040101010101" pitchFamily="2" charset="-122"/>
              </a:rPr>
              <a:t>在异常发生后，</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内核会作以下工作：</a:t>
            </a:r>
            <a:endParaRPr lang="zh-CN" altLang="en-US" sz="2400" dirty="0">
              <a:latin typeface="华文新魏" panose="02010800040101010101" pitchFamily="2" charset="-122"/>
              <a:ea typeface="华文新魏" panose="02010800040101010101" pitchFamily="2" charset="-122"/>
            </a:endParaRPr>
          </a:p>
        </p:txBody>
      </p:sp>
      <p:sp>
        <p:nvSpPr>
          <p:cNvPr id="237573" name="Text Box 5"/>
          <p:cNvSpPr txBox="1"/>
          <p:nvPr/>
        </p:nvSpPr>
        <p:spPr>
          <a:xfrm>
            <a:off x="1219200" y="3429000"/>
            <a:ext cx="7010400" cy="1917700"/>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2.</a:t>
            </a: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复制到适当的</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中；</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3. </a:t>
            </a: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模式位强制设置为与异常类型相对应的值；</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4.</a:t>
            </a:r>
            <a:r>
              <a:rPr lang="zh-CN" altLang="en-US" sz="2400" dirty="0">
                <a:latin typeface="华文新魏" panose="02010800040101010101" pitchFamily="2" charset="-122"/>
                <a:ea typeface="华文新魏" panose="02010800040101010101" pitchFamily="2" charset="-122"/>
              </a:rPr>
              <a:t>强制</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从相关的异常向量处取指。</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37573"/>
                                        </p:tgtEl>
                                        <p:attrNameLst>
                                          <p:attrName>style.visibility</p:attrName>
                                        </p:attrNameLst>
                                      </p:cBhvr>
                                      <p:to>
                                        <p:strVal val="visible"/>
                                      </p:to>
                                    </p:set>
                                    <p:animEffect transition="in" filter="slide(fromTop)">
                                      <p:cBhvr>
                                        <p:cTn id="7" dur="500"/>
                                        <p:tgtEl>
                                          <p:spTgt spid="237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Text Box 2"/>
          <p:cNvSpPr txBox="1"/>
          <p:nvPr/>
        </p:nvSpPr>
        <p:spPr>
          <a:xfrm>
            <a:off x="1219200" y="2743200"/>
            <a:ext cx="7010400" cy="2100263"/>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内核在中断异常时置位中断禁止标志，这样可以防止不受控制的异常嵌套。</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a:t>
            </a:r>
            <a:r>
              <a:rPr lang="zh-CN" altLang="en-US" sz="2400" dirty="0">
                <a:latin typeface="华文新魏" panose="02010800040101010101" pitchFamily="2" charset="-122"/>
                <a:ea typeface="华文新魏" panose="02010800040101010101" pitchFamily="2" charset="-122"/>
              </a:rPr>
              <a:t>：异常总是在</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状态中进行处理。当处理器处于</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状态时发生了异常，在异常向量地址装入</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时，会自动切换到</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a:t>
            </a:r>
            <a:endParaRPr lang="zh-CN" altLang="en-US" sz="2400" dirty="0">
              <a:latin typeface="华文新魏" panose="02010800040101010101" pitchFamily="2" charset="-122"/>
              <a:ea typeface="华文新魏" panose="02010800040101010101" pitchFamily="2" charset="-122"/>
            </a:endParaRPr>
          </a:p>
        </p:txBody>
      </p:sp>
      <p:sp>
        <p:nvSpPr>
          <p:cNvPr id="95234"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95235"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进入异常</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38594"/>
                                        </p:tgtEl>
                                        <p:attrNameLst>
                                          <p:attrName>style.visibility</p:attrName>
                                        </p:attrNameLst>
                                      </p:cBhvr>
                                      <p:to>
                                        <p:strVal val="visible"/>
                                      </p:to>
                                    </p:set>
                                    <p:animEffect transition="in" filter="box(in)">
                                      <p:cBhvr>
                                        <p:cTn id="7" dur="500"/>
                                        <p:tgtEl>
                                          <p:spTgt spid="238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Text Box 2"/>
          <p:cNvSpPr txBox="1"/>
          <p:nvPr/>
        </p:nvSpPr>
        <p:spPr>
          <a:xfrm>
            <a:off x="1258888" y="2420938"/>
            <a:ext cx="7010400" cy="3378200"/>
          </a:xfrm>
          <a:prstGeom prst="rect">
            <a:avLst/>
          </a:prstGeom>
          <a:noFill/>
          <a:ln w="9525">
            <a:noFill/>
          </a:ln>
        </p:spPr>
        <p:txBody>
          <a:bodyPr anchor="t" anchorCtr="0">
            <a:spAutoFit/>
          </a:bodyPr>
          <a:p>
            <a:pPr>
              <a:spcBef>
                <a:spcPct val="50000"/>
              </a:spcBef>
              <a:buClrTx/>
              <a:buFontTx/>
            </a:pPr>
            <a:r>
              <a:rPr lang="zh-CN" altLang="en-US" sz="2400" dirty="0">
                <a:latin typeface="华文新魏" panose="02010800040101010101" pitchFamily="2" charset="-122"/>
                <a:ea typeface="华文新魏" panose="02010800040101010101" pitchFamily="2" charset="-122"/>
              </a:rPr>
              <a:t>当异常结束时，异常处理程序必须：</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R14 </a:t>
            </a:r>
            <a:r>
              <a:rPr lang="zh-CN" altLang="en-US" sz="2400" dirty="0">
                <a:latin typeface="华文新魏" panose="02010800040101010101" pitchFamily="2" charset="-122"/>
                <a:ea typeface="华文新魏" panose="02010800040101010101" pitchFamily="2" charset="-122"/>
              </a:rPr>
              <a:t>）中的值减去偏移量后存入</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，偏移量根据异常的类型而有所不同；</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en-US" altLang="zh-CN" sz="2400" dirty="0">
                <a:latin typeface="华文新魏" panose="02010800040101010101" pitchFamily="2" charset="-122"/>
                <a:ea typeface="华文新魏" panose="02010800040101010101" pitchFamily="2" charset="-122"/>
              </a:rPr>
              <a:t>2.</a:t>
            </a: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的值复制回</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en-US" altLang="zh-CN" sz="2400" dirty="0">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清零在入口置位的中断禁止标志。</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a:t>
            </a:r>
            <a:r>
              <a:rPr lang="zh-CN" altLang="en-US" sz="2400" dirty="0">
                <a:latin typeface="华文新魏" panose="02010800040101010101" pitchFamily="2" charset="-122"/>
                <a:ea typeface="华文新魏" panose="02010800040101010101" pitchFamily="2" charset="-122"/>
              </a:rPr>
              <a:t>：恢复</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的动作会将</a:t>
            </a:r>
            <a:r>
              <a:rPr lang="en-US" altLang="zh-CN" sz="2400" dirty="0">
                <a:latin typeface="华文新魏" panose="02010800040101010101" pitchFamily="2" charset="-122"/>
                <a:ea typeface="华文新魏" panose="02010800040101010101" pitchFamily="2" charset="-122"/>
              </a:rPr>
              <a:t>T</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F</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I</a:t>
            </a:r>
            <a:r>
              <a:rPr lang="zh-CN" altLang="en-US" sz="2400" dirty="0">
                <a:latin typeface="华文新魏" panose="02010800040101010101" pitchFamily="2" charset="-122"/>
                <a:ea typeface="华文新魏" panose="02010800040101010101" pitchFamily="2" charset="-122"/>
              </a:rPr>
              <a:t>位自动恢复为异常发生前的值。</a:t>
            </a:r>
            <a:endParaRPr lang="zh-CN" altLang="en-US" sz="2400" dirty="0">
              <a:latin typeface="华文新魏" panose="02010800040101010101" pitchFamily="2" charset="-122"/>
              <a:ea typeface="华文新魏" panose="02010800040101010101" pitchFamily="2" charset="-122"/>
            </a:endParaRPr>
          </a:p>
        </p:txBody>
      </p:sp>
      <p:sp>
        <p:nvSpPr>
          <p:cNvPr id="96258"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39620"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退出异常</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39620">
                                            <p:txEl>
                                              <p:charRg st="0" end="5"/>
                                            </p:txEl>
                                          </p:spTgt>
                                        </p:tgtEl>
                                        <p:attrNameLst>
                                          <p:attrName>style.visibility</p:attrName>
                                        </p:attrNameLst>
                                      </p:cBhvr>
                                      <p:to>
                                        <p:strVal val="visible"/>
                                      </p:to>
                                    </p:set>
                                    <p:anim calcmode="lin" valueType="num">
                                      <p:cBhvr additive="base">
                                        <p:cTn id="7" dur="500" fill="hold"/>
                                        <p:tgtEl>
                                          <p:spTgt spid="239620">
                                            <p:txEl>
                                              <p:charRg st="0"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9620">
                                            <p:txEl>
                                              <p:charRg st="0" end="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39618"/>
                                        </p:tgtEl>
                                        <p:attrNameLst>
                                          <p:attrName>style.visibility</p:attrName>
                                        </p:attrNameLst>
                                      </p:cBhvr>
                                      <p:to>
                                        <p:strVal val="visible"/>
                                      </p:to>
                                    </p:set>
                                    <p:animEffect transition="in" filter="box(in)">
                                      <p:cBhvr>
                                        <p:cTn id="12" dur="500"/>
                                        <p:tgtEl>
                                          <p:spTgt spid="239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p:bldP spid="239620" grpId="0" advAuto="100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006850" y="1219200"/>
            <a:ext cx="4908550" cy="5105400"/>
            <a:chOff x="2524" y="768"/>
            <a:chExt cx="3092" cy="3216"/>
          </a:xfrm>
        </p:grpSpPr>
        <p:grpSp>
          <p:nvGrpSpPr>
            <p:cNvPr id="97282" name="Group 3"/>
            <p:cNvGrpSpPr/>
            <p:nvPr/>
          </p:nvGrpSpPr>
          <p:grpSpPr>
            <a:xfrm>
              <a:off x="2524" y="768"/>
              <a:ext cx="3092" cy="3216"/>
              <a:chOff x="2524" y="768"/>
              <a:chExt cx="3092" cy="3216"/>
            </a:xfrm>
          </p:grpSpPr>
          <p:sp>
            <p:nvSpPr>
              <p:cNvPr id="97283" name="Rectangle 4"/>
              <p:cNvSpPr/>
              <p:nvPr/>
            </p:nvSpPr>
            <p:spPr>
              <a:xfrm>
                <a:off x="4224" y="1008"/>
                <a:ext cx="1392" cy="2976"/>
              </a:xfrm>
              <a:prstGeom prst="rect">
                <a:avLst/>
              </a:prstGeom>
              <a:solidFill>
                <a:srgbClr val="C0C0C0"/>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284" name="Rectangle 5"/>
              <p:cNvSpPr/>
              <p:nvPr/>
            </p:nvSpPr>
            <p:spPr>
              <a:xfrm>
                <a:off x="2832" y="1008"/>
                <a:ext cx="1392" cy="297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285" name="Rectangle 6"/>
              <p:cNvSpPr/>
              <p:nvPr/>
            </p:nvSpPr>
            <p:spPr>
              <a:xfrm>
                <a:off x="3312" y="1296"/>
                <a:ext cx="720" cy="1248"/>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286" name="Rectangle 7"/>
              <p:cNvSpPr/>
              <p:nvPr/>
            </p:nvSpPr>
            <p:spPr>
              <a:xfrm>
                <a:off x="4416" y="1296"/>
                <a:ext cx="720" cy="1248"/>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287" name="Text Box 8"/>
              <p:cNvSpPr txBox="1"/>
              <p:nvPr/>
            </p:nvSpPr>
            <p:spPr>
              <a:xfrm>
                <a:off x="3360" y="1104"/>
                <a:ext cx="624" cy="212"/>
              </a:xfrm>
              <a:prstGeom prst="rect">
                <a:avLst/>
              </a:prstGeom>
              <a:noFill/>
              <a:ln w="9525">
                <a:noFill/>
              </a:ln>
            </p:spPr>
            <p:txBody>
              <a:bodyPr anchor="t" anchorCtr="0">
                <a:spAutoFit/>
              </a:bodyPr>
              <a:p>
                <a:pPr algn="ctr">
                  <a:spcBef>
                    <a:spcPct val="50000"/>
                  </a:spcBef>
                  <a:buClrTx/>
                  <a:buFontTx/>
                </a:pPr>
                <a:r>
                  <a:rPr lang="zh-CN" altLang="en-US" sz="1600" dirty="0">
                    <a:latin typeface="Times New Roman" panose="02020603050405020304" pitchFamily="18" charset="0"/>
                    <a:ea typeface="宋体" panose="02010600030101010101" pitchFamily="2" charset="-122"/>
                  </a:rPr>
                  <a:t>程序</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97288" name="Text Box 9"/>
              <p:cNvSpPr txBox="1"/>
              <p:nvPr/>
            </p:nvSpPr>
            <p:spPr>
              <a:xfrm>
                <a:off x="4272" y="1104"/>
                <a:ext cx="1056" cy="212"/>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IRQ</a:t>
                </a:r>
                <a:r>
                  <a:rPr lang="zh-CN" altLang="en-US" sz="1600" dirty="0">
                    <a:latin typeface="Times New Roman" panose="02020603050405020304" pitchFamily="18" charset="0"/>
                    <a:ea typeface="宋体" panose="02010600030101010101" pitchFamily="2" charset="-122"/>
                  </a:rPr>
                  <a:t>服务程序</a:t>
                </a:r>
                <a:endParaRPr lang="zh-CN" altLang="en-US" sz="1600" dirty="0">
                  <a:latin typeface="Times New Roman" panose="02020603050405020304" pitchFamily="18" charset="0"/>
                  <a:ea typeface="宋体" panose="02010600030101010101" pitchFamily="2" charset="-122"/>
                </a:endParaRPr>
              </a:p>
            </p:txBody>
          </p:sp>
          <p:sp>
            <p:nvSpPr>
              <p:cNvPr id="97289" name="Rectangle 10"/>
              <p:cNvSpPr/>
              <p:nvPr/>
            </p:nvSpPr>
            <p:spPr>
              <a:xfrm>
                <a:off x="2832" y="768"/>
                <a:ext cx="1392" cy="24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系统模式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sp>
            <p:nvSpPr>
              <p:cNvPr id="97290" name="Rectangle 11"/>
              <p:cNvSpPr/>
              <p:nvPr/>
            </p:nvSpPr>
            <p:spPr>
              <a:xfrm>
                <a:off x="4224" y="768"/>
                <a:ext cx="1392" cy="240"/>
              </a:xfrm>
              <a:prstGeom prst="rect">
                <a:avLst/>
              </a:prstGeom>
              <a:solidFill>
                <a:srgbClr val="C0C0C0"/>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2000" dirty="0">
                    <a:solidFill>
                      <a:srgbClr val="0000FF"/>
                    </a:solidFill>
                    <a:latin typeface="华文新魏" panose="02010800040101010101" pitchFamily="2" charset="-122"/>
                    <a:ea typeface="华文新魏" panose="02010800040101010101" pitchFamily="2" charset="-122"/>
                  </a:rPr>
                  <a:t>IRQ</a:t>
                </a:r>
                <a:r>
                  <a:rPr lang="zh-CN" altLang="en-US" sz="2000" dirty="0">
                    <a:solidFill>
                      <a:srgbClr val="0000FF"/>
                    </a:solidFill>
                    <a:latin typeface="华文新魏" panose="02010800040101010101" pitchFamily="2" charset="-122"/>
                    <a:ea typeface="华文新魏" panose="02010800040101010101" pitchFamily="2" charset="-122"/>
                  </a:rPr>
                  <a:t>模式</a:t>
                </a:r>
                <a:endParaRPr lang="zh-CN" altLang="en-US" sz="2000" dirty="0">
                  <a:solidFill>
                    <a:srgbClr val="0000FF"/>
                  </a:solidFill>
                  <a:latin typeface="华文新魏" panose="02010800040101010101" pitchFamily="2" charset="-122"/>
                  <a:ea typeface="华文新魏" panose="02010800040101010101" pitchFamily="2" charset="-122"/>
                </a:endParaRPr>
              </a:p>
            </p:txBody>
          </p:sp>
          <p:sp>
            <p:nvSpPr>
              <p:cNvPr id="97291" name="Rectangle 12"/>
              <p:cNvSpPr/>
              <p:nvPr/>
            </p:nvSpPr>
            <p:spPr>
              <a:xfrm>
                <a:off x="2544" y="1008"/>
                <a:ext cx="288" cy="168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endParaRPr lang="zh-CN" altLang="zh-CN" sz="3200" dirty="0">
                  <a:latin typeface="Times New Roman" panose="02020603050405020304" pitchFamily="18" charset="0"/>
                  <a:ea typeface="宋体" panose="02010600030101010101" pitchFamily="2" charset="-122"/>
                </a:endParaRPr>
              </a:p>
            </p:txBody>
          </p:sp>
          <p:sp>
            <p:nvSpPr>
              <p:cNvPr id="97292" name="Rectangle 13"/>
              <p:cNvSpPr/>
              <p:nvPr/>
            </p:nvSpPr>
            <p:spPr>
              <a:xfrm>
                <a:off x="2544" y="2688"/>
                <a:ext cx="288" cy="129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293" name="Text Box 14"/>
              <p:cNvSpPr txBox="1"/>
              <p:nvPr/>
            </p:nvSpPr>
            <p:spPr>
              <a:xfrm>
                <a:off x="2524" y="1008"/>
                <a:ext cx="308" cy="1680"/>
              </a:xfrm>
              <a:prstGeom prst="rect">
                <a:avLst/>
              </a:prstGeom>
              <a:noFill/>
              <a:ln w="9525">
                <a:noFill/>
              </a:ln>
            </p:spPr>
            <p:txBody>
              <a:bodyPr vert="eaVert" anchor="t" anchorCtr="0">
                <a:spAutoFit/>
              </a:bodyPr>
              <a:p>
                <a:pPr algn="ctr">
                  <a:spcBef>
                    <a:spcPct val="5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程序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sp>
            <p:nvSpPr>
              <p:cNvPr id="97294" name="Text Box 15"/>
              <p:cNvSpPr txBox="1"/>
              <p:nvPr/>
            </p:nvSpPr>
            <p:spPr>
              <a:xfrm>
                <a:off x="2524" y="2688"/>
                <a:ext cx="308" cy="1296"/>
              </a:xfrm>
              <a:prstGeom prst="rect">
                <a:avLst/>
              </a:prstGeom>
              <a:noFill/>
              <a:ln w="9525">
                <a:noFill/>
              </a:ln>
            </p:spPr>
            <p:txBody>
              <a:bodyPr vert="eaVert" anchor="t" anchorCtr="0">
                <a:spAutoFit/>
              </a:bodyPr>
              <a:p>
                <a:pPr algn="ctr">
                  <a:spcBef>
                    <a:spcPct val="5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寄存器组</a:t>
                </a:r>
                <a:endParaRPr lang="zh-CN" altLang="en-US" sz="2000" dirty="0">
                  <a:solidFill>
                    <a:srgbClr val="0000FF"/>
                  </a:solidFill>
                  <a:latin typeface="Times New Roman" panose="02020603050405020304" pitchFamily="18" charset="0"/>
                  <a:ea typeface="华文新魏" panose="02010800040101010101" pitchFamily="2" charset="-122"/>
                </a:endParaRPr>
              </a:p>
            </p:txBody>
          </p:sp>
        </p:grpSp>
        <p:sp>
          <p:nvSpPr>
            <p:cNvPr id="97295" name="Line 16"/>
            <p:cNvSpPr/>
            <p:nvPr/>
          </p:nvSpPr>
          <p:spPr>
            <a:xfrm>
              <a:off x="2832" y="2688"/>
              <a:ext cx="2784" cy="0"/>
            </a:xfrm>
            <a:prstGeom prst="line">
              <a:avLst/>
            </a:prstGeom>
            <a:ln w="9525" cap="flat" cmpd="sng">
              <a:solidFill>
                <a:schemeClr val="tx1"/>
              </a:solidFill>
              <a:prstDash val="solid"/>
              <a:round/>
              <a:headEnd type="none" w="med" len="med"/>
              <a:tailEnd type="none" w="med" len="med"/>
            </a:ln>
          </p:spPr>
        </p:sp>
      </p:grpSp>
      <p:sp>
        <p:nvSpPr>
          <p:cNvPr id="240657" name="Text Box 17"/>
          <p:cNvSpPr txBox="1"/>
          <p:nvPr/>
        </p:nvSpPr>
        <p:spPr>
          <a:xfrm>
            <a:off x="1116013" y="333375"/>
            <a:ext cx="7343775" cy="762000"/>
          </a:xfrm>
          <a:prstGeom prst="rect">
            <a:avLst/>
          </a:prstGeom>
          <a:noFill/>
          <a:ln w="9525">
            <a:noFill/>
          </a:ln>
        </p:spPr>
        <p:txBody>
          <a:bodyPr anchor="t" anchorCtr="0">
            <a:spAutoFit/>
          </a:bodyPr>
          <a:p>
            <a:pPr algn="ctr">
              <a:spcBef>
                <a:spcPct val="50000"/>
              </a:spcBef>
              <a:buClrTx/>
              <a:buFontTx/>
            </a:pPr>
            <a:r>
              <a:rPr lang="zh-CN" altLang="en-US" sz="4400" dirty="0">
                <a:latin typeface="华文新魏" panose="02010800040101010101" pitchFamily="2" charset="-122"/>
                <a:ea typeface="华文新魏" panose="02010800040101010101" pitchFamily="2" charset="-122"/>
              </a:rPr>
              <a:t>图示进入异常过程</a:t>
            </a:r>
            <a:endParaRPr lang="zh-CN" altLang="en-US" sz="4400" dirty="0">
              <a:latin typeface="华文新魏" panose="02010800040101010101" pitchFamily="2" charset="-122"/>
              <a:ea typeface="华文新魏" panose="02010800040101010101" pitchFamily="2" charset="-122"/>
            </a:endParaRPr>
          </a:p>
        </p:txBody>
      </p:sp>
      <p:sp>
        <p:nvSpPr>
          <p:cNvPr id="240658" name="AutoShape 18"/>
          <p:cNvSpPr/>
          <p:nvPr/>
        </p:nvSpPr>
        <p:spPr>
          <a:xfrm>
            <a:off x="5715000" y="2133600"/>
            <a:ext cx="228600" cy="685800"/>
          </a:xfrm>
          <a:prstGeom prst="downArrow">
            <a:avLst>
              <a:gd name="adj1" fmla="val 50000"/>
              <a:gd name="adj2" fmla="val 75000"/>
            </a:avLst>
          </a:prstGeom>
          <a:solidFill>
            <a:srgbClr val="6666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240659" name="Text Box 19"/>
          <p:cNvSpPr txBox="1"/>
          <p:nvPr/>
        </p:nvSpPr>
        <p:spPr>
          <a:xfrm>
            <a:off x="304800" y="1524000"/>
            <a:ext cx="3657600" cy="155257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1. </a:t>
            </a:r>
            <a:r>
              <a:rPr lang="zh-CN" altLang="en-US" sz="2400" dirty="0">
                <a:latin typeface="华文新魏" panose="02010800040101010101" pitchFamily="2" charset="-122"/>
                <a:ea typeface="华文新魏" panose="02010800040101010101" pitchFamily="2" charset="-122"/>
              </a:rPr>
              <a:t>程序在系统模式下运行用户程序，假定当前处理器状态为</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状态、允许</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中断；</a:t>
            </a:r>
            <a:endParaRPr lang="zh-CN" altLang="en-US" sz="2400" dirty="0">
              <a:latin typeface="华文新魏" panose="02010800040101010101" pitchFamily="2" charset="-122"/>
              <a:ea typeface="华文新魏" panose="02010800040101010101" pitchFamily="2" charset="-122"/>
            </a:endParaRPr>
          </a:p>
        </p:txBody>
      </p:sp>
      <p:sp>
        <p:nvSpPr>
          <p:cNvPr id="240660" name="Text Box 20"/>
          <p:cNvSpPr txBox="1"/>
          <p:nvPr/>
        </p:nvSpPr>
        <p:spPr>
          <a:xfrm>
            <a:off x="228600" y="1143000"/>
            <a:ext cx="3733800" cy="118745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2. </a:t>
            </a:r>
            <a:r>
              <a:rPr lang="zh-CN" altLang="en-US" sz="2400" dirty="0">
                <a:latin typeface="华文新魏" panose="02010800040101010101" pitchFamily="2" charset="-122"/>
                <a:ea typeface="华文新魏" panose="02010800040101010101" pitchFamily="2" charset="-122"/>
              </a:rPr>
              <a:t>用户程序运行时发生</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中断，硬件完成以下动作：</a:t>
            </a:r>
            <a:endParaRPr lang="zh-CN" altLang="en-US" sz="2400" dirty="0">
              <a:latin typeface="华文新魏" panose="02010800040101010101" pitchFamily="2" charset="-122"/>
              <a:ea typeface="华文新魏" panose="02010800040101010101" pitchFamily="2" charset="-122"/>
            </a:endParaRPr>
          </a:p>
        </p:txBody>
      </p:sp>
      <p:grpSp>
        <p:nvGrpSpPr>
          <p:cNvPr id="4" name="Group 21"/>
          <p:cNvGrpSpPr/>
          <p:nvPr/>
        </p:nvGrpSpPr>
        <p:grpSpPr>
          <a:xfrm>
            <a:off x="4495800" y="4495800"/>
            <a:ext cx="3581400" cy="1509713"/>
            <a:chOff x="2832" y="2832"/>
            <a:chExt cx="2256" cy="951"/>
          </a:xfrm>
        </p:grpSpPr>
        <p:sp>
          <p:nvSpPr>
            <p:cNvPr id="97301" name="Rectangle 22"/>
            <p:cNvSpPr/>
            <p:nvPr/>
          </p:nvSpPr>
          <p:spPr>
            <a:xfrm>
              <a:off x="3360" y="2832"/>
              <a:ext cx="672" cy="192"/>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LR_sys</a:t>
              </a:r>
              <a:endParaRPr lang="en-US" altLang="zh-CN" sz="1600" dirty="0">
                <a:latin typeface="Times New Roman" panose="02020603050405020304" pitchFamily="18" charset="0"/>
                <a:ea typeface="宋体" panose="02010600030101010101" pitchFamily="2" charset="-122"/>
              </a:endParaRPr>
            </a:p>
          </p:txBody>
        </p:sp>
        <p:sp>
          <p:nvSpPr>
            <p:cNvPr id="97302" name="Rectangle 23"/>
            <p:cNvSpPr/>
            <p:nvPr/>
          </p:nvSpPr>
          <p:spPr>
            <a:xfrm>
              <a:off x="4416" y="3552"/>
              <a:ext cx="672" cy="192"/>
            </a:xfrm>
            <a:prstGeom prst="rect">
              <a:avLst/>
            </a:prstGeom>
            <a:solidFill>
              <a:srgbClr val="99FFCC"/>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SPSR_irq</a:t>
              </a:r>
              <a:endParaRPr lang="en-US" altLang="zh-CN" sz="1600" dirty="0">
                <a:latin typeface="Times New Roman" panose="02020603050405020304" pitchFamily="18" charset="0"/>
                <a:ea typeface="宋体" panose="02010600030101010101" pitchFamily="2" charset="-122"/>
              </a:endParaRPr>
            </a:p>
          </p:txBody>
        </p:sp>
        <p:sp>
          <p:nvSpPr>
            <p:cNvPr id="97303" name="Rectangle 24"/>
            <p:cNvSpPr/>
            <p:nvPr/>
          </p:nvSpPr>
          <p:spPr>
            <a:xfrm>
              <a:off x="4416" y="2832"/>
              <a:ext cx="672" cy="192"/>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LR_irq</a:t>
              </a:r>
              <a:endParaRPr lang="en-US" altLang="zh-CN" sz="1600" dirty="0">
                <a:latin typeface="Times New Roman" panose="02020603050405020304" pitchFamily="18" charset="0"/>
                <a:ea typeface="宋体" panose="02010600030101010101" pitchFamily="2" charset="-122"/>
              </a:endParaRPr>
            </a:p>
          </p:txBody>
        </p:sp>
        <p:sp>
          <p:nvSpPr>
            <p:cNvPr id="97304" name="Text Box 25"/>
            <p:cNvSpPr txBox="1"/>
            <p:nvPr/>
          </p:nvSpPr>
          <p:spPr>
            <a:xfrm>
              <a:off x="2832" y="2832"/>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LR</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97305" name="Text Box 26"/>
            <p:cNvSpPr txBox="1"/>
            <p:nvPr/>
          </p:nvSpPr>
          <p:spPr>
            <a:xfrm>
              <a:off x="2832" y="3024"/>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PC</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97306" name="Text Box 27"/>
            <p:cNvSpPr txBox="1"/>
            <p:nvPr/>
          </p:nvSpPr>
          <p:spPr>
            <a:xfrm>
              <a:off x="2832" y="3264"/>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CPSR</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97307" name="Text Box 28"/>
            <p:cNvSpPr txBox="1"/>
            <p:nvPr/>
          </p:nvSpPr>
          <p:spPr>
            <a:xfrm>
              <a:off x="2832" y="3552"/>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SPSR</a:t>
              </a:r>
              <a:endParaRPr lang="en-US" altLang="zh-CN" dirty="0">
                <a:solidFill>
                  <a:srgbClr val="0000FF"/>
                </a:solidFill>
                <a:latin typeface="Times New Roman" panose="02020603050405020304" pitchFamily="18" charset="0"/>
                <a:ea typeface="宋体" panose="02010600030101010101" pitchFamily="2" charset="-122"/>
              </a:endParaRPr>
            </a:p>
          </p:txBody>
        </p:sp>
        <p:grpSp>
          <p:nvGrpSpPr>
            <p:cNvPr id="97308" name="Group 29"/>
            <p:cNvGrpSpPr/>
            <p:nvPr/>
          </p:nvGrpSpPr>
          <p:grpSpPr>
            <a:xfrm>
              <a:off x="3360" y="3360"/>
              <a:ext cx="1728" cy="192"/>
              <a:chOff x="3380" y="3360"/>
              <a:chExt cx="1728" cy="192"/>
            </a:xfrm>
          </p:grpSpPr>
          <p:sp>
            <p:nvSpPr>
              <p:cNvPr id="97309" name="Rectangle 30"/>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SYS</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7310" name="Rectangle 31"/>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1</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7311" name="Rectangle 32"/>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12" name="Rectangle 33"/>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0</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7313" name="Rectangle 34"/>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7314" name="Rectangle 35"/>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15" name="Rectangle 36"/>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16" name="Rectangle 37"/>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17" name="Rectangle 38"/>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grpSp>
        <p:grpSp>
          <p:nvGrpSpPr>
            <p:cNvPr id="97318" name="Group 39"/>
            <p:cNvGrpSpPr/>
            <p:nvPr/>
          </p:nvGrpSpPr>
          <p:grpSpPr>
            <a:xfrm>
              <a:off x="3360" y="3216"/>
              <a:ext cx="1728" cy="144"/>
              <a:chOff x="1152" y="3264"/>
              <a:chExt cx="1728" cy="144"/>
            </a:xfrm>
          </p:grpSpPr>
          <p:sp>
            <p:nvSpPr>
              <p:cNvPr id="97319" name="Rectangle 40"/>
              <p:cNvSpPr/>
              <p:nvPr/>
            </p:nvSpPr>
            <p:spPr>
              <a:xfrm>
                <a:off x="2400" y="3264"/>
                <a:ext cx="480"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MOD</a:t>
                </a:r>
                <a:endParaRPr lang="en-US" altLang="zh-CN" sz="1600" dirty="0">
                  <a:latin typeface="Times New Roman" panose="02020603050405020304" pitchFamily="18" charset="0"/>
                  <a:ea typeface="宋体" panose="02010600030101010101" pitchFamily="2" charset="-122"/>
                </a:endParaRPr>
              </a:p>
            </p:txBody>
          </p:sp>
          <p:sp>
            <p:nvSpPr>
              <p:cNvPr id="97320" name="Rectangle 41"/>
              <p:cNvSpPr/>
              <p:nvPr/>
            </p:nvSpPr>
            <p:spPr>
              <a:xfrm>
                <a:off x="2256"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T</a:t>
                </a:r>
                <a:endParaRPr lang="en-US" altLang="zh-CN" sz="1600" dirty="0">
                  <a:latin typeface="Times New Roman" panose="02020603050405020304" pitchFamily="18" charset="0"/>
                  <a:ea typeface="宋体" panose="02010600030101010101" pitchFamily="2" charset="-122"/>
                </a:endParaRPr>
              </a:p>
            </p:txBody>
          </p:sp>
          <p:sp>
            <p:nvSpPr>
              <p:cNvPr id="97321" name="Rectangle 42"/>
              <p:cNvSpPr/>
              <p:nvPr/>
            </p:nvSpPr>
            <p:spPr>
              <a:xfrm>
                <a:off x="2112"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F</a:t>
                </a:r>
                <a:endParaRPr lang="en-US" altLang="zh-CN" sz="1600" dirty="0">
                  <a:latin typeface="Times New Roman" panose="02020603050405020304" pitchFamily="18" charset="0"/>
                  <a:ea typeface="宋体" panose="02010600030101010101" pitchFamily="2" charset="-122"/>
                </a:endParaRPr>
              </a:p>
            </p:txBody>
          </p:sp>
          <p:sp>
            <p:nvSpPr>
              <p:cNvPr id="97322" name="Rectangle 43"/>
              <p:cNvSpPr/>
              <p:nvPr/>
            </p:nvSpPr>
            <p:spPr>
              <a:xfrm>
                <a:off x="1968"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I</a:t>
                </a:r>
                <a:endParaRPr lang="en-US" altLang="zh-CN" sz="1600" dirty="0">
                  <a:latin typeface="Times New Roman" panose="02020603050405020304" pitchFamily="18" charset="0"/>
                  <a:ea typeface="宋体" panose="02010600030101010101" pitchFamily="2" charset="-122"/>
                </a:endParaRPr>
              </a:p>
            </p:txBody>
          </p:sp>
          <p:sp>
            <p:nvSpPr>
              <p:cNvPr id="97323" name="Rectangle 44"/>
              <p:cNvSpPr/>
              <p:nvPr/>
            </p:nvSpPr>
            <p:spPr>
              <a:xfrm>
                <a:off x="1728" y="3264"/>
                <a:ext cx="240"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7324" name="Rectangle 45"/>
              <p:cNvSpPr/>
              <p:nvPr/>
            </p:nvSpPr>
            <p:spPr>
              <a:xfrm>
                <a:off x="1152"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N</a:t>
                </a:r>
                <a:endParaRPr lang="en-US" altLang="zh-CN" sz="1600" dirty="0">
                  <a:latin typeface="Times New Roman" panose="02020603050405020304" pitchFamily="18" charset="0"/>
                  <a:ea typeface="宋体" panose="02010600030101010101" pitchFamily="2" charset="-122"/>
                </a:endParaRPr>
              </a:p>
            </p:txBody>
          </p:sp>
          <p:sp>
            <p:nvSpPr>
              <p:cNvPr id="97325" name="Rectangle 46"/>
              <p:cNvSpPr/>
              <p:nvPr/>
            </p:nvSpPr>
            <p:spPr>
              <a:xfrm>
                <a:off x="1296"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Z</a:t>
                </a:r>
                <a:endParaRPr lang="en-US" altLang="zh-CN" sz="1600" dirty="0">
                  <a:latin typeface="Times New Roman" panose="02020603050405020304" pitchFamily="18" charset="0"/>
                  <a:ea typeface="宋体" panose="02010600030101010101" pitchFamily="2" charset="-122"/>
                </a:endParaRPr>
              </a:p>
            </p:txBody>
          </p:sp>
          <p:sp>
            <p:nvSpPr>
              <p:cNvPr id="97326" name="Rectangle 47"/>
              <p:cNvSpPr/>
              <p:nvPr/>
            </p:nvSpPr>
            <p:spPr>
              <a:xfrm>
                <a:off x="1440"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sp>
            <p:nvSpPr>
              <p:cNvPr id="97327" name="Rectangle 48"/>
              <p:cNvSpPr/>
              <p:nvPr/>
            </p:nvSpPr>
            <p:spPr>
              <a:xfrm>
                <a:off x="1584"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V</a:t>
                </a:r>
                <a:endParaRPr lang="en-US" altLang="zh-CN" sz="1600" dirty="0">
                  <a:latin typeface="Times New Roman" panose="02020603050405020304" pitchFamily="18" charset="0"/>
                  <a:ea typeface="宋体" panose="02010600030101010101" pitchFamily="2" charset="-122"/>
                </a:endParaRPr>
              </a:p>
            </p:txBody>
          </p:sp>
        </p:grpSp>
        <p:sp>
          <p:nvSpPr>
            <p:cNvPr id="97328" name="Rectangle 49"/>
            <p:cNvSpPr/>
            <p:nvPr/>
          </p:nvSpPr>
          <p:spPr>
            <a:xfrm>
              <a:off x="3360" y="3024"/>
              <a:ext cx="1728" cy="192"/>
            </a:xfrm>
            <a:prstGeom prst="rect">
              <a:avLst/>
            </a:prstGeom>
            <a:solidFill>
              <a:srgbClr val="CC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grpSp>
        <p:nvGrpSpPr>
          <p:cNvPr id="7" name="Group 50"/>
          <p:cNvGrpSpPr/>
          <p:nvPr/>
        </p:nvGrpSpPr>
        <p:grpSpPr>
          <a:xfrm>
            <a:off x="5257800" y="2057400"/>
            <a:ext cx="2895600" cy="1295400"/>
            <a:chOff x="3312" y="1296"/>
            <a:chExt cx="1824" cy="816"/>
          </a:xfrm>
        </p:grpSpPr>
        <p:sp>
          <p:nvSpPr>
            <p:cNvPr id="97330" name="Rectangle 51"/>
            <p:cNvSpPr/>
            <p:nvPr/>
          </p:nvSpPr>
          <p:spPr>
            <a:xfrm>
              <a:off x="4416" y="1296"/>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nvGrpSpPr>
            <p:cNvPr id="97331" name="Group 52"/>
            <p:cNvGrpSpPr/>
            <p:nvPr/>
          </p:nvGrpSpPr>
          <p:grpSpPr>
            <a:xfrm>
              <a:off x="3312" y="1824"/>
              <a:ext cx="720" cy="288"/>
              <a:chOff x="3312" y="1824"/>
              <a:chExt cx="720" cy="288"/>
            </a:xfrm>
          </p:grpSpPr>
          <p:sp>
            <p:nvSpPr>
              <p:cNvPr id="97332" name="Rectangle 53"/>
              <p:cNvSpPr/>
              <p:nvPr/>
            </p:nvSpPr>
            <p:spPr>
              <a:xfrm>
                <a:off x="3312" y="1824"/>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333" name="Rectangle 54"/>
              <p:cNvSpPr/>
              <p:nvPr/>
            </p:nvSpPr>
            <p:spPr>
              <a:xfrm>
                <a:off x="3312" y="1920"/>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7334" name="Rectangle 55"/>
              <p:cNvSpPr/>
              <p:nvPr/>
            </p:nvSpPr>
            <p:spPr>
              <a:xfrm>
                <a:off x="3312" y="2016"/>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grpSp>
      <p:sp>
        <p:nvSpPr>
          <p:cNvPr id="240696" name="Text Box 56"/>
          <p:cNvSpPr txBox="1"/>
          <p:nvPr/>
        </p:nvSpPr>
        <p:spPr>
          <a:xfrm>
            <a:off x="228600" y="3048000"/>
            <a:ext cx="4056063" cy="1917700"/>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置位</a:t>
            </a:r>
            <a:r>
              <a:rPr lang="en-US" altLang="zh-CN" sz="2400" dirty="0">
                <a:latin typeface="华文新魏" panose="02010800040101010101" pitchFamily="2" charset="-122"/>
                <a:ea typeface="华文新魏" panose="02010800040101010101" pitchFamily="2" charset="-122"/>
              </a:rPr>
              <a:t>I</a:t>
            </a:r>
            <a:r>
              <a:rPr lang="zh-CN" altLang="en-US" sz="2400" dirty="0">
                <a:latin typeface="华文新魏" panose="02010800040101010101" pitchFamily="2" charset="-122"/>
                <a:ea typeface="华文新魏" panose="02010800040101010101" pitchFamily="2" charset="-122"/>
              </a:rPr>
              <a:t>位（禁止</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中断）</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清零</a:t>
            </a:r>
            <a:r>
              <a:rPr lang="en-US" altLang="zh-CN" sz="2400" dirty="0">
                <a:latin typeface="华文新魏" panose="02010800040101010101" pitchFamily="2" charset="-122"/>
                <a:ea typeface="华文新魏" panose="02010800040101010101" pitchFamily="2" charset="-122"/>
              </a:rPr>
              <a:t>T</a:t>
            </a:r>
            <a:r>
              <a:rPr lang="zh-CN" altLang="en-US" sz="2400" dirty="0">
                <a:latin typeface="华文新魏" panose="02010800040101010101" pitchFamily="2" charset="-122"/>
                <a:ea typeface="华文新魏" panose="02010800040101010101" pitchFamily="2" charset="-122"/>
              </a:rPr>
              <a:t>位（进入</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设置</a:t>
            </a:r>
            <a:r>
              <a:rPr lang="en-US" altLang="zh-CN" sz="2400" dirty="0">
                <a:latin typeface="华文新魏" panose="02010800040101010101" pitchFamily="2" charset="-122"/>
                <a:ea typeface="华文新魏" panose="02010800040101010101" pitchFamily="2" charset="-122"/>
              </a:rPr>
              <a:t>MOD</a:t>
            </a:r>
            <a:r>
              <a:rPr lang="zh-CN" altLang="en-US" sz="2400" dirty="0">
                <a:latin typeface="华文新魏" panose="02010800040101010101" pitchFamily="2" charset="-122"/>
                <a:ea typeface="华文新魏" panose="02010800040101010101" pitchFamily="2" charset="-122"/>
              </a:rPr>
              <a:t>位，切换处理器模式至</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模式</a:t>
            </a:r>
            <a:endParaRPr lang="zh-CN" altLang="en-US" sz="2400" dirty="0">
              <a:latin typeface="华文新魏" panose="02010800040101010101" pitchFamily="2" charset="-122"/>
              <a:ea typeface="华文新魏" panose="02010800040101010101" pitchFamily="2" charset="-122"/>
            </a:endParaRPr>
          </a:p>
        </p:txBody>
      </p:sp>
      <p:sp>
        <p:nvSpPr>
          <p:cNvPr id="240697" name="Text Box 57"/>
          <p:cNvSpPr txBox="1"/>
          <p:nvPr/>
        </p:nvSpPr>
        <p:spPr>
          <a:xfrm>
            <a:off x="228600" y="4876800"/>
            <a:ext cx="3733800" cy="822325"/>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将下一条指令的地址存入</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模式的</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寄存器</a:t>
            </a:r>
            <a:endParaRPr lang="zh-CN" altLang="en-US" sz="2400" dirty="0">
              <a:latin typeface="华文新魏" panose="02010800040101010101" pitchFamily="2" charset="-122"/>
              <a:ea typeface="华文新魏" panose="02010800040101010101" pitchFamily="2" charset="-122"/>
            </a:endParaRPr>
          </a:p>
        </p:txBody>
      </p:sp>
      <p:sp>
        <p:nvSpPr>
          <p:cNvPr id="240698" name="Text Box 58"/>
          <p:cNvSpPr txBox="1"/>
          <p:nvPr/>
        </p:nvSpPr>
        <p:spPr>
          <a:xfrm>
            <a:off x="228600" y="2286000"/>
            <a:ext cx="3733800" cy="822325"/>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寄存器内容存入</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模式的</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寄存器</a:t>
            </a:r>
            <a:endParaRPr lang="zh-CN" altLang="en-US" sz="2400" dirty="0">
              <a:latin typeface="华文新魏" panose="02010800040101010101" pitchFamily="2" charset="-122"/>
              <a:ea typeface="华文新魏" panose="02010800040101010101" pitchFamily="2" charset="-122"/>
            </a:endParaRPr>
          </a:p>
        </p:txBody>
      </p:sp>
      <p:sp>
        <p:nvSpPr>
          <p:cNvPr id="240699" name="Text Box 59"/>
          <p:cNvSpPr txBox="1"/>
          <p:nvPr/>
        </p:nvSpPr>
        <p:spPr>
          <a:xfrm>
            <a:off x="228600" y="5699125"/>
            <a:ext cx="3733800" cy="822325"/>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将跳转地址存入</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，实现跳转</a:t>
            </a:r>
            <a:endParaRPr lang="zh-CN" altLang="en-US" sz="2400" dirty="0">
              <a:latin typeface="华文新魏" panose="02010800040101010101" pitchFamily="2" charset="-122"/>
              <a:ea typeface="华文新魏" panose="02010800040101010101" pitchFamily="2" charset="-122"/>
            </a:endParaRPr>
          </a:p>
        </p:txBody>
      </p:sp>
      <p:grpSp>
        <p:nvGrpSpPr>
          <p:cNvPr id="9" name="Group 60"/>
          <p:cNvGrpSpPr/>
          <p:nvPr/>
        </p:nvGrpSpPr>
        <p:grpSpPr>
          <a:xfrm>
            <a:off x="5334000" y="5334000"/>
            <a:ext cx="2743200" cy="304800"/>
            <a:chOff x="3380" y="3360"/>
            <a:chExt cx="1728" cy="192"/>
          </a:xfrm>
        </p:grpSpPr>
        <p:sp>
          <p:nvSpPr>
            <p:cNvPr id="97340" name="Rectangle 61"/>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IRQ</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7341" name="Rectangle 62"/>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0</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7342" name="Rectangle 63"/>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43" name="Rectangle 64"/>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1</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7344" name="Rectangle 65"/>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7345" name="Rectangle 66"/>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46" name="Rectangle 67"/>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47" name="Rectangle 68"/>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7348" name="Rectangle 69"/>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grpSp>
      <p:sp>
        <p:nvSpPr>
          <p:cNvPr id="240710" name="Rectangle 70"/>
          <p:cNvSpPr/>
          <p:nvPr/>
        </p:nvSpPr>
        <p:spPr>
          <a:xfrm>
            <a:off x="7010400" y="4495800"/>
            <a:ext cx="1066800" cy="30480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BackAddr</a:t>
            </a:r>
            <a:endParaRPr lang="en-US" altLang="zh-CN" sz="1600" dirty="0">
              <a:latin typeface="Times New Roman" panose="02020603050405020304" pitchFamily="18" charset="0"/>
              <a:ea typeface="宋体" panose="02010600030101010101" pitchFamily="2" charset="-122"/>
            </a:endParaRPr>
          </a:p>
        </p:txBody>
      </p:sp>
      <p:sp>
        <p:nvSpPr>
          <p:cNvPr id="240711" name="Rectangle 71"/>
          <p:cNvSpPr/>
          <p:nvPr/>
        </p:nvSpPr>
        <p:spPr>
          <a:xfrm>
            <a:off x="5334000" y="4800600"/>
            <a:ext cx="2743200" cy="304800"/>
          </a:xfrm>
          <a:prstGeom prst="rect">
            <a:avLst/>
          </a:prstGeom>
          <a:solidFill>
            <a:srgbClr val="CCFF99"/>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JumpAddr</a:t>
            </a:r>
            <a:endParaRPr lang="en-US" altLang="zh-CN" sz="1600" dirty="0">
              <a:latin typeface="Times New Roman" panose="02020603050405020304" pitchFamily="18" charset="0"/>
              <a:ea typeface="宋体" panose="02010600030101010101" pitchFamily="2" charset="-122"/>
            </a:endParaRPr>
          </a:p>
        </p:txBody>
      </p:sp>
      <p:sp>
        <p:nvSpPr>
          <p:cNvPr id="240712" name="Freeform 72"/>
          <p:cNvSpPr/>
          <p:nvPr/>
        </p:nvSpPr>
        <p:spPr>
          <a:xfrm>
            <a:off x="7924800" y="2209800"/>
            <a:ext cx="723900" cy="2679700"/>
          </a:xfrm>
          <a:custGeom>
            <a:avLst/>
            <a:gdLst/>
            <a:ahLst/>
            <a:cxnLst>
              <a:cxn ang="0">
                <a:pos x="2147483646" y="0"/>
              </a:cxn>
              <a:cxn ang="0">
                <a:pos x="2147483646" y="2147483646"/>
              </a:cxn>
              <a:cxn ang="0">
                <a:pos x="2147483646" y="2147483646"/>
              </a:cxn>
              <a:cxn ang="0">
                <a:pos x="2147483646" y="2147483646"/>
              </a:cxn>
              <a:cxn ang="0">
                <a:pos x="0" y="2147483646"/>
              </a:cxn>
            </a:cxnLst>
            <a:pathLst>
              <a:path w="456" h="1688">
                <a:moveTo>
                  <a:pt x="144" y="0"/>
                </a:moveTo>
                <a:cubicBezTo>
                  <a:pt x="240" y="8"/>
                  <a:pt x="336" y="16"/>
                  <a:pt x="384" y="240"/>
                </a:cubicBezTo>
                <a:cubicBezTo>
                  <a:pt x="432" y="464"/>
                  <a:pt x="456" y="1112"/>
                  <a:pt x="432" y="1344"/>
                </a:cubicBezTo>
                <a:cubicBezTo>
                  <a:pt x="408" y="1576"/>
                  <a:pt x="312" y="1576"/>
                  <a:pt x="240" y="1632"/>
                </a:cubicBezTo>
                <a:cubicBezTo>
                  <a:pt x="168" y="1688"/>
                  <a:pt x="84" y="1684"/>
                  <a:pt x="0" y="1680"/>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sp>
        <p:nvSpPr>
          <p:cNvPr id="240713" name="Freeform 73"/>
          <p:cNvSpPr/>
          <p:nvPr/>
        </p:nvSpPr>
        <p:spPr>
          <a:xfrm>
            <a:off x="6337300" y="3279775"/>
            <a:ext cx="792163" cy="1379538"/>
          </a:xfrm>
          <a:custGeom>
            <a:avLst/>
            <a:gdLst/>
            <a:ahLst/>
            <a:cxnLst>
              <a:cxn ang="0">
                <a:pos x="0" y="0"/>
              </a:cxn>
              <a:cxn ang="0">
                <a:pos x="2147483646" y="2147483646"/>
              </a:cxn>
              <a:cxn ang="0">
                <a:pos x="2147483646" y="2147483646"/>
              </a:cxn>
              <a:cxn ang="0">
                <a:pos x="2147483646" y="2147483646"/>
              </a:cxn>
            </a:cxnLst>
            <a:pathLst>
              <a:path w="499" h="869">
                <a:moveTo>
                  <a:pt x="0" y="0"/>
                </a:moveTo>
                <a:cubicBezTo>
                  <a:pt x="29" y="32"/>
                  <a:pt x="137" y="70"/>
                  <a:pt x="184" y="190"/>
                </a:cubicBezTo>
                <a:cubicBezTo>
                  <a:pt x="231" y="310"/>
                  <a:pt x="228" y="605"/>
                  <a:pt x="280" y="718"/>
                </a:cubicBezTo>
                <a:cubicBezTo>
                  <a:pt x="332" y="831"/>
                  <a:pt x="454" y="838"/>
                  <a:pt x="499" y="869"/>
                </a:cubicBezTo>
              </a:path>
            </a:pathLst>
          </a:custGeom>
          <a:noFill/>
          <a:ln w="28575" cap="flat" cmpd="sng">
            <a:solidFill>
              <a:srgbClr val="0000FF"/>
            </a:solidFill>
            <a:prstDash val="dash"/>
            <a:round/>
            <a:headEnd type="none" w="med" len="med"/>
            <a:tailEnd type="triangle" w="med" len="med"/>
          </a:ln>
        </p:spPr>
        <p:txBody>
          <a:bodyPr/>
          <a:p>
            <a:endParaRPr lang="zh-CN" altLang="en-US"/>
          </a:p>
        </p:txBody>
      </p:sp>
      <p:grpSp>
        <p:nvGrpSpPr>
          <p:cNvPr id="10" name="Group 74"/>
          <p:cNvGrpSpPr/>
          <p:nvPr/>
        </p:nvGrpSpPr>
        <p:grpSpPr>
          <a:xfrm>
            <a:off x="6400800" y="1981200"/>
            <a:ext cx="685800" cy="1066800"/>
            <a:chOff x="4032" y="1248"/>
            <a:chExt cx="432" cy="672"/>
          </a:xfrm>
        </p:grpSpPr>
        <p:sp>
          <p:nvSpPr>
            <p:cNvPr id="97354" name="Line 75"/>
            <p:cNvSpPr/>
            <p:nvPr/>
          </p:nvSpPr>
          <p:spPr>
            <a:xfrm flipV="1">
              <a:off x="4032" y="1392"/>
              <a:ext cx="432" cy="480"/>
            </a:xfrm>
            <a:prstGeom prst="line">
              <a:avLst/>
            </a:prstGeom>
            <a:ln w="28575" cap="flat" cmpd="sng">
              <a:solidFill>
                <a:srgbClr val="FF0000"/>
              </a:solidFill>
              <a:prstDash val="solid"/>
              <a:round/>
              <a:headEnd type="none" w="med" len="med"/>
              <a:tailEnd type="triangle" w="med" len="med"/>
            </a:ln>
          </p:spPr>
        </p:sp>
        <p:sp>
          <p:nvSpPr>
            <p:cNvPr id="97355" name="Rectangle 76"/>
            <p:cNvSpPr/>
            <p:nvPr/>
          </p:nvSpPr>
          <p:spPr>
            <a:xfrm rot="-2913530">
              <a:off x="3840" y="1488"/>
              <a:ext cx="672" cy="192"/>
            </a:xfrm>
            <a:prstGeom prst="rect">
              <a:avLst/>
            </a:prstGeom>
            <a:noFill/>
            <a:ln w="9525">
              <a:noFill/>
            </a:ln>
          </p:spPr>
          <p:txBody>
            <a:bodyPr wrap="none" anchor="ctr" anchorCtr="0"/>
            <a:p>
              <a:pPr algn="ctr">
                <a:spcBef>
                  <a:spcPct val="20000"/>
                </a:spcBef>
                <a:buClrTx/>
                <a:buFontTx/>
              </a:pPr>
              <a:r>
                <a:rPr lang="en-US" altLang="zh-CN" dirty="0">
                  <a:solidFill>
                    <a:srgbClr val="FF0000"/>
                  </a:solidFill>
                  <a:latin typeface="Times New Roman" panose="02020603050405020304" pitchFamily="18" charset="0"/>
                  <a:ea typeface="宋体" panose="02010600030101010101" pitchFamily="2" charset="-122"/>
                </a:rPr>
                <a:t>Jump</a:t>
              </a:r>
              <a:endParaRPr lang="en-US" altLang="zh-CN" dirty="0">
                <a:solidFill>
                  <a:srgbClr val="FF0000"/>
                </a:solidFill>
                <a:latin typeface="Times New Roman" panose="02020603050405020304" pitchFamily="18" charset="0"/>
                <a:ea typeface="宋体" panose="02010600030101010101" pitchFamily="2" charset="-122"/>
              </a:endParaRPr>
            </a:p>
          </p:txBody>
        </p:sp>
      </p:grpSp>
      <p:grpSp>
        <p:nvGrpSpPr>
          <p:cNvPr id="11" name="Group 77"/>
          <p:cNvGrpSpPr/>
          <p:nvPr/>
        </p:nvGrpSpPr>
        <p:grpSpPr>
          <a:xfrm>
            <a:off x="7010400" y="5638800"/>
            <a:ext cx="1066800" cy="304800"/>
            <a:chOff x="3380" y="3360"/>
            <a:chExt cx="1728" cy="192"/>
          </a:xfrm>
        </p:grpSpPr>
        <p:sp>
          <p:nvSpPr>
            <p:cNvPr id="97357" name="Rectangle 78"/>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solidFill>
                    <a:srgbClr val="FF0000"/>
                  </a:solidFill>
                  <a:latin typeface="Times New Roman" panose="02020603050405020304" pitchFamily="18" charset="0"/>
                  <a:ea typeface="宋体" panose="02010600030101010101" pitchFamily="2" charset="-122"/>
                </a:rPr>
                <a:t>SYS</a:t>
              </a:r>
              <a:endParaRPr lang="en-US" altLang="zh-CN" sz="1400" dirty="0">
                <a:solidFill>
                  <a:srgbClr val="FF0000"/>
                </a:solidFill>
                <a:latin typeface="Times New Roman" panose="02020603050405020304" pitchFamily="18" charset="0"/>
                <a:ea typeface="宋体" panose="02010600030101010101" pitchFamily="2" charset="-122"/>
              </a:endParaRPr>
            </a:p>
          </p:txBody>
        </p:sp>
        <p:sp>
          <p:nvSpPr>
            <p:cNvPr id="97358" name="Rectangle 79"/>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solidFill>
                    <a:srgbClr val="FF0000"/>
                  </a:solidFill>
                  <a:latin typeface="Times New Roman" panose="02020603050405020304" pitchFamily="18" charset="0"/>
                  <a:ea typeface="宋体" panose="02010600030101010101" pitchFamily="2" charset="-122"/>
                </a:rPr>
                <a:t>1</a:t>
              </a:r>
              <a:endParaRPr lang="en-US" altLang="zh-CN" sz="1400" dirty="0">
                <a:solidFill>
                  <a:srgbClr val="FF0000"/>
                </a:solidFill>
                <a:latin typeface="Times New Roman" panose="02020603050405020304" pitchFamily="18" charset="0"/>
                <a:ea typeface="宋体" panose="02010600030101010101" pitchFamily="2" charset="-122"/>
              </a:endParaRPr>
            </a:p>
          </p:txBody>
        </p:sp>
        <p:sp>
          <p:nvSpPr>
            <p:cNvPr id="97359" name="Rectangle 80"/>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7360" name="Rectangle 81"/>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solidFill>
                    <a:srgbClr val="FF0000"/>
                  </a:solidFill>
                  <a:latin typeface="Times New Roman" panose="02020603050405020304" pitchFamily="18" charset="0"/>
                  <a:ea typeface="宋体" panose="02010600030101010101" pitchFamily="2" charset="-122"/>
                </a:rPr>
                <a:t>0</a:t>
              </a:r>
              <a:endParaRPr lang="en-US" altLang="zh-CN" sz="1400" dirty="0">
                <a:solidFill>
                  <a:srgbClr val="FF0000"/>
                </a:solidFill>
                <a:latin typeface="Times New Roman" panose="02020603050405020304" pitchFamily="18" charset="0"/>
                <a:ea typeface="宋体" panose="02010600030101010101" pitchFamily="2" charset="-122"/>
              </a:endParaRPr>
            </a:p>
          </p:txBody>
        </p:sp>
        <p:sp>
          <p:nvSpPr>
            <p:cNvPr id="97361" name="Rectangle 82"/>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 . .</a:t>
              </a:r>
              <a:endParaRPr lang="en-US" altLang="zh-CN" sz="1400" dirty="0">
                <a:latin typeface="Times New Roman" panose="02020603050405020304" pitchFamily="18" charset="0"/>
                <a:ea typeface="宋体" panose="02010600030101010101" pitchFamily="2" charset="-122"/>
              </a:endParaRPr>
            </a:p>
          </p:txBody>
        </p:sp>
        <p:sp>
          <p:nvSpPr>
            <p:cNvPr id="97362" name="Rectangle 83"/>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7363" name="Rectangle 84"/>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7364" name="Rectangle 85"/>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7365" name="Rectangle 86"/>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grpSp>
      <p:sp>
        <p:nvSpPr>
          <p:cNvPr id="240727" name="AutoShape 87"/>
          <p:cNvSpPr/>
          <p:nvPr/>
        </p:nvSpPr>
        <p:spPr>
          <a:xfrm>
            <a:off x="8077200" y="5410200"/>
            <a:ext cx="304800" cy="457200"/>
          </a:xfrm>
          <a:prstGeom prst="curvedLeftArrow">
            <a:avLst>
              <a:gd name="adj1" fmla="val 30000"/>
              <a:gd name="adj2" fmla="val 60000"/>
              <a:gd name="adj3" fmla="val 33319"/>
            </a:avLst>
          </a:prstGeom>
          <a:solidFill>
            <a:srgbClr val="0099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240728" name="Text Box 88"/>
          <p:cNvSpPr txBox="1"/>
          <p:nvPr/>
        </p:nvSpPr>
        <p:spPr>
          <a:xfrm>
            <a:off x="6629400" y="6019800"/>
            <a:ext cx="2209800" cy="336550"/>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表示对该位不关心</a:t>
            </a:r>
            <a:endParaRPr lang="zh-CN" altLang="en-US" sz="16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0657"/>
                                        </p:tgtEl>
                                        <p:attrNameLst>
                                          <p:attrName>style.visibility</p:attrName>
                                        </p:attrNameLst>
                                      </p:cBhvr>
                                      <p:to>
                                        <p:strVal val="visible"/>
                                      </p:to>
                                    </p:set>
                                    <p:anim calcmode="lin" valueType="num">
                                      <p:cBhvr additive="base">
                                        <p:cTn id="7" dur="500" fill="hold"/>
                                        <p:tgtEl>
                                          <p:spTgt spid="240657"/>
                                        </p:tgtEl>
                                        <p:attrNameLst>
                                          <p:attrName>ppt_x</p:attrName>
                                        </p:attrNameLst>
                                      </p:cBhvr>
                                      <p:tavLst>
                                        <p:tav tm="0">
                                          <p:val>
                                            <p:strVal val="1+#ppt_w/2"/>
                                          </p:val>
                                        </p:tav>
                                        <p:tav tm="100000">
                                          <p:val>
                                            <p:strVal val="#ppt_x"/>
                                          </p:val>
                                        </p:tav>
                                      </p:tavLst>
                                    </p:anim>
                                    <p:anim calcmode="lin" valueType="num">
                                      <p:cBhvr additive="base">
                                        <p:cTn id="8" dur="500" fill="hold"/>
                                        <p:tgtEl>
                                          <p:spTgt spid="24065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1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slide(fromTop)">
                                      <p:cBhvr>
                                        <p:cTn id="16" dur="500"/>
                                        <p:tgtEl>
                                          <p:spTgt spid="4"/>
                                        </p:tgtEl>
                                      </p:cBhvr>
                                    </p:animEffect>
                                  </p:childTnLst>
                                </p:cTn>
                              </p:par>
                            </p:childTnLst>
                          </p:cTn>
                        </p:par>
                        <p:par>
                          <p:cTn id="17" fill="hold">
                            <p:stCondLst>
                              <p:cond delay="1500"/>
                            </p:stCondLst>
                            <p:childTnLst>
                              <p:par>
                                <p:cTn id="18" presetID="12" presetClass="entr" presetSubtype="4" fill="hold" grpId="0" nodeType="afterEffect">
                                  <p:stCondLst>
                                    <p:cond delay="0"/>
                                  </p:stCondLst>
                                  <p:childTnLst>
                                    <p:set>
                                      <p:cBhvr>
                                        <p:cTn id="19" dur="1" fill="hold">
                                          <p:stCondLst>
                                            <p:cond delay="0"/>
                                          </p:stCondLst>
                                        </p:cTn>
                                        <p:tgtEl>
                                          <p:spTgt spid="240728"/>
                                        </p:tgtEl>
                                        <p:attrNameLst>
                                          <p:attrName>style.visibility</p:attrName>
                                        </p:attrNameLst>
                                      </p:cBhvr>
                                      <p:to>
                                        <p:strVal val="visible"/>
                                      </p:to>
                                    </p:set>
                                    <p:animEffect transition="in" filter="slide(fromBottom)">
                                      <p:cBhvr>
                                        <p:cTn id="20" dur="500"/>
                                        <p:tgtEl>
                                          <p:spTgt spid="240728"/>
                                        </p:tgtEl>
                                      </p:cBhvr>
                                    </p:animEffect>
                                  </p:childTnLst>
                                </p:cTn>
                              </p:par>
                            </p:childTnLst>
                          </p:cTn>
                        </p:par>
                        <p:par>
                          <p:cTn id="21" fill="hold">
                            <p:stCondLst>
                              <p:cond delay="2000"/>
                            </p:stCondLst>
                            <p:childTnLst>
                              <p:par>
                                <p:cTn id="22" presetID="12" presetClass="entr" presetSubtype="1" fill="hold" grpId="0" nodeType="afterEffect">
                                  <p:stCondLst>
                                    <p:cond delay="0"/>
                                  </p:stCondLst>
                                  <p:childTnLst>
                                    <p:set>
                                      <p:cBhvr>
                                        <p:cTn id="23" dur="1" fill="hold">
                                          <p:stCondLst>
                                            <p:cond delay="0"/>
                                          </p:stCondLst>
                                        </p:cTn>
                                        <p:tgtEl>
                                          <p:spTgt spid="240658"/>
                                        </p:tgtEl>
                                        <p:attrNameLst>
                                          <p:attrName>style.visibility</p:attrName>
                                        </p:attrNameLst>
                                      </p:cBhvr>
                                      <p:to>
                                        <p:strVal val="visible"/>
                                      </p:to>
                                    </p:set>
                                    <p:animEffect transition="in" filter="slide(fromTop)">
                                      <p:cBhvr>
                                        <p:cTn id="24" dur="500"/>
                                        <p:tgtEl>
                                          <p:spTgt spid="240658"/>
                                        </p:tgtEl>
                                      </p:cBhvr>
                                    </p:animEffect>
                                  </p:childTnLst>
                                </p:cTn>
                              </p:par>
                            </p:childTnLst>
                          </p:cTn>
                        </p:par>
                        <p:par>
                          <p:cTn id="25" fill="hold">
                            <p:stCondLst>
                              <p:cond delay="2500"/>
                            </p:stCondLst>
                            <p:childTnLst>
                              <p:par>
                                <p:cTn id="26" presetID="2" presetClass="entr" presetSubtype="8" fill="hold" grpId="0" nodeType="afterEffect">
                                  <p:stCondLst>
                                    <p:cond delay="0"/>
                                  </p:stCondLst>
                                  <p:childTnLst>
                                    <p:set>
                                      <p:cBhvr>
                                        <p:cTn id="27" dur="1" fill="hold">
                                          <p:stCondLst>
                                            <p:cond delay="0"/>
                                          </p:stCondLst>
                                        </p:cTn>
                                        <p:tgtEl>
                                          <p:spTgt spid="240659"/>
                                        </p:tgtEl>
                                        <p:attrNameLst>
                                          <p:attrName>style.visibility</p:attrName>
                                        </p:attrNameLst>
                                      </p:cBhvr>
                                      <p:to>
                                        <p:strVal val="visible"/>
                                      </p:to>
                                    </p:set>
                                    <p:anim calcmode="lin" valueType="num">
                                      <p:cBhvr additive="base">
                                        <p:cTn id="28" dur="500" fill="hold"/>
                                        <p:tgtEl>
                                          <p:spTgt spid="240659"/>
                                        </p:tgtEl>
                                        <p:attrNameLst>
                                          <p:attrName>ppt_x</p:attrName>
                                        </p:attrNameLst>
                                      </p:cBhvr>
                                      <p:tavLst>
                                        <p:tav tm="0">
                                          <p:val>
                                            <p:strVal val="0-#ppt_w/2"/>
                                          </p:val>
                                        </p:tav>
                                        <p:tav tm="100000">
                                          <p:val>
                                            <p:strVal val="#ppt_x"/>
                                          </p:val>
                                        </p:tav>
                                      </p:tavLst>
                                    </p:anim>
                                    <p:anim calcmode="lin" valueType="num">
                                      <p:cBhvr additive="base">
                                        <p:cTn id="29" dur="500" fill="hold"/>
                                        <p:tgtEl>
                                          <p:spTgt spid="24065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0659"/>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40660"/>
                                        </p:tgtEl>
                                        <p:attrNameLst>
                                          <p:attrName>style.visibility</p:attrName>
                                        </p:attrNameLst>
                                      </p:cBhvr>
                                      <p:to>
                                        <p:strVal val="visible"/>
                                      </p:to>
                                    </p:set>
                                    <p:anim calcmode="lin" valueType="num">
                                      <p:cBhvr additive="base">
                                        <p:cTn id="34" dur="500" fill="hold"/>
                                        <p:tgtEl>
                                          <p:spTgt spid="240660"/>
                                        </p:tgtEl>
                                        <p:attrNameLst>
                                          <p:attrName>ppt_x</p:attrName>
                                        </p:attrNameLst>
                                      </p:cBhvr>
                                      <p:tavLst>
                                        <p:tav tm="0">
                                          <p:val>
                                            <p:strVal val="0-#ppt_w/2"/>
                                          </p:val>
                                        </p:tav>
                                        <p:tav tm="100000">
                                          <p:val>
                                            <p:strVal val="#ppt_x"/>
                                          </p:val>
                                        </p:tav>
                                      </p:tavLst>
                                    </p:anim>
                                    <p:anim calcmode="lin" valueType="num">
                                      <p:cBhvr additive="base">
                                        <p:cTn id="35" dur="500" fill="hold"/>
                                        <p:tgtEl>
                                          <p:spTgt spid="240660"/>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499"/>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0698"/>
                                        </p:tgtEl>
                                        <p:attrNameLst>
                                          <p:attrName>style.visibility</p:attrName>
                                        </p:attrNameLst>
                                      </p:cBhvr>
                                      <p:to>
                                        <p:strVal val="visible"/>
                                      </p:to>
                                    </p:set>
                                    <p:anim calcmode="lin" valueType="num">
                                      <p:cBhvr additive="base">
                                        <p:cTn id="43" dur="500" fill="hold"/>
                                        <p:tgtEl>
                                          <p:spTgt spid="240698"/>
                                        </p:tgtEl>
                                        <p:attrNameLst>
                                          <p:attrName>ppt_x</p:attrName>
                                        </p:attrNameLst>
                                      </p:cBhvr>
                                      <p:tavLst>
                                        <p:tav tm="0">
                                          <p:val>
                                            <p:strVal val="0-#ppt_w/2"/>
                                          </p:val>
                                        </p:tav>
                                        <p:tav tm="100000">
                                          <p:val>
                                            <p:strVal val="#ppt_x"/>
                                          </p:val>
                                        </p:tav>
                                      </p:tavLst>
                                    </p:anim>
                                    <p:anim calcmode="lin" valueType="num">
                                      <p:cBhvr additive="base">
                                        <p:cTn id="44" dur="500" fill="hold"/>
                                        <p:tgtEl>
                                          <p:spTgt spid="240698"/>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240727"/>
                                        </p:tgtEl>
                                        <p:attrNameLst>
                                          <p:attrName>style.visibility</p:attrName>
                                        </p:attrNameLst>
                                      </p:cBhvr>
                                      <p:to>
                                        <p:strVal val="visible"/>
                                      </p:to>
                                    </p:set>
                                    <p:animEffect transition="in" filter="wipe(up)">
                                      <p:cBhvr>
                                        <p:cTn id="48" dur="500"/>
                                        <p:tgtEl>
                                          <p:spTgt spid="240727"/>
                                        </p:tgtEl>
                                      </p:cBhvr>
                                    </p:animEffect>
                                  </p:childTnLst>
                                </p:cTn>
                              </p:par>
                            </p:childTnLst>
                          </p:cTn>
                        </p:par>
                        <p:par>
                          <p:cTn id="49" fill="hold">
                            <p:stCondLst>
                              <p:cond delay="1000"/>
                            </p:stCondLst>
                            <p:childTnLst>
                              <p:par>
                                <p:cTn id="50" presetID="12" presetClass="entr" presetSubtype="2" fill="hold"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slide(fromRigh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240696"/>
                                        </p:tgtEl>
                                        <p:attrNameLst>
                                          <p:attrName>style.visibility</p:attrName>
                                        </p:attrNameLst>
                                      </p:cBhvr>
                                      <p:to>
                                        <p:strVal val="visible"/>
                                      </p:to>
                                    </p:set>
                                    <p:anim calcmode="lin" valueType="num">
                                      <p:cBhvr additive="base">
                                        <p:cTn id="57" dur="500" fill="hold"/>
                                        <p:tgtEl>
                                          <p:spTgt spid="240696"/>
                                        </p:tgtEl>
                                        <p:attrNameLst>
                                          <p:attrName>ppt_x</p:attrName>
                                        </p:attrNameLst>
                                      </p:cBhvr>
                                      <p:tavLst>
                                        <p:tav tm="0">
                                          <p:val>
                                            <p:strVal val="0-#ppt_w/2"/>
                                          </p:val>
                                        </p:tav>
                                        <p:tav tm="100000">
                                          <p:val>
                                            <p:strVal val="#ppt_x"/>
                                          </p:val>
                                        </p:tav>
                                      </p:tavLst>
                                    </p:anim>
                                    <p:anim calcmode="lin" valueType="num">
                                      <p:cBhvr additive="base">
                                        <p:cTn id="58" dur="500" fill="hold"/>
                                        <p:tgtEl>
                                          <p:spTgt spid="240696"/>
                                        </p:tgtEl>
                                        <p:attrNameLst>
                                          <p:attrName>ppt_y</p:attrName>
                                        </p:attrNameLst>
                                      </p:cBhvr>
                                      <p:tavLst>
                                        <p:tav tm="0">
                                          <p:val>
                                            <p:strVal val="#ppt_y"/>
                                          </p:val>
                                        </p:tav>
                                        <p:tav tm="100000">
                                          <p:val>
                                            <p:strVal val="#ppt_y"/>
                                          </p:val>
                                        </p:tav>
                                      </p:tavLst>
                                    </p:anim>
                                  </p:childTnLst>
                                </p:cTn>
                              </p:par>
                            </p:childTnLst>
                          </p:cTn>
                        </p:par>
                        <p:par>
                          <p:cTn id="59" fill="hold">
                            <p:stCondLst>
                              <p:cond delay="500"/>
                            </p:stCondLst>
                            <p:childTnLst>
                              <p:par>
                                <p:cTn id="60" presetID="12" presetClass="entr" presetSubtype="1"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slide(fromTop)">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40697"/>
                                        </p:tgtEl>
                                        <p:attrNameLst>
                                          <p:attrName>style.visibility</p:attrName>
                                        </p:attrNameLst>
                                      </p:cBhvr>
                                      <p:to>
                                        <p:strVal val="visible"/>
                                      </p:to>
                                    </p:set>
                                    <p:anim calcmode="lin" valueType="num">
                                      <p:cBhvr additive="base">
                                        <p:cTn id="67" dur="500" fill="hold"/>
                                        <p:tgtEl>
                                          <p:spTgt spid="240697"/>
                                        </p:tgtEl>
                                        <p:attrNameLst>
                                          <p:attrName>ppt_x</p:attrName>
                                        </p:attrNameLst>
                                      </p:cBhvr>
                                      <p:tavLst>
                                        <p:tav tm="0">
                                          <p:val>
                                            <p:strVal val="0-#ppt_w/2"/>
                                          </p:val>
                                        </p:tav>
                                        <p:tav tm="100000">
                                          <p:val>
                                            <p:strVal val="#ppt_x"/>
                                          </p:val>
                                        </p:tav>
                                      </p:tavLst>
                                    </p:anim>
                                    <p:anim calcmode="lin" valueType="num">
                                      <p:cBhvr additive="base">
                                        <p:cTn id="68" dur="500" fill="hold"/>
                                        <p:tgtEl>
                                          <p:spTgt spid="240697"/>
                                        </p:tgtEl>
                                        <p:attrNameLst>
                                          <p:attrName>ppt_y</p:attrName>
                                        </p:attrNameLst>
                                      </p:cBhvr>
                                      <p:tavLst>
                                        <p:tav tm="0">
                                          <p:val>
                                            <p:strVal val="#ppt_y"/>
                                          </p:val>
                                        </p:tav>
                                        <p:tav tm="100000">
                                          <p:val>
                                            <p:strVal val="#ppt_y"/>
                                          </p:val>
                                        </p:tav>
                                      </p:tavLst>
                                    </p:anim>
                                  </p:childTnLst>
                                </p:cTn>
                              </p:par>
                            </p:childTnLst>
                          </p:cTn>
                        </p:par>
                        <p:par>
                          <p:cTn id="69" fill="hold">
                            <p:stCondLst>
                              <p:cond delay="500"/>
                            </p:stCondLst>
                            <p:childTnLst>
                              <p:par>
                                <p:cTn id="70" presetID="22" presetClass="entr" presetSubtype="1" fill="hold" nodeType="afterEffect">
                                  <p:stCondLst>
                                    <p:cond delay="0"/>
                                  </p:stCondLst>
                                  <p:childTnLst>
                                    <p:set>
                                      <p:cBhvr>
                                        <p:cTn id="71" dur="1" fill="hold">
                                          <p:stCondLst>
                                            <p:cond delay="0"/>
                                          </p:stCondLst>
                                        </p:cTn>
                                        <p:tgtEl>
                                          <p:spTgt spid="240713"/>
                                        </p:tgtEl>
                                        <p:attrNameLst>
                                          <p:attrName>style.visibility</p:attrName>
                                        </p:attrNameLst>
                                      </p:cBhvr>
                                      <p:to>
                                        <p:strVal val="visible"/>
                                      </p:to>
                                    </p:set>
                                    <p:animEffect transition="in" filter="wipe(up)">
                                      <p:cBhvr>
                                        <p:cTn id="72" dur="500"/>
                                        <p:tgtEl>
                                          <p:spTgt spid="240713"/>
                                        </p:tgtEl>
                                      </p:cBhvr>
                                    </p:animEffect>
                                  </p:childTnLst>
                                </p:cTn>
                              </p:par>
                            </p:childTnLst>
                          </p:cTn>
                        </p:par>
                        <p:par>
                          <p:cTn id="73" fill="hold">
                            <p:stCondLst>
                              <p:cond delay="1000"/>
                            </p:stCondLst>
                            <p:childTnLst>
                              <p:par>
                                <p:cTn id="74" presetID="12" presetClass="entr" presetSubtype="8" fill="hold" grpId="0" nodeType="afterEffect">
                                  <p:stCondLst>
                                    <p:cond delay="0"/>
                                  </p:stCondLst>
                                  <p:childTnLst>
                                    <p:set>
                                      <p:cBhvr>
                                        <p:cTn id="75" dur="1" fill="hold">
                                          <p:stCondLst>
                                            <p:cond delay="0"/>
                                          </p:stCondLst>
                                        </p:cTn>
                                        <p:tgtEl>
                                          <p:spTgt spid="240710"/>
                                        </p:tgtEl>
                                        <p:attrNameLst>
                                          <p:attrName>style.visibility</p:attrName>
                                        </p:attrNameLst>
                                      </p:cBhvr>
                                      <p:to>
                                        <p:strVal val="visible"/>
                                      </p:to>
                                    </p:set>
                                    <p:animEffect transition="in" filter="slide(fromLeft)">
                                      <p:cBhvr>
                                        <p:cTn id="76" dur="500"/>
                                        <p:tgtEl>
                                          <p:spTgt spid="240710"/>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240699"/>
                                        </p:tgtEl>
                                        <p:attrNameLst>
                                          <p:attrName>style.visibility</p:attrName>
                                        </p:attrNameLst>
                                      </p:cBhvr>
                                      <p:to>
                                        <p:strVal val="visible"/>
                                      </p:to>
                                    </p:set>
                                    <p:anim calcmode="lin" valueType="num">
                                      <p:cBhvr additive="base">
                                        <p:cTn id="81" dur="500" fill="hold"/>
                                        <p:tgtEl>
                                          <p:spTgt spid="240699"/>
                                        </p:tgtEl>
                                        <p:attrNameLst>
                                          <p:attrName>ppt_x</p:attrName>
                                        </p:attrNameLst>
                                      </p:cBhvr>
                                      <p:tavLst>
                                        <p:tav tm="0">
                                          <p:val>
                                            <p:strVal val="0-#ppt_w/2"/>
                                          </p:val>
                                        </p:tav>
                                        <p:tav tm="100000">
                                          <p:val>
                                            <p:strVal val="#ppt_x"/>
                                          </p:val>
                                        </p:tav>
                                      </p:tavLst>
                                    </p:anim>
                                    <p:anim calcmode="lin" valueType="num">
                                      <p:cBhvr additive="base">
                                        <p:cTn id="82" dur="500" fill="hold"/>
                                        <p:tgtEl>
                                          <p:spTgt spid="240699"/>
                                        </p:tgtEl>
                                        <p:attrNameLst>
                                          <p:attrName>ppt_y</p:attrName>
                                        </p:attrNameLst>
                                      </p:cBhvr>
                                      <p:tavLst>
                                        <p:tav tm="0">
                                          <p:val>
                                            <p:strVal val="#ppt_y"/>
                                          </p:val>
                                        </p:tav>
                                        <p:tav tm="100000">
                                          <p:val>
                                            <p:strVal val="#ppt_y"/>
                                          </p:val>
                                        </p:tav>
                                      </p:tavLst>
                                    </p:anim>
                                  </p:childTnLst>
                                </p:cTn>
                              </p:par>
                            </p:childTnLst>
                          </p:cTn>
                        </p:par>
                        <p:par>
                          <p:cTn id="83" fill="hold">
                            <p:stCondLst>
                              <p:cond delay="500"/>
                            </p:stCondLst>
                            <p:childTnLst>
                              <p:par>
                                <p:cTn id="84" presetID="22" presetClass="entr" presetSubtype="1" fill="hold" nodeType="afterEffect">
                                  <p:stCondLst>
                                    <p:cond delay="0"/>
                                  </p:stCondLst>
                                  <p:childTnLst>
                                    <p:set>
                                      <p:cBhvr>
                                        <p:cTn id="85" dur="1" fill="hold">
                                          <p:stCondLst>
                                            <p:cond delay="0"/>
                                          </p:stCondLst>
                                        </p:cTn>
                                        <p:tgtEl>
                                          <p:spTgt spid="240712"/>
                                        </p:tgtEl>
                                        <p:attrNameLst>
                                          <p:attrName>style.visibility</p:attrName>
                                        </p:attrNameLst>
                                      </p:cBhvr>
                                      <p:to>
                                        <p:strVal val="visible"/>
                                      </p:to>
                                    </p:set>
                                    <p:animEffect transition="in" filter="wipe(up)">
                                      <p:cBhvr>
                                        <p:cTn id="86" dur="500"/>
                                        <p:tgtEl>
                                          <p:spTgt spid="240712"/>
                                        </p:tgtEl>
                                      </p:cBhvr>
                                    </p:animEffect>
                                  </p:childTnLst>
                                </p:cTn>
                              </p:par>
                            </p:childTnLst>
                          </p:cTn>
                        </p:par>
                        <p:par>
                          <p:cTn id="87" fill="hold">
                            <p:stCondLst>
                              <p:cond delay="1000"/>
                            </p:stCondLst>
                            <p:childTnLst>
                              <p:par>
                                <p:cTn id="88" presetID="12" presetClass="entr" presetSubtype="2" fill="hold" grpId="0" nodeType="afterEffect">
                                  <p:stCondLst>
                                    <p:cond delay="0"/>
                                  </p:stCondLst>
                                  <p:childTnLst>
                                    <p:set>
                                      <p:cBhvr>
                                        <p:cTn id="89" dur="1" fill="hold">
                                          <p:stCondLst>
                                            <p:cond delay="0"/>
                                          </p:stCondLst>
                                        </p:cTn>
                                        <p:tgtEl>
                                          <p:spTgt spid="240711"/>
                                        </p:tgtEl>
                                        <p:attrNameLst>
                                          <p:attrName>style.visibility</p:attrName>
                                        </p:attrNameLst>
                                      </p:cBhvr>
                                      <p:to>
                                        <p:strVal val="visible"/>
                                      </p:to>
                                    </p:set>
                                    <p:animEffect transition="in" filter="slide(fromRight)">
                                      <p:cBhvr>
                                        <p:cTn id="90" dur="500"/>
                                        <p:tgtEl>
                                          <p:spTgt spid="240711"/>
                                        </p:tgtEl>
                                      </p:cBhvr>
                                    </p:animEffect>
                                  </p:childTnLst>
                                </p:cTn>
                              </p:par>
                            </p:childTnLst>
                          </p:cTn>
                        </p:par>
                        <p:par>
                          <p:cTn id="91" fill="hold">
                            <p:stCondLst>
                              <p:cond delay="1500"/>
                            </p:stCondLst>
                            <p:childTnLst>
                              <p:par>
                                <p:cTn id="92" presetID="22" presetClass="entr" presetSubtype="8" fill="hold" nodeType="afterEffect">
                                  <p:stCondLst>
                                    <p:cond delay="0"/>
                                  </p:stCondLst>
                                  <p:childTnLst>
                                    <p:set>
                                      <p:cBhvr>
                                        <p:cTn id="93" dur="1" fill="hold">
                                          <p:stCondLst>
                                            <p:cond delay="0"/>
                                          </p:stCondLst>
                                        </p:cTn>
                                        <p:tgtEl>
                                          <p:spTgt spid="10"/>
                                        </p:tgtEl>
                                        <p:attrNameLst>
                                          <p:attrName>style.visibility</p:attrName>
                                        </p:attrNameLst>
                                      </p:cBhvr>
                                      <p:to>
                                        <p:strVal val="visible"/>
                                      </p:to>
                                    </p:set>
                                    <p:animEffect transition="in" filter="wipe(left)">
                                      <p:cBhvr>
                                        <p:cTn id="9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57" grpId="0"/>
      <p:bldP spid="240658" grpId="0" animBg="1"/>
      <p:bldP spid="240659" grpId="0"/>
      <p:bldP spid="240660" grpId="0"/>
      <p:bldP spid="240696" grpId="0"/>
      <p:bldP spid="240697" grpId="0"/>
      <p:bldP spid="240698" grpId="0"/>
      <p:bldP spid="240699" grpId="0"/>
      <p:bldP spid="240710" grpId="0" animBg="1"/>
      <p:bldP spid="240711" grpId="0" animBg="1"/>
      <p:bldP spid="240727" grpId="0" animBg="1"/>
      <p:bldP spid="24072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Text Box 2"/>
          <p:cNvSpPr txBox="1"/>
          <p:nvPr/>
        </p:nvSpPr>
        <p:spPr>
          <a:xfrm>
            <a:off x="228600" y="1219200"/>
            <a:ext cx="3733800" cy="822325"/>
          </a:xfrm>
          <a:prstGeom prst="rect">
            <a:avLst/>
          </a:prstGeom>
          <a:noFill/>
          <a:ln w="9525">
            <a:noFill/>
          </a:ln>
        </p:spPr>
        <p:txBody>
          <a:bodyPr anchor="t" anchorCtr="0">
            <a:spAutoFit/>
          </a:bodyPr>
          <a:p>
            <a:pPr>
              <a:spcBef>
                <a:spcPct val="50000"/>
              </a:spcBef>
              <a:buClrTx/>
              <a:buFontTx/>
            </a:pPr>
            <a:r>
              <a:rPr lang="zh-CN" altLang="en-US" sz="2400" dirty="0">
                <a:latin typeface="华文新魏" panose="02010800040101010101" pitchFamily="2" charset="-122"/>
                <a:ea typeface="华文新魏" panose="02010800040101010101" pitchFamily="2" charset="-122"/>
              </a:rPr>
              <a:t>在异常处理结束后，异常处理程序完成以下动作：</a:t>
            </a:r>
            <a:endParaRPr lang="zh-CN" altLang="en-US" sz="2400" dirty="0">
              <a:latin typeface="华文新魏" panose="02010800040101010101" pitchFamily="2" charset="-122"/>
              <a:ea typeface="华文新魏" panose="02010800040101010101" pitchFamily="2" charset="-122"/>
            </a:endParaRPr>
          </a:p>
        </p:txBody>
      </p:sp>
      <p:grpSp>
        <p:nvGrpSpPr>
          <p:cNvPr id="98306" name="Group 3"/>
          <p:cNvGrpSpPr/>
          <p:nvPr/>
        </p:nvGrpSpPr>
        <p:grpSpPr>
          <a:xfrm>
            <a:off x="4006850" y="1219200"/>
            <a:ext cx="4908550" cy="5105400"/>
            <a:chOff x="2524" y="768"/>
            <a:chExt cx="3092" cy="3216"/>
          </a:xfrm>
        </p:grpSpPr>
        <p:grpSp>
          <p:nvGrpSpPr>
            <p:cNvPr id="98307" name="Group 4"/>
            <p:cNvGrpSpPr/>
            <p:nvPr/>
          </p:nvGrpSpPr>
          <p:grpSpPr>
            <a:xfrm>
              <a:off x="2524" y="768"/>
              <a:ext cx="3092" cy="3216"/>
              <a:chOff x="2524" y="768"/>
              <a:chExt cx="3092" cy="3216"/>
            </a:xfrm>
          </p:grpSpPr>
          <p:sp>
            <p:nvSpPr>
              <p:cNvPr id="98308" name="Rectangle 5"/>
              <p:cNvSpPr/>
              <p:nvPr/>
            </p:nvSpPr>
            <p:spPr>
              <a:xfrm>
                <a:off x="4224" y="1008"/>
                <a:ext cx="1392" cy="2976"/>
              </a:xfrm>
              <a:prstGeom prst="rect">
                <a:avLst/>
              </a:prstGeom>
              <a:solidFill>
                <a:srgbClr val="C0C0C0"/>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09" name="Rectangle 6"/>
              <p:cNvSpPr/>
              <p:nvPr/>
            </p:nvSpPr>
            <p:spPr>
              <a:xfrm>
                <a:off x="2832" y="1008"/>
                <a:ext cx="1392" cy="297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10" name="Rectangle 7"/>
              <p:cNvSpPr/>
              <p:nvPr/>
            </p:nvSpPr>
            <p:spPr>
              <a:xfrm>
                <a:off x="3312" y="1296"/>
                <a:ext cx="720" cy="1248"/>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11" name="Rectangle 8"/>
              <p:cNvSpPr/>
              <p:nvPr/>
            </p:nvSpPr>
            <p:spPr>
              <a:xfrm>
                <a:off x="4416" y="1296"/>
                <a:ext cx="720" cy="1248"/>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12" name="Text Box 9"/>
              <p:cNvSpPr txBox="1"/>
              <p:nvPr/>
            </p:nvSpPr>
            <p:spPr>
              <a:xfrm>
                <a:off x="3360" y="1104"/>
                <a:ext cx="624" cy="212"/>
              </a:xfrm>
              <a:prstGeom prst="rect">
                <a:avLst/>
              </a:prstGeom>
              <a:noFill/>
              <a:ln w="9525">
                <a:noFill/>
              </a:ln>
            </p:spPr>
            <p:txBody>
              <a:bodyPr anchor="t" anchorCtr="0">
                <a:spAutoFit/>
              </a:bodyPr>
              <a:p>
                <a:pPr algn="ctr">
                  <a:spcBef>
                    <a:spcPct val="50000"/>
                  </a:spcBef>
                  <a:buClrTx/>
                  <a:buFontTx/>
                </a:pPr>
                <a:r>
                  <a:rPr lang="zh-CN" altLang="en-US" sz="1600" dirty="0">
                    <a:latin typeface="Times New Roman" panose="02020603050405020304" pitchFamily="18" charset="0"/>
                    <a:ea typeface="宋体" panose="02010600030101010101" pitchFamily="2" charset="-122"/>
                  </a:rPr>
                  <a:t>程序</a:t>
                </a:r>
                <a:r>
                  <a:rPr lang="en-US" altLang="zh-CN" sz="1600" dirty="0">
                    <a:latin typeface="Times New Roman" panose="02020603050405020304" pitchFamily="18" charset="0"/>
                    <a:ea typeface="宋体" panose="02010600030101010101" pitchFamily="2" charset="-122"/>
                  </a:rPr>
                  <a:t>A</a:t>
                </a:r>
                <a:endParaRPr lang="en-US" altLang="zh-CN" sz="1600" dirty="0">
                  <a:latin typeface="Times New Roman" panose="02020603050405020304" pitchFamily="18" charset="0"/>
                  <a:ea typeface="宋体" panose="02010600030101010101" pitchFamily="2" charset="-122"/>
                </a:endParaRPr>
              </a:p>
            </p:txBody>
          </p:sp>
          <p:sp>
            <p:nvSpPr>
              <p:cNvPr id="98313" name="Text Box 10"/>
              <p:cNvSpPr txBox="1"/>
              <p:nvPr/>
            </p:nvSpPr>
            <p:spPr>
              <a:xfrm>
                <a:off x="4272" y="1104"/>
                <a:ext cx="1056" cy="212"/>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IRQ</a:t>
                </a:r>
                <a:r>
                  <a:rPr lang="zh-CN" altLang="en-US" sz="1600" dirty="0">
                    <a:latin typeface="Times New Roman" panose="02020603050405020304" pitchFamily="18" charset="0"/>
                    <a:ea typeface="宋体" panose="02010600030101010101" pitchFamily="2" charset="-122"/>
                  </a:rPr>
                  <a:t>服务程序</a:t>
                </a:r>
                <a:endParaRPr lang="zh-CN" altLang="en-US" sz="1600" dirty="0">
                  <a:latin typeface="Times New Roman" panose="02020603050405020304" pitchFamily="18" charset="0"/>
                  <a:ea typeface="宋体" panose="02010600030101010101" pitchFamily="2" charset="-122"/>
                </a:endParaRPr>
              </a:p>
            </p:txBody>
          </p:sp>
          <p:sp>
            <p:nvSpPr>
              <p:cNvPr id="98314" name="Rectangle 11"/>
              <p:cNvSpPr/>
              <p:nvPr/>
            </p:nvSpPr>
            <p:spPr>
              <a:xfrm>
                <a:off x="2832" y="768"/>
                <a:ext cx="1392" cy="24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系统模式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sp>
            <p:nvSpPr>
              <p:cNvPr id="98315" name="Rectangle 12"/>
              <p:cNvSpPr/>
              <p:nvPr/>
            </p:nvSpPr>
            <p:spPr>
              <a:xfrm>
                <a:off x="4224" y="768"/>
                <a:ext cx="1392" cy="240"/>
              </a:xfrm>
              <a:prstGeom prst="rect">
                <a:avLst/>
              </a:prstGeom>
              <a:solidFill>
                <a:srgbClr val="C0C0C0"/>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2000" dirty="0">
                    <a:solidFill>
                      <a:srgbClr val="0000FF"/>
                    </a:solidFill>
                    <a:latin typeface="华文新魏" panose="02010800040101010101" pitchFamily="2" charset="-122"/>
                    <a:ea typeface="华文新魏" panose="02010800040101010101" pitchFamily="2" charset="-122"/>
                  </a:rPr>
                  <a:t>IRQ</a:t>
                </a:r>
                <a:r>
                  <a:rPr lang="zh-CN" altLang="en-US" sz="2000" dirty="0">
                    <a:solidFill>
                      <a:srgbClr val="0000FF"/>
                    </a:solidFill>
                    <a:latin typeface="华文新魏" panose="02010800040101010101" pitchFamily="2" charset="-122"/>
                    <a:ea typeface="华文新魏" panose="02010800040101010101" pitchFamily="2" charset="-122"/>
                  </a:rPr>
                  <a:t>模式</a:t>
                </a:r>
                <a:endParaRPr lang="zh-CN" altLang="en-US" sz="2000" dirty="0">
                  <a:solidFill>
                    <a:srgbClr val="0000FF"/>
                  </a:solidFill>
                  <a:latin typeface="华文新魏" panose="02010800040101010101" pitchFamily="2" charset="-122"/>
                  <a:ea typeface="华文新魏" panose="02010800040101010101" pitchFamily="2" charset="-122"/>
                </a:endParaRPr>
              </a:p>
            </p:txBody>
          </p:sp>
          <p:sp>
            <p:nvSpPr>
              <p:cNvPr id="98316" name="Rectangle 13"/>
              <p:cNvSpPr/>
              <p:nvPr/>
            </p:nvSpPr>
            <p:spPr>
              <a:xfrm>
                <a:off x="2544" y="1008"/>
                <a:ext cx="288" cy="168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endParaRPr lang="zh-CN" altLang="zh-CN" sz="3200" dirty="0">
                  <a:latin typeface="Times New Roman" panose="02020603050405020304" pitchFamily="18" charset="0"/>
                  <a:ea typeface="宋体" panose="02010600030101010101" pitchFamily="2" charset="-122"/>
                </a:endParaRPr>
              </a:p>
            </p:txBody>
          </p:sp>
          <p:sp>
            <p:nvSpPr>
              <p:cNvPr id="98317" name="Rectangle 14"/>
              <p:cNvSpPr/>
              <p:nvPr/>
            </p:nvSpPr>
            <p:spPr>
              <a:xfrm>
                <a:off x="2544" y="2688"/>
                <a:ext cx="288" cy="129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18" name="Text Box 15"/>
              <p:cNvSpPr txBox="1"/>
              <p:nvPr/>
            </p:nvSpPr>
            <p:spPr>
              <a:xfrm>
                <a:off x="2524" y="1008"/>
                <a:ext cx="308" cy="1680"/>
              </a:xfrm>
              <a:prstGeom prst="rect">
                <a:avLst/>
              </a:prstGeom>
              <a:noFill/>
              <a:ln w="9525">
                <a:noFill/>
              </a:ln>
            </p:spPr>
            <p:txBody>
              <a:bodyPr vert="eaVert" anchor="t" anchorCtr="0">
                <a:spAutoFit/>
              </a:bodyPr>
              <a:p>
                <a:pPr algn="ctr">
                  <a:spcBef>
                    <a:spcPct val="5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程序</a:t>
                </a:r>
                <a:endParaRPr lang="zh-CN" altLang="en-US" sz="2000" dirty="0">
                  <a:solidFill>
                    <a:srgbClr val="0000FF"/>
                  </a:solidFill>
                  <a:latin typeface="Times New Roman" panose="02020603050405020304" pitchFamily="18" charset="0"/>
                  <a:ea typeface="华文新魏" panose="02010800040101010101" pitchFamily="2" charset="-122"/>
                </a:endParaRPr>
              </a:p>
            </p:txBody>
          </p:sp>
          <p:sp>
            <p:nvSpPr>
              <p:cNvPr id="98319" name="Text Box 16"/>
              <p:cNvSpPr txBox="1"/>
              <p:nvPr/>
            </p:nvSpPr>
            <p:spPr>
              <a:xfrm>
                <a:off x="2524" y="2688"/>
                <a:ext cx="308" cy="1296"/>
              </a:xfrm>
              <a:prstGeom prst="rect">
                <a:avLst/>
              </a:prstGeom>
              <a:noFill/>
              <a:ln w="9525">
                <a:noFill/>
              </a:ln>
            </p:spPr>
            <p:txBody>
              <a:bodyPr vert="eaVert" anchor="t" anchorCtr="0">
                <a:spAutoFit/>
              </a:bodyPr>
              <a:p>
                <a:pPr algn="ctr">
                  <a:spcBef>
                    <a:spcPct val="50000"/>
                  </a:spcBef>
                  <a:buClrTx/>
                  <a:buFontTx/>
                </a:pPr>
                <a:r>
                  <a:rPr lang="zh-CN" altLang="en-US" sz="2000" dirty="0">
                    <a:solidFill>
                      <a:srgbClr val="0000FF"/>
                    </a:solidFill>
                    <a:latin typeface="Times New Roman" panose="02020603050405020304" pitchFamily="18" charset="0"/>
                    <a:ea typeface="华文新魏" panose="02010800040101010101" pitchFamily="2" charset="-122"/>
                  </a:rPr>
                  <a:t>寄存器组</a:t>
                </a:r>
                <a:endParaRPr lang="zh-CN" altLang="en-US" sz="2000" dirty="0">
                  <a:solidFill>
                    <a:srgbClr val="0000FF"/>
                  </a:solidFill>
                  <a:latin typeface="Times New Roman" panose="02020603050405020304" pitchFamily="18" charset="0"/>
                  <a:ea typeface="华文新魏" panose="02010800040101010101" pitchFamily="2" charset="-122"/>
                </a:endParaRPr>
              </a:p>
            </p:txBody>
          </p:sp>
        </p:grpSp>
        <p:sp>
          <p:nvSpPr>
            <p:cNvPr id="98320" name="Line 17"/>
            <p:cNvSpPr/>
            <p:nvPr/>
          </p:nvSpPr>
          <p:spPr>
            <a:xfrm>
              <a:off x="2832" y="2688"/>
              <a:ext cx="2784" cy="0"/>
            </a:xfrm>
            <a:prstGeom prst="line">
              <a:avLst/>
            </a:prstGeom>
            <a:ln w="9525" cap="flat" cmpd="sng">
              <a:solidFill>
                <a:schemeClr val="tx1"/>
              </a:solidFill>
              <a:prstDash val="solid"/>
              <a:round/>
              <a:headEnd type="none" w="med" len="med"/>
              <a:tailEnd type="none" w="med" len="med"/>
            </a:ln>
          </p:spPr>
        </p:sp>
      </p:grpSp>
      <p:sp>
        <p:nvSpPr>
          <p:cNvPr id="241682" name="Text Box 18"/>
          <p:cNvSpPr txBox="1"/>
          <p:nvPr/>
        </p:nvSpPr>
        <p:spPr>
          <a:xfrm>
            <a:off x="2667000" y="228600"/>
            <a:ext cx="4343400" cy="457200"/>
          </a:xfrm>
          <a:prstGeom prst="rect">
            <a:avLst/>
          </a:prstGeom>
          <a:noFill/>
          <a:ln w="9525">
            <a:noFill/>
          </a:ln>
        </p:spPr>
        <p:txBody>
          <a:bodyPr anchor="t" anchorCtr="0">
            <a:spAutoFit/>
          </a:bodyPr>
          <a:p>
            <a:pPr algn="ctr">
              <a:spcBef>
                <a:spcPct val="50000"/>
              </a:spcBef>
              <a:buClrTx/>
              <a:buFontTx/>
            </a:pPr>
            <a:r>
              <a:rPr lang="zh-CN" altLang="en-US" sz="2400" dirty="0">
                <a:latin typeface="华文新魏" panose="02010800040101010101" pitchFamily="2" charset="-122"/>
                <a:ea typeface="华文新魏" panose="02010800040101010101" pitchFamily="2" charset="-122"/>
              </a:rPr>
              <a:t>图示退出异常过程</a:t>
            </a:r>
            <a:endParaRPr lang="zh-CN" altLang="en-US" sz="2400" dirty="0">
              <a:latin typeface="华文新魏" panose="02010800040101010101" pitchFamily="2" charset="-122"/>
              <a:ea typeface="华文新魏" panose="02010800040101010101" pitchFamily="2" charset="-122"/>
            </a:endParaRPr>
          </a:p>
        </p:txBody>
      </p:sp>
      <p:sp>
        <p:nvSpPr>
          <p:cNvPr id="98322" name="AutoShape 19"/>
          <p:cNvSpPr/>
          <p:nvPr/>
        </p:nvSpPr>
        <p:spPr>
          <a:xfrm>
            <a:off x="5715000" y="2133600"/>
            <a:ext cx="228600" cy="685800"/>
          </a:xfrm>
          <a:prstGeom prst="downArrow">
            <a:avLst>
              <a:gd name="adj1" fmla="val 50000"/>
              <a:gd name="adj2" fmla="val 75000"/>
            </a:avLst>
          </a:prstGeom>
          <a:solidFill>
            <a:srgbClr val="6666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nvGrpSpPr>
          <p:cNvPr id="98323" name="Group 20"/>
          <p:cNvGrpSpPr/>
          <p:nvPr/>
        </p:nvGrpSpPr>
        <p:grpSpPr>
          <a:xfrm>
            <a:off x="4495800" y="4495800"/>
            <a:ext cx="3581400" cy="1509713"/>
            <a:chOff x="2832" y="2832"/>
            <a:chExt cx="2256" cy="951"/>
          </a:xfrm>
        </p:grpSpPr>
        <p:sp>
          <p:nvSpPr>
            <p:cNvPr id="98324" name="Rectangle 21"/>
            <p:cNvSpPr/>
            <p:nvPr/>
          </p:nvSpPr>
          <p:spPr>
            <a:xfrm>
              <a:off x="3360" y="2832"/>
              <a:ext cx="672" cy="192"/>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LR_sys</a:t>
              </a:r>
              <a:endParaRPr lang="en-US" altLang="zh-CN" sz="1600" dirty="0">
                <a:latin typeface="Times New Roman" panose="02020603050405020304" pitchFamily="18" charset="0"/>
                <a:ea typeface="宋体" panose="02010600030101010101" pitchFamily="2" charset="-122"/>
              </a:endParaRPr>
            </a:p>
          </p:txBody>
        </p:sp>
        <p:sp>
          <p:nvSpPr>
            <p:cNvPr id="98325" name="Rectangle 22"/>
            <p:cNvSpPr/>
            <p:nvPr/>
          </p:nvSpPr>
          <p:spPr>
            <a:xfrm>
              <a:off x="4416" y="3552"/>
              <a:ext cx="672" cy="192"/>
            </a:xfrm>
            <a:prstGeom prst="rect">
              <a:avLst/>
            </a:prstGeom>
            <a:solidFill>
              <a:srgbClr val="99FFCC"/>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SPSR_irq</a:t>
              </a:r>
              <a:endParaRPr lang="en-US" altLang="zh-CN" sz="1600" dirty="0">
                <a:latin typeface="Times New Roman" panose="02020603050405020304" pitchFamily="18" charset="0"/>
                <a:ea typeface="宋体" panose="02010600030101010101" pitchFamily="2" charset="-122"/>
              </a:endParaRPr>
            </a:p>
          </p:txBody>
        </p:sp>
        <p:sp>
          <p:nvSpPr>
            <p:cNvPr id="98326" name="Rectangle 23"/>
            <p:cNvSpPr/>
            <p:nvPr/>
          </p:nvSpPr>
          <p:spPr>
            <a:xfrm>
              <a:off x="4416" y="2832"/>
              <a:ext cx="672" cy="192"/>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LR_irq</a:t>
              </a:r>
              <a:endParaRPr lang="en-US" altLang="zh-CN" sz="1600" dirty="0">
                <a:latin typeface="Times New Roman" panose="02020603050405020304" pitchFamily="18" charset="0"/>
                <a:ea typeface="宋体" panose="02010600030101010101" pitchFamily="2" charset="-122"/>
              </a:endParaRPr>
            </a:p>
          </p:txBody>
        </p:sp>
        <p:sp>
          <p:nvSpPr>
            <p:cNvPr id="98327" name="Text Box 24"/>
            <p:cNvSpPr txBox="1"/>
            <p:nvPr/>
          </p:nvSpPr>
          <p:spPr>
            <a:xfrm>
              <a:off x="2832" y="2832"/>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LR</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98328" name="Text Box 25"/>
            <p:cNvSpPr txBox="1"/>
            <p:nvPr/>
          </p:nvSpPr>
          <p:spPr>
            <a:xfrm>
              <a:off x="2832" y="3024"/>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PC</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98329" name="Text Box 26"/>
            <p:cNvSpPr txBox="1"/>
            <p:nvPr/>
          </p:nvSpPr>
          <p:spPr>
            <a:xfrm>
              <a:off x="2832" y="3264"/>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CPSR</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98330" name="Text Box 27"/>
            <p:cNvSpPr txBox="1"/>
            <p:nvPr/>
          </p:nvSpPr>
          <p:spPr>
            <a:xfrm>
              <a:off x="2832" y="3552"/>
              <a:ext cx="528" cy="231"/>
            </a:xfrm>
            <a:prstGeom prst="rect">
              <a:avLst/>
            </a:prstGeom>
            <a:noFill/>
            <a:ln w="9525">
              <a:noFill/>
            </a:ln>
          </p:spPr>
          <p:txBody>
            <a:bodyPr anchor="t" anchorCtr="0">
              <a:spAutoFit/>
            </a:bodyPr>
            <a:p>
              <a:pPr algn="r">
                <a:spcBef>
                  <a:spcPct val="50000"/>
                </a:spcBef>
                <a:buClrTx/>
                <a:buFontTx/>
              </a:pPr>
              <a:r>
                <a:rPr lang="en-US" altLang="zh-CN" dirty="0">
                  <a:solidFill>
                    <a:srgbClr val="0000FF"/>
                  </a:solidFill>
                  <a:latin typeface="Times New Roman" panose="02020603050405020304" pitchFamily="18" charset="0"/>
                  <a:ea typeface="宋体" panose="02010600030101010101" pitchFamily="2" charset="-122"/>
                </a:rPr>
                <a:t>SPSR</a:t>
              </a:r>
              <a:endParaRPr lang="en-US" altLang="zh-CN" dirty="0">
                <a:solidFill>
                  <a:srgbClr val="0000FF"/>
                </a:solidFill>
                <a:latin typeface="Times New Roman" panose="02020603050405020304" pitchFamily="18" charset="0"/>
                <a:ea typeface="宋体" panose="02010600030101010101" pitchFamily="2" charset="-122"/>
              </a:endParaRPr>
            </a:p>
          </p:txBody>
        </p:sp>
        <p:grpSp>
          <p:nvGrpSpPr>
            <p:cNvPr id="98331" name="Group 28"/>
            <p:cNvGrpSpPr/>
            <p:nvPr/>
          </p:nvGrpSpPr>
          <p:grpSpPr>
            <a:xfrm>
              <a:off x="3360" y="3360"/>
              <a:ext cx="1728" cy="192"/>
              <a:chOff x="3380" y="3360"/>
              <a:chExt cx="1728" cy="192"/>
            </a:xfrm>
          </p:grpSpPr>
          <p:sp>
            <p:nvSpPr>
              <p:cNvPr id="98332" name="Rectangle 29"/>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SYS</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33" name="Rectangle 30"/>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1</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34" name="Rectangle 31"/>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35" name="Rectangle 32"/>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0</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36" name="Rectangle 33"/>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8337" name="Rectangle 34"/>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38" name="Rectangle 35"/>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39" name="Rectangle 36"/>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40" name="Rectangle 37"/>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grpSp>
        <p:grpSp>
          <p:nvGrpSpPr>
            <p:cNvPr id="98341" name="Group 38"/>
            <p:cNvGrpSpPr/>
            <p:nvPr/>
          </p:nvGrpSpPr>
          <p:grpSpPr>
            <a:xfrm>
              <a:off x="3360" y="3216"/>
              <a:ext cx="1728" cy="144"/>
              <a:chOff x="1152" y="3264"/>
              <a:chExt cx="1728" cy="144"/>
            </a:xfrm>
          </p:grpSpPr>
          <p:sp>
            <p:nvSpPr>
              <p:cNvPr id="98342" name="Rectangle 39"/>
              <p:cNvSpPr/>
              <p:nvPr/>
            </p:nvSpPr>
            <p:spPr>
              <a:xfrm>
                <a:off x="2400" y="3264"/>
                <a:ext cx="480"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MOD</a:t>
                </a:r>
                <a:endParaRPr lang="en-US" altLang="zh-CN" sz="1600" dirty="0">
                  <a:latin typeface="Times New Roman" panose="02020603050405020304" pitchFamily="18" charset="0"/>
                  <a:ea typeface="宋体" panose="02010600030101010101" pitchFamily="2" charset="-122"/>
                </a:endParaRPr>
              </a:p>
            </p:txBody>
          </p:sp>
          <p:sp>
            <p:nvSpPr>
              <p:cNvPr id="98343" name="Rectangle 40"/>
              <p:cNvSpPr/>
              <p:nvPr/>
            </p:nvSpPr>
            <p:spPr>
              <a:xfrm>
                <a:off x="2256"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T</a:t>
                </a:r>
                <a:endParaRPr lang="en-US" altLang="zh-CN" sz="1600" dirty="0">
                  <a:latin typeface="Times New Roman" panose="02020603050405020304" pitchFamily="18" charset="0"/>
                  <a:ea typeface="宋体" panose="02010600030101010101" pitchFamily="2" charset="-122"/>
                </a:endParaRPr>
              </a:p>
            </p:txBody>
          </p:sp>
          <p:sp>
            <p:nvSpPr>
              <p:cNvPr id="98344" name="Rectangle 41"/>
              <p:cNvSpPr/>
              <p:nvPr/>
            </p:nvSpPr>
            <p:spPr>
              <a:xfrm>
                <a:off x="2112"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F</a:t>
                </a:r>
                <a:endParaRPr lang="en-US" altLang="zh-CN" sz="1600" dirty="0">
                  <a:latin typeface="Times New Roman" panose="02020603050405020304" pitchFamily="18" charset="0"/>
                  <a:ea typeface="宋体" panose="02010600030101010101" pitchFamily="2" charset="-122"/>
                </a:endParaRPr>
              </a:p>
            </p:txBody>
          </p:sp>
          <p:sp>
            <p:nvSpPr>
              <p:cNvPr id="98345" name="Rectangle 42"/>
              <p:cNvSpPr/>
              <p:nvPr/>
            </p:nvSpPr>
            <p:spPr>
              <a:xfrm>
                <a:off x="1968"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I</a:t>
                </a:r>
                <a:endParaRPr lang="en-US" altLang="zh-CN" sz="1600" dirty="0">
                  <a:latin typeface="Times New Roman" panose="02020603050405020304" pitchFamily="18" charset="0"/>
                  <a:ea typeface="宋体" panose="02010600030101010101" pitchFamily="2" charset="-122"/>
                </a:endParaRPr>
              </a:p>
            </p:txBody>
          </p:sp>
          <p:sp>
            <p:nvSpPr>
              <p:cNvPr id="98346" name="Rectangle 43"/>
              <p:cNvSpPr/>
              <p:nvPr/>
            </p:nvSpPr>
            <p:spPr>
              <a:xfrm>
                <a:off x="1728" y="3264"/>
                <a:ext cx="240"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8347" name="Rectangle 44"/>
              <p:cNvSpPr/>
              <p:nvPr/>
            </p:nvSpPr>
            <p:spPr>
              <a:xfrm>
                <a:off x="1152"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N</a:t>
                </a:r>
                <a:endParaRPr lang="en-US" altLang="zh-CN" sz="1600" dirty="0">
                  <a:latin typeface="Times New Roman" panose="02020603050405020304" pitchFamily="18" charset="0"/>
                  <a:ea typeface="宋体" panose="02010600030101010101" pitchFamily="2" charset="-122"/>
                </a:endParaRPr>
              </a:p>
            </p:txBody>
          </p:sp>
          <p:sp>
            <p:nvSpPr>
              <p:cNvPr id="98348" name="Rectangle 45"/>
              <p:cNvSpPr/>
              <p:nvPr/>
            </p:nvSpPr>
            <p:spPr>
              <a:xfrm>
                <a:off x="1296"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Z</a:t>
                </a:r>
                <a:endParaRPr lang="en-US" altLang="zh-CN" sz="1600" dirty="0">
                  <a:latin typeface="Times New Roman" panose="02020603050405020304" pitchFamily="18" charset="0"/>
                  <a:ea typeface="宋体" panose="02010600030101010101" pitchFamily="2" charset="-122"/>
                </a:endParaRPr>
              </a:p>
            </p:txBody>
          </p:sp>
          <p:sp>
            <p:nvSpPr>
              <p:cNvPr id="98349" name="Rectangle 46"/>
              <p:cNvSpPr/>
              <p:nvPr/>
            </p:nvSpPr>
            <p:spPr>
              <a:xfrm>
                <a:off x="1440"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p:txBody>
          </p:sp>
          <p:sp>
            <p:nvSpPr>
              <p:cNvPr id="98350" name="Rectangle 47"/>
              <p:cNvSpPr/>
              <p:nvPr/>
            </p:nvSpPr>
            <p:spPr>
              <a:xfrm>
                <a:off x="1584" y="3264"/>
                <a:ext cx="144" cy="144"/>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V</a:t>
                </a:r>
                <a:endParaRPr lang="en-US" altLang="zh-CN" sz="1600" dirty="0">
                  <a:latin typeface="Times New Roman" panose="02020603050405020304" pitchFamily="18" charset="0"/>
                  <a:ea typeface="宋体" panose="02010600030101010101" pitchFamily="2" charset="-122"/>
                </a:endParaRPr>
              </a:p>
            </p:txBody>
          </p:sp>
        </p:grpSp>
        <p:sp>
          <p:nvSpPr>
            <p:cNvPr id="98351" name="Rectangle 48"/>
            <p:cNvSpPr/>
            <p:nvPr/>
          </p:nvSpPr>
          <p:spPr>
            <a:xfrm>
              <a:off x="3360" y="3024"/>
              <a:ext cx="1728" cy="192"/>
            </a:xfrm>
            <a:prstGeom prst="rect">
              <a:avLst/>
            </a:prstGeom>
            <a:solidFill>
              <a:srgbClr val="CC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grpSp>
        <p:nvGrpSpPr>
          <p:cNvPr id="98352" name="Group 49"/>
          <p:cNvGrpSpPr/>
          <p:nvPr/>
        </p:nvGrpSpPr>
        <p:grpSpPr>
          <a:xfrm>
            <a:off x="5257800" y="2057400"/>
            <a:ext cx="2895600" cy="1295400"/>
            <a:chOff x="3312" y="1296"/>
            <a:chExt cx="1824" cy="816"/>
          </a:xfrm>
        </p:grpSpPr>
        <p:sp>
          <p:nvSpPr>
            <p:cNvPr id="98353" name="Rectangle 50"/>
            <p:cNvSpPr/>
            <p:nvPr/>
          </p:nvSpPr>
          <p:spPr>
            <a:xfrm>
              <a:off x="4416" y="1296"/>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nvGrpSpPr>
            <p:cNvPr id="98354" name="Group 51"/>
            <p:cNvGrpSpPr/>
            <p:nvPr/>
          </p:nvGrpSpPr>
          <p:grpSpPr>
            <a:xfrm>
              <a:off x="3312" y="1824"/>
              <a:ext cx="720" cy="288"/>
              <a:chOff x="3312" y="1824"/>
              <a:chExt cx="720" cy="288"/>
            </a:xfrm>
          </p:grpSpPr>
          <p:sp>
            <p:nvSpPr>
              <p:cNvPr id="98355" name="Rectangle 52"/>
              <p:cNvSpPr/>
              <p:nvPr/>
            </p:nvSpPr>
            <p:spPr>
              <a:xfrm>
                <a:off x="3312" y="1824"/>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56" name="Rectangle 53"/>
              <p:cNvSpPr/>
              <p:nvPr/>
            </p:nvSpPr>
            <p:spPr>
              <a:xfrm>
                <a:off x="3312" y="1920"/>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98357" name="Rectangle 54"/>
              <p:cNvSpPr/>
              <p:nvPr/>
            </p:nvSpPr>
            <p:spPr>
              <a:xfrm>
                <a:off x="3312" y="2016"/>
                <a:ext cx="720" cy="9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grpSp>
      </p:grpSp>
      <p:sp>
        <p:nvSpPr>
          <p:cNvPr id="241719" name="Text Box 55"/>
          <p:cNvSpPr txBox="1"/>
          <p:nvPr/>
        </p:nvSpPr>
        <p:spPr>
          <a:xfrm>
            <a:off x="228600" y="2133600"/>
            <a:ext cx="3733800" cy="822325"/>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SPSR</a:t>
            </a:r>
            <a:r>
              <a:rPr lang="zh-CN" altLang="en-US" sz="2400" dirty="0">
                <a:latin typeface="华文新魏" panose="02010800040101010101" pitchFamily="2" charset="-122"/>
                <a:ea typeface="华文新魏" panose="02010800040101010101" pitchFamily="2" charset="-122"/>
              </a:rPr>
              <a:t>寄存器的值复制回</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寄存器；</a:t>
            </a:r>
            <a:endParaRPr lang="zh-CN" altLang="en-US" sz="2400" dirty="0">
              <a:latin typeface="华文新魏" panose="02010800040101010101" pitchFamily="2" charset="-122"/>
              <a:ea typeface="华文新魏" panose="02010800040101010101" pitchFamily="2" charset="-122"/>
            </a:endParaRPr>
          </a:p>
        </p:txBody>
      </p:sp>
      <p:sp>
        <p:nvSpPr>
          <p:cNvPr id="241720" name="Text Box 56"/>
          <p:cNvSpPr txBox="1"/>
          <p:nvPr/>
        </p:nvSpPr>
        <p:spPr>
          <a:xfrm>
            <a:off x="228600" y="2971800"/>
            <a:ext cx="3733800" cy="1187450"/>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将</a:t>
            </a:r>
            <a:r>
              <a:rPr lang="en-US" altLang="zh-CN" sz="2400" dirty="0">
                <a:latin typeface="华文新魏" panose="02010800040101010101" pitchFamily="2" charset="-122"/>
                <a:ea typeface="华文新魏" panose="02010800040101010101" pitchFamily="2" charset="-122"/>
              </a:rPr>
              <a:t>LR</a:t>
            </a:r>
            <a:r>
              <a:rPr lang="zh-CN" altLang="en-US" sz="2400" dirty="0">
                <a:latin typeface="华文新魏" panose="02010800040101010101" pitchFamily="2" charset="-122"/>
                <a:ea typeface="华文新魏" panose="02010800040101010101" pitchFamily="2" charset="-122"/>
              </a:rPr>
              <a:t>寄存的值减去一个常量后复制到</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寄存器，跳转到被中断的用户程序。</a:t>
            </a:r>
            <a:endParaRPr lang="zh-CN" altLang="en-US" sz="2400" dirty="0">
              <a:latin typeface="华文新魏" panose="02010800040101010101" pitchFamily="2" charset="-122"/>
              <a:ea typeface="华文新魏" panose="02010800040101010101" pitchFamily="2" charset="-122"/>
            </a:endParaRPr>
          </a:p>
        </p:txBody>
      </p:sp>
      <p:grpSp>
        <p:nvGrpSpPr>
          <p:cNvPr id="98360" name="Group 57"/>
          <p:cNvGrpSpPr/>
          <p:nvPr/>
        </p:nvGrpSpPr>
        <p:grpSpPr>
          <a:xfrm>
            <a:off x="5334000" y="5334000"/>
            <a:ext cx="2743200" cy="304800"/>
            <a:chOff x="3380" y="3360"/>
            <a:chExt cx="1728" cy="192"/>
          </a:xfrm>
        </p:grpSpPr>
        <p:sp>
          <p:nvSpPr>
            <p:cNvPr id="98361" name="Rectangle 58"/>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IRQ</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62" name="Rectangle 59"/>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0</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63" name="Rectangle 60"/>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64" name="Rectangle 61"/>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1</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65" name="Rectangle 62"/>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8366" name="Rectangle 63"/>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67" name="Rectangle 64"/>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68" name="Rectangle 65"/>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69" name="Rectangle 66"/>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grpSp>
      <p:sp>
        <p:nvSpPr>
          <p:cNvPr id="98370" name="Rectangle 67"/>
          <p:cNvSpPr/>
          <p:nvPr/>
        </p:nvSpPr>
        <p:spPr>
          <a:xfrm>
            <a:off x="7010400" y="4495800"/>
            <a:ext cx="1066800" cy="304800"/>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BackAddr</a:t>
            </a:r>
            <a:endParaRPr lang="en-US" altLang="zh-CN" sz="1600" dirty="0">
              <a:latin typeface="Times New Roman" panose="02020603050405020304" pitchFamily="18" charset="0"/>
              <a:ea typeface="宋体" panose="02010600030101010101" pitchFamily="2" charset="-122"/>
            </a:endParaRPr>
          </a:p>
        </p:txBody>
      </p:sp>
      <p:sp>
        <p:nvSpPr>
          <p:cNvPr id="98371" name="Rectangle 68"/>
          <p:cNvSpPr/>
          <p:nvPr/>
        </p:nvSpPr>
        <p:spPr>
          <a:xfrm>
            <a:off x="5334000" y="4800600"/>
            <a:ext cx="2743200" cy="304800"/>
          </a:xfrm>
          <a:prstGeom prst="rect">
            <a:avLst/>
          </a:prstGeom>
          <a:solidFill>
            <a:srgbClr val="CCFF99"/>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JumpAddr</a:t>
            </a:r>
            <a:endParaRPr lang="en-US" altLang="zh-CN" sz="1600" dirty="0">
              <a:latin typeface="Times New Roman" panose="02020603050405020304" pitchFamily="18" charset="0"/>
              <a:ea typeface="宋体" panose="02010600030101010101" pitchFamily="2" charset="-122"/>
            </a:endParaRPr>
          </a:p>
        </p:txBody>
      </p:sp>
      <p:sp>
        <p:nvSpPr>
          <p:cNvPr id="241733" name="AutoShape 69"/>
          <p:cNvSpPr/>
          <p:nvPr/>
        </p:nvSpPr>
        <p:spPr>
          <a:xfrm>
            <a:off x="7467600" y="2286000"/>
            <a:ext cx="228600" cy="1600200"/>
          </a:xfrm>
          <a:prstGeom prst="downArrow">
            <a:avLst>
              <a:gd name="adj1" fmla="val 50000"/>
              <a:gd name="adj2" fmla="val 116569"/>
            </a:avLst>
          </a:prstGeom>
          <a:solidFill>
            <a:srgbClr val="6666FF"/>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241734" name="Rectangle 70"/>
          <p:cNvSpPr/>
          <p:nvPr/>
        </p:nvSpPr>
        <p:spPr>
          <a:xfrm>
            <a:off x="7010400" y="3886200"/>
            <a:ext cx="1143000" cy="1524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return</a:t>
            </a:r>
            <a:endParaRPr lang="en-US" altLang="zh-CN" sz="1600" dirty="0">
              <a:latin typeface="Times New Roman" panose="02020603050405020304" pitchFamily="18" charset="0"/>
              <a:ea typeface="宋体" panose="02010600030101010101" pitchFamily="2" charset="-122"/>
            </a:endParaRPr>
          </a:p>
        </p:txBody>
      </p:sp>
      <p:grpSp>
        <p:nvGrpSpPr>
          <p:cNvPr id="98374" name="Group 71"/>
          <p:cNvGrpSpPr/>
          <p:nvPr/>
        </p:nvGrpSpPr>
        <p:grpSpPr>
          <a:xfrm>
            <a:off x="7010400" y="5638800"/>
            <a:ext cx="1066800" cy="304800"/>
            <a:chOff x="3380" y="3360"/>
            <a:chExt cx="1728" cy="192"/>
          </a:xfrm>
        </p:grpSpPr>
        <p:sp>
          <p:nvSpPr>
            <p:cNvPr id="98375" name="Rectangle 72"/>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solidFill>
                    <a:srgbClr val="FF0000"/>
                  </a:solidFill>
                  <a:latin typeface="Times New Roman" panose="02020603050405020304" pitchFamily="18" charset="0"/>
                  <a:ea typeface="宋体" panose="02010600030101010101" pitchFamily="2" charset="-122"/>
                </a:rPr>
                <a:t>SYS</a:t>
              </a:r>
              <a:endParaRPr lang="en-US" altLang="zh-CN" sz="1400" dirty="0">
                <a:solidFill>
                  <a:srgbClr val="FF0000"/>
                </a:solidFill>
                <a:latin typeface="Times New Roman" panose="02020603050405020304" pitchFamily="18" charset="0"/>
                <a:ea typeface="宋体" panose="02010600030101010101" pitchFamily="2" charset="-122"/>
              </a:endParaRPr>
            </a:p>
          </p:txBody>
        </p:sp>
        <p:sp>
          <p:nvSpPr>
            <p:cNvPr id="98376" name="Rectangle 73"/>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solidFill>
                    <a:srgbClr val="FF0000"/>
                  </a:solidFill>
                  <a:latin typeface="Times New Roman" panose="02020603050405020304" pitchFamily="18" charset="0"/>
                  <a:ea typeface="宋体" panose="02010600030101010101" pitchFamily="2" charset="-122"/>
                </a:rPr>
                <a:t>1</a:t>
              </a:r>
              <a:endParaRPr lang="en-US" altLang="zh-CN" sz="1400" dirty="0">
                <a:solidFill>
                  <a:srgbClr val="FF0000"/>
                </a:solidFill>
                <a:latin typeface="Times New Roman" panose="02020603050405020304" pitchFamily="18" charset="0"/>
                <a:ea typeface="宋体" panose="02010600030101010101" pitchFamily="2" charset="-122"/>
              </a:endParaRPr>
            </a:p>
          </p:txBody>
        </p:sp>
        <p:sp>
          <p:nvSpPr>
            <p:cNvPr id="98377" name="Rectangle 74"/>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8378" name="Rectangle 75"/>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solidFill>
                    <a:srgbClr val="FF0000"/>
                  </a:solidFill>
                  <a:latin typeface="Times New Roman" panose="02020603050405020304" pitchFamily="18" charset="0"/>
                  <a:ea typeface="宋体" panose="02010600030101010101" pitchFamily="2" charset="-122"/>
                </a:rPr>
                <a:t>0</a:t>
              </a:r>
              <a:endParaRPr lang="en-US" altLang="zh-CN" sz="1400" dirty="0">
                <a:solidFill>
                  <a:srgbClr val="FF0000"/>
                </a:solidFill>
                <a:latin typeface="Times New Roman" panose="02020603050405020304" pitchFamily="18" charset="0"/>
                <a:ea typeface="宋体" panose="02010600030101010101" pitchFamily="2" charset="-122"/>
              </a:endParaRPr>
            </a:p>
          </p:txBody>
        </p:sp>
        <p:sp>
          <p:nvSpPr>
            <p:cNvPr id="98379" name="Rectangle 76"/>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 . .</a:t>
              </a:r>
              <a:endParaRPr lang="en-US" altLang="zh-CN" sz="1400" dirty="0">
                <a:latin typeface="Times New Roman" panose="02020603050405020304" pitchFamily="18" charset="0"/>
                <a:ea typeface="宋体" panose="02010600030101010101" pitchFamily="2" charset="-122"/>
              </a:endParaRPr>
            </a:p>
          </p:txBody>
        </p:sp>
        <p:sp>
          <p:nvSpPr>
            <p:cNvPr id="98380" name="Rectangle 77"/>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8381" name="Rectangle 78"/>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8382" name="Rectangle 79"/>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98383" name="Rectangle 80"/>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grpSp>
      <p:grpSp>
        <p:nvGrpSpPr>
          <p:cNvPr id="11" name="Group 81"/>
          <p:cNvGrpSpPr/>
          <p:nvPr/>
        </p:nvGrpSpPr>
        <p:grpSpPr>
          <a:xfrm>
            <a:off x="5334000" y="5334000"/>
            <a:ext cx="2743200" cy="304800"/>
            <a:chOff x="3380" y="3360"/>
            <a:chExt cx="1728" cy="192"/>
          </a:xfrm>
        </p:grpSpPr>
        <p:sp>
          <p:nvSpPr>
            <p:cNvPr id="98385" name="Rectangle 82"/>
            <p:cNvSpPr/>
            <p:nvPr/>
          </p:nvSpPr>
          <p:spPr>
            <a:xfrm>
              <a:off x="4628" y="3360"/>
              <a:ext cx="48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SYS</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86" name="Rectangle 83"/>
            <p:cNvSpPr/>
            <p:nvPr/>
          </p:nvSpPr>
          <p:spPr>
            <a:xfrm>
              <a:off x="448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1</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87" name="Rectangle 84"/>
            <p:cNvSpPr/>
            <p:nvPr/>
          </p:nvSpPr>
          <p:spPr>
            <a:xfrm>
              <a:off x="434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88" name="Rectangle 85"/>
            <p:cNvSpPr/>
            <p:nvPr/>
          </p:nvSpPr>
          <p:spPr>
            <a:xfrm>
              <a:off x="4196"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b="1" dirty="0">
                  <a:solidFill>
                    <a:srgbClr val="FF0000"/>
                  </a:solidFill>
                  <a:latin typeface="Times New Roman" panose="02020603050405020304" pitchFamily="18" charset="0"/>
                  <a:ea typeface="宋体" panose="02010600030101010101" pitchFamily="2" charset="-122"/>
                </a:rPr>
                <a:t>0</a:t>
              </a:r>
              <a:endParaRPr lang="en-US" altLang="zh-CN" sz="1600" b="1" dirty="0">
                <a:solidFill>
                  <a:srgbClr val="FF0000"/>
                </a:solidFill>
                <a:latin typeface="Times New Roman" panose="02020603050405020304" pitchFamily="18" charset="0"/>
                <a:ea typeface="宋体" panose="02010600030101010101" pitchFamily="2" charset="-122"/>
              </a:endParaRPr>
            </a:p>
          </p:txBody>
        </p:sp>
        <p:sp>
          <p:nvSpPr>
            <p:cNvPr id="98389" name="Rectangle 86"/>
            <p:cNvSpPr/>
            <p:nvPr/>
          </p:nvSpPr>
          <p:spPr>
            <a:xfrm>
              <a:off x="3956" y="3360"/>
              <a:ext cx="240"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 . .</a:t>
              </a:r>
              <a:endParaRPr lang="en-US" altLang="zh-CN" sz="1600" dirty="0">
                <a:latin typeface="Times New Roman" panose="02020603050405020304" pitchFamily="18" charset="0"/>
                <a:ea typeface="宋体" panose="02010600030101010101" pitchFamily="2" charset="-122"/>
              </a:endParaRPr>
            </a:p>
          </p:txBody>
        </p:sp>
        <p:sp>
          <p:nvSpPr>
            <p:cNvPr id="98390" name="Rectangle 87"/>
            <p:cNvSpPr/>
            <p:nvPr/>
          </p:nvSpPr>
          <p:spPr>
            <a:xfrm>
              <a:off x="3380"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91" name="Rectangle 88"/>
            <p:cNvSpPr/>
            <p:nvPr/>
          </p:nvSpPr>
          <p:spPr>
            <a:xfrm>
              <a:off x="3524"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92" name="Rectangle 89"/>
            <p:cNvSpPr/>
            <p:nvPr/>
          </p:nvSpPr>
          <p:spPr>
            <a:xfrm>
              <a:off x="3668"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98393" name="Rectangle 90"/>
            <p:cNvSpPr/>
            <p:nvPr/>
          </p:nvSpPr>
          <p:spPr>
            <a:xfrm>
              <a:off x="3812" y="3360"/>
              <a:ext cx="144" cy="192"/>
            </a:xfrm>
            <a:prstGeom prst="rect">
              <a:avLst/>
            </a:prstGeom>
            <a:solidFill>
              <a:srgbClr val="CCCCFF"/>
            </a:solidFill>
            <a:ln w="9525" cap="flat" cmpd="sng">
              <a:solidFill>
                <a:schemeClr val="tx1"/>
              </a:solidFill>
              <a:prstDash val="solid"/>
              <a:miter/>
              <a:headEnd type="none" w="med" len="med"/>
              <a:tailEnd type="none" w="med" len="med"/>
            </a:ln>
          </p:spPr>
          <p:txBody>
            <a:bodyPr wrap="none" lIns="0" rIns="0"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grpSp>
      <p:sp>
        <p:nvSpPr>
          <p:cNvPr id="241755" name="AutoShape 91"/>
          <p:cNvSpPr/>
          <p:nvPr/>
        </p:nvSpPr>
        <p:spPr>
          <a:xfrm flipV="1">
            <a:off x="8077200" y="5410200"/>
            <a:ext cx="304800" cy="457200"/>
          </a:xfrm>
          <a:prstGeom prst="curvedLeftArrow">
            <a:avLst>
              <a:gd name="adj1" fmla="val 30000"/>
              <a:gd name="adj2" fmla="val 60000"/>
              <a:gd name="adj3" fmla="val 33319"/>
            </a:avLst>
          </a:prstGeom>
          <a:solidFill>
            <a:srgbClr val="0099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241756" name="AutoShape 92"/>
          <p:cNvSpPr/>
          <p:nvPr/>
        </p:nvSpPr>
        <p:spPr>
          <a:xfrm>
            <a:off x="8077200" y="4572000"/>
            <a:ext cx="304800" cy="457200"/>
          </a:xfrm>
          <a:prstGeom prst="curvedLeftArrow">
            <a:avLst>
              <a:gd name="adj1" fmla="val 30000"/>
              <a:gd name="adj2" fmla="val 60000"/>
              <a:gd name="adj3" fmla="val 33319"/>
            </a:avLst>
          </a:prstGeom>
          <a:solidFill>
            <a:srgbClr val="009999"/>
          </a:solidFill>
          <a:ln w="9525" cap="flat" cmpd="sng">
            <a:solidFill>
              <a:srgbClr val="000000"/>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241757" name="Rectangle 93"/>
          <p:cNvSpPr/>
          <p:nvPr/>
        </p:nvSpPr>
        <p:spPr>
          <a:xfrm>
            <a:off x="5334000" y="4800600"/>
            <a:ext cx="2743200" cy="304800"/>
          </a:xfrm>
          <a:prstGeom prst="rect">
            <a:avLst/>
          </a:prstGeom>
          <a:solidFill>
            <a:srgbClr val="CCFF99"/>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sz="1600" dirty="0">
                <a:latin typeface="Times New Roman" panose="02020603050405020304" pitchFamily="18" charset="0"/>
                <a:ea typeface="宋体" panose="02010600030101010101" pitchFamily="2" charset="-122"/>
              </a:rPr>
              <a:t>BackAddr-4</a:t>
            </a:r>
            <a:endParaRPr lang="en-US" altLang="zh-CN" sz="1600" dirty="0">
              <a:latin typeface="Times New Roman" panose="02020603050405020304" pitchFamily="18" charset="0"/>
              <a:ea typeface="宋体" panose="02010600030101010101" pitchFamily="2" charset="-122"/>
            </a:endParaRPr>
          </a:p>
        </p:txBody>
      </p:sp>
      <p:grpSp>
        <p:nvGrpSpPr>
          <p:cNvPr id="12" name="Group 94"/>
          <p:cNvGrpSpPr/>
          <p:nvPr/>
        </p:nvGrpSpPr>
        <p:grpSpPr>
          <a:xfrm>
            <a:off x="6324600" y="2895600"/>
            <a:ext cx="762000" cy="1066800"/>
            <a:chOff x="3984" y="1824"/>
            <a:chExt cx="480" cy="672"/>
          </a:xfrm>
        </p:grpSpPr>
        <p:sp>
          <p:nvSpPr>
            <p:cNvPr id="98398" name="Line 95"/>
            <p:cNvSpPr/>
            <p:nvPr/>
          </p:nvSpPr>
          <p:spPr>
            <a:xfrm flipH="1" flipV="1">
              <a:off x="3984" y="1968"/>
              <a:ext cx="480" cy="528"/>
            </a:xfrm>
            <a:prstGeom prst="line">
              <a:avLst/>
            </a:prstGeom>
            <a:ln w="28575" cap="flat" cmpd="sng">
              <a:solidFill>
                <a:srgbClr val="FF0000"/>
              </a:solidFill>
              <a:prstDash val="solid"/>
              <a:round/>
              <a:headEnd type="none" w="med" len="med"/>
              <a:tailEnd type="triangle" w="med" len="med"/>
            </a:ln>
          </p:spPr>
        </p:sp>
        <p:sp>
          <p:nvSpPr>
            <p:cNvPr id="98399" name="Rectangle 96"/>
            <p:cNvSpPr/>
            <p:nvPr/>
          </p:nvSpPr>
          <p:spPr>
            <a:xfrm rot="2971135">
              <a:off x="3984" y="2064"/>
              <a:ext cx="672" cy="192"/>
            </a:xfrm>
            <a:prstGeom prst="rect">
              <a:avLst/>
            </a:prstGeom>
            <a:noFill/>
            <a:ln w="9525">
              <a:noFill/>
            </a:ln>
          </p:spPr>
          <p:txBody>
            <a:bodyPr wrap="none" anchor="ctr" anchorCtr="0"/>
            <a:p>
              <a:pPr algn="ctr">
                <a:spcBef>
                  <a:spcPct val="20000"/>
                </a:spcBef>
                <a:buClrTx/>
                <a:buFontTx/>
              </a:pPr>
              <a:r>
                <a:rPr lang="en-US" altLang="zh-CN" dirty="0">
                  <a:solidFill>
                    <a:srgbClr val="FF0000"/>
                  </a:solidFill>
                  <a:latin typeface="Times New Roman" panose="02020603050405020304" pitchFamily="18" charset="0"/>
                  <a:ea typeface="宋体" panose="02010600030101010101" pitchFamily="2" charset="-122"/>
                </a:rPr>
                <a:t>Jump</a:t>
              </a:r>
              <a:endParaRPr lang="en-US" altLang="zh-CN" dirty="0">
                <a:solidFill>
                  <a:srgbClr val="FF0000"/>
                </a:solidFill>
                <a:latin typeface="Times New Roman" panose="02020603050405020304" pitchFamily="18" charset="0"/>
                <a:ea typeface="宋体" panose="02010600030101010101" pitchFamily="2" charset="-122"/>
              </a:endParaRPr>
            </a:p>
          </p:txBody>
        </p:sp>
      </p:grpSp>
      <p:sp>
        <p:nvSpPr>
          <p:cNvPr id="98400" name="Text Box 97"/>
          <p:cNvSpPr txBox="1"/>
          <p:nvPr/>
        </p:nvSpPr>
        <p:spPr>
          <a:xfrm>
            <a:off x="6629400" y="6019800"/>
            <a:ext cx="2209800" cy="336550"/>
          </a:xfrm>
          <a:prstGeom prst="rect">
            <a:avLst/>
          </a:prstGeom>
          <a:noFill/>
          <a:ln w="9525">
            <a:noFill/>
          </a:ln>
        </p:spPr>
        <p:txBody>
          <a:bodyPr anchor="t" anchorCtr="0">
            <a:spAutoFit/>
          </a:bodyPr>
          <a:p>
            <a:pPr algn="ctr">
              <a:spcBef>
                <a:spcPct val="50000"/>
              </a:spcBef>
              <a:buClrTx/>
              <a:buFontTx/>
            </a:pP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表示对该位不关心</a:t>
            </a:r>
            <a:endParaRPr lang="zh-CN" altLang="en-US" sz="16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1682"/>
                                        </p:tgtEl>
                                        <p:attrNameLst>
                                          <p:attrName>style.visibility</p:attrName>
                                        </p:attrNameLst>
                                      </p:cBhvr>
                                      <p:to>
                                        <p:strVal val="visible"/>
                                      </p:to>
                                    </p:set>
                                    <p:anim calcmode="lin" valueType="num">
                                      <p:cBhvr additive="base">
                                        <p:cTn id="7" dur="500" fill="hold"/>
                                        <p:tgtEl>
                                          <p:spTgt spid="241682"/>
                                        </p:tgtEl>
                                        <p:attrNameLst>
                                          <p:attrName>ppt_x</p:attrName>
                                        </p:attrNameLst>
                                      </p:cBhvr>
                                      <p:tavLst>
                                        <p:tav tm="0">
                                          <p:val>
                                            <p:strVal val="1+#ppt_w/2"/>
                                          </p:val>
                                        </p:tav>
                                        <p:tav tm="100000">
                                          <p:val>
                                            <p:strVal val="#ppt_x"/>
                                          </p:val>
                                        </p:tav>
                                      </p:tavLst>
                                    </p:anim>
                                    <p:anim calcmode="lin" valueType="num">
                                      <p:cBhvr additive="base">
                                        <p:cTn id="8" dur="500" fill="hold"/>
                                        <p:tgtEl>
                                          <p:spTgt spid="24168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41666"/>
                                        </p:tgtEl>
                                        <p:attrNameLst>
                                          <p:attrName>style.visibility</p:attrName>
                                        </p:attrNameLst>
                                      </p:cBhvr>
                                      <p:to>
                                        <p:strVal val="visible"/>
                                      </p:to>
                                    </p:set>
                                    <p:anim calcmode="lin" valueType="num">
                                      <p:cBhvr additive="base">
                                        <p:cTn id="12" dur="500" fill="hold"/>
                                        <p:tgtEl>
                                          <p:spTgt spid="241666"/>
                                        </p:tgtEl>
                                        <p:attrNameLst>
                                          <p:attrName>ppt_x</p:attrName>
                                        </p:attrNameLst>
                                      </p:cBhvr>
                                      <p:tavLst>
                                        <p:tav tm="0">
                                          <p:val>
                                            <p:strVal val="0-#ppt_w/2"/>
                                          </p:val>
                                        </p:tav>
                                        <p:tav tm="100000">
                                          <p:val>
                                            <p:strVal val="#ppt_x"/>
                                          </p:val>
                                        </p:tav>
                                      </p:tavLst>
                                    </p:anim>
                                    <p:anim calcmode="lin" valueType="num">
                                      <p:cBhvr additive="base">
                                        <p:cTn id="13" dur="500" fill="hold"/>
                                        <p:tgtEl>
                                          <p:spTgt spid="24166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241733"/>
                                        </p:tgtEl>
                                        <p:attrNameLst>
                                          <p:attrName>style.visibility</p:attrName>
                                        </p:attrNameLst>
                                      </p:cBhvr>
                                      <p:to>
                                        <p:strVal val="visible"/>
                                      </p:to>
                                    </p:set>
                                    <p:animEffect transition="in" filter="slide(fromTop)">
                                      <p:cBhvr>
                                        <p:cTn id="17" dur="500"/>
                                        <p:tgtEl>
                                          <p:spTgt spid="241733"/>
                                        </p:tgtEl>
                                      </p:cBhvr>
                                    </p:animEffect>
                                  </p:childTnLst>
                                </p:cTn>
                              </p:par>
                            </p:childTnLst>
                          </p:cTn>
                        </p:par>
                        <p:par>
                          <p:cTn id="18" fill="hold">
                            <p:stCondLst>
                              <p:cond delay="1500"/>
                            </p:stCondLst>
                            <p:childTnLst>
                              <p:par>
                                <p:cTn id="19" presetID="1" presetClass="entr" presetSubtype="0" fill="hold" grpId="0" nodeType="afterEffect">
                                  <p:stCondLst>
                                    <p:cond delay="0"/>
                                  </p:stCondLst>
                                  <p:childTnLst>
                                    <p:set>
                                      <p:cBhvr>
                                        <p:cTn id="20" dur="1" fill="hold">
                                          <p:stCondLst>
                                            <p:cond delay="499"/>
                                          </p:stCondLst>
                                        </p:cTn>
                                        <p:tgtEl>
                                          <p:spTgt spid="2417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1719"/>
                                        </p:tgtEl>
                                        <p:attrNameLst>
                                          <p:attrName>style.visibility</p:attrName>
                                        </p:attrNameLst>
                                      </p:cBhvr>
                                      <p:to>
                                        <p:strVal val="visible"/>
                                      </p:to>
                                    </p:set>
                                    <p:anim calcmode="lin" valueType="num">
                                      <p:cBhvr additive="base">
                                        <p:cTn id="25" dur="500" fill="hold"/>
                                        <p:tgtEl>
                                          <p:spTgt spid="241719"/>
                                        </p:tgtEl>
                                        <p:attrNameLst>
                                          <p:attrName>ppt_x</p:attrName>
                                        </p:attrNameLst>
                                      </p:cBhvr>
                                      <p:tavLst>
                                        <p:tav tm="0">
                                          <p:val>
                                            <p:strVal val="0-#ppt_w/2"/>
                                          </p:val>
                                        </p:tav>
                                        <p:tav tm="100000">
                                          <p:val>
                                            <p:strVal val="#ppt_x"/>
                                          </p:val>
                                        </p:tav>
                                      </p:tavLst>
                                    </p:anim>
                                    <p:anim calcmode="lin" valueType="num">
                                      <p:cBhvr additive="base">
                                        <p:cTn id="26" dur="500" fill="hold"/>
                                        <p:tgtEl>
                                          <p:spTgt spid="241719"/>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241755"/>
                                        </p:tgtEl>
                                        <p:attrNameLst>
                                          <p:attrName>style.visibility</p:attrName>
                                        </p:attrNameLst>
                                      </p:cBhvr>
                                      <p:to>
                                        <p:strVal val="visible"/>
                                      </p:to>
                                    </p:set>
                                    <p:animEffect transition="in" filter="wipe(down)">
                                      <p:cBhvr>
                                        <p:cTn id="30" dur="500"/>
                                        <p:tgtEl>
                                          <p:spTgt spid="241755"/>
                                        </p:tgtEl>
                                      </p:cBhvr>
                                    </p:animEffect>
                                  </p:childTnLst>
                                </p:cTn>
                              </p:par>
                            </p:childTnLst>
                          </p:cTn>
                        </p:par>
                        <p:par>
                          <p:cTn id="31" fill="hold">
                            <p:stCondLst>
                              <p:cond delay="1000"/>
                            </p:stCondLst>
                            <p:childTnLst>
                              <p:par>
                                <p:cTn id="32" presetID="12" presetClass="entr" presetSubtype="2"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slide(fromRigh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41720"/>
                                        </p:tgtEl>
                                        <p:attrNameLst>
                                          <p:attrName>style.visibility</p:attrName>
                                        </p:attrNameLst>
                                      </p:cBhvr>
                                      <p:to>
                                        <p:strVal val="visible"/>
                                      </p:to>
                                    </p:set>
                                    <p:anim calcmode="lin" valueType="num">
                                      <p:cBhvr additive="base">
                                        <p:cTn id="39" dur="500" fill="hold"/>
                                        <p:tgtEl>
                                          <p:spTgt spid="241720"/>
                                        </p:tgtEl>
                                        <p:attrNameLst>
                                          <p:attrName>ppt_x</p:attrName>
                                        </p:attrNameLst>
                                      </p:cBhvr>
                                      <p:tavLst>
                                        <p:tav tm="0">
                                          <p:val>
                                            <p:strVal val="0-#ppt_w/2"/>
                                          </p:val>
                                        </p:tav>
                                        <p:tav tm="100000">
                                          <p:val>
                                            <p:strVal val="#ppt_x"/>
                                          </p:val>
                                        </p:tav>
                                      </p:tavLst>
                                    </p:anim>
                                    <p:anim calcmode="lin" valueType="num">
                                      <p:cBhvr additive="base">
                                        <p:cTn id="40" dur="500" fill="hold"/>
                                        <p:tgtEl>
                                          <p:spTgt spid="241720"/>
                                        </p:tgtEl>
                                        <p:attrNameLst>
                                          <p:attrName>ppt_y</p:attrName>
                                        </p:attrNameLst>
                                      </p:cBhvr>
                                      <p:tavLst>
                                        <p:tav tm="0">
                                          <p:val>
                                            <p:strVal val="#ppt_y"/>
                                          </p:val>
                                        </p:tav>
                                        <p:tav tm="100000">
                                          <p:val>
                                            <p:strVal val="#ppt_y"/>
                                          </p:val>
                                        </p:tav>
                                      </p:tavLst>
                                    </p:anim>
                                  </p:childTnLst>
                                </p:cTn>
                              </p:par>
                            </p:childTnLst>
                          </p:cTn>
                        </p:par>
                        <p:par>
                          <p:cTn id="41" fill="hold">
                            <p:stCondLst>
                              <p:cond delay="500"/>
                            </p:stCondLst>
                            <p:childTnLst>
                              <p:par>
                                <p:cTn id="42" presetID="22" presetClass="entr" presetSubtype="1" fill="hold" grpId="0" nodeType="afterEffect">
                                  <p:stCondLst>
                                    <p:cond delay="0"/>
                                  </p:stCondLst>
                                  <p:childTnLst>
                                    <p:set>
                                      <p:cBhvr>
                                        <p:cTn id="43" dur="1" fill="hold">
                                          <p:stCondLst>
                                            <p:cond delay="0"/>
                                          </p:stCondLst>
                                        </p:cTn>
                                        <p:tgtEl>
                                          <p:spTgt spid="241756"/>
                                        </p:tgtEl>
                                        <p:attrNameLst>
                                          <p:attrName>style.visibility</p:attrName>
                                        </p:attrNameLst>
                                      </p:cBhvr>
                                      <p:to>
                                        <p:strVal val="visible"/>
                                      </p:to>
                                    </p:set>
                                    <p:animEffect transition="in" filter="wipe(up)">
                                      <p:cBhvr>
                                        <p:cTn id="44" dur="500"/>
                                        <p:tgtEl>
                                          <p:spTgt spid="241756"/>
                                        </p:tgtEl>
                                      </p:cBhvr>
                                    </p:animEffect>
                                  </p:childTnLst>
                                </p:cTn>
                              </p:par>
                            </p:childTnLst>
                          </p:cTn>
                        </p:par>
                        <p:par>
                          <p:cTn id="45" fill="hold">
                            <p:stCondLst>
                              <p:cond delay="1000"/>
                            </p:stCondLst>
                            <p:childTnLst>
                              <p:par>
                                <p:cTn id="46" presetID="12" presetClass="entr" presetSubtype="2" fill="hold" grpId="0" nodeType="afterEffect">
                                  <p:stCondLst>
                                    <p:cond delay="0"/>
                                  </p:stCondLst>
                                  <p:childTnLst>
                                    <p:set>
                                      <p:cBhvr>
                                        <p:cTn id="47" dur="1" fill="hold">
                                          <p:stCondLst>
                                            <p:cond delay="0"/>
                                          </p:stCondLst>
                                        </p:cTn>
                                        <p:tgtEl>
                                          <p:spTgt spid="241757"/>
                                        </p:tgtEl>
                                        <p:attrNameLst>
                                          <p:attrName>style.visibility</p:attrName>
                                        </p:attrNameLst>
                                      </p:cBhvr>
                                      <p:to>
                                        <p:strVal val="visible"/>
                                      </p:to>
                                    </p:set>
                                    <p:animEffect transition="in" filter="slide(fromRight)">
                                      <p:cBhvr>
                                        <p:cTn id="48" dur="500"/>
                                        <p:tgtEl>
                                          <p:spTgt spid="241757"/>
                                        </p:tgtEl>
                                      </p:cBhvr>
                                    </p:animEffect>
                                  </p:childTnLst>
                                </p:cTn>
                              </p:par>
                            </p:childTnLst>
                          </p:cTn>
                        </p:par>
                        <p:par>
                          <p:cTn id="49" fill="hold">
                            <p:stCondLst>
                              <p:cond delay="1500"/>
                            </p:stCondLst>
                            <p:childTnLst>
                              <p:par>
                                <p:cTn id="50" presetID="22" presetClass="entr" presetSubtype="2" fill="hold"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righ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6" grpId="0"/>
      <p:bldP spid="241682" grpId="0"/>
      <p:bldP spid="241719" grpId="0"/>
      <p:bldP spid="241720" grpId="0"/>
      <p:bldP spid="241733" grpId="0" animBg="1"/>
      <p:bldP spid="241734" grpId="0" animBg="1"/>
      <p:bldP spid="241755" grpId="0" animBg="1"/>
      <p:bldP spid="241756" grpId="0" animBg="1"/>
      <p:bldP spid="24175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Text Box 2"/>
          <p:cNvSpPr txBox="1"/>
          <p:nvPr/>
        </p:nvSpPr>
        <p:spPr>
          <a:xfrm>
            <a:off x="1219200" y="2349500"/>
            <a:ext cx="7456488" cy="38354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快速中断请求</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适用于对一个突发事件的快速响应，这得益于在</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状态中，快中断模式有</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个专用的寄存器可用来满足寄存器保护的需要（这可以加速上下文切换的速度）。</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不管异常入口是来自</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状态还是</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状态，</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处理程序都会通过执行下面的指令从中断返回：</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en-US" altLang="zh-CN" sz="2000" b="1" dirty="0">
                <a:solidFill>
                  <a:srgbClr val="0000FF"/>
                </a:solidFill>
                <a:latin typeface="Courier New" panose="02070309020205020404" pitchFamily="49" charset="0"/>
                <a:ea typeface="华文新魏" panose="02010800040101010101" pitchFamily="2" charset="-122"/>
              </a:rPr>
              <a:t>SUBS    PC,R14_fiq,#4</a:t>
            </a:r>
            <a:endParaRPr lang="en-US" altLang="zh-CN" sz="2000" b="1" dirty="0">
              <a:solidFill>
                <a:srgbClr val="0000FF"/>
              </a:solidFill>
              <a:latin typeface="Courier New" panose="02070309020205020404" pitchFamily="49" charset="0"/>
              <a:ea typeface="华文新魏" panose="02010800040101010101" pitchFamily="2" charset="-122"/>
            </a:endParaRPr>
          </a:p>
          <a:p>
            <a:pPr>
              <a:spcBef>
                <a:spcPct val="50000"/>
              </a:spcBef>
              <a:buClrTx/>
              <a:buFontTx/>
            </a:pPr>
            <a:r>
              <a:rPr lang="en-US" altLang="zh-CN" sz="2400" dirty="0">
                <a:solidFill>
                  <a:srgbClr val="0000FF"/>
                </a:solidFill>
                <a:latin typeface="Courier New" panose="02070309020205020404" pitchFamily="49" charset="0"/>
                <a:ea typeface="华文新魏" panose="02010800040101010101" pitchFamily="2" charset="-122"/>
              </a:rPr>
              <a:t>    </a:t>
            </a:r>
            <a:r>
              <a:rPr lang="zh-CN" altLang="en-US" sz="2400" dirty="0">
                <a:solidFill>
                  <a:schemeClr val="tx2"/>
                </a:solidFill>
                <a:latin typeface="华文新魏" panose="02010800040101010101" pitchFamily="2" charset="-122"/>
                <a:ea typeface="华文新魏" panose="02010800040101010101" pitchFamily="2" charset="-122"/>
              </a:rPr>
              <a:t>在一个特权模式中，可以通过置位</a:t>
            </a:r>
            <a:r>
              <a:rPr lang="en-US" altLang="zh-CN" sz="2400" dirty="0">
                <a:solidFill>
                  <a:schemeClr val="tx2"/>
                </a:solidFill>
                <a:latin typeface="华文新魏" panose="02010800040101010101" pitchFamily="2" charset="-122"/>
                <a:ea typeface="华文新魏" panose="02010800040101010101" pitchFamily="2" charset="-122"/>
              </a:rPr>
              <a:t>CPSR</a:t>
            </a:r>
            <a:r>
              <a:rPr lang="zh-CN" altLang="en-US" sz="2400" dirty="0">
                <a:solidFill>
                  <a:schemeClr val="tx2"/>
                </a:solidFill>
                <a:latin typeface="华文新魏" panose="02010800040101010101" pitchFamily="2" charset="-122"/>
                <a:ea typeface="华文新魏" panose="02010800040101010101" pitchFamily="2" charset="-122"/>
              </a:rPr>
              <a:t>中的</a:t>
            </a:r>
            <a:r>
              <a:rPr lang="en-US" altLang="zh-CN" sz="2400" dirty="0">
                <a:solidFill>
                  <a:schemeClr val="tx2"/>
                </a:solidFill>
                <a:latin typeface="华文新魏" panose="02010800040101010101" pitchFamily="2" charset="-122"/>
                <a:ea typeface="华文新魏" panose="02010800040101010101" pitchFamily="2" charset="-122"/>
              </a:rPr>
              <a:t>F</a:t>
            </a:r>
            <a:r>
              <a:rPr lang="zh-CN" altLang="en-US" sz="2400" dirty="0">
                <a:solidFill>
                  <a:schemeClr val="tx2"/>
                </a:solidFill>
                <a:latin typeface="华文新魏" panose="02010800040101010101" pitchFamily="2" charset="-122"/>
                <a:ea typeface="华文新魏" panose="02010800040101010101" pitchFamily="2" charset="-122"/>
              </a:rPr>
              <a:t>位来禁止</a:t>
            </a:r>
            <a:r>
              <a:rPr lang="en-US" altLang="zh-CN" sz="2400" dirty="0">
                <a:solidFill>
                  <a:schemeClr val="tx2"/>
                </a:solidFill>
                <a:latin typeface="华文新魏" panose="02010800040101010101" pitchFamily="2" charset="-122"/>
                <a:ea typeface="华文新魏" panose="02010800040101010101" pitchFamily="2" charset="-122"/>
              </a:rPr>
              <a:t>FIQ</a:t>
            </a:r>
            <a:r>
              <a:rPr lang="zh-CN" altLang="en-US" sz="2400" dirty="0">
                <a:solidFill>
                  <a:schemeClr val="tx2"/>
                </a:solidFill>
                <a:latin typeface="华文新魏" panose="02010800040101010101" pitchFamily="2" charset="-122"/>
                <a:ea typeface="华文新魏" panose="02010800040101010101" pitchFamily="2" charset="-122"/>
              </a:rPr>
              <a:t>异常。</a:t>
            </a:r>
            <a:endParaRPr lang="zh-CN" altLang="en-US" sz="2400" dirty="0">
              <a:solidFill>
                <a:schemeClr val="tx2"/>
              </a:solidFill>
              <a:latin typeface="华文新魏" panose="02010800040101010101" pitchFamily="2" charset="-122"/>
              <a:ea typeface="华文新魏" panose="02010800040101010101" pitchFamily="2" charset="-122"/>
            </a:endParaRPr>
          </a:p>
        </p:txBody>
      </p:sp>
      <p:sp>
        <p:nvSpPr>
          <p:cNvPr id="99330"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42692"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快速中断请求</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2692">
                                            <p:txEl>
                                              <p:charRg st="0" end="7"/>
                                            </p:txEl>
                                          </p:spTgt>
                                        </p:tgtEl>
                                        <p:attrNameLst>
                                          <p:attrName>style.visibility</p:attrName>
                                        </p:attrNameLst>
                                      </p:cBhvr>
                                      <p:to>
                                        <p:strVal val="visible"/>
                                      </p:to>
                                    </p:set>
                                    <p:anim calcmode="lin" valueType="num">
                                      <p:cBhvr additive="base">
                                        <p:cTn id="7" dur="500" fill="hold"/>
                                        <p:tgtEl>
                                          <p:spTgt spid="242692">
                                            <p:txEl>
                                              <p:charRg st="0" end="7"/>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2692">
                                            <p:txEl>
                                              <p:charRg st="0" end="7"/>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42690"/>
                                        </p:tgtEl>
                                        <p:attrNameLst>
                                          <p:attrName>style.visibility</p:attrName>
                                        </p:attrNameLst>
                                      </p:cBhvr>
                                      <p:to>
                                        <p:strVal val="visible"/>
                                      </p:to>
                                    </p:set>
                                    <p:animEffect transition="in" filter="box(in)">
                                      <p:cBhvr>
                                        <p:cTn id="12" dur="500"/>
                                        <p:tgtEl>
                                          <p:spTgt spid="242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0" grpId="0"/>
      <p:bldP spid="242692" grpId="0" advAuto="100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Text Box 2"/>
          <p:cNvSpPr txBox="1"/>
          <p:nvPr/>
        </p:nvSpPr>
        <p:spPr>
          <a:xfrm>
            <a:off x="1219200" y="2743200"/>
            <a:ext cx="7313613" cy="3652838"/>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中断请求（</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）异常是一个由</a:t>
            </a:r>
            <a:r>
              <a:rPr lang="en-US" altLang="zh-CN" sz="2400" dirty="0">
                <a:latin typeface="华文新魏" panose="02010800040101010101" pitchFamily="2" charset="-122"/>
                <a:ea typeface="华文新魏" panose="02010800040101010101" pitchFamily="2" charset="-122"/>
              </a:rPr>
              <a:t>nIRQ</a:t>
            </a:r>
            <a:r>
              <a:rPr lang="zh-CN" altLang="en-US" sz="2400" dirty="0">
                <a:latin typeface="华文新魏" panose="02010800040101010101" pitchFamily="2" charset="-122"/>
                <a:ea typeface="华文新魏" panose="02010800040101010101" pitchFamily="2" charset="-122"/>
              </a:rPr>
              <a:t>输入端的低电平所产生的正常中断（在具体的芯片中，</a:t>
            </a:r>
            <a:r>
              <a:rPr lang="en-US" altLang="zh-CN" sz="2400" dirty="0">
                <a:latin typeface="华文新魏" panose="02010800040101010101" pitchFamily="2" charset="-122"/>
                <a:ea typeface="华文新魏" panose="02010800040101010101" pitchFamily="2" charset="-122"/>
              </a:rPr>
              <a:t>nIRQ</a:t>
            </a:r>
            <a:r>
              <a:rPr lang="zh-CN" altLang="en-US" sz="2400" dirty="0">
                <a:latin typeface="华文新魏" panose="02010800040101010101" pitchFamily="2" charset="-122"/>
                <a:ea typeface="华文新魏" panose="02010800040101010101" pitchFamily="2" charset="-122"/>
              </a:rPr>
              <a:t>由片内外设拉低，</a:t>
            </a:r>
            <a:r>
              <a:rPr lang="en-US" altLang="zh-CN" sz="2400" dirty="0">
                <a:latin typeface="华文新魏" panose="02010800040101010101" pitchFamily="2" charset="-122"/>
                <a:ea typeface="华文新魏" panose="02010800040101010101" pitchFamily="2" charset="-122"/>
              </a:rPr>
              <a:t>nIRQ</a:t>
            </a:r>
            <a:r>
              <a:rPr lang="zh-CN" altLang="en-US" sz="2400" dirty="0">
                <a:latin typeface="华文新魏" panose="02010800040101010101" pitchFamily="2" charset="-122"/>
                <a:ea typeface="华文新魏" panose="02010800040101010101" pitchFamily="2" charset="-122"/>
              </a:rPr>
              <a:t>是内核的一个信号，对用户不可见）。</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的优先级低于</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。对于</a:t>
            </a:r>
            <a:r>
              <a:rPr lang="en-US" altLang="zh-CN" sz="2400" dirty="0">
                <a:latin typeface="华文新魏" panose="02010800040101010101" pitchFamily="2" charset="-122"/>
                <a:ea typeface="华文新魏" panose="02010800040101010101" pitchFamily="2" charset="-122"/>
              </a:rPr>
              <a:t>FIQ</a:t>
            </a:r>
            <a:r>
              <a:rPr lang="zh-CN" altLang="en-US" sz="2400" dirty="0">
                <a:latin typeface="华文新魏" panose="02010800040101010101" pitchFamily="2" charset="-122"/>
                <a:ea typeface="华文新魏" panose="02010800040101010101" pitchFamily="2" charset="-122"/>
              </a:rPr>
              <a:t>序列它是被屏蔽的。任何时候在一个特权模式下，都可通过置位</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中的</a:t>
            </a:r>
            <a:r>
              <a:rPr lang="en-US" altLang="zh-CN" sz="2400" dirty="0">
                <a:latin typeface="华文新魏" panose="02010800040101010101" pitchFamily="2" charset="-122"/>
                <a:ea typeface="华文新魏" panose="02010800040101010101" pitchFamily="2" charset="-122"/>
              </a:rPr>
              <a:t>I </a:t>
            </a:r>
            <a:r>
              <a:rPr lang="zh-CN" altLang="en-US" sz="2400" dirty="0">
                <a:latin typeface="华文新魏" panose="02010800040101010101" pitchFamily="2" charset="-122"/>
                <a:ea typeface="华文新魏" panose="02010800040101010101" pitchFamily="2" charset="-122"/>
              </a:rPr>
              <a:t>位来禁止</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 </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不管异常入口是来自</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状态还是</a:t>
            </a:r>
            <a:r>
              <a:rPr lang="en-US" altLang="zh-CN" sz="2400" dirty="0">
                <a:latin typeface="华文新魏" panose="02010800040101010101" pitchFamily="2" charset="-122"/>
                <a:ea typeface="华文新魏" panose="02010800040101010101" pitchFamily="2" charset="-122"/>
              </a:rPr>
              <a:t>Thumb</a:t>
            </a:r>
            <a:r>
              <a:rPr lang="zh-CN" altLang="en-US" sz="2400" dirty="0">
                <a:latin typeface="华文新魏" panose="02010800040101010101" pitchFamily="2" charset="-122"/>
                <a:ea typeface="华文新魏" panose="02010800040101010101" pitchFamily="2" charset="-122"/>
              </a:rPr>
              <a:t>状态，</a:t>
            </a:r>
            <a:r>
              <a:rPr lang="en-US" altLang="zh-CN" sz="2400" dirty="0">
                <a:latin typeface="华文新魏" panose="02010800040101010101" pitchFamily="2" charset="-122"/>
                <a:ea typeface="华文新魏" panose="02010800040101010101" pitchFamily="2" charset="-122"/>
              </a:rPr>
              <a:t>IRQ</a:t>
            </a:r>
            <a:r>
              <a:rPr lang="zh-CN" altLang="en-US" sz="2400" dirty="0">
                <a:latin typeface="华文新魏" panose="02010800040101010101" pitchFamily="2" charset="-122"/>
                <a:ea typeface="华文新魏" panose="02010800040101010101" pitchFamily="2" charset="-122"/>
              </a:rPr>
              <a:t>处理程序都会通过执行下面的指令从中断返回：</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en-US" altLang="zh-CN" sz="2000" b="1" dirty="0">
                <a:solidFill>
                  <a:srgbClr val="0000FF"/>
                </a:solidFill>
                <a:latin typeface="Courier New" panose="02070309020205020404" pitchFamily="49" charset="0"/>
                <a:ea typeface="华文新魏" panose="02010800040101010101" pitchFamily="2" charset="-122"/>
              </a:rPr>
              <a:t>SUBS    PC,R14_irq,#4</a:t>
            </a:r>
            <a:endParaRPr lang="en-US" altLang="zh-CN" sz="2400" b="1" dirty="0">
              <a:latin typeface="华文新魏" panose="02010800040101010101" pitchFamily="2" charset="-122"/>
              <a:ea typeface="华文新魏" panose="02010800040101010101" pitchFamily="2" charset="-122"/>
            </a:endParaRPr>
          </a:p>
        </p:txBody>
      </p:sp>
      <p:sp>
        <p:nvSpPr>
          <p:cNvPr id="100354"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43716"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中断请求</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3716">
                                            <p:txEl>
                                              <p:charRg st="0" end="5"/>
                                            </p:txEl>
                                          </p:spTgt>
                                        </p:tgtEl>
                                        <p:attrNameLst>
                                          <p:attrName>style.visibility</p:attrName>
                                        </p:attrNameLst>
                                      </p:cBhvr>
                                      <p:to>
                                        <p:strVal val="visible"/>
                                      </p:to>
                                    </p:set>
                                    <p:anim calcmode="lin" valueType="num">
                                      <p:cBhvr additive="base">
                                        <p:cTn id="7" dur="500" fill="hold"/>
                                        <p:tgtEl>
                                          <p:spTgt spid="243716">
                                            <p:txEl>
                                              <p:charRg st="0"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3716">
                                            <p:txEl>
                                              <p:charRg st="0" end="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43714"/>
                                        </p:tgtEl>
                                        <p:attrNameLst>
                                          <p:attrName>style.visibility</p:attrName>
                                        </p:attrNameLst>
                                      </p:cBhvr>
                                      <p:to>
                                        <p:strVal val="visible"/>
                                      </p:to>
                                    </p:set>
                                    <p:animEffect transition="in" filter="box(in)">
                                      <p:cBhvr>
                                        <p:cTn id="12" dur="500"/>
                                        <p:tgtEl>
                                          <p:spTgt spid="243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p:bldP spid="243716" grpId="0" advAuto="100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Text Box 2"/>
          <p:cNvSpPr txBox="1"/>
          <p:nvPr/>
        </p:nvSpPr>
        <p:spPr>
          <a:xfrm>
            <a:off x="1219200" y="2743200"/>
            <a:ext cx="7010400" cy="19177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中止发生在对存储器的访问不能完成时，中止包含两种类型：</a:t>
            </a:r>
            <a:endParaRPr lang="zh-CN" altLang="en-US" sz="2400" dirty="0">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预取中止    发生在指令预取过程中</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l"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数据中止    发生在对数据访问时</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01378"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44740"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中止</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4740">
                                            <p:txEl>
                                              <p:charRg st="0" end="3"/>
                                            </p:txEl>
                                          </p:spTgt>
                                        </p:tgtEl>
                                        <p:attrNameLst>
                                          <p:attrName>style.visibility</p:attrName>
                                        </p:attrNameLst>
                                      </p:cBhvr>
                                      <p:to>
                                        <p:strVal val="visible"/>
                                      </p:to>
                                    </p:set>
                                    <p:anim calcmode="lin" valueType="num">
                                      <p:cBhvr additive="base">
                                        <p:cTn id="7" dur="500" fill="hold"/>
                                        <p:tgtEl>
                                          <p:spTgt spid="244740">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4740">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44738"/>
                                        </p:tgtEl>
                                        <p:attrNameLst>
                                          <p:attrName>style.visibility</p:attrName>
                                        </p:attrNameLst>
                                      </p:cBhvr>
                                      <p:to>
                                        <p:strVal val="visible"/>
                                      </p:to>
                                    </p:set>
                                    <p:animEffect transition="in" filter="box(in)">
                                      <p:cBhvr>
                                        <p:cTn id="12" dur="500"/>
                                        <p:tgtEl>
                                          <p:spTgt spid="244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p:bldP spid="244740" grpId="0" advAuto="100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Text Box 2"/>
          <p:cNvSpPr txBox="1"/>
          <p:nvPr/>
        </p:nvSpPr>
        <p:spPr>
          <a:xfrm>
            <a:off x="1219200" y="2743200"/>
            <a:ext cx="7010400" cy="3378200"/>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当发生预取中止时，</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内核将预取的指令标记为无效，但在指令到达流水线的执行阶段时才进入异常。如果指令在流水线中因为发生分支而没有被执行，中止将不会发生。 </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latin typeface="华文新魏" panose="02010800040101010101" pitchFamily="2" charset="-122"/>
                <a:ea typeface="华文新魏" panose="02010800040101010101" pitchFamily="2" charset="-122"/>
              </a:rPr>
              <a:t>        在处理中止的原因之后，不管处于哪种处理器操作状态，处理程序都会执行下面的指令恢复</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并重试被中止的指令：</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zh-CN" altLang="en-US" sz="2400" dirty="0">
                <a:latin typeface="华文新魏" panose="02010800040101010101" pitchFamily="2" charset="-122"/>
                <a:ea typeface="华文新魏" panose="02010800040101010101" pitchFamily="2" charset="-122"/>
              </a:rPr>
              <a:t> </a:t>
            </a:r>
            <a:r>
              <a:rPr lang="en-US" altLang="zh-CN" sz="2000" b="1" dirty="0">
                <a:solidFill>
                  <a:srgbClr val="0000FF"/>
                </a:solidFill>
                <a:latin typeface="Courier New" panose="02070309020205020404" pitchFamily="49" charset="0"/>
                <a:ea typeface="华文新魏" panose="02010800040101010101" pitchFamily="2" charset="-122"/>
              </a:rPr>
              <a:t>SUBS    PC,R14_abt,#4</a:t>
            </a:r>
            <a:endParaRPr lang="en-US" altLang="zh-CN" sz="2400" b="1" dirty="0">
              <a:latin typeface="华文新魏" panose="02010800040101010101" pitchFamily="2" charset="-122"/>
              <a:ea typeface="华文新魏" panose="02010800040101010101" pitchFamily="2" charset="-122"/>
            </a:endParaRPr>
          </a:p>
        </p:txBody>
      </p:sp>
      <p:sp>
        <p:nvSpPr>
          <p:cNvPr id="102402"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45764"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中止</a:t>
            </a:r>
            <a:r>
              <a:rPr lang="en-US" altLang="zh-CN" dirty="0"/>
              <a:t>——</a:t>
            </a:r>
            <a:r>
              <a:rPr lang="zh-CN" altLang="en-US" sz="2800" dirty="0"/>
              <a:t>预取指中止</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5764">
                                            <p:txEl>
                                              <p:charRg st="0" end="10"/>
                                            </p:txEl>
                                          </p:spTgt>
                                        </p:tgtEl>
                                        <p:attrNameLst>
                                          <p:attrName>style.visibility</p:attrName>
                                        </p:attrNameLst>
                                      </p:cBhvr>
                                      <p:to>
                                        <p:strVal val="visible"/>
                                      </p:to>
                                    </p:set>
                                    <p:anim calcmode="lin" valueType="num">
                                      <p:cBhvr additive="base">
                                        <p:cTn id="7" dur="500" fill="hold"/>
                                        <p:tgtEl>
                                          <p:spTgt spid="245764">
                                            <p:txEl>
                                              <p:charRg st="0" end="1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5764">
                                            <p:txEl>
                                              <p:charRg st="0" end="1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45762"/>
                                        </p:tgtEl>
                                        <p:attrNameLst>
                                          <p:attrName>style.visibility</p:attrName>
                                        </p:attrNameLst>
                                      </p:cBhvr>
                                      <p:to>
                                        <p:strVal val="visible"/>
                                      </p:to>
                                    </p:set>
                                    <p:animEffect transition="in" filter="box(in)">
                                      <p:cBhvr>
                                        <p:cTn id="12" dur="500"/>
                                        <p:tgtEl>
                                          <p:spTgt spid="245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p:bldP spid="245764" grpId="0" advAuto="100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Text Box 2"/>
          <p:cNvSpPr txBox="1"/>
          <p:nvPr/>
        </p:nvSpPr>
        <p:spPr>
          <a:xfrm>
            <a:off x="1219200" y="2743200"/>
            <a:ext cx="7010400" cy="82232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当发生数据中止后，根据产生数据中止的指令类型作出不同的处理：</a:t>
            </a:r>
            <a:endParaRPr lang="zh-CN" altLang="en-US" sz="2400" dirty="0">
              <a:latin typeface="华文新魏" panose="02010800040101010101" pitchFamily="2" charset="-122"/>
              <a:ea typeface="华文新魏" panose="02010800040101010101" pitchFamily="2" charset="-122"/>
            </a:endParaRPr>
          </a:p>
        </p:txBody>
      </p:sp>
      <p:sp>
        <p:nvSpPr>
          <p:cNvPr id="103426"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46788"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中止</a:t>
            </a:r>
            <a:r>
              <a:rPr lang="en-US" altLang="zh-CN" dirty="0"/>
              <a:t>——</a:t>
            </a:r>
            <a:r>
              <a:rPr lang="zh-CN" altLang="en-US" sz="2800" dirty="0"/>
              <a:t>数据中止</a:t>
            </a:r>
            <a:endParaRPr lang="zh-CN" altLang="en-US" sz="2800" dirty="0"/>
          </a:p>
        </p:txBody>
      </p:sp>
      <p:sp>
        <p:nvSpPr>
          <p:cNvPr id="246789" name="Text Box 5"/>
          <p:cNvSpPr txBox="1"/>
          <p:nvPr/>
        </p:nvSpPr>
        <p:spPr>
          <a:xfrm>
            <a:off x="1219200" y="3657600"/>
            <a:ext cx="7010400" cy="1735138"/>
          </a:xfrm>
          <a:prstGeom prst="rect">
            <a:avLst/>
          </a:prstGeom>
          <a:noFill/>
          <a:ln w="9525">
            <a:noFill/>
          </a:ln>
        </p:spPr>
        <p:txBody>
          <a:bodyPr anchor="t" anchorCtr="0">
            <a:spAutoFit/>
          </a:bodyPr>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数据转移指令（</a:t>
            </a:r>
            <a:r>
              <a:rPr lang="en-US" altLang="zh-CN" sz="2400" dirty="0">
                <a:latin typeface="华文新魏" panose="02010800040101010101" pitchFamily="2" charset="-122"/>
                <a:ea typeface="华文新魏" panose="02010800040101010101" pitchFamily="2" charset="-122"/>
              </a:rPr>
              <a:t>LDR</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STR</a:t>
            </a:r>
            <a:r>
              <a:rPr lang="zh-CN" altLang="en-US" sz="2400" dirty="0">
                <a:latin typeface="华文新魏" panose="02010800040101010101" pitchFamily="2" charset="-122"/>
                <a:ea typeface="华文新魏" panose="02010800040101010101" pitchFamily="2" charset="-122"/>
              </a:rPr>
              <a:t>）回写到被修改的基址寄存器。中止处理程序必须注意这一点；</a:t>
            </a:r>
            <a:endParaRPr lang="zh-CN" altLang="en-US" sz="2400" dirty="0">
              <a:latin typeface="华文新魏" panose="02010800040101010101" pitchFamily="2" charset="-122"/>
              <a:ea typeface="华文新魏" panose="02010800040101010101" pitchFamily="2" charset="-122"/>
            </a:endParaRPr>
          </a:p>
          <a:p>
            <a:pPr>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交换指令（</a:t>
            </a:r>
            <a:r>
              <a:rPr lang="en-US" altLang="zh-CN" sz="2400" dirty="0">
                <a:latin typeface="华文新魏" panose="02010800040101010101" pitchFamily="2" charset="-122"/>
                <a:ea typeface="华文新魏" panose="02010800040101010101" pitchFamily="2" charset="-122"/>
              </a:rPr>
              <a:t>SWP</a:t>
            </a:r>
            <a:r>
              <a:rPr lang="zh-CN" altLang="en-US" sz="2400" dirty="0">
                <a:latin typeface="华文新魏" panose="02010800040101010101" pitchFamily="2" charset="-122"/>
                <a:ea typeface="华文新魏" panose="02010800040101010101" pitchFamily="2" charset="-122"/>
              </a:rPr>
              <a:t>）中止好像没有被执行过一样（中止必须发生在</a:t>
            </a:r>
            <a:r>
              <a:rPr lang="en-US" altLang="zh-CN" sz="2400" dirty="0">
                <a:latin typeface="华文新魏" panose="02010800040101010101" pitchFamily="2" charset="-122"/>
                <a:ea typeface="华文新魏" panose="02010800040101010101" pitchFamily="2" charset="-122"/>
              </a:rPr>
              <a:t>SWP</a:t>
            </a:r>
            <a:r>
              <a:rPr lang="zh-CN" altLang="en-US" sz="2400" dirty="0">
                <a:latin typeface="华文新魏" panose="02010800040101010101" pitchFamily="2" charset="-122"/>
                <a:ea typeface="华文新魏" panose="02010800040101010101" pitchFamily="2" charset="-122"/>
              </a:rPr>
              <a:t>指令进行读访问时） ；</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6788">
                                            <p:txEl>
                                              <p:charRg st="0" end="9"/>
                                            </p:txEl>
                                          </p:spTgt>
                                        </p:tgtEl>
                                        <p:attrNameLst>
                                          <p:attrName>style.visibility</p:attrName>
                                        </p:attrNameLst>
                                      </p:cBhvr>
                                      <p:to>
                                        <p:strVal val="visible"/>
                                      </p:to>
                                    </p:set>
                                    <p:anim calcmode="lin" valueType="num">
                                      <p:cBhvr additive="base">
                                        <p:cTn id="7" dur="500" fill="hold"/>
                                        <p:tgtEl>
                                          <p:spTgt spid="246788">
                                            <p:txEl>
                                              <p:charRg st="0" end="9"/>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6788">
                                            <p:txEl>
                                              <p:charRg st="0" end="9"/>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46786"/>
                                        </p:tgtEl>
                                        <p:attrNameLst>
                                          <p:attrName>style.visibility</p:attrName>
                                        </p:attrNameLst>
                                      </p:cBhvr>
                                      <p:to>
                                        <p:strVal val="visible"/>
                                      </p:to>
                                    </p:set>
                                    <p:animEffect transition="in" filter="box(in)">
                                      <p:cBhvr>
                                        <p:cTn id="12" dur="500"/>
                                        <p:tgtEl>
                                          <p:spTgt spid="246786"/>
                                        </p:tgtEl>
                                      </p:cBhvr>
                                    </p:animEffect>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246789"/>
                                        </p:tgtEl>
                                        <p:attrNameLst>
                                          <p:attrName>style.visibility</p:attrName>
                                        </p:attrNameLst>
                                      </p:cBhvr>
                                      <p:to>
                                        <p:strVal val="visible"/>
                                      </p:to>
                                    </p:set>
                                    <p:animEffect transition="in" filter="slide(fromTop)">
                                      <p:cBhvr>
                                        <p:cTn id="16" dur="500"/>
                                        <p:tgtEl>
                                          <p:spTgt spid="246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p:bldP spid="246788" grpId="0" advAuto="1000" build="p"/>
      <p:bldP spid="24678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Text Box 2"/>
          <p:cNvSpPr txBox="1"/>
          <p:nvPr/>
        </p:nvSpPr>
        <p:spPr>
          <a:xfrm>
            <a:off x="1219200" y="2743200"/>
            <a:ext cx="7010400" cy="1735138"/>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在修复产生中止的原因后，不管处于哪种处理器操作状态，处理程序都必须执行下面的返回指令，重试被中止的指令 ：</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zh-CN" altLang="en-US" sz="2400" dirty="0">
                <a:latin typeface="华文新魏" panose="02010800040101010101" pitchFamily="2" charset="-122"/>
                <a:ea typeface="华文新魏" panose="02010800040101010101" pitchFamily="2" charset="-122"/>
              </a:rPr>
              <a:t> </a:t>
            </a:r>
            <a:r>
              <a:rPr lang="en-US" altLang="zh-CN" sz="2000" b="1" dirty="0">
                <a:solidFill>
                  <a:srgbClr val="0000FF"/>
                </a:solidFill>
                <a:latin typeface="Courier New" panose="02070309020205020404" pitchFamily="49" charset="0"/>
                <a:ea typeface="华文新魏" panose="02010800040101010101" pitchFamily="2" charset="-122"/>
              </a:rPr>
              <a:t>SUBS    PC,R14_abt,#8</a:t>
            </a:r>
            <a:endParaRPr lang="en-US" altLang="zh-CN" sz="2000" b="1" dirty="0">
              <a:solidFill>
                <a:srgbClr val="0000FF"/>
              </a:solidFill>
              <a:latin typeface="Courier New" panose="02070309020205020404" pitchFamily="49" charset="0"/>
              <a:ea typeface="华文新魏" panose="02010800040101010101" pitchFamily="2" charset="-122"/>
            </a:endParaRPr>
          </a:p>
        </p:txBody>
      </p:sp>
      <p:sp>
        <p:nvSpPr>
          <p:cNvPr id="104450"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104451"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中止</a:t>
            </a:r>
            <a:r>
              <a:rPr lang="en-US" altLang="zh-CN" dirty="0"/>
              <a:t>——</a:t>
            </a:r>
            <a:r>
              <a:rPr lang="zh-CN" altLang="en-US" sz="2800" dirty="0"/>
              <a:t>数据中止</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48834"/>
                                        </p:tgtEl>
                                        <p:attrNameLst>
                                          <p:attrName>style.visibility</p:attrName>
                                        </p:attrNameLst>
                                      </p:cBhvr>
                                      <p:to>
                                        <p:strVal val="visible"/>
                                      </p:to>
                                    </p:set>
                                    <p:animEffect transition="in" filter="box(in)">
                                      <p:cBhvr>
                                        <p:cTn id="7" dur="500"/>
                                        <p:tgtEl>
                                          <p:spTgt spid="248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Text Box 2"/>
          <p:cNvSpPr txBox="1"/>
          <p:nvPr/>
        </p:nvSpPr>
        <p:spPr>
          <a:xfrm>
            <a:off x="1219200" y="2743200"/>
            <a:ext cx="7010400" cy="2557463"/>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使用软件中断</a:t>
            </a:r>
            <a:r>
              <a:rPr lang="en-US" altLang="zh-CN" sz="2400" dirty="0">
                <a:latin typeface="华文新魏" panose="02010800040101010101" pitchFamily="2" charset="-122"/>
                <a:ea typeface="华文新魏" panose="02010800040101010101" pitchFamily="2" charset="-122"/>
              </a:rPr>
              <a:t>(SWI)</a:t>
            </a:r>
            <a:r>
              <a:rPr lang="zh-CN" altLang="en-US" sz="2400" dirty="0">
                <a:latin typeface="华文新魏" panose="02010800040101010101" pitchFamily="2" charset="-122"/>
                <a:ea typeface="华文新魏" panose="02010800040101010101" pitchFamily="2" charset="-122"/>
              </a:rPr>
              <a:t>指令可以进入管理模式，通常用于请求一个特定的管理函数。</a:t>
            </a:r>
            <a:r>
              <a:rPr lang="en-US" altLang="zh-CN" sz="2400" dirty="0">
                <a:latin typeface="华文新魏" panose="02010800040101010101" pitchFamily="2" charset="-122"/>
                <a:ea typeface="华文新魏" panose="02010800040101010101" pitchFamily="2" charset="-122"/>
              </a:rPr>
              <a:t>SWI</a:t>
            </a:r>
            <a:r>
              <a:rPr lang="zh-CN" altLang="en-US" sz="2400" dirty="0">
                <a:latin typeface="华文新魏" panose="02010800040101010101" pitchFamily="2" charset="-122"/>
                <a:ea typeface="华文新魏" panose="02010800040101010101" pitchFamily="2" charset="-122"/>
              </a:rPr>
              <a:t>处理程序通过执行下面的指令返回：</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en-US" altLang="zh-CN" sz="2000" b="1" dirty="0">
                <a:solidFill>
                  <a:srgbClr val="0000FF"/>
                </a:solidFill>
                <a:latin typeface="Courier New" panose="02070309020205020404" pitchFamily="49" charset="0"/>
                <a:ea typeface="华文新魏" panose="02010800040101010101" pitchFamily="2" charset="-122"/>
              </a:rPr>
              <a:t>MOVS    PC,R14_svc</a:t>
            </a:r>
            <a:endParaRPr lang="en-US" altLang="zh-CN" sz="2400" b="1"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这个动作恢复了</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并返回到</a:t>
            </a:r>
            <a:r>
              <a:rPr lang="en-US" altLang="zh-CN" sz="2400" dirty="0">
                <a:latin typeface="华文新魏" panose="02010800040101010101" pitchFamily="2" charset="-122"/>
                <a:ea typeface="华文新魏" panose="02010800040101010101" pitchFamily="2" charset="-122"/>
              </a:rPr>
              <a:t>SWI</a:t>
            </a:r>
            <a:r>
              <a:rPr lang="zh-CN" altLang="en-US" sz="2400" dirty="0">
                <a:latin typeface="华文新魏" panose="02010800040101010101" pitchFamily="2" charset="-122"/>
                <a:ea typeface="华文新魏" panose="02010800040101010101" pitchFamily="2" charset="-122"/>
              </a:rPr>
              <a:t>之后的指令。</a:t>
            </a:r>
            <a:r>
              <a:rPr lang="en-US" altLang="zh-CN" sz="2400" dirty="0">
                <a:latin typeface="华文新魏" panose="02010800040101010101" pitchFamily="2" charset="-122"/>
                <a:ea typeface="华文新魏" panose="02010800040101010101" pitchFamily="2" charset="-122"/>
              </a:rPr>
              <a:t>SWI</a:t>
            </a:r>
            <a:r>
              <a:rPr lang="zh-CN" altLang="en-US" sz="2400" dirty="0">
                <a:latin typeface="华文新魏" panose="02010800040101010101" pitchFamily="2" charset="-122"/>
                <a:ea typeface="华文新魏" panose="02010800040101010101" pitchFamily="2" charset="-122"/>
              </a:rPr>
              <a:t>处理程序读取操作码以提取</a:t>
            </a:r>
            <a:r>
              <a:rPr lang="en-US" altLang="zh-CN" sz="2400" dirty="0">
                <a:latin typeface="华文新魏" panose="02010800040101010101" pitchFamily="2" charset="-122"/>
                <a:ea typeface="华文新魏" panose="02010800040101010101" pitchFamily="2" charset="-122"/>
              </a:rPr>
              <a:t>SWI</a:t>
            </a:r>
            <a:r>
              <a:rPr lang="zh-CN" altLang="en-US" sz="2400" dirty="0">
                <a:latin typeface="华文新魏" panose="02010800040101010101" pitchFamily="2" charset="-122"/>
                <a:ea typeface="华文新魏" panose="02010800040101010101" pitchFamily="2" charset="-122"/>
              </a:rPr>
              <a:t>函数编号。 </a:t>
            </a:r>
            <a:endParaRPr lang="zh-CN" altLang="en-US" sz="2400" dirty="0">
              <a:latin typeface="华文新魏" panose="02010800040101010101" pitchFamily="2" charset="-122"/>
              <a:ea typeface="华文新魏" panose="02010800040101010101" pitchFamily="2" charset="-122"/>
            </a:endParaRPr>
          </a:p>
        </p:txBody>
      </p:sp>
      <p:sp>
        <p:nvSpPr>
          <p:cNvPr id="105474"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49860"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软件中断指令</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9860">
                                            <p:txEl>
                                              <p:charRg st="0" end="7"/>
                                            </p:txEl>
                                          </p:spTgt>
                                        </p:tgtEl>
                                        <p:attrNameLst>
                                          <p:attrName>style.visibility</p:attrName>
                                        </p:attrNameLst>
                                      </p:cBhvr>
                                      <p:to>
                                        <p:strVal val="visible"/>
                                      </p:to>
                                    </p:set>
                                    <p:anim calcmode="lin" valueType="num">
                                      <p:cBhvr additive="base">
                                        <p:cTn id="7" dur="500" fill="hold"/>
                                        <p:tgtEl>
                                          <p:spTgt spid="249860">
                                            <p:txEl>
                                              <p:charRg st="0" end="7"/>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49860">
                                            <p:txEl>
                                              <p:charRg st="0" end="7"/>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49858"/>
                                        </p:tgtEl>
                                        <p:attrNameLst>
                                          <p:attrName>style.visibility</p:attrName>
                                        </p:attrNameLst>
                                      </p:cBhvr>
                                      <p:to>
                                        <p:strVal val="visible"/>
                                      </p:to>
                                    </p:set>
                                    <p:animEffect transition="in" filter="box(in)">
                                      <p:cBhvr>
                                        <p:cTn id="12" dur="500"/>
                                        <p:tgtEl>
                                          <p:spTgt spid="249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p:bldP spid="249860" grpId="0" advAuto="100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Text Box 2"/>
          <p:cNvSpPr txBox="1"/>
          <p:nvPr/>
        </p:nvSpPr>
        <p:spPr>
          <a:xfrm>
            <a:off x="1219200" y="2743200"/>
            <a:ext cx="7010400" cy="2465388"/>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处理器遇到一条自己和系统内任何协处理器都无法处理的指令时，</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内核执行未定义指令陷阱。软件可使用这一机制通过模拟未定义的协处理器指令来扩展</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指令集。</a:t>
            </a:r>
            <a:endParaRPr lang="zh-CN" altLang="en-US" sz="2400" dirty="0">
              <a:latin typeface="华文新魏" panose="02010800040101010101" pitchFamily="2" charset="-122"/>
              <a:ea typeface="华文新魏" panose="02010800040101010101" pitchFamily="2" charset="-122"/>
            </a:endParaRPr>
          </a:p>
          <a:p>
            <a:pPr>
              <a:spcBef>
                <a:spcPct val="50000"/>
              </a:spcBef>
              <a:buClrTx/>
              <a:buFontTx/>
            </a:pPr>
            <a:r>
              <a:rPr lang="zh-CN" altLang="en-US" sz="2400" dirty="0">
                <a:solidFill>
                  <a:srgbClr val="FF0000"/>
                </a:solidFill>
                <a:latin typeface="华文新魏" panose="02010800040101010101" pitchFamily="2" charset="-122"/>
                <a:ea typeface="华文新魏" panose="02010800040101010101" pitchFamily="2" charset="-122"/>
              </a:rPr>
              <a:t>注</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处理器完全遵循</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结构</a:t>
            </a:r>
            <a:r>
              <a:rPr lang="en-US" altLang="zh-CN" sz="2400" dirty="0">
                <a:latin typeface="华文新魏" panose="02010800040101010101" pitchFamily="2" charset="-122"/>
                <a:ea typeface="华文新魏" panose="02010800040101010101" pitchFamily="2" charset="-122"/>
              </a:rPr>
              <a:t>v4T</a:t>
            </a:r>
            <a:r>
              <a:rPr lang="zh-CN" altLang="en-US" sz="2400" dirty="0">
                <a:latin typeface="华文新魏" panose="02010800040101010101" pitchFamily="2" charset="-122"/>
                <a:ea typeface="华文新魏" panose="02010800040101010101" pitchFamily="2" charset="-122"/>
              </a:rPr>
              <a:t>，可以捕获所有分类未被定义的指令位格式。</a:t>
            </a:r>
            <a:endParaRPr lang="zh-CN" altLang="en-US" sz="2400" dirty="0">
              <a:latin typeface="华文新魏" panose="02010800040101010101" pitchFamily="2" charset="-122"/>
              <a:ea typeface="华文新魏" panose="02010800040101010101" pitchFamily="2" charset="-122"/>
            </a:endParaRPr>
          </a:p>
        </p:txBody>
      </p:sp>
      <p:sp>
        <p:nvSpPr>
          <p:cNvPr id="106498"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50884"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未定义的指令</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50884">
                                            <p:txEl>
                                              <p:charRg st="0" end="7"/>
                                            </p:txEl>
                                          </p:spTgt>
                                        </p:tgtEl>
                                        <p:attrNameLst>
                                          <p:attrName>style.visibility</p:attrName>
                                        </p:attrNameLst>
                                      </p:cBhvr>
                                      <p:to>
                                        <p:strVal val="visible"/>
                                      </p:to>
                                    </p:set>
                                    <p:anim calcmode="lin" valueType="num">
                                      <p:cBhvr additive="base">
                                        <p:cTn id="7" dur="500" fill="hold"/>
                                        <p:tgtEl>
                                          <p:spTgt spid="250884">
                                            <p:txEl>
                                              <p:charRg st="0" end="7"/>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50884">
                                            <p:txEl>
                                              <p:charRg st="0" end="7"/>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50882"/>
                                        </p:tgtEl>
                                        <p:attrNameLst>
                                          <p:attrName>style.visibility</p:attrName>
                                        </p:attrNameLst>
                                      </p:cBhvr>
                                      <p:to>
                                        <p:strVal val="visible"/>
                                      </p:to>
                                    </p:set>
                                    <p:animEffect transition="in" filter="box(in)">
                                      <p:cBhvr>
                                        <p:cTn id="12" dur="500"/>
                                        <p:tgtEl>
                                          <p:spTgt spid="250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p:bldP spid="250884" grpId="0" advAuto="100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Text Box 2"/>
          <p:cNvSpPr txBox="1"/>
          <p:nvPr/>
        </p:nvSpPr>
        <p:spPr>
          <a:xfrm>
            <a:off x="1219200" y="2743200"/>
            <a:ext cx="7010400" cy="2192338"/>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在模拟处理了失败的指令后，陷阱程序执行下面的指令：</a:t>
            </a:r>
            <a:endParaRPr lang="zh-CN" altLang="en-US" sz="2400" dirty="0">
              <a:latin typeface="华文新魏" panose="02010800040101010101" pitchFamily="2" charset="-122"/>
              <a:ea typeface="华文新魏" panose="02010800040101010101" pitchFamily="2" charset="-122"/>
            </a:endParaRPr>
          </a:p>
          <a:p>
            <a:pPr algn="ctr">
              <a:spcBef>
                <a:spcPct val="50000"/>
              </a:spcBef>
              <a:buClrTx/>
              <a:buFontTx/>
            </a:pPr>
            <a:r>
              <a:rPr lang="en-US" altLang="zh-CN" sz="2000" b="1" dirty="0">
                <a:solidFill>
                  <a:srgbClr val="0000FF"/>
                </a:solidFill>
                <a:latin typeface="Courier New" panose="02070309020205020404" pitchFamily="49" charset="0"/>
                <a:ea typeface="华文新魏" panose="02010800040101010101" pitchFamily="2" charset="-122"/>
              </a:rPr>
              <a:t>MOVS    PC,R14_svc</a:t>
            </a:r>
            <a:endParaRPr lang="en-US" altLang="zh-CN" sz="2400" b="1" dirty="0">
              <a:latin typeface="华文新魏" panose="02010800040101010101" pitchFamily="2" charset="-122"/>
              <a:ea typeface="华文新魏" panose="02010800040101010101" pitchFamily="2" charset="-122"/>
            </a:endParaRPr>
          </a:p>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这个动作恢复了</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并返回到未定义指令之后的指令。 </a:t>
            </a:r>
            <a:endParaRPr lang="zh-CN" altLang="en-US" sz="2400" dirty="0">
              <a:latin typeface="华文新魏" panose="02010800040101010101" pitchFamily="2" charset="-122"/>
              <a:ea typeface="华文新魏" panose="02010800040101010101" pitchFamily="2" charset="-122"/>
            </a:endParaRPr>
          </a:p>
        </p:txBody>
      </p:sp>
      <p:sp>
        <p:nvSpPr>
          <p:cNvPr id="107522"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107523"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未定义的指令</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51906"/>
                                        </p:tgtEl>
                                        <p:attrNameLst>
                                          <p:attrName>style.visibility</p:attrName>
                                        </p:attrNameLst>
                                      </p:cBhvr>
                                      <p:to>
                                        <p:strVal val="visible"/>
                                      </p:to>
                                    </p:set>
                                    <p:animEffect transition="in" filter="box(in)">
                                      <p:cBhvr>
                                        <p:cTn id="7" dur="500"/>
                                        <p:tgtEl>
                                          <p:spTgt spid="251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Text Box 2"/>
          <p:cNvSpPr txBox="1"/>
          <p:nvPr/>
        </p:nvSpPr>
        <p:spPr>
          <a:xfrm>
            <a:off x="1403350" y="188913"/>
            <a:ext cx="7345363" cy="762000"/>
          </a:xfrm>
          <a:prstGeom prst="rect">
            <a:avLst/>
          </a:prstGeom>
          <a:noFill/>
          <a:ln w="9525">
            <a:noFill/>
          </a:ln>
        </p:spPr>
        <p:txBody>
          <a:bodyPr anchor="t" anchorCtr="0">
            <a:spAutoFit/>
          </a:bodyPr>
          <a:p>
            <a:pPr algn="ctr">
              <a:spcBef>
                <a:spcPct val="50000"/>
              </a:spcBef>
              <a:buClrTx/>
              <a:buFontTx/>
            </a:pPr>
            <a:r>
              <a:rPr lang="zh-CN" altLang="en-US" sz="4400" dirty="0">
                <a:latin typeface="华文新魏" panose="02010800040101010101" pitchFamily="2" charset="-122"/>
                <a:ea typeface="华文新魏" panose="02010800040101010101" pitchFamily="2" charset="-122"/>
              </a:rPr>
              <a:t>异常向量</a:t>
            </a:r>
            <a:endParaRPr lang="zh-CN" altLang="en-US" sz="4400" dirty="0">
              <a:latin typeface="华文新魏" panose="02010800040101010101" pitchFamily="2" charset="-122"/>
              <a:ea typeface="华文新魏" panose="02010800040101010101" pitchFamily="2" charset="-122"/>
            </a:endParaRPr>
          </a:p>
        </p:txBody>
      </p:sp>
      <p:graphicFrame>
        <p:nvGraphicFramePr>
          <p:cNvPr id="252997" name="Group 69"/>
          <p:cNvGraphicFramePr>
            <a:graphicFrameLocks noGrp="1"/>
          </p:cNvGraphicFramePr>
          <p:nvPr/>
        </p:nvGraphicFramePr>
        <p:xfrm>
          <a:off x="755650" y="1989138"/>
          <a:ext cx="7707313" cy="3232150"/>
        </p:xfrm>
        <a:graphic>
          <a:graphicData uri="http://schemas.openxmlformats.org/drawingml/2006/table">
            <a:tbl>
              <a:tblPr/>
              <a:tblGrid>
                <a:gridCol w="1443038"/>
                <a:gridCol w="1509712"/>
                <a:gridCol w="1474788"/>
                <a:gridCol w="1639887"/>
                <a:gridCol w="1639888"/>
              </a:tblGrid>
              <a:tr h="38893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异常类型</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进入时的模式</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进入时</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的状态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进入时</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的状态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893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0000</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复位</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禁止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禁止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893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0004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未定义指令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893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0008</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软件中断</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(SWI)</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禁止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000C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预取中止</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指令</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0010</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rPr>
                        <a:t>0x0000 0014</a:t>
                      </a:r>
                      <a:endParaRPr kumimoji="0" lang="en-US" altLang="zh-CN"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rPr>
                        <a:t>保留</a:t>
                      </a:r>
                      <a:endParaRPr kumimoji="0" lang="zh-CN" altLang="en-US"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rPr>
                        <a:t>保留</a:t>
                      </a:r>
                      <a:endParaRPr kumimoji="0" lang="zh-CN" altLang="en-US"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rPr>
                        <a:t>—</a:t>
                      </a:r>
                      <a:endParaRPr kumimoji="0" lang="en-US" altLang="zh-CN"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rPr>
                        <a:t>—</a:t>
                      </a:r>
                      <a:endParaRPr kumimoji="0" lang="en-US" altLang="zh-CN" sz="1600" b="0" i="0" u="none" strike="noStrike" cap="none" normalizeH="0" baseline="0">
                        <a:ln>
                          <a:noFill/>
                        </a:ln>
                        <a:solidFill>
                          <a:srgbClr val="969696"/>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0018</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中断</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禁止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0x0000 001C</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快中断</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禁止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禁止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2993" name="Text Box 65"/>
          <p:cNvSpPr txBox="1"/>
          <p:nvPr/>
        </p:nvSpPr>
        <p:spPr>
          <a:xfrm>
            <a:off x="1116013" y="5589588"/>
            <a:ext cx="7010400" cy="854075"/>
          </a:xfrm>
          <a:prstGeom prst="rect">
            <a:avLst/>
          </a:prstGeom>
          <a:noFill/>
          <a:ln w="9525">
            <a:noFill/>
          </a:ln>
        </p:spPr>
        <p:txBody>
          <a:bodyPr anchor="t" anchorCtr="0">
            <a:spAutoFit/>
          </a:bodyPr>
          <a:p>
            <a:pPr algn="just">
              <a:spcBef>
                <a:spcPct val="50000"/>
              </a:spcBef>
              <a:buClrTx/>
              <a:buFontTx/>
            </a:pPr>
            <a:r>
              <a:rPr lang="zh-CN" altLang="en-US" sz="2000" dirty="0">
                <a:solidFill>
                  <a:srgbClr val="0000FF"/>
                </a:solidFill>
                <a:latin typeface="华文新魏" panose="02010800040101010101" pitchFamily="2" charset="-122"/>
                <a:ea typeface="华文新魏" panose="02010800040101010101" pitchFamily="2" charset="-122"/>
              </a:rPr>
              <a:t>注</a:t>
            </a:r>
            <a:r>
              <a:rPr lang="zh-CN" altLang="en-US" sz="2000" dirty="0">
                <a:latin typeface="华文新魏" panose="02010800040101010101" pitchFamily="2" charset="-122"/>
                <a:ea typeface="华文新魏" panose="02010800040101010101" pitchFamily="2" charset="-122"/>
              </a:rPr>
              <a:t>：表中的</a:t>
            </a:r>
            <a:r>
              <a:rPr lang="en-US" altLang="zh-CN" sz="2000" dirty="0">
                <a:latin typeface="华文新魏" panose="02010800040101010101" pitchFamily="2" charset="-122"/>
                <a:ea typeface="华文新魏" panose="02010800040101010101" pitchFamily="2" charset="-122"/>
              </a:rPr>
              <a:t>I</a:t>
            </a:r>
            <a:r>
              <a:rPr lang="zh-CN" altLang="en-US" sz="2000" dirty="0">
                <a:latin typeface="华文新魏" panose="02010800040101010101" pitchFamily="2" charset="-122"/>
                <a:ea typeface="华文新魏" panose="02010800040101010101" pitchFamily="2" charset="-122"/>
              </a:rPr>
              <a:t>和</a:t>
            </a:r>
            <a:r>
              <a:rPr lang="en-US" altLang="zh-CN" sz="2000" dirty="0">
                <a:latin typeface="华文新魏" panose="02010800040101010101" pitchFamily="2" charset="-122"/>
                <a:ea typeface="华文新魏" panose="02010800040101010101" pitchFamily="2" charset="-122"/>
              </a:rPr>
              <a:t>F</a:t>
            </a:r>
            <a:r>
              <a:rPr lang="zh-CN" altLang="en-US" sz="2000" dirty="0">
                <a:latin typeface="华文新魏" panose="02010800040101010101" pitchFamily="2" charset="-122"/>
                <a:ea typeface="华文新魏" panose="02010800040101010101" pitchFamily="2" charset="-122"/>
              </a:rPr>
              <a:t>表示不对该位有影响，保留原来的指。 </a:t>
            </a:r>
            <a:endParaRPr lang="zh-CN" altLang="en-US" sz="2000" dirty="0">
              <a:latin typeface="华文新魏" panose="02010800040101010101" pitchFamily="2" charset="-122"/>
              <a:ea typeface="华文新魏" panose="02010800040101010101" pitchFamily="2" charset="-122"/>
            </a:endParaRPr>
          </a:p>
          <a:p>
            <a:pPr algn="just">
              <a:spcBef>
                <a:spcPct val="50000"/>
              </a:spcBef>
              <a:buClrTx/>
              <a:buFontTx/>
            </a:pPr>
            <a:r>
              <a:rPr lang="zh-CN" altLang="en-US" sz="2000" dirty="0">
                <a:latin typeface="华文新魏" panose="02010800040101010101" pitchFamily="2" charset="-122"/>
                <a:ea typeface="华文新魏" panose="02010800040101010101" pitchFamily="2" charset="-122"/>
              </a:rPr>
              <a:t>         高向量地址</a:t>
            </a:r>
            <a:r>
              <a:rPr lang="en-US" altLang="zh-CN" sz="2000" dirty="0">
                <a:latin typeface="华文新魏" panose="02010800040101010101" pitchFamily="2" charset="-122"/>
                <a:ea typeface="华文新魏" panose="02010800040101010101" pitchFamily="2" charset="-122"/>
              </a:rPr>
              <a:t>: 0xFFFF0000~0xFFFF001C   </a:t>
            </a:r>
            <a:r>
              <a:rPr lang="zh-CN" altLang="en-US" sz="2000" dirty="0">
                <a:latin typeface="华文新魏" panose="02010800040101010101" pitchFamily="2" charset="-122"/>
                <a:ea typeface="华文新魏" panose="02010800040101010101" pitchFamily="2" charset="-122"/>
              </a:rPr>
              <a:t>实现定义</a:t>
            </a:r>
            <a:endParaRPr lang="zh-CN" altLang="en-US" sz="20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52930"/>
                                        </p:tgtEl>
                                        <p:attrNameLst>
                                          <p:attrName>style.visibility</p:attrName>
                                        </p:attrNameLst>
                                      </p:cBhvr>
                                      <p:to>
                                        <p:strVal val="visible"/>
                                      </p:to>
                                    </p:set>
                                    <p:anim calcmode="lin" valueType="num">
                                      <p:cBhvr additive="base">
                                        <p:cTn id="7" dur="500" fill="hold"/>
                                        <p:tgtEl>
                                          <p:spTgt spid="252930"/>
                                        </p:tgtEl>
                                        <p:attrNameLst>
                                          <p:attrName>ppt_x</p:attrName>
                                        </p:attrNameLst>
                                      </p:cBhvr>
                                      <p:tavLst>
                                        <p:tav tm="0">
                                          <p:val>
                                            <p:strVal val="1+#ppt_w/2"/>
                                          </p:val>
                                        </p:tav>
                                        <p:tav tm="100000">
                                          <p:val>
                                            <p:strVal val="#ppt_x"/>
                                          </p:val>
                                        </p:tav>
                                      </p:tavLst>
                                    </p:anim>
                                    <p:anim calcmode="lin" valueType="num">
                                      <p:cBhvr additive="base">
                                        <p:cTn id="8" dur="500" fill="hold"/>
                                        <p:tgtEl>
                                          <p:spTgt spid="25293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252997"/>
                                        </p:tgtEl>
                                        <p:attrNameLst>
                                          <p:attrName>style.visibility</p:attrName>
                                        </p:attrNameLst>
                                      </p:cBhvr>
                                      <p:to>
                                        <p:strVal val="visible"/>
                                      </p:to>
                                    </p:set>
                                    <p:animEffect transition="in" filter="strips(downRight)">
                                      <p:cBhvr>
                                        <p:cTn id="12" dur="500"/>
                                        <p:tgtEl>
                                          <p:spTgt spid="252997"/>
                                        </p:tgtEl>
                                      </p:cBhvr>
                                    </p:animEffect>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252993"/>
                                        </p:tgtEl>
                                        <p:attrNameLst>
                                          <p:attrName>style.visibility</p:attrName>
                                        </p:attrNameLst>
                                      </p:cBhvr>
                                      <p:to>
                                        <p:strVal val="visible"/>
                                      </p:to>
                                    </p:set>
                                    <p:animEffect transition="in" filter="box(in)">
                                      <p:cBhvr>
                                        <p:cTn id="16" dur="500"/>
                                        <p:tgtEl>
                                          <p:spTgt spid="252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p:bldP spid="25299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Text Box 2"/>
          <p:cNvSpPr txBox="1"/>
          <p:nvPr/>
        </p:nvSpPr>
        <p:spPr>
          <a:xfrm>
            <a:off x="1219200" y="2492375"/>
            <a:ext cx="7010400" cy="822325"/>
          </a:xfrm>
          <a:prstGeom prst="rect">
            <a:avLst/>
          </a:prstGeom>
          <a:noFill/>
          <a:ln w="9525">
            <a:noFill/>
          </a:ln>
        </p:spPr>
        <p:txBody>
          <a:bodyPr anchor="t" anchorCtr="0">
            <a:spAutoFit/>
          </a:bodyPr>
          <a:p>
            <a:pPr>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当多个异常同时发生时，一个固定的优先级系统决定它们被处理的顺序：</a:t>
            </a:r>
            <a:endParaRPr lang="zh-CN" altLang="en-US" sz="2400" dirty="0">
              <a:latin typeface="华文新魏" panose="02010800040101010101" pitchFamily="2" charset="-122"/>
              <a:ea typeface="华文新魏" panose="02010800040101010101" pitchFamily="2" charset="-122"/>
            </a:endParaRPr>
          </a:p>
        </p:txBody>
      </p:sp>
      <p:sp>
        <p:nvSpPr>
          <p:cNvPr id="109570" name="Rectangle 3"/>
          <p:cNvSpPr>
            <a:spLocks noGrp="1"/>
          </p:cNvSpPr>
          <p:nvPr>
            <p:ph type="title"/>
          </p:nvPr>
        </p:nvSpPr>
        <p:spPr>
          <a:ln/>
        </p:spPr>
        <p:txBody>
          <a:bodyPr vert="horz" wrap="square" lIns="91440" tIns="45720" rIns="91440" bIns="45720" anchor="ctr" anchorCtr="0"/>
          <a:p>
            <a:pPr eaLnBrk="1" hangingPunct="1"/>
            <a:r>
              <a:rPr lang="en-US" altLang="zh-CN" dirty="0"/>
              <a:t>3.9  </a:t>
            </a:r>
            <a:r>
              <a:rPr lang="zh-CN" altLang="en-US" dirty="0"/>
              <a:t>异常</a:t>
            </a:r>
            <a:endParaRPr lang="zh-CN" altLang="en-US" dirty="0"/>
          </a:p>
        </p:txBody>
      </p:sp>
      <p:sp>
        <p:nvSpPr>
          <p:cNvPr id="253956"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异常优先级</a:t>
            </a:r>
            <a:endParaRPr lang="zh-CN" altLang="en-US" dirty="0"/>
          </a:p>
        </p:txBody>
      </p:sp>
      <p:graphicFrame>
        <p:nvGraphicFramePr>
          <p:cNvPr id="253957" name="Group 5"/>
          <p:cNvGraphicFramePr>
            <a:graphicFrameLocks noGrp="1"/>
          </p:cNvGraphicFramePr>
          <p:nvPr/>
        </p:nvGraphicFramePr>
        <p:xfrm>
          <a:off x="3200400" y="3482975"/>
          <a:ext cx="3676650" cy="2682875"/>
        </p:xfrm>
        <a:graphic>
          <a:graphicData uri="http://schemas.openxmlformats.org/drawingml/2006/table">
            <a:tbl>
              <a:tblPr/>
              <a:tblGrid>
                <a:gridCol w="1250950"/>
                <a:gridCol w="1722438"/>
                <a:gridCol w="703262"/>
              </a:tblGrid>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异常类型</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优先级</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复位</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（最高优先级）</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7">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IRQ</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预取中止</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未定义指令</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35359">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SWI</a:t>
                      </a:r>
                      <a:endPar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（最低优先级）</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1" marB="45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bl>
          </a:graphicData>
        </a:graphic>
      </p:graphicFrame>
      <p:grpSp>
        <p:nvGrpSpPr>
          <p:cNvPr id="2" name="Group 36"/>
          <p:cNvGrpSpPr/>
          <p:nvPr/>
        </p:nvGrpSpPr>
        <p:grpSpPr>
          <a:xfrm>
            <a:off x="6270625" y="4016375"/>
            <a:ext cx="533400" cy="1981200"/>
            <a:chOff x="3888" y="2688"/>
            <a:chExt cx="336" cy="1248"/>
          </a:xfrm>
        </p:grpSpPr>
        <p:sp>
          <p:nvSpPr>
            <p:cNvPr id="109604" name="AutoShape 37"/>
            <p:cNvSpPr/>
            <p:nvPr/>
          </p:nvSpPr>
          <p:spPr>
            <a:xfrm>
              <a:off x="3888" y="2736"/>
              <a:ext cx="336" cy="1200"/>
            </a:xfrm>
            <a:prstGeom prst="downArrow">
              <a:avLst>
                <a:gd name="adj1" fmla="val 50000"/>
                <a:gd name="adj2" fmla="val 89236"/>
              </a:avLst>
            </a:prstGeom>
            <a:solidFill>
              <a:srgbClr val="FFFF99"/>
            </a:solidFill>
            <a:ln w="9525" cap="flat" cmpd="sng">
              <a:solidFill>
                <a:schemeClr val="tx1"/>
              </a:solidFill>
              <a:prstDash val="solid"/>
              <a:miter/>
              <a:headEnd type="none" w="med" len="med"/>
              <a:tailEnd type="none" w="med" len="med"/>
            </a:ln>
          </p:spPr>
          <p:txBody>
            <a:bodyPr vert="eaVert"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09605" name="Text Box 38"/>
            <p:cNvSpPr txBox="1"/>
            <p:nvPr/>
          </p:nvSpPr>
          <p:spPr>
            <a:xfrm>
              <a:off x="3930" y="2688"/>
              <a:ext cx="270" cy="1200"/>
            </a:xfrm>
            <a:prstGeom prst="rect">
              <a:avLst/>
            </a:prstGeom>
            <a:noFill/>
            <a:ln w="9525">
              <a:noFill/>
            </a:ln>
          </p:spPr>
          <p:txBody>
            <a:bodyPr vert="eaVert" anchor="t" anchorCtr="0">
              <a:spAutoFit/>
            </a:bodyPr>
            <a:p>
              <a:pPr algn="ctr">
                <a:spcBef>
                  <a:spcPct val="50000"/>
                </a:spcBef>
                <a:buClrTx/>
                <a:buFontTx/>
              </a:pPr>
              <a:r>
                <a:rPr lang="zh-CN" altLang="en-US" sz="1600" dirty="0">
                  <a:latin typeface="Times New Roman" panose="02020603050405020304" pitchFamily="18" charset="0"/>
                  <a:ea typeface="宋体" panose="02010600030101010101" pitchFamily="2" charset="-122"/>
                </a:rPr>
                <a:t>优先级降低</a:t>
              </a:r>
              <a:endParaRPr lang="zh-CN" altLang="en-US" sz="160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53956">
                                            <p:txEl>
                                              <p:charRg st="0" end="6"/>
                                            </p:txEl>
                                          </p:spTgt>
                                        </p:tgtEl>
                                        <p:attrNameLst>
                                          <p:attrName>style.visibility</p:attrName>
                                        </p:attrNameLst>
                                      </p:cBhvr>
                                      <p:to>
                                        <p:strVal val="visible"/>
                                      </p:to>
                                    </p:set>
                                    <p:anim calcmode="lin" valueType="num">
                                      <p:cBhvr additive="base">
                                        <p:cTn id="7" dur="500" fill="hold"/>
                                        <p:tgtEl>
                                          <p:spTgt spid="253956">
                                            <p:txEl>
                                              <p:charRg st="0" end="6"/>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53956">
                                            <p:txEl>
                                              <p:charRg st="0" end="6"/>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53954"/>
                                        </p:tgtEl>
                                        <p:attrNameLst>
                                          <p:attrName>style.visibility</p:attrName>
                                        </p:attrNameLst>
                                      </p:cBhvr>
                                      <p:to>
                                        <p:strVal val="visible"/>
                                      </p:to>
                                    </p:set>
                                    <p:animEffect transition="in" filter="box(in)">
                                      <p:cBhvr>
                                        <p:cTn id="12" dur="500"/>
                                        <p:tgtEl>
                                          <p:spTgt spid="253954"/>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53957"/>
                                        </p:tgtEl>
                                        <p:attrNameLst>
                                          <p:attrName>style.visibility</p:attrName>
                                        </p:attrNameLst>
                                      </p:cBhvr>
                                      <p:to>
                                        <p:strVal val="visible"/>
                                      </p:to>
                                    </p:set>
                                    <p:animEffect transition="in" filter="wipe(up)">
                                      <p:cBhvr>
                                        <p:cTn id="16" dur="500"/>
                                        <p:tgtEl>
                                          <p:spTgt spid="253957"/>
                                        </p:tgtEl>
                                      </p:cBhvr>
                                    </p:animEffect>
                                  </p:childTnLst>
                                </p:cTn>
                              </p:par>
                            </p:childTnLst>
                          </p:cTn>
                        </p:par>
                        <p:par>
                          <p:cTn id="17" fill="hold">
                            <p:stCondLst>
                              <p:cond delay="1500"/>
                            </p:stCondLst>
                            <p:childTnLst>
                              <p:par>
                                <p:cTn id="18" presetID="1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slide(fromTop)">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4" grpId="0"/>
      <p:bldP spid="253956" grpId="0" advAuto="100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110594"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110595"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10.</a:t>
            </a:r>
            <a:r>
              <a:rPr lang="zh-CN" altLang="en-US" sz="2800" dirty="0">
                <a:solidFill>
                  <a:srgbClr val="0000FF"/>
                </a:solidFill>
                <a:latin typeface="Times New Roman" panose="02020603050405020304" pitchFamily="18" charset="0"/>
                <a:ea typeface="宋体" panose="02010600030101010101" pitchFamily="2" charset="-122"/>
              </a:rPr>
              <a:t>复位</a:t>
            </a:r>
            <a:endParaRPr lang="zh-CN" altLang="en-US" sz="2800" dirty="0">
              <a:solidFill>
                <a:srgbClr val="0000FF"/>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11.</a:t>
            </a:r>
            <a:r>
              <a:rPr lang="zh-CN" altLang="en-US" sz="2800" dirty="0">
                <a:solidFill>
                  <a:srgbClr val="969696"/>
                </a:solidFill>
                <a:latin typeface="Times New Roman" panose="02020603050405020304" pitchFamily="18" charset="0"/>
                <a:ea typeface="宋体" panose="02010600030101010101" pitchFamily="2" charset="-122"/>
              </a:rPr>
              <a:t>存储器及存储器映射</a:t>
            </a:r>
            <a:r>
              <a:rPr lang="en-US" altLang="zh-CN" sz="2800" dirty="0">
                <a:solidFill>
                  <a:srgbClr val="969696"/>
                </a:solidFill>
                <a:latin typeface="Times New Roman" panose="02020603050405020304" pitchFamily="18" charset="0"/>
                <a:ea typeface="宋体" panose="02010600030101010101" pitchFamily="2" charset="-122"/>
              </a:rPr>
              <a:t>I/O</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pPr>
            <a:endParaRPr lang="en-US" altLang="zh-CN" sz="2800" dirty="0">
              <a:solidFill>
                <a:srgbClr val="969696"/>
              </a:solidFill>
              <a:latin typeface="Times New Roman" panose="02020603050405020304" pitchFamily="18" charset="0"/>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ln/>
        </p:spPr>
        <p:txBody>
          <a:bodyPr vert="horz" wrap="square" lIns="91440" tIns="45720" rIns="91440" bIns="45720" anchor="ctr" anchorCtr="0"/>
          <a:p>
            <a:pPr eaLnBrk="1" hangingPunct="1"/>
            <a:r>
              <a:rPr lang="en-US" altLang="zh-CN" dirty="0"/>
              <a:t>3.10  </a:t>
            </a:r>
            <a:r>
              <a:rPr lang="zh-CN" altLang="en-US" dirty="0"/>
              <a:t>复位</a:t>
            </a:r>
            <a:endParaRPr lang="zh-CN" altLang="en-US" dirty="0"/>
          </a:p>
        </p:txBody>
      </p:sp>
      <p:sp>
        <p:nvSpPr>
          <p:cNvPr id="262147"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复位</a:t>
            </a:r>
            <a:endParaRPr lang="zh-CN" altLang="en-US" dirty="0"/>
          </a:p>
        </p:txBody>
      </p:sp>
      <p:sp>
        <p:nvSpPr>
          <p:cNvPr id="262148" name="Text Box 4"/>
          <p:cNvSpPr txBox="1"/>
          <p:nvPr/>
        </p:nvSpPr>
        <p:spPr>
          <a:xfrm>
            <a:off x="1219200" y="2819400"/>
            <a:ext cx="7010400" cy="2100263"/>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a:t>
            </a:r>
            <a:r>
              <a:rPr lang="en-US" altLang="zh-CN" sz="2400" dirty="0">
                <a:latin typeface="华文新魏" panose="02010800040101010101" pitchFamily="2" charset="-122"/>
                <a:ea typeface="华文新魏" panose="02010800040101010101" pitchFamily="2" charset="-122"/>
              </a:rPr>
              <a:t>nRESET</a:t>
            </a:r>
            <a:r>
              <a:rPr lang="zh-CN" altLang="en-US" sz="2400" dirty="0">
                <a:latin typeface="华文新魏" panose="02010800040101010101" pitchFamily="2" charset="-122"/>
                <a:ea typeface="华文新魏" panose="02010800040101010101" pitchFamily="2" charset="-122"/>
              </a:rPr>
              <a:t>信号被拉低时（一般外部复位引脚电平的变化和芯片的其它复位源会改变这个内核信号），</a:t>
            </a:r>
            <a:r>
              <a:rPr lang="en-US" altLang="zh-CN" sz="2400" dirty="0">
                <a:latin typeface="华文新魏" panose="02010800040101010101" pitchFamily="2" charset="-122"/>
                <a:ea typeface="华文新魏" panose="02010800040101010101" pitchFamily="2" charset="-122"/>
              </a:rPr>
              <a:t>ARM7TDMI</a:t>
            </a:r>
            <a:r>
              <a:rPr lang="zh-CN" altLang="en-US" sz="2400" dirty="0">
                <a:latin typeface="华文新魏" panose="02010800040101010101" pitchFamily="2" charset="-122"/>
                <a:ea typeface="华文新魏" panose="02010800040101010101" pitchFamily="2" charset="-122"/>
              </a:rPr>
              <a:t>处理器放弃正在执行的指令</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algn="just">
              <a:spcBef>
                <a:spcPct val="50000"/>
              </a:spcBef>
              <a:buClrTx/>
              <a:buFontTx/>
            </a:pPr>
            <a:r>
              <a:rPr lang="zh-CN" altLang="en-US" sz="2400" dirty="0">
                <a:latin typeface="宋体" panose="02010600030101010101" pitchFamily="2" charset="-122"/>
                <a:ea typeface="宋体" panose="02010600030101010101" pitchFamily="2" charset="-122"/>
              </a:rPr>
              <a:t>    </a:t>
            </a:r>
            <a:r>
              <a:rPr lang="zh-CN" altLang="en-US" sz="2400" dirty="0">
                <a:latin typeface="华文新魏" panose="02010800040101010101" pitchFamily="2" charset="-122"/>
                <a:ea typeface="华文新魏" panose="02010800040101010101" pitchFamily="2" charset="-122"/>
              </a:rPr>
              <a:t>在复位后，除</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之外的所有寄存器的值都不确定。</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62147">
                                            <p:txEl>
                                              <p:charRg st="0" end="3"/>
                                            </p:txEl>
                                          </p:spTgt>
                                        </p:tgtEl>
                                        <p:attrNameLst>
                                          <p:attrName>style.visibility</p:attrName>
                                        </p:attrNameLst>
                                      </p:cBhvr>
                                      <p:to>
                                        <p:strVal val="visible"/>
                                      </p:to>
                                    </p:set>
                                    <p:anim calcmode="lin" valueType="num">
                                      <p:cBhvr additive="base">
                                        <p:cTn id="7" dur="500" fill="hold"/>
                                        <p:tgtEl>
                                          <p:spTgt spid="262147">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62147">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62148"/>
                                        </p:tgtEl>
                                        <p:attrNameLst>
                                          <p:attrName>style.visibility</p:attrName>
                                        </p:attrNameLst>
                                      </p:cBhvr>
                                      <p:to>
                                        <p:strVal val="visible"/>
                                      </p:to>
                                    </p:set>
                                    <p:animEffect transition="in" filter="box(in)">
                                      <p:cBhvr>
                                        <p:cTn id="12" dur="500"/>
                                        <p:tgtEl>
                                          <p:spTgt spid="262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7" grpId="0" advAuto="1000" build="p"/>
      <p:bldP spid="262148"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ln/>
        </p:spPr>
        <p:txBody>
          <a:bodyPr vert="horz" wrap="square" lIns="91440" tIns="45720" rIns="91440" bIns="45720" anchor="ctr" anchorCtr="0"/>
          <a:p>
            <a:pPr eaLnBrk="1" hangingPunct="1"/>
            <a:r>
              <a:rPr lang="en-US" altLang="zh-CN" dirty="0"/>
              <a:t>3.10  </a:t>
            </a:r>
            <a:r>
              <a:rPr lang="zh-CN" altLang="en-US" dirty="0"/>
              <a:t>复位</a:t>
            </a:r>
            <a:endParaRPr lang="zh-CN" altLang="en-US" dirty="0"/>
          </a:p>
        </p:txBody>
      </p:sp>
      <p:sp>
        <p:nvSpPr>
          <p:cNvPr id="112642"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复位</a:t>
            </a:r>
            <a:endParaRPr lang="zh-CN" altLang="en-US" dirty="0"/>
          </a:p>
        </p:txBody>
      </p:sp>
      <p:sp>
        <p:nvSpPr>
          <p:cNvPr id="263172" name="Text Box 4"/>
          <p:cNvSpPr txBox="1"/>
          <p:nvPr/>
        </p:nvSpPr>
        <p:spPr>
          <a:xfrm>
            <a:off x="1116013" y="2420938"/>
            <a:ext cx="7010400" cy="3560762"/>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a:t>
            </a:r>
            <a:r>
              <a:rPr lang="en-US" altLang="zh-CN" sz="2400" dirty="0">
                <a:latin typeface="华文新魏" panose="02010800040101010101" pitchFamily="2" charset="-122"/>
                <a:ea typeface="华文新魏" panose="02010800040101010101" pitchFamily="2" charset="-122"/>
              </a:rPr>
              <a:t>nRESET</a:t>
            </a:r>
            <a:r>
              <a:rPr lang="zh-CN" altLang="en-US" sz="2400" dirty="0">
                <a:latin typeface="华文新魏" panose="02010800040101010101" pitchFamily="2" charset="-122"/>
                <a:ea typeface="华文新魏" panose="02010800040101010101" pitchFamily="2" charset="-122"/>
              </a:rPr>
              <a:t>信号再次变为高电平时，</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处理器执行下列操作：</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强制</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中的</a:t>
            </a:r>
            <a:r>
              <a:rPr lang="en-US" altLang="zh-CN" sz="2400" dirty="0">
                <a:latin typeface="华文新魏" panose="02010800040101010101" pitchFamily="2" charset="-122"/>
                <a:ea typeface="华文新魏" panose="02010800040101010101" pitchFamily="2" charset="-122"/>
              </a:rPr>
              <a:t>M[4:0]</a:t>
            </a:r>
            <a:r>
              <a:rPr lang="zh-CN" altLang="en-US" sz="2400" dirty="0">
                <a:latin typeface="华文新魏" panose="02010800040101010101" pitchFamily="2" charset="-122"/>
                <a:ea typeface="华文新魏" panose="02010800040101010101" pitchFamily="2" charset="-122"/>
              </a:rPr>
              <a:t>变为</a:t>
            </a:r>
            <a:r>
              <a:rPr lang="en-US" altLang="zh-CN" sz="2400" dirty="0">
                <a:latin typeface="华文新魏" panose="02010800040101010101" pitchFamily="2" charset="-122"/>
                <a:ea typeface="华文新魏" panose="02010800040101010101" pitchFamily="2" charset="-122"/>
              </a:rPr>
              <a:t>b10011</a:t>
            </a:r>
            <a:r>
              <a:rPr lang="zh-CN" altLang="en-US" sz="2400" dirty="0">
                <a:latin typeface="华文新魏" panose="02010800040101010101" pitchFamily="2" charset="-122"/>
                <a:ea typeface="华文新魏" panose="02010800040101010101" pitchFamily="2" charset="-122"/>
              </a:rPr>
              <a:t>（管理模式）；</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2.</a:t>
            </a:r>
            <a:r>
              <a:rPr lang="zh-CN" altLang="en-US" sz="2400" dirty="0">
                <a:latin typeface="华文新魏" panose="02010800040101010101" pitchFamily="2" charset="-122"/>
                <a:ea typeface="华文新魏" panose="02010800040101010101" pitchFamily="2" charset="-122"/>
              </a:rPr>
              <a:t>置位</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中的</a:t>
            </a:r>
            <a:r>
              <a:rPr lang="en-US" altLang="zh-CN" sz="2400" dirty="0">
                <a:latin typeface="华文新魏" panose="02010800040101010101" pitchFamily="2" charset="-122"/>
                <a:ea typeface="华文新魏" panose="02010800040101010101" pitchFamily="2" charset="-122"/>
              </a:rPr>
              <a:t>I</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F</a:t>
            </a:r>
            <a:r>
              <a:rPr lang="zh-CN" altLang="en-US" sz="2400" dirty="0">
                <a:latin typeface="华文新魏" panose="02010800040101010101" pitchFamily="2" charset="-122"/>
                <a:ea typeface="华文新魏" panose="02010800040101010101" pitchFamily="2" charset="-122"/>
              </a:rPr>
              <a:t>位；</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3.</a:t>
            </a:r>
            <a:r>
              <a:rPr lang="zh-CN" altLang="en-US" sz="2400" dirty="0">
                <a:latin typeface="华文新魏" panose="02010800040101010101" pitchFamily="2" charset="-122"/>
                <a:ea typeface="华文新魏" panose="02010800040101010101" pitchFamily="2" charset="-122"/>
              </a:rPr>
              <a:t>清零</a:t>
            </a:r>
            <a:r>
              <a:rPr lang="en-US" altLang="zh-CN" sz="2400" dirty="0">
                <a:latin typeface="华文新魏" panose="02010800040101010101" pitchFamily="2" charset="-122"/>
                <a:ea typeface="华文新魏" panose="02010800040101010101" pitchFamily="2" charset="-122"/>
              </a:rPr>
              <a:t>CPSR</a:t>
            </a:r>
            <a:r>
              <a:rPr lang="zh-CN" altLang="en-US" sz="2400" dirty="0">
                <a:latin typeface="华文新魏" panose="02010800040101010101" pitchFamily="2" charset="-122"/>
                <a:ea typeface="华文新魏" panose="02010800040101010101" pitchFamily="2" charset="-122"/>
              </a:rPr>
              <a:t>中的</a:t>
            </a:r>
            <a:r>
              <a:rPr lang="en-US" altLang="zh-CN" sz="2400" dirty="0">
                <a:latin typeface="华文新魏" panose="02010800040101010101" pitchFamily="2" charset="-122"/>
                <a:ea typeface="华文新魏" panose="02010800040101010101" pitchFamily="2" charset="-122"/>
              </a:rPr>
              <a:t>T</a:t>
            </a:r>
            <a:r>
              <a:rPr lang="zh-CN" altLang="en-US" sz="2400" dirty="0">
                <a:latin typeface="华文新魏" panose="02010800040101010101" pitchFamily="2" charset="-122"/>
                <a:ea typeface="华文新魏" panose="02010800040101010101" pitchFamily="2" charset="-122"/>
              </a:rPr>
              <a:t>位；</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4.</a:t>
            </a:r>
            <a:r>
              <a:rPr lang="zh-CN" altLang="en-US" sz="2400" dirty="0">
                <a:latin typeface="华文新魏" panose="02010800040101010101" pitchFamily="2" charset="-122"/>
                <a:ea typeface="华文新魏" panose="02010800040101010101" pitchFamily="2" charset="-122"/>
              </a:rPr>
              <a:t>强制</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从地址</a:t>
            </a:r>
            <a:r>
              <a:rPr lang="en-US" altLang="zh-CN" sz="2400" dirty="0">
                <a:latin typeface="华文新魏" panose="02010800040101010101" pitchFamily="2" charset="-122"/>
                <a:ea typeface="华文新魏" panose="02010800040101010101" pitchFamily="2" charset="-122"/>
              </a:rPr>
              <a:t>0x00</a:t>
            </a:r>
            <a:r>
              <a:rPr lang="zh-CN" altLang="en-US" sz="2400" dirty="0">
                <a:latin typeface="华文新魏" panose="02010800040101010101" pitchFamily="2" charset="-122"/>
                <a:ea typeface="华文新魏" panose="02010800040101010101" pitchFamily="2" charset="-122"/>
              </a:rPr>
              <a:t>开始对下一条指令进行取指；</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en-US" altLang="zh-CN" sz="2400" dirty="0">
                <a:solidFill>
                  <a:srgbClr val="0000FF"/>
                </a:solidFill>
                <a:latin typeface="华文新魏" panose="02010800040101010101" pitchFamily="2" charset="-122"/>
                <a:ea typeface="华文新魏" panose="02010800040101010101" pitchFamily="2" charset="-122"/>
              </a:rPr>
              <a:t>5.</a:t>
            </a:r>
            <a:r>
              <a:rPr lang="zh-CN" altLang="en-US" sz="2400" dirty="0">
                <a:latin typeface="华文新魏" panose="02010800040101010101" pitchFamily="2" charset="-122"/>
                <a:ea typeface="华文新魏" panose="02010800040101010101" pitchFamily="2" charset="-122"/>
              </a:rPr>
              <a:t>返回到</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状态并恢复执行 。 </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63172"/>
                                        </p:tgtEl>
                                        <p:attrNameLst>
                                          <p:attrName>style.visibility</p:attrName>
                                        </p:attrNameLst>
                                      </p:cBhvr>
                                      <p:to>
                                        <p:strVal val="visible"/>
                                      </p:to>
                                    </p:set>
                                    <p:animEffect transition="in" filter="box(in)">
                                      <p:cBhvr>
                                        <p:cTn id="7" dur="500"/>
                                        <p:tgtEl>
                                          <p:spTgt spid="26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p:nvPr/>
        </p:nvSpPr>
        <p:spPr>
          <a:xfrm>
            <a:off x="1258888" y="188913"/>
            <a:ext cx="7634287" cy="863600"/>
          </a:xfrm>
          <a:prstGeom prst="rect">
            <a:avLst/>
          </a:prstGeom>
          <a:noFill/>
          <a:ln w="9525">
            <a:noFill/>
          </a:ln>
        </p:spPr>
        <p:txBody>
          <a:bodyPr anchor="b" anchorCtr="0"/>
          <a:p>
            <a:pPr algn="ctr">
              <a:buClrTx/>
              <a:buFontTx/>
            </a:pPr>
            <a:r>
              <a:rPr lang="zh-CN" altLang="en-US" sz="4400" dirty="0">
                <a:solidFill>
                  <a:schemeClr val="tx2"/>
                </a:solidFill>
                <a:latin typeface="Times New Roman" panose="02020603050405020304" pitchFamily="18" charset="0"/>
                <a:ea typeface="宋体" panose="02010600030101010101" pitchFamily="2" charset="-122"/>
              </a:rPr>
              <a:t>第</a:t>
            </a:r>
            <a:r>
              <a:rPr lang="en-US" altLang="zh-CN" sz="4400" dirty="0">
                <a:solidFill>
                  <a:schemeClr val="tx2"/>
                </a:solidFill>
                <a:latin typeface="Times New Roman" panose="02020603050405020304" pitchFamily="18" charset="0"/>
                <a:ea typeface="宋体" panose="02010600030101010101" pitchFamily="2" charset="-122"/>
              </a:rPr>
              <a:t>3</a:t>
            </a:r>
            <a:r>
              <a:rPr lang="zh-CN" altLang="en-US" sz="4400" dirty="0">
                <a:solidFill>
                  <a:schemeClr val="tx2"/>
                </a:solidFill>
                <a:latin typeface="Times New Roman" panose="02020603050405020304" pitchFamily="18" charset="0"/>
                <a:ea typeface="宋体" panose="02010600030101010101" pitchFamily="2" charset="-122"/>
              </a:rPr>
              <a:t>章  目录</a:t>
            </a:r>
            <a:endParaRPr lang="zh-CN" altLang="en-US" sz="4400" dirty="0">
              <a:solidFill>
                <a:schemeClr val="tx2"/>
              </a:solidFill>
              <a:latin typeface="Times New Roman" panose="02020603050405020304" pitchFamily="18" charset="0"/>
              <a:ea typeface="宋体" panose="02010600030101010101" pitchFamily="2" charset="-122"/>
            </a:endParaRPr>
          </a:p>
        </p:txBody>
      </p:sp>
      <p:sp>
        <p:nvSpPr>
          <p:cNvPr id="113666" name="Rectangle 3"/>
          <p:cNvSpPr/>
          <p:nvPr/>
        </p:nvSpPr>
        <p:spPr>
          <a:xfrm>
            <a:off x="533400" y="1371600"/>
            <a:ext cx="42672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a:t>
            </a:r>
            <a:r>
              <a:rPr lang="zh-CN" altLang="en-US" sz="2800" dirty="0">
                <a:solidFill>
                  <a:srgbClr val="969696"/>
                </a:solidFill>
                <a:latin typeface="Times New Roman" panose="02020603050405020304" pitchFamily="18" charset="0"/>
                <a:ea typeface="宋体" panose="02010600030101010101" pitchFamily="2" charset="-122"/>
              </a:rPr>
              <a:t>简介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2.ARM7TDMI</a:t>
            </a:r>
            <a:endParaRPr lang="en-US" altLang="zh-CN"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3.ARM7TDMI</a:t>
            </a:r>
            <a:r>
              <a:rPr lang="zh-CN" altLang="en-US" sz="2800" dirty="0">
                <a:solidFill>
                  <a:srgbClr val="969696"/>
                </a:solidFill>
                <a:latin typeface="Times New Roman" panose="02020603050405020304" pitchFamily="18" charset="0"/>
                <a:ea typeface="宋体" panose="02010600030101010101" pitchFamily="2" charset="-122"/>
              </a:rPr>
              <a:t>的模块和内部框图</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4.</a:t>
            </a:r>
            <a:r>
              <a:rPr lang="zh-CN" altLang="en-US" sz="2800" dirty="0">
                <a:solidFill>
                  <a:srgbClr val="969696"/>
                </a:solidFill>
                <a:latin typeface="Times New Roman" panose="02020603050405020304" pitchFamily="18" charset="0"/>
                <a:ea typeface="宋体" panose="02010600030101010101" pitchFamily="2" charset="-122"/>
              </a:rPr>
              <a:t>体系结构直接支持的数据类型</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5.</a:t>
            </a:r>
            <a:r>
              <a:rPr lang="zh-CN" altLang="en-US" sz="2800" dirty="0">
                <a:solidFill>
                  <a:srgbClr val="969696"/>
                </a:solidFill>
                <a:latin typeface="Times New Roman" panose="02020603050405020304" pitchFamily="18" charset="0"/>
                <a:ea typeface="宋体" panose="02010600030101010101" pitchFamily="2" charset="-122"/>
              </a:rPr>
              <a:t>处理器状态</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6.</a:t>
            </a:r>
            <a:r>
              <a:rPr lang="zh-CN" altLang="en-US" sz="2800" dirty="0">
                <a:solidFill>
                  <a:srgbClr val="969696"/>
                </a:solidFill>
                <a:latin typeface="Times New Roman" panose="02020603050405020304" pitchFamily="18" charset="0"/>
                <a:ea typeface="宋体" panose="02010600030101010101" pitchFamily="2" charset="-122"/>
              </a:rPr>
              <a:t>处理器模式</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7.</a:t>
            </a:r>
            <a:r>
              <a:rPr lang="zh-CN" altLang="en-US" sz="2800" dirty="0">
                <a:solidFill>
                  <a:srgbClr val="969696"/>
                </a:solidFill>
                <a:latin typeface="Times New Roman" panose="02020603050405020304" pitchFamily="18" charset="0"/>
                <a:ea typeface="宋体" panose="02010600030101010101" pitchFamily="2" charset="-122"/>
              </a:rPr>
              <a:t>内部寄存器</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8. </a:t>
            </a:r>
            <a:r>
              <a:rPr lang="zh-CN" altLang="en-US" sz="2800" dirty="0">
                <a:solidFill>
                  <a:srgbClr val="969696"/>
                </a:solidFill>
                <a:latin typeface="Times New Roman" panose="02020603050405020304" pitchFamily="18" charset="0"/>
                <a:ea typeface="宋体" panose="02010600030101010101" pitchFamily="2" charset="-122"/>
              </a:rPr>
              <a:t>程序状态寄存器</a:t>
            </a:r>
            <a:endParaRPr lang="zh-CN" altLang="en-US" sz="2800" dirty="0">
              <a:solidFill>
                <a:srgbClr val="969696"/>
              </a:solidFill>
              <a:latin typeface="Times New Roman" panose="02020603050405020304" pitchFamily="18" charset="0"/>
              <a:ea typeface="宋体" panose="02010600030101010101" pitchFamily="2" charset="-122"/>
            </a:endParaRPr>
          </a:p>
        </p:txBody>
      </p:sp>
      <p:sp>
        <p:nvSpPr>
          <p:cNvPr id="113667" name="Rectangle 4"/>
          <p:cNvSpPr/>
          <p:nvPr/>
        </p:nvSpPr>
        <p:spPr>
          <a:xfrm>
            <a:off x="4648200" y="1371600"/>
            <a:ext cx="4191000" cy="4953000"/>
          </a:xfrm>
          <a:prstGeom prst="rect">
            <a:avLst/>
          </a:prstGeom>
          <a:noFill/>
          <a:ln w="9525">
            <a:noFill/>
          </a:ln>
        </p:spPr>
        <p:txBody>
          <a:bodyPr anchor="t" anchorCtr="0"/>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9.</a:t>
            </a:r>
            <a:r>
              <a:rPr lang="zh-CN" altLang="en-US" sz="2800" dirty="0">
                <a:solidFill>
                  <a:srgbClr val="969696"/>
                </a:solidFill>
                <a:latin typeface="Times New Roman" panose="02020603050405020304" pitchFamily="18" charset="0"/>
                <a:ea typeface="宋体" panose="02010600030101010101" pitchFamily="2" charset="-122"/>
              </a:rPr>
              <a:t>异常</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969696"/>
                </a:solidFill>
                <a:latin typeface="Times New Roman" panose="02020603050405020304" pitchFamily="18" charset="0"/>
                <a:ea typeface="宋体" panose="02010600030101010101" pitchFamily="2" charset="-122"/>
              </a:rPr>
              <a:t>10.</a:t>
            </a:r>
            <a:r>
              <a:rPr lang="zh-CN" altLang="en-US" sz="2800" dirty="0">
                <a:solidFill>
                  <a:srgbClr val="969696"/>
                </a:solidFill>
                <a:latin typeface="Times New Roman" panose="02020603050405020304" pitchFamily="18" charset="0"/>
                <a:ea typeface="宋体" panose="02010600030101010101" pitchFamily="2" charset="-122"/>
              </a:rPr>
              <a:t>复位</a:t>
            </a:r>
            <a:endParaRPr lang="zh-CN" altLang="en-US" sz="2800" dirty="0">
              <a:solidFill>
                <a:srgbClr val="969696"/>
              </a:solidFill>
              <a:latin typeface="Times New Roman" panose="02020603050405020304" pitchFamily="18" charset="0"/>
              <a:ea typeface="宋体" panose="02010600030101010101" pitchFamily="2" charset="-122"/>
            </a:endParaRPr>
          </a:p>
          <a:p>
            <a:pPr marL="342900" indent="-342900">
              <a:spcBef>
                <a:spcPct val="20000"/>
              </a:spcBef>
              <a:buClr>
                <a:srgbClr val="969696"/>
              </a:buClr>
              <a:buFont typeface="Wingdings" panose="05000000000000000000" pitchFamily="2" charset="2"/>
              <a:buChar char="q"/>
            </a:pPr>
            <a:r>
              <a:rPr lang="en-US" altLang="zh-CN" sz="2800" dirty="0">
                <a:solidFill>
                  <a:srgbClr val="0000FF"/>
                </a:solidFill>
                <a:latin typeface="Times New Roman" panose="02020603050405020304" pitchFamily="18" charset="0"/>
                <a:ea typeface="宋体" panose="02010600030101010101" pitchFamily="2" charset="-122"/>
              </a:rPr>
              <a:t>11.</a:t>
            </a:r>
            <a:r>
              <a:rPr lang="zh-CN" altLang="en-US" sz="2800" dirty="0">
                <a:solidFill>
                  <a:srgbClr val="0000FF"/>
                </a:solidFill>
                <a:latin typeface="Times New Roman" panose="02020603050405020304" pitchFamily="18" charset="0"/>
                <a:ea typeface="宋体" panose="02010600030101010101" pitchFamily="2" charset="-122"/>
              </a:rPr>
              <a:t>存储器及存储器映射</a:t>
            </a:r>
            <a:r>
              <a:rPr lang="en-US" altLang="zh-CN" sz="2800" dirty="0">
                <a:solidFill>
                  <a:srgbClr val="0000FF"/>
                </a:solidFill>
                <a:latin typeface="Times New Roman" panose="02020603050405020304" pitchFamily="18" charset="0"/>
                <a:ea typeface="宋体" panose="02010600030101010101" pitchFamily="2" charset="-122"/>
              </a:rPr>
              <a:t>I/O</a:t>
            </a:r>
            <a:endParaRPr lang="en-US" altLang="zh-CN" sz="28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265219"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65220" name="Text Box 4"/>
          <p:cNvSpPr txBox="1"/>
          <p:nvPr/>
        </p:nvSpPr>
        <p:spPr>
          <a:xfrm>
            <a:off x="1219200" y="2819400"/>
            <a:ext cx="7010400" cy="155257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处理器采用冯</a:t>
            </a:r>
            <a:r>
              <a:rPr lang="en-US" altLang="zh-CN" sz="2400" dirty="0">
                <a:latin typeface="Times New Roman" panose="02020603050405020304" pitchFamily="18" charset="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诺依曼（</a:t>
            </a:r>
            <a:r>
              <a:rPr lang="en-US" altLang="zh-CN" sz="2400" dirty="0">
                <a:latin typeface="华文新魏" panose="02010800040101010101" pitchFamily="2" charset="-122"/>
                <a:ea typeface="华文新魏" panose="02010800040101010101" pitchFamily="2" charset="-122"/>
              </a:rPr>
              <a:t>Von Neumann</a:t>
            </a:r>
            <a:r>
              <a:rPr lang="zh-CN" altLang="en-US" sz="2400" dirty="0">
                <a:latin typeface="华文新魏" panose="02010800040101010101" pitchFamily="2" charset="-122"/>
                <a:ea typeface="华文新魏" panose="02010800040101010101" pitchFamily="2" charset="-122"/>
              </a:rPr>
              <a:t>）结构，指令和数据共用一条</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位数据总线。只有装载、保存和交换指令可访问存储器中的数据。</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65219">
                                            <p:txEl>
                                              <p:charRg st="0" end="3"/>
                                            </p:txEl>
                                          </p:spTgt>
                                        </p:tgtEl>
                                        <p:attrNameLst>
                                          <p:attrName>style.visibility</p:attrName>
                                        </p:attrNameLst>
                                      </p:cBhvr>
                                      <p:to>
                                        <p:strVal val="visible"/>
                                      </p:to>
                                    </p:set>
                                    <p:anim calcmode="lin" valueType="num">
                                      <p:cBhvr additive="base">
                                        <p:cTn id="7" dur="500" fill="hold"/>
                                        <p:tgtEl>
                                          <p:spTgt spid="265219">
                                            <p:txEl>
                                              <p:charRg st="0"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65219">
                                            <p:txEl>
                                              <p:charRg st="0" end="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65220"/>
                                        </p:tgtEl>
                                        <p:attrNameLst>
                                          <p:attrName>style.visibility</p:attrName>
                                        </p:attrNameLst>
                                      </p:cBhvr>
                                      <p:to>
                                        <p:strVal val="visible"/>
                                      </p:to>
                                    </p:set>
                                    <p:animEffect transition="in" filter="box(in)">
                                      <p:cBhvr>
                                        <p:cTn id="12" dur="500"/>
                                        <p:tgtEl>
                                          <p:spTgt spid="265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advAuto="1000" build="p"/>
      <p:bldP spid="26522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115714"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66244" name="Text Box 4"/>
          <p:cNvSpPr txBox="1"/>
          <p:nvPr/>
        </p:nvSpPr>
        <p:spPr>
          <a:xfrm>
            <a:off x="1187450" y="2276475"/>
            <a:ext cx="7010400" cy="301307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ARM7</a:t>
            </a:r>
            <a:r>
              <a:rPr lang="zh-CN" altLang="en-US" sz="2400" dirty="0">
                <a:latin typeface="华文新魏" panose="02010800040101010101" pitchFamily="2" charset="-122"/>
                <a:ea typeface="华文新魏" panose="02010800040101010101" pitchFamily="2" charset="-122"/>
              </a:rPr>
              <a:t>的规范仅定义了处理器核与存储系统之间的信号及时序（局部总线），而实际的芯片一般在外部总线与处理器核的局部总线之间有一个存储器管理部件将局部总线的信号和时序转换为现实的外部总线信号和时序。因此，外部总线的信号和时序与具体的芯片相关，不是</a:t>
            </a:r>
            <a:r>
              <a:rPr lang="en-US" altLang="zh-CN" sz="2400" dirty="0">
                <a:latin typeface="华文新魏" panose="02010800040101010101" pitchFamily="2" charset="-122"/>
                <a:ea typeface="华文新魏" panose="02010800040101010101" pitchFamily="2" charset="-122"/>
              </a:rPr>
              <a:t>ARM7</a:t>
            </a:r>
            <a:r>
              <a:rPr lang="zh-CN" altLang="en-US" sz="2400" dirty="0">
                <a:latin typeface="华文新魏" panose="02010800040101010101" pitchFamily="2" charset="-122"/>
                <a:ea typeface="华文新魏" panose="02010800040101010101" pitchFamily="2" charset="-122"/>
              </a:rPr>
              <a:t>的标准。具体到某个芯片的外部存储系统的设计需要参考其芯片的数据手册等资料。 </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66244"/>
                                        </p:tgtEl>
                                        <p:attrNameLst>
                                          <p:attrName>style.visibility</p:attrName>
                                        </p:attrNameLst>
                                      </p:cBhvr>
                                      <p:to>
                                        <p:strVal val="visible"/>
                                      </p:to>
                                    </p:set>
                                    <p:animEffect transition="in" filter="box(in)">
                                      <p:cBhvr>
                                        <p:cTn id="7" dur="500"/>
                                        <p:tgtEl>
                                          <p:spTgt spid="266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5"/>
          <p:cNvSpPr/>
          <p:nvPr/>
        </p:nvSpPr>
        <p:spPr>
          <a:xfrm>
            <a:off x="2043113" y="1138238"/>
            <a:ext cx="9144000" cy="0"/>
          </a:xfrm>
          <a:prstGeom prst="rect">
            <a:avLst/>
          </a:prstGeom>
          <a:noFill/>
          <a:ln w="9525">
            <a:noFill/>
          </a:ln>
        </p:spPr>
        <p:txBody>
          <a:bodyPr anchor="t" anchorCtr="0">
            <a:spAutoFit/>
          </a:bodyPr>
          <a:p>
            <a:pPr>
              <a:buClrTx/>
              <a:buFontTx/>
            </a:pPr>
            <a:endParaRPr lang="zh-CN" altLang="en-US" dirty="0">
              <a:latin typeface="Tahoma" panose="020B0604030504040204" pitchFamily="34" charset="0"/>
              <a:ea typeface="宋体" panose="02010600030101010101" pitchFamily="2" charset="-122"/>
            </a:endParaRPr>
          </a:p>
        </p:txBody>
      </p:sp>
      <p:sp>
        <p:nvSpPr>
          <p:cNvPr id="267270" name="Rectangle 6"/>
          <p:cNvSpPr/>
          <p:nvPr/>
        </p:nvSpPr>
        <p:spPr>
          <a:xfrm>
            <a:off x="5807075" y="3251200"/>
            <a:ext cx="1044575" cy="1143000"/>
          </a:xfrm>
          <a:prstGeom prst="rect">
            <a:avLst/>
          </a:prstGeom>
          <a:solidFill>
            <a:srgbClr val="CCFFCC"/>
          </a:solidFill>
          <a:ln w="9525" cap="flat" cmpd="sng">
            <a:solidFill>
              <a:schemeClr val="tx1"/>
            </a:solidFill>
            <a:prstDash val="solid"/>
            <a:miter/>
            <a:headEnd type="none" w="med" len="med"/>
            <a:tailEnd type="none" w="med" len="med"/>
          </a:ln>
        </p:spPr>
        <p:txBody>
          <a:bodyPr anchor="ctr" anchorCtr="0"/>
          <a:p>
            <a:pPr algn="ctr">
              <a:spcBef>
                <a:spcPct val="20000"/>
              </a:spcBef>
              <a:buClrTx/>
              <a:buFontTx/>
            </a:pPr>
            <a:r>
              <a:rPr lang="zh-CN" altLang="en-US" dirty="0">
                <a:latin typeface="Times New Roman" panose="02020603050405020304" pitchFamily="18" charset="0"/>
                <a:ea typeface="华文新魏" panose="02010800040101010101" pitchFamily="2" charset="-122"/>
              </a:rPr>
              <a:t>存储器</a:t>
            </a:r>
            <a:endParaRPr lang="zh-CN" altLang="en-US" dirty="0">
              <a:latin typeface="Times New Roman" panose="02020603050405020304" pitchFamily="18" charset="0"/>
              <a:ea typeface="华文新魏" panose="02010800040101010101" pitchFamily="2" charset="-122"/>
            </a:endParaRPr>
          </a:p>
          <a:p>
            <a:pPr algn="ctr">
              <a:spcBef>
                <a:spcPct val="20000"/>
              </a:spcBef>
              <a:buClrTx/>
              <a:buFontTx/>
            </a:pPr>
            <a:r>
              <a:rPr lang="zh-CN" altLang="en-US" dirty="0">
                <a:latin typeface="Times New Roman" panose="02020603050405020304" pitchFamily="18" charset="0"/>
                <a:ea typeface="华文新魏" panose="02010800040101010101" pitchFamily="2" charset="-122"/>
              </a:rPr>
              <a:t>控制器</a:t>
            </a:r>
            <a:endParaRPr lang="zh-CN" altLang="en-US" dirty="0">
              <a:latin typeface="Times New Roman" panose="02020603050405020304" pitchFamily="18" charset="0"/>
              <a:ea typeface="华文新魏" panose="02010800040101010101" pitchFamily="2" charset="-122"/>
            </a:endParaRPr>
          </a:p>
        </p:txBody>
      </p:sp>
      <p:sp>
        <p:nvSpPr>
          <p:cNvPr id="267271" name="Rectangle 7"/>
          <p:cNvSpPr/>
          <p:nvPr/>
        </p:nvSpPr>
        <p:spPr>
          <a:xfrm>
            <a:off x="7646988" y="2641600"/>
            <a:ext cx="957262" cy="25146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latin typeface="Times New Roman" panose="02020603050405020304" pitchFamily="18" charset="0"/>
                <a:ea typeface="华文新魏" panose="02010800040101010101" pitchFamily="2" charset="-122"/>
              </a:rPr>
              <a:t>存储器</a:t>
            </a:r>
            <a:endParaRPr lang="zh-CN" altLang="en-US" dirty="0">
              <a:latin typeface="Times New Roman" panose="02020603050405020304" pitchFamily="18" charset="0"/>
              <a:ea typeface="华文新魏" panose="02010800040101010101" pitchFamily="2" charset="-122"/>
            </a:endParaRPr>
          </a:p>
        </p:txBody>
      </p:sp>
      <p:sp>
        <p:nvSpPr>
          <p:cNvPr id="267272" name="AutoShape 8"/>
          <p:cNvSpPr/>
          <p:nvPr/>
        </p:nvSpPr>
        <p:spPr>
          <a:xfrm>
            <a:off x="6721475" y="3632200"/>
            <a:ext cx="1044575" cy="381000"/>
          </a:xfrm>
          <a:prstGeom prst="rightArrow">
            <a:avLst>
              <a:gd name="adj1" fmla="val 50000"/>
              <a:gd name="adj2" fmla="val 68503"/>
            </a:avLst>
          </a:prstGeom>
          <a:solidFill>
            <a:srgbClr val="FFFF99"/>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267273" name="AutoShape 9"/>
          <p:cNvSpPr/>
          <p:nvPr/>
        </p:nvSpPr>
        <p:spPr>
          <a:xfrm>
            <a:off x="4457700" y="3716338"/>
            <a:ext cx="1479550" cy="381000"/>
          </a:xfrm>
          <a:prstGeom prst="rightArrow">
            <a:avLst>
              <a:gd name="adj1" fmla="val 50000"/>
              <a:gd name="adj2" fmla="val 97029"/>
            </a:avLst>
          </a:prstGeom>
          <a:solidFill>
            <a:srgbClr val="CCFFCC"/>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16742" name="Rectangle 10"/>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116743" name="Rectangle 11"/>
          <p:cNvSpPr>
            <a:spLocks noGrp="1"/>
          </p:cNvSpPr>
          <p:nvPr>
            <p:ph type="body" sz="half" idx="1"/>
          </p:nvPr>
        </p:nvSpPr>
        <p:spPr>
          <a:xfrm>
            <a:off x="468313" y="1196975"/>
            <a:ext cx="4167187" cy="4895850"/>
          </a:xfrm>
          <a:ln/>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zh-CN" altLang="en-US" sz="2800" dirty="0"/>
              <a:t>简介</a:t>
            </a:r>
            <a:endParaRPr lang="zh-CN" altLang="en-US" sz="2800" dirty="0"/>
          </a:p>
        </p:txBody>
      </p:sp>
      <p:sp>
        <p:nvSpPr>
          <p:cNvPr id="267276" name="Text Box 12"/>
          <p:cNvSpPr txBox="1"/>
          <p:nvPr/>
        </p:nvSpPr>
        <p:spPr>
          <a:xfrm>
            <a:off x="5110163" y="2373313"/>
            <a:ext cx="2351087" cy="650875"/>
          </a:xfrm>
          <a:prstGeom prst="rect">
            <a:avLst/>
          </a:prstGeom>
          <a:solidFill>
            <a:srgbClr val="CCCCFF">
              <a:alpha val="50195"/>
            </a:srgbClr>
          </a:solidFill>
          <a:ln w="9525" cap="flat" cmpd="sng">
            <a:solidFill>
              <a:schemeClr val="tx1"/>
            </a:solidFill>
            <a:prstDash val="solid"/>
            <a:miter/>
            <a:headEnd type="none" w="med" len="med"/>
            <a:tailEnd type="none" w="med" len="med"/>
          </a:ln>
        </p:spPr>
        <p:txBody>
          <a:bodyPr anchor="t" anchorCtr="0">
            <a:spAutoFit/>
          </a:bodyPr>
          <a:p>
            <a:pPr>
              <a:spcBef>
                <a:spcPct val="50000"/>
              </a:spcBef>
              <a:buClrTx/>
              <a:buFontTx/>
            </a:pPr>
            <a:r>
              <a:rPr lang="en-US" altLang="zh-CN" dirty="0">
                <a:latin typeface="华文新魏" panose="02010800040101010101" pitchFamily="2" charset="-122"/>
                <a:ea typeface="华文新魏" panose="02010800040101010101" pitchFamily="2" charset="-122"/>
              </a:rPr>
              <a:t>ARM7</a:t>
            </a:r>
            <a:r>
              <a:rPr lang="zh-CN" altLang="en-US" dirty="0">
                <a:latin typeface="华文新魏" panose="02010800040101010101" pitchFamily="2" charset="-122"/>
                <a:ea typeface="华文新魏" panose="02010800040101010101" pitchFamily="2" charset="-122"/>
              </a:rPr>
              <a:t>定义了局部总线的接口时序</a:t>
            </a:r>
            <a:endParaRPr lang="zh-CN" altLang="en-US" dirty="0">
              <a:latin typeface="华文新魏" panose="02010800040101010101" pitchFamily="2" charset="-122"/>
              <a:ea typeface="华文新魏" panose="02010800040101010101" pitchFamily="2" charset="-122"/>
            </a:endParaRPr>
          </a:p>
        </p:txBody>
      </p:sp>
      <p:sp>
        <p:nvSpPr>
          <p:cNvPr id="267277" name="Text Box 13"/>
          <p:cNvSpPr txBox="1"/>
          <p:nvPr/>
        </p:nvSpPr>
        <p:spPr>
          <a:xfrm>
            <a:off x="5076825" y="4659313"/>
            <a:ext cx="2613025" cy="650875"/>
          </a:xfrm>
          <a:prstGeom prst="rect">
            <a:avLst/>
          </a:prstGeom>
          <a:solidFill>
            <a:srgbClr val="CCCCFF">
              <a:alpha val="50195"/>
            </a:srgbClr>
          </a:solidFill>
          <a:ln w="9525" cap="flat" cmpd="sng">
            <a:solidFill>
              <a:schemeClr val="tx1"/>
            </a:solidFill>
            <a:prstDash val="solid"/>
            <a:miter/>
            <a:headEnd type="none" w="med" len="med"/>
            <a:tailEnd type="none" w="med" len="med"/>
          </a:ln>
        </p:spPr>
        <p:txBody>
          <a:bodyPr anchor="t" anchorCtr="0">
            <a:spAutoFit/>
          </a:bodyPr>
          <a:p>
            <a:pPr>
              <a:spcBef>
                <a:spcPct val="50000"/>
              </a:spcBef>
              <a:buClrTx/>
              <a:buFontTx/>
            </a:pPr>
            <a:r>
              <a:rPr lang="zh-CN" altLang="en-US" dirty="0">
                <a:latin typeface="华文新魏" panose="02010800040101010101" pitchFamily="2" charset="-122"/>
                <a:ea typeface="华文新魏" panose="02010800040101010101" pitchFamily="2" charset="-122"/>
              </a:rPr>
              <a:t>各芯片厂商制定了自己的接口时序</a:t>
            </a:r>
            <a:endParaRPr lang="zh-CN" altLang="en-US" dirty="0">
              <a:latin typeface="华文新魏" panose="02010800040101010101" pitchFamily="2" charset="-122"/>
              <a:ea typeface="华文新魏" panose="02010800040101010101" pitchFamily="2" charset="-122"/>
            </a:endParaRPr>
          </a:p>
        </p:txBody>
      </p:sp>
      <p:sp>
        <p:nvSpPr>
          <p:cNvPr id="267278" name="Freeform 14"/>
          <p:cNvSpPr/>
          <p:nvPr/>
        </p:nvSpPr>
        <p:spPr>
          <a:xfrm>
            <a:off x="5446713" y="2906713"/>
            <a:ext cx="261937" cy="914400"/>
          </a:xfrm>
          <a:custGeom>
            <a:avLst/>
            <a:gdLst/>
            <a:ahLst/>
            <a:cxnLst>
              <a:cxn ang="0">
                <a:pos x="2147483646" y="0"/>
              </a:cxn>
              <a:cxn ang="0">
                <a:pos x="2147483646" y="2147483646"/>
              </a:cxn>
              <a:cxn ang="0">
                <a:pos x="0" y="2147483646"/>
              </a:cxn>
            </a:cxnLst>
            <a:pathLst>
              <a:path w="144" h="576">
                <a:moveTo>
                  <a:pt x="144" y="0"/>
                </a:moveTo>
                <a:cubicBezTo>
                  <a:pt x="108" y="72"/>
                  <a:pt x="72" y="144"/>
                  <a:pt x="48" y="240"/>
                </a:cubicBezTo>
                <a:cubicBezTo>
                  <a:pt x="24" y="336"/>
                  <a:pt x="12" y="456"/>
                  <a:pt x="0" y="576"/>
                </a:cubicBezTo>
              </a:path>
            </a:pathLst>
          </a:custGeom>
          <a:noFill/>
          <a:ln w="28575" cap="flat" cmpd="sng">
            <a:solidFill>
              <a:srgbClr val="0000FF"/>
            </a:solidFill>
            <a:prstDash val="solid"/>
            <a:round/>
            <a:headEnd type="none" w="med" len="med"/>
            <a:tailEnd type="triangle" w="med" len="med"/>
          </a:ln>
        </p:spPr>
        <p:txBody>
          <a:bodyPr/>
          <a:p>
            <a:endParaRPr lang="zh-CN" altLang="en-US"/>
          </a:p>
        </p:txBody>
      </p:sp>
      <p:sp>
        <p:nvSpPr>
          <p:cNvPr id="267279" name="Freeform 15"/>
          <p:cNvSpPr/>
          <p:nvPr/>
        </p:nvSpPr>
        <p:spPr>
          <a:xfrm>
            <a:off x="7042150" y="3821113"/>
            <a:ext cx="304800" cy="914400"/>
          </a:xfrm>
          <a:custGeom>
            <a:avLst/>
            <a:gdLst/>
            <a:ahLst/>
            <a:cxnLst>
              <a:cxn ang="0">
                <a:pos x="0" y="2147483646"/>
              </a:cxn>
              <a:cxn ang="0">
                <a:pos x="2147483646" y="2147483646"/>
              </a:cxn>
              <a:cxn ang="0">
                <a:pos x="2147483646" y="0"/>
              </a:cxn>
            </a:cxnLst>
            <a:pathLst>
              <a:path w="168" h="576">
                <a:moveTo>
                  <a:pt x="0" y="576"/>
                </a:moveTo>
                <a:cubicBezTo>
                  <a:pt x="60" y="480"/>
                  <a:pt x="120" y="384"/>
                  <a:pt x="144" y="288"/>
                </a:cubicBezTo>
                <a:cubicBezTo>
                  <a:pt x="168" y="192"/>
                  <a:pt x="156" y="96"/>
                  <a:pt x="144" y="0"/>
                </a:cubicBezTo>
              </a:path>
            </a:pathLst>
          </a:custGeom>
          <a:noFill/>
          <a:ln w="28575" cap="flat" cmpd="sng">
            <a:solidFill>
              <a:srgbClr val="0000FF"/>
            </a:solidFill>
            <a:prstDash val="solid"/>
            <a:round/>
            <a:headEnd type="none" w="med" len="med"/>
            <a:tailEnd type="triangle" w="med" len="med"/>
          </a:ln>
        </p:spPr>
        <p:txBody>
          <a:bodyPr/>
          <a:p>
            <a:endParaRPr lang="zh-CN" altLang="en-US"/>
          </a:p>
        </p:txBody>
      </p:sp>
      <p:sp>
        <p:nvSpPr>
          <p:cNvPr id="267280" name="Text Box 16"/>
          <p:cNvSpPr txBox="1"/>
          <p:nvPr/>
        </p:nvSpPr>
        <p:spPr>
          <a:xfrm>
            <a:off x="5110163" y="1916113"/>
            <a:ext cx="2351087" cy="376237"/>
          </a:xfrm>
          <a:prstGeom prst="rect">
            <a:avLst/>
          </a:prstGeom>
          <a:solidFill>
            <a:srgbClr val="CCCCFF">
              <a:alpha val="50195"/>
            </a:srgbClr>
          </a:solidFill>
          <a:ln w="9525" cap="flat" cmpd="sng">
            <a:solidFill>
              <a:schemeClr val="tx1"/>
            </a:solidFill>
            <a:prstDash val="solid"/>
            <a:miter/>
            <a:headEnd type="none" w="med" len="med"/>
            <a:tailEnd type="none" w="med" len="med"/>
          </a:ln>
        </p:spPr>
        <p:txBody>
          <a:bodyPr anchor="t" anchorCtr="0">
            <a:spAutoFit/>
          </a:bodyPr>
          <a:p>
            <a:pPr algn="ctr">
              <a:spcBef>
                <a:spcPct val="50000"/>
              </a:spcBef>
              <a:buClrTx/>
              <a:buFontTx/>
            </a:pPr>
            <a:r>
              <a:rPr lang="en-US" altLang="zh-CN" dirty="0">
                <a:latin typeface="华文新魏" panose="02010800040101010101" pitchFamily="2" charset="-122"/>
                <a:ea typeface="华文新魏" panose="02010800040101010101" pitchFamily="2" charset="-122"/>
              </a:rPr>
              <a:t>ARM7</a:t>
            </a:r>
            <a:r>
              <a:rPr lang="zh-CN" altLang="en-US" dirty="0">
                <a:latin typeface="华文新魏" panose="02010800040101010101" pitchFamily="2" charset="-122"/>
                <a:ea typeface="华文新魏" panose="02010800040101010101" pitchFamily="2" charset="-122"/>
              </a:rPr>
              <a:t>局部总线</a:t>
            </a:r>
            <a:endParaRPr lang="zh-CN" altLang="en-US" dirty="0">
              <a:latin typeface="华文新魏" panose="02010800040101010101" pitchFamily="2" charset="-122"/>
              <a:ea typeface="华文新魏" panose="02010800040101010101" pitchFamily="2" charset="-122"/>
            </a:endParaRPr>
          </a:p>
        </p:txBody>
      </p:sp>
      <p:graphicFrame>
        <p:nvGraphicFramePr>
          <p:cNvPr id="116749" name="Object 26"/>
          <p:cNvGraphicFramePr>
            <a:graphicFrameLocks noGrp="1" noChangeAspect="1"/>
          </p:cNvGraphicFramePr>
          <p:nvPr>
            <p:ph sz="half" idx="2"/>
          </p:nvPr>
        </p:nvGraphicFramePr>
        <p:xfrm>
          <a:off x="539750" y="1628775"/>
          <a:ext cx="4022725" cy="4745038"/>
        </p:xfrm>
        <a:graphic>
          <a:graphicData uri="http://schemas.openxmlformats.org/presentationml/2006/ole">
            <mc:AlternateContent xmlns:mc="http://schemas.openxmlformats.org/markup-compatibility/2006">
              <mc:Choice xmlns:v="urn:schemas-microsoft-com:vml" Requires="v">
                <p:oleObj spid="_x0000_s3078" name="" r:id="rId1" imgW="4676775" imgH="5324475" progId="Paint.Picture">
                  <p:embed/>
                </p:oleObj>
              </mc:Choice>
              <mc:Fallback>
                <p:oleObj name="" r:id="rId1" imgW="4676775" imgH="5324475" progId="Paint.Picture">
                  <p:embed/>
                  <p:pic>
                    <p:nvPicPr>
                      <p:cNvPr id="0" name="图片 3077"/>
                      <p:cNvPicPr/>
                      <p:nvPr/>
                    </p:nvPicPr>
                    <p:blipFill>
                      <a:blip r:embed="rId2"/>
                      <a:stretch>
                        <a:fillRect/>
                      </a:stretch>
                    </p:blipFill>
                    <p:spPr>
                      <a:xfrm>
                        <a:off x="539750" y="1628775"/>
                        <a:ext cx="4022725" cy="4745038"/>
                      </a:xfrm>
                      <a:prstGeom prst="rect">
                        <a:avLst/>
                      </a:prstGeom>
                      <a:noFill/>
                      <a:ln w="38100">
                        <a:miter/>
                      </a:ln>
                    </p:spPr>
                  </p:pic>
                </p:oleObj>
              </mc:Fallback>
            </mc:AlternateContent>
          </a:graphicData>
        </a:graphic>
      </p:graphicFrame>
      <p:sp>
        <p:nvSpPr>
          <p:cNvPr id="267282" name="Text Box 18"/>
          <p:cNvSpPr txBox="1"/>
          <p:nvPr/>
        </p:nvSpPr>
        <p:spPr>
          <a:xfrm>
            <a:off x="4067175" y="6092825"/>
            <a:ext cx="4267200" cy="376238"/>
          </a:xfrm>
          <a:prstGeom prst="rect">
            <a:avLst/>
          </a:prstGeom>
          <a:solidFill>
            <a:srgbClr val="CCCCFF">
              <a:alpha val="50195"/>
            </a:srgbClr>
          </a:solidFill>
          <a:ln w="9525" cap="flat" cmpd="sng">
            <a:solidFill>
              <a:schemeClr val="tx1"/>
            </a:solidFill>
            <a:prstDash val="solid"/>
            <a:miter/>
            <a:headEnd type="none" w="med" len="med"/>
            <a:tailEnd type="none" w="med" len="med"/>
          </a:ln>
        </p:spPr>
        <p:txBody>
          <a:bodyPr anchor="t" anchorCtr="0">
            <a:spAutoFit/>
          </a:bodyPr>
          <a:p>
            <a:pPr algn="ctr">
              <a:spcBef>
                <a:spcPct val="50000"/>
              </a:spcBef>
              <a:buClrTx/>
              <a:buFontTx/>
            </a:pPr>
            <a:r>
              <a:rPr lang="zh-CN" altLang="en-US" dirty="0">
                <a:latin typeface="华文新魏" panose="02010800040101010101" pitchFamily="2" charset="-122"/>
                <a:ea typeface="华文新魏" panose="02010800040101010101" pitchFamily="2" charset="-122"/>
              </a:rPr>
              <a:t>一般在两者之间加入存储器控制器</a:t>
            </a:r>
            <a:endParaRPr lang="zh-CN" altLang="en-US" dirty="0">
              <a:latin typeface="华文新魏" panose="02010800040101010101" pitchFamily="2" charset="-122"/>
              <a:ea typeface="华文新魏" panose="02010800040101010101" pitchFamily="2" charset="-122"/>
            </a:endParaRPr>
          </a:p>
        </p:txBody>
      </p:sp>
      <p:sp>
        <p:nvSpPr>
          <p:cNvPr id="267281" name="Freeform 17"/>
          <p:cNvSpPr/>
          <p:nvPr/>
        </p:nvSpPr>
        <p:spPr>
          <a:xfrm>
            <a:off x="3702050" y="2039938"/>
            <a:ext cx="1778000" cy="1749425"/>
          </a:xfrm>
          <a:custGeom>
            <a:avLst/>
            <a:gdLst/>
            <a:ahLst/>
            <a:cxnLst>
              <a:cxn ang="0">
                <a:pos x="2147483646" y="2147483646"/>
              </a:cxn>
              <a:cxn ang="0">
                <a:pos x="2147483646" y="2147483646"/>
              </a:cxn>
              <a:cxn ang="0">
                <a:pos x="0" y="2147483646"/>
              </a:cxn>
            </a:cxnLst>
            <a:pathLst>
              <a:path w="528" h="930">
                <a:moveTo>
                  <a:pt x="528" y="18"/>
                </a:moveTo>
                <a:cubicBezTo>
                  <a:pt x="477" y="40"/>
                  <a:pt x="309" y="0"/>
                  <a:pt x="221" y="152"/>
                </a:cubicBezTo>
                <a:cubicBezTo>
                  <a:pt x="133" y="304"/>
                  <a:pt x="46" y="768"/>
                  <a:pt x="0" y="930"/>
                </a:cubicBezTo>
              </a:path>
            </a:pathLst>
          </a:custGeom>
          <a:noFill/>
          <a:ln w="28575" cap="flat" cmpd="sng">
            <a:solidFill>
              <a:srgbClr val="0000FF"/>
            </a:solidFill>
            <a:prstDash val="solid"/>
            <a:round/>
            <a:headEnd type="none" w="med" len="med"/>
            <a:tailEnd type="triangle"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67280"/>
                                        </p:tgtEl>
                                        <p:attrNameLst>
                                          <p:attrName>style.visibility</p:attrName>
                                        </p:attrNameLst>
                                      </p:cBhvr>
                                      <p:to>
                                        <p:strVal val="visible"/>
                                      </p:to>
                                    </p:set>
                                    <p:animEffect transition="in" filter="slide(fromRight)">
                                      <p:cBhvr>
                                        <p:cTn id="7" dur="500"/>
                                        <p:tgtEl>
                                          <p:spTgt spid="26728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67281"/>
                                        </p:tgtEl>
                                        <p:attrNameLst>
                                          <p:attrName>style.visibility</p:attrName>
                                        </p:attrNameLst>
                                      </p:cBhvr>
                                      <p:to>
                                        <p:strVal val="visible"/>
                                      </p:to>
                                    </p:set>
                                    <p:animEffect transition="in" filter="wipe(up)">
                                      <p:cBhvr>
                                        <p:cTn id="11" dur="500"/>
                                        <p:tgtEl>
                                          <p:spTgt spid="267281"/>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267271"/>
                                        </p:tgtEl>
                                        <p:attrNameLst>
                                          <p:attrName>style.visibility</p:attrName>
                                        </p:attrNameLst>
                                      </p:cBhvr>
                                      <p:to>
                                        <p:strVal val="visible"/>
                                      </p:to>
                                    </p:set>
                                    <p:anim calcmode="lin" valueType="num">
                                      <p:cBhvr additive="base">
                                        <p:cTn id="15" dur="500" fill="hold"/>
                                        <p:tgtEl>
                                          <p:spTgt spid="267271"/>
                                        </p:tgtEl>
                                        <p:attrNameLst>
                                          <p:attrName>ppt_x</p:attrName>
                                        </p:attrNameLst>
                                      </p:cBhvr>
                                      <p:tavLst>
                                        <p:tav tm="0">
                                          <p:val>
                                            <p:strVal val="1+#ppt_w/2"/>
                                          </p:val>
                                        </p:tav>
                                        <p:tav tm="100000">
                                          <p:val>
                                            <p:strVal val="#ppt_x"/>
                                          </p:val>
                                        </p:tav>
                                      </p:tavLst>
                                    </p:anim>
                                    <p:anim calcmode="lin" valueType="num">
                                      <p:cBhvr additive="base">
                                        <p:cTn id="16" dur="500" fill="hold"/>
                                        <p:tgtEl>
                                          <p:spTgt spid="267271"/>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12" presetClass="entr" presetSubtype="4" fill="hold" grpId="0" nodeType="afterEffect">
                                  <p:stCondLst>
                                    <p:cond delay="0"/>
                                  </p:stCondLst>
                                  <p:childTnLst>
                                    <p:set>
                                      <p:cBhvr>
                                        <p:cTn id="19" dur="1" fill="hold">
                                          <p:stCondLst>
                                            <p:cond delay="0"/>
                                          </p:stCondLst>
                                        </p:cTn>
                                        <p:tgtEl>
                                          <p:spTgt spid="267282"/>
                                        </p:tgtEl>
                                        <p:attrNameLst>
                                          <p:attrName>style.visibility</p:attrName>
                                        </p:attrNameLst>
                                      </p:cBhvr>
                                      <p:to>
                                        <p:strVal val="visible"/>
                                      </p:to>
                                    </p:set>
                                    <p:animEffect transition="in" filter="slide(fromBottom)">
                                      <p:cBhvr>
                                        <p:cTn id="20" dur="500"/>
                                        <p:tgtEl>
                                          <p:spTgt spid="267282"/>
                                        </p:tgtEl>
                                      </p:cBhvr>
                                    </p:animEffect>
                                  </p:childTnLst>
                                  <p:subTnLst>
                                    <p:set>
                                      <p:cBhvr override="childStyle">
                                        <p:cTn dur="1" fill="hold" display="0" masterRel="nextClick" afterEffect="1"/>
                                        <p:tgtEl>
                                          <p:spTgt spid="267282"/>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267270"/>
                                        </p:tgtEl>
                                        <p:attrNameLst>
                                          <p:attrName>style.visibility</p:attrName>
                                        </p:attrNameLst>
                                      </p:cBhvr>
                                      <p:to>
                                        <p:strVal val="visible"/>
                                      </p:to>
                                    </p:set>
                                    <p:animEffect transition="in" filter="slide(fromTop)">
                                      <p:cBhvr>
                                        <p:cTn id="25" dur="500"/>
                                        <p:tgtEl>
                                          <p:spTgt spid="267270"/>
                                        </p:tgtEl>
                                      </p:cBhvr>
                                    </p:animEffect>
                                  </p:childTnLst>
                                </p:cTn>
                              </p:par>
                            </p:childTnLst>
                          </p:cTn>
                        </p:par>
                        <p:par>
                          <p:cTn id="26" fill="hold">
                            <p:stCondLst>
                              <p:cond delay="500"/>
                            </p:stCondLst>
                            <p:childTnLst>
                              <p:par>
                                <p:cTn id="27" presetID="12" presetClass="entr" presetSubtype="8" fill="hold" grpId="0" nodeType="afterEffect">
                                  <p:stCondLst>
                                    <p:cond delay="0"/>
                                  </p:stCondLst>
                                  <p:childTnLst>
                                    <p:set>
                                      <p:cBhvr>
                                        <p:cTn id="28" dur="1" fill="hold">
                                          <p:stCondLst>
                                            <p:cond delay="0"/>
                                          </p:stCondLst>
                                        </p:cTn>
                                        <p:tgtEl>
                                          <p:spTgt spid="267273"/>
                                        </p:tgtEl>
                                        <p:attrNameLst>
                                          <p:attrName>style.visibility</p:attrName>
                                        </p:attrNameLst>
                                      </p:cBhvr>
                                      <p:to>
                                        <p:strVal val="visible"/>
                                      </p:to>
                                    </p:set>
                                    <p:animEffect transition="in" filter="slide(fromLeft)">
                                      <p:cBhvr>
                                        <p:cTn id="29" dur="500"/>
                                        <p:tgtEl>
                                          <p:spTgt spid="267273"/>
                                        </p:tgtEl>
                                      </p:cBhvr>
                                    </p:animEffect>
                                  </p:childTnLst>
                                </p:cTn>
                              </p:par>
                            </p:childTnLst>
                          </p:cTn>
                        </p:par>
                        <p:par>
                          <p:cTn id="30" fill="hold">
                            <p:stCondLst>
                              <p:cond delay="1000"/>
                            </p:stCondLst>
                            <p:childTnLst>
                              <p:par>
                                <p:cTn id="31" presetID="12" presetClass="entr" presetSubtype="2" fill="hold" grpId="0" nodeType="afterEffect">
                                  <p:stCondLst>
                                    <p:cond delay="0"/>
                                  </p:stCondLst>
                                  <p:childTnLst>
                                    <p:set>
                                      <p:cBhvr>
                                        <p:cTn id="32" dur="1" fill="hold">
                                          <p:stCondLst>
                                            <p:cond delay="0"/>
                                          </p:stCondLst>
                                        </p:cTn>
                                        <p:tgtEl>
                                          <p:spTgt spid="267276"/>
                                        </p:tgtEl>
                                        <p:attrNameLst>
                                          <p:attrName>style.visibility</p:attrName>
                                        </p:attrNameLst>
                                      </p:cBhvr>
                                      <p:to>
                                        <p:strVal val="visible"/>
                                      </p:to>
                                    </p:set>
                                    <p:animEffect transition="in" filter="slide(fromRight)">
                                      <p:cBhvr>
                                        <p:cTn id="33" dur="500"/>
                                        <p:tgtEl>
                                          <p:spTgt spid="267276"/>
                                        </p:tgtEl>
                                      </p:cBhvr>
                                    </p:animEffect>
                                  </p:childTnLst>
                                </p:cTn>
                              </p:par>
                            </p:childTnLst>
                          </p:cTn>
                        </p:par>
                        <p:par>
                          <p:cTn id="34" fill="hold">
                            <p:stCondLst>
                              <p:cond delay="1500"/>
                            </p:stCondLst>
                            <p:childTnLst>
                              <p:par>
                                <p:cTn id="35" presetID="22" presetClass="entr" presetSubtype="1" fill="hold" nodeType="afterEffect">
                                  <p:stCondLst>
                                    <p:cond delay="0"/>
                                  </p:stCondLst>
                                  <p:childTnLst>
                                    <p:set>
                                      <p:cBhvr>
                                        <p:cTn id="36" dur="1" fill="hold">
                                          <p:stCondLst>
                                            <p:cond delay="0"/>
                                          </p:stCondLst>
                                        </p:cTn>
                                        <p:tgtEl>
                                          <p:spTgt spid="267278"/>
                                        </p:tgtEl>
                                        <p:attrNameLst>
                                          <p:attrName>style.visibility</p:attrName>
                                        </p:attrNameLst>
                                      </p:cBhvr>
                                      <p:to>
                                        <p:strVal val="visible"/>
                                      </p:to>
                                    </p:set>
                                    <p:animEffect transition="in" filter="wipe(up)">
                                      <p:cBhvr>
                                        <p:cTn id="37" dur="500"/>
                                        <p:tgtEl>
                                          <p:spTgt spid="267278"/>
                                        </p:tgtEl>
                                      </p:cBhvr>
                                    </p:animEffect>
                                  </p:childTnLst>
                                </p:cTn>
                              </p:par>
                            </p:childTnLst>
                          </p:cTn>
                        </p:par>
                        <p:par>
                          <p:cTn id="38" fill="hold">
                            <p:stCondLst>
                              <p:cond delay="2000"/>
                            </p:stCondLst>
                            <p:childTnLst>
                              <p:par>
                                <p:cTn id="39" presetID="12" presetClass="entr" presetSubtype="8" fill="hold" grpId="0" nodeType="afterEffect">
                                  <p:stCondLst>
                                    <p:cond delay="0"/>
                                  </p:stCondLst>
                                  <p:childTnLst>
                                    <p:set>
                                      <p:cBhvr>
                                        <p:cTn id="40" dur="1" fill="hold">
                                          <p:stCondLst>
                                            <p:cond delay="0"/>
                                          </p:stCondLst>
                                        </p:cTn>
                                        <p:tgtEl>
                                          <p:spTgt spid="267272"/>
                                        </p:tgtEl>
                                        <p:attrNameLst>
                                          <p:attrName>style.visibility</p:attrName>
                                        </p:attrNameLst>
                                      </p:cBhvr>
                                      <p:to>
                                        <p:strVal val="visible"/>
                                      </p:to>
                                    </p:set>
                                    <p:animEffect transition="in" filter="slide(fromLeft)">
                                      <p:cBhvr>
                                        <p:cTn id="41" dur="500"/>
                                        <p:tgtEl>
                                          <p:spTgt spid="267272"/>
                                        </p:tgtEl>
                                      </p:cBhvr>
                                    </p:animEffect>
                                  </p:childTnLst>
                                </p:cTn>
                              </p:par>
                            </p:childTnLst>
                          </p:cTn>
                        </p:par>
                        <p:par>
                          <p:cTn id="42" fill="hold">
                            <p:stCondLst>
                              <p:cond delay="2500"/>
                            </p:stCondLst>
                            <p:childTnLst>
                              <p:par>
                                <p:cTn id="43" presetID="12" presetClass="entr" presetSubtype="8" fill="hold" grpId="0" nodeType="afterEffect">
                                  <p:stCondLst>
                                    <p:cond delay="0"/>
                                  </p:stCondLst>
                                  <p:childTnLst>
                                    <p:set>
                                      <p:cBhvr>
                                        <p:cTn id="44" dur="1" fill="hold">
                                          <p:stCondLst>
                                            <p:cond delay="0"/>
                                          </p:stCondLst>
                                        </p:cTn>
                                        <p:tgtEl>
                                          <p:spTgt spid="267277"/>
                                        </p:tgtEl>
                                        <p:attrNameLst>
                                          <p:attrName>style.visibility</p:attrName>
                                        </p:attrNameLst>
                                      </p:cBhvr>
                                      <p:to>
                                        <p:strVal val="visible"/>
                                      </p:to>
                                    </p:set>
                                    <p:animEffect transition="in" filter="slide(fromLeft)">
                                      <p:cBhvr>
                                        <p:cTn id="45" dur="500"/>
                                        <p:tgtEl>
                                          <p:spTgt spid="267277"/>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267279"/>
                                        </p:tgtEl>
                                        <p:attrNameLst>
                                          <p:attrName>style.visibility</p:attrName>
                                        </p:attrNameLst>
                                      </p:cBhvr>
                                      <p:to>
                                        <p:strVal val="visible"/>
                                      </p:to>
                                    </p:set>
                                    <p:animEffect transition="in" filter="wipe(down)">
                                      <p:cBhvr>
                                        <p:cTn id="49" dur="500"/>
                                        <p:tgtEl>
                                          <p:spTgt spid="267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0" grpId="0" animBg="1"/>
      <p:bldP spid="267271" grpId="0" animBg="1"/>
      <p:bldP spid="267272" grpId="0" animBg="1"/>
      <p:bldP spid="267273" grpId="0" animBg="1"/>
      <p:bldP spid="267276" grpId="0" animBg="1"/>
      <p:bldP spid="267277" grpId="0" animBg="1"/>
      <p:bldP spid="267280" grpId="0" animBg="1"/>
      <p:bldP spid="26728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2"/>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117762"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68292" name="Text Box 4"/>
          <p:cNvSpPr txBox="1"/>
          <p:nvPr/>
        </p:nvSpPr>
        <p:spPr>
          <a:xfrm>
            <a:off x="323850" y="2276475"/>
            <a:ext cx="7010400" cy="301307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处理器将存储器看作是一个从</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开始的线性递增的字节集合：</a:t>
            </a:r>
            <a:endParaRPr lang="zh-CN" altLang="en-US" sz="2400" dirty="0">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字节</a:t>
            </a:r>
            <a:r>
              <a:rPr lang="en-US" altLang="zh-CN" sz="2400" dirty="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到</a:t>
            </a:r>
            <a:r>
              <a:rPr lang="en-US" altLang="zh-CN" sz="2400" dirty="0">
                <a:solidFill>
                  <a:schemeClr val="tx1"/>
                </a:solidFill>
                <a:latin typeface="华文新魏" panose="02010800040101010101" pitchFamily="2" charset="-122"/>
                <a:ea typeface="华文新魏" panose="02010800040101010101" pitchFamily="2" charset="-122"/>
              </a:rPr>
              <a:t>3</a:t>
            </a:r>
            <a:r>
              <a:rPr lang="zh-CN" altLang="en-US" sz="2400" dirty="0">
                <a:solidFill>
                  <a:schemeClr val="tx1"/>
                </a:solidFill>
                <a:latin typeface="华文新魏" panose="02010800040101010101" pitchFamily="2" charset="-122"/>
                <a:ea typeface="华文新魏" panose="02010800040101010101" pitchFamily="2" charset="-122"/>
              </a:rPr>
              <a:t>保存第</a:t>
            </a:r>
            <a:r>
              <a:rPr lang="en-US" altLang="zh-CN" sz="2400" dirty="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个存储的字</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字节</a:t>
            </a:r>
            <a:r>
              <a:rPr lang="en-US" altLang="zh-CN" sz="2400" dirty="0">
                <a:solidFill>
                  <a:schemeClr val="tx1"/>
                </a:solidFill>
                <a:latin typeface="华文新魏" panose="02010800040101010101" pitchFamily="2" charset="-122"/>
                <a:ea typeface="华文新魏" panose="02010800040101010101" pitchFamily="2" charset="-122"/>
              </a:rPr>
              <a:t>4</a:t>
            </a:r>
            <a:r>
              <a:rPr lang="zh-CN" altLang="en-US" sz="2400" dirty="0">
                <a:solidFill>
                  <a:schemeClr val="tx1"/>
                </a:solidFill>
                <a:latin typeface="华文新魏" panose="02010800040101010101" pitchFamily="2" charset="-122"/>
                <a:ea typeface="华文新魏" panose="02010800040101010101" pitchFamily="2" charset="-122"/>
              </a:rPr>
              <a:t>到</a:t>
            </a:r>
            <a:r>
              <a:rPr lang="en-US" altLang="zh-CN" sz="2400" dirty="0">
                <a:solidFill>
                  <a:schemeClr val="tx1"/>
                </a:solidFill>
                <a:latin typeface="华文新魏" panose="02010800040101010101" pitchFamily="2" charset="-122"/>
                <a:ea typeface="华文新魏" panose="02010800040101010101" pitchFamily="2" charset="-122"/>
              </a:rPr>
              <a:t>7</a:t>
            </a:r>
            <a:r>
              <a:rPr lang="zh-CN" altLang="en-US" sz="2400" dirty="0">
                <a:solidFill>
                  <a:schemeClr val="tx1"/>
                </a:solidFill>
                <a:latin typeface="华文新魏" panose="02010800040101010101" pitchFamily="2" charset="-122"/>
                <a:ea typeface="华文新魏" panose="02010800040101010101" pitchFamily="2" charset="-122"/>
              </a:rPr>
              <a:t>保存第</a:t>
            </a:r>
            <a:r>
              <a:rPr lang="en-US" altLang="zh-CN" sz="2400" dirty="0">
                <a:solidFill>
                  <a:schemeClr val="tx1"/>
                </a:solidFill>
                <a:latin typeface="华文新魏" panose="02010800040101010101" pitchFamily="2" charset="-122"/>
                <a:ea typeface="华文新魏" panose="02010800040101010101" pitchFamily="2" charset="-122"/>
              </a:rPr>
              <a:t>2</a:t>
            </a:r>
            <a:r>
              <a:rPr lang="zh-CN" altLang="en-US" sz="2400" dirty="0">
                <a:solidFill>
                  <a:schemeClr val="tx1"/>
                </a:solidFill>
                <a:latin typeface="华文新魏" panose="02010800040101010101" pitchFamily="2" charset="-122"/>
                <a:ea typeface="华文新魏" panose="02010800040101010101" pitchFamily="2" charset="-122"/>
              </a:rPr>
              <a:t>个存储的字</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字节</a:t>
            </a:r>
            <a:r>
              <a:rPr lang="en-US" altLang="zh-CN" sz="2400" dirty="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到</a:t>
            </a:r>
            <a:r>
              <a:rPr lang="en-US" altLang="zh-CN" sz="2400" dirty="0">
                <a:solidFill>
                  <a:schemeClr val="tx1"/>
                </a:solidFill>
                <a:latin typeface="华文新魏" panose="02010800040101010101" pitchFamily="2" charset="-122"/>
                <a:ea typeface="华文新魏" panose="02010800040101010101" pitchFamily="2" charset="-122"/>
              </a:rPr>
              <a:t>11</a:t>
            </a:r>
            <a:r>
              <a:rPr lang="zh-CN" altLang="en-US" sz="2400" dirty="0">
                <a:solidFill>
                  <a:schemeClr val="tx1"/>
                </a:solidFill>
                <a:latin typeface="华文新魏" panose="02010800040101010101" pitchFamily="2" charset="-122"/>
                <a:ea typeface="华文新魏" panose="02010800040101010101" pitchFamily="2" charset="-122"/>
              </a:rPr>
              <a:t>保存第</a:t>
            </a:r>
            <a:r>
              <a:rPr lang="en-US" altLang="zh-CN" sz="2400" dirty="0">
                <a:solidFill>
                  <a:schemeClr val="tx1"/>
                </a:solidFill>
                <a:latin typeface="华文新魏" panose="02010800040101010101" pitchFamily="2" charset="-122"/>
                <a:ea typeface="华文新魏" panose="02010800040101010101" pitchFamily="2" charset="-122"/>
              </a:rPr>
              <a:t>3</a:t>
            </a:r>
            <a:r>
              <a:rPr lang="zh-CN" altLang="en-US" sz="2400" dirty="0">
                <a:solidFill>
                  <a:schemeClr val="tx1"/>
                </a:solidFill>
                <a:latin typeface="华文新魏" panose="02010800040101010101" pitchFamily="2" charset="-122"/>
                <a:ea typeface="华文新魏" panose="02010800040101010101" pitchFamily="2" charset="-122"/>
              </a:rPr>
              <a:t>个存储的字</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依此类推 </a:t>
            </a:r>
            <a:r>
              <a:rPr lang="en-US" altLang="zh-CN" sz="2400" dirty="0">
                <a:solidFill>
                  <a:schemeClr val="tx1"/>
                </a:solidFill>
                <a:latin typeface="Times New Roman" panose="02020603050405020304" pitchFamily="18" charset="0"/>
                <a:ea typeface="华文新魏" panose="02010800040101010101" pitchFamily="2" charset="-122"/>
              </a:rPr>
              <a:t>…</a:t>
            </a:r>
            <a:endParaRPr lang="en-US" altLang="zh-CN" sz="2400" dirty="0">
              <a:solidFill>
                <a:schemeClr val="tx1"/>
              </a:solidFill>
              <a:latin typeface="华文新魏" panose="02010800040101010101" pitchFamily="2" charset="-122"/>
              <a:ea typeface="华文新魏" panose="02010800040101010101" pitchFamily="2" charset="-122"/>
            </a:endParaRPr>
          </a:p>
        </p:txBody>
      </p:sp>
      <p:sp>
        <p:nvSpPr>
          <p:cNvPr id="117764" name="Rectangle 7"/>
          <p:cNvSpPr/>
          <p:nvPr/>
        </p:nvSpPr>
        <p:spPr>
          <a:xfrm>
            <a:off x="5797550" y="509270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65" name="Rectangle 8"/>
          <p:cNvSpPr/>
          <p:nvPr/>
        </p:nvSpPr>
        <p:spPr>
          <a:xfrm>
            <a:off x="6559550" y="509270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66" name="Rectangle 9"/>
          <p:cNvSpPr/>
          <p:nvPr/>
        </p:nvSpPr>
        <p:spPr>
          <a:xfrm>
            <a:off x="7321550" y="509270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67" name="Rectangle 10"/>
          <p:cNvSpPr/>
          <p:nvPr/>
        </p:nvSpPr>
        <p:spPr>
          <a:xfrm>
            <a:off x="8083550" y="509270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68" name="Text Box 11"/>
          <p:cNvSpPr txBox="1"/>
          <p:nvPr/>
        </p:nvSpPr>
        <p:spPr>
          <a:xfrm>
            <a:off x="5459413" y="5870575"/>
            <a:ext cx="990600" cy="366713"/>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地址</a:t>
            </a:r>
            <a:r>
              <a:rPr lang="en-US" altLang="zh-CN" dirty="0">
                <a:latin typeface="Times New Roman" panose="02020603050405020304" pitchFamily="18" charset="0"/>
                <a:ea typeface="宋体" panose="02010600030101010101" pitchFamily="2" charset="-122"/>
              </a:rPr>
              <a:t>A</a:t>
            </a:r>
            <a:endParaRPr lang="en-US" altLang="zh-CN" dirty="0">
              <a:latin typeface="Times New Roman" panose="02020603050405020304" pitchFamily="18" charset="0"/>
              <a:ea typeface="宋体" panose="02010600030101010101" pitchFamily="2" charset="-122"/>
            </a:endParaRPr>
          </a:p>
        </p:txBody>
      </p:sp>
      <p:sp>
        <p:nvSpPr>
          <p:cNvPr id="117769" name="Text Box 12"/>
          <p:cNvSpPr txBox="1"/>
          <p:nvPr/>
        </p:nvSpPr>
        <p:spPr>
          <a:xfrm>
            <a:off x="6297613" y="5870575"/>
            <a:ext cx="1066800" cy="366713"/>
          </a:xfrm>
          <a:prstGeom prst="rect">
            <a:avLst/>
          </a:prstGeom>
          <a:no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A+1</a:t>
            </a:r>
            <a:endParaRPr lang="en-US" altLang="zh-CN" dirty="0">
              <a:latin typeface="Times New Roman" panose="02020603050405020304" pitchFamily="18" charset="0"/>
              <a:ea typeface="宋体" panose="02010600030101010101" pitchFamily="2" charset="-122"/>
            </a:endParaRPr>
          </a:p>
        </p:txBody>
      </p:sp>
      <p:sp>
        <p:nvSpPr>
          <p:cNvPr id="117770" name="Text Box 13"/>
          <p:cNvSpPr txBox="1"/>
          <p:nvPr/>
        </p:nvSpPr>
        <p:spPr>
          <a:xfrm>
            <a:off x="7059613" y="5870575"/>
            <a:ext cx="1066800" cy="366713"/>
          </a:xfrm>
          <a:prstGeom prst="rect">
            <a:avLst/>
          </a:prstGeom>
          <a:no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A+2</a:t>
            </a:r>
            <a:endParaRPr lang="en-US" altLang="zh-CN" dirty="0">
              <a:latin typeface="Times New Roman" panose="02020603050405020304" pitchFamily="18" charset="0"/>
              <a:ea typeface="宋体" panose="02010600030101010101" pitchFamily="2" charset="-122"/>
            </a:endParaRPr>
          </a:p>
        </p:txBody>
      </p:sp>
      <p:sp>
        <p:nvSpPr>
          <p:cNvPr id="117771" name="Text Box 14"/>
          <p:cNvSpPr txBox="1"/>
          <p:nvPr/>
        </p:nvSpPr>
        <p:spPr>
          <a:xfrm>
            <a:off x="7897813" y="5870575"/>
            <a:ext cx="1066800" cy="366713"/>
          </a:xfrm>
          <a:prstGeom prst="rect">
            <a:avLst/>
          </a:prstGeom>
          <a:no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A+3</a:t>
            </a:r>
            <a:endParaRPr lang="en-US" altLang="zh-CN" dirty="0">
              <a:latin typeface="Times New Roman" panose="02020603050405020304" pitchFamily="18" charset="0"/>
              <a:ea typeface="宋体" panose="02010600030101010101" pitchFamily="2" charset="-122"/>
            </a:endParaRPr>
          </a:p>
        </p:txBody>
      </p:sp>
      <p:sp>
        <p:nvSpPr>
          <p:cNvPr id="117772" name="Rectangle 15"/>
          <p:cNvSpPr/>
          <p:nvPr/>
        </p:nvSpPr>
        <p:spPr>
          <a:xfrm>
            <a:off x="5797550" y="45815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3" name="Rectangle 16"/>
          <p:cNvSpPr/>
          <p:nvPr/>
        </p:nvSpPr>
        <p:spPr>
          <a:xfrm>
            <a:off x="6559550" y="45815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4" name="Rectangle 17"/>
          <p:cNvSpPr/>
          <p:nvPr/>
        </p:nvSpPr>
        <p:spPr>
          <a:xfrm>
            <a:off x="7321550" y="45815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5" name="Rectangle 18"/>
          <p:cNvSpPr/>
          <p:nvPr/>
        </p:nvSpPr>
        <p:spPr>
          <a:xfrm>
            <a:off x="8083550" y="45815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6" name="Rectangle 19"/>
          <p:cNvSpPr/>
          <p:nvPr/>
        </p:nvSpPr>
        <p:spPr>
          <a:xfrm>
            <a:off x="5797550" y="40481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7" name="Rectangle 20"/>
          <p:cNvSpPr/>
          <p:nvPr/>
        </p:nvSpPr>
        <p:spPr>
          <a:xfrm>
            <a:off x="6559550" y="40481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8" name="Rectangle 21"/>
          <p:cNvSpPr/>
          <p:nvPr/>
        </p:nvSpPr>
        <p:spPr>
          <a:xfrm>
            <a:off x="7321550" y="40481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79" name="Rectangle 22"/>
          <p:cNvSpPr/>
          <p:nvPr/>
        </p:nvSpPr>
        <p:spPr>
          <a:xfrm>
            <a:off x="8083550" y="4048125"/>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80" name="Rectangle 23"/>
          <p:cNvSpPr/>
          <p:nvPr/>
        </p:nvSpPr>
        <p:spPr>
          <a:xfrm>
            <a:off x="5797550" y="353695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81" name="Rectangle 24"/>
          <p:cNvSpPr/>
          <p:nvPr/>
        </p:nvSpPr>
        <p:spPr>
          <a:xfrm>
            <a:off x="6559550" y="353695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82" name="Rectangle 25"/>
          <p:cNvSpPr/>
          <p:nvPr/>
        </p:nvSpPr>
        <p:spPr>
          <a:xfrm>
            <a:off x="7321550" y="353695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83" name="Rectangle 26"/>
          <p:cNvSpPr/>
          <p:nvPr/>
        </p:nvSpPr>
        <p:spPr>
          <a:xfrm>
            <a:off x="8083550" y="3536950"/>
            <a:ext cx="762000" cy="533400"/>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7784" name="Text Box 28"/>
          <p:cNvSpPr txBox="1"/>
          <p:nvPr/>
        </p:nvSpPr>
        <p:spPr>
          <a:xfrm>
            <a:off x="5472113" y="5367338"/>
            <a:ext cx="468312" cy="366712"/>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0</a:t>
            </a:r>
            <a:endParaRPr lang="en-US" altLang="zh-CN" dirty="0">
              <a:latin typeface="Tahoma" panose="020B0604030504040204" pitchFamily="34" charset="0"/>
              <a:ea typeface="宋体" panose="02010600030101010101" pitchFamily="2" charset="-122"/>
            </a:endParaRPr>
          </a:p>
        </p:txBody>
      </p:sp>
      <p:sp>
        <p:nvSpPr>
          <p:cNvPr id="117785" name="Text Box 29"/>
          <p:cNvSpPr txBox="1"/>
          <p:nvPr/>
        </p:nvSpPr>
        <p:spPr>
          <a:xfrm>
            <a:off x="5472113" y="4933950"/>
            <a:ext cx="468312" cy="366713"/>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4</a:t>
            </a:r>
            <a:endParaRPr lang="en-US" altLang="zh-CN" dirty="0">
              <a:latin typeface="Tahoma" panose="020B0604030504040204" pitchFamily="34" charset="0"/>
              <a:ea typeface="宋体" panose="02010600030101010101" pitchFamily="2" charset="-122"/>
            </a:endParaRPr>
          </a:p>
        </p:txBody>
      </p:sp>
      <p:sp>
        <p:nvSpPr>
          <p:cNvPr id="117786" name="Line 30"/>
          <p:cNvSpPr/>
          <p:nvPr/>
        </p:nvSpPr>
        <p:spPr>
          <a:xfrm flipV="1">
            <a:off x="5797550" y="2997200"/>
            <a:ext cx="0" cy="576263"/>
          </a:xfrm>
          <a:prstGeom prst="line">
            <a:avLst/>
          </a:prstGeom>
          <a:ln w="9525" cap="flat" cmpd="sng">
            <a:solidFill>
              <a:schemeClr val="tx1"/>
            </a:solidFill>
            <a:prstDash val="solid"/>
            <a:round/>
            <a:headEnd type="none" w="med" len="med"/>
            <a:tailEnd type="none" w="med" len="med"/>
          </a:ln>
        </p:spPr>
      </p:sp>
      <p:sp>
        <p:nvSpPr>
          <p:cNvPr id="117787" name="Line 31"/>
          <p:cNvSpPr/>
          <p:nvPr/>
        </p:nvSpPr>
        <p:spPr>
          <a:xfrm flipV="1">
            <a:off x="8821738" y="2924175"/>
            <a:ext cx="0" cy="576263"/>
          </a:xfrm>
          <a:prstGeom prst="line">
            <a:avLst/>
          </a:prstGeom>
          <a:ln w="9525" cap="flat" cmpd="sng">
            <a:solidFill>
              <a:schemeClr val="tx1"/>
            </a:solidFill>
            <a:prstDash val="solid"/>
            <a:round/>
            <a:headEnd type="none" w="med" len="med"/>
            <a:tailEnd type="none" w="med" len="med"/>
          </a:ln>
        </p:spPr>
      </p:sp>
      <p:sp>
        <p:nvSpPr>
          <p:cNvPr id="117788" name="Text Box 32"/>
          <p:cNvSpPr txBox="1"/>
          <p:nvPr/>
        </p:nvSpPr>
        <p:spPr>
          <a:xfrm>
            <a:off x="7108825" y="2851150"/>
            <a:ext cx="488950" cy="649288"/>
          </a:xfrm>
          <a:prstGeom prst="rect">
            <a:avLst/>
          </a:prstGeom>
          <a:noFill/>
          <a:ln w="9525">
            <a:noFill/>
          </a:ln>
        </p:spPr>
        <p:txBody>
          <a:bodyPr vert="eaVert" anchor="t" anchorCtr="0">
            <a:spAutoFit/>
          </a:bodyPr>
          <a:p>
            <a:pPr>
              <a:spcBef>
                <a:spcPct val="50000"/>
              </a:spcBef>
              <a:buClrTx/>
              <a:buFontTx/>
            </a:pPr>
            <a:r>
              <a:rPr lang="en-US" altLang="zh-CN" sz="2000" dirty="0">
                <a:latin typeface="Arial" panose="020B0604020202020204" pitchFamily="34" charset="0"/>
                <a:ea typeface="宋体" panose="02010600030101010101" pitchFamily="2" charset="-122"/>
              </a:rPr>
              <a:t>……</a:t>
            </a:r>
            <a:endParaRPr lang="en-US" altLang="zh-CN" sz="2000" dirty="0">
              <a:latin typeface="Tahoma" panose="020B0604030504040204" pitchFamily="34" charset="0"/>
              <a:ea typeface="宋体" panose="02010600030101010101" pitchFamily="2" charset="-122"/>
            </a:endParaRPr>
          </a:p>
        </p:txBody>
      </p:sp>
      <p:sp>
        <p:nvSpPr>
          <p:cNvPr id="117789" name="Text Box 33"/>
          <p:cNvSpPr txBox="1"/>
          <p:nvPr/>
        </p:nvSpPr>
        <p:spPr>
          <a:xfrm>
            <a:off x="5472113" y="4357688"/>
            <a:ext cx="468312" cy="366712"/>
          </a:xfrm>
          <a:prstGeom prst="rect">
            <a:avLst/>
          </a:prstGeom>
          <a:noFill/>
          <a:ln w="9525">
            <a:noFill/>
          </a:ln>
        </p:spPr>
        <p:txBody>
          <a:bodyPr anchor="t" anchorCtr="0">
            <a:spAutoFit/>
          </a:bodyPr>
          <a:p>
            <a:pPr>
              <a:spcBef>
                <a:spcPct val="50000"/>
              </a:spcBef>
              <a:buClrTx/>
              <a:buFontTx/>
            </a:pPr>
            <a:r>
              <a:rPr lang="en-US" altLang="zh-CN" dirty="0">
                <a:latin typeface="Tahoma" panose="020B0604030504040204" pitchFamily="34" charset="0"/>
                <a:ea typeface="宋体" panose="02010600030101010101" pitchFamily="2" charset="-122"/>
              </a:rPr>
              <a:t>8</a:t>
            </a:r>
            <a:endParaRPr lang="en-US" altLang="zh-CN" dirty="0">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68292"/>
                                        </p:tgtEl>
                                        <p:attrNameLst>
                                          <p:attrName>style.visibility</p:attrName>
                                        </p:attrNameLst>
                                      </p:cBhvr>
                                      <p:to>
                                        <p:strVal val="visible"/>
                                      </p:to>
                                    </p:set>
                                    <p:animEffect transition="in" filter="box(in)">
                                      <p:cBhvr>
                                        <p:cTn id="7" dur="500"/>
                                        <p:tgtEl>
                                          <p:spTgt spid="268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2"/>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118786"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简介</a:t>
            </a:r>
            <a:endParaRPr lang="zh-CN" altLang="en-US" dirty="0"/>
          </a:p>
        </p:txBody>
      </p:sp>
      <p:sp>
        <p:nvSpPr>
          <p:cNvPr id="269316" name="Text Box 4"/>
          <p:cNvSpPr txBox="1"/>
          <p:nvPr/>
        </p:nvSpPr>
        <p:spPr>
          <a:xfrm>
            <a:off x="1258888" y="2636838"/>
            <a:ext cx="7010400" cy="1917700"/>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ARM7TDMI</a:t>
            </a:r>
            <a:r>
              <a:rPr lang="zh-CN" altLang="en-US" sz="2400" dirty="0">
                <a:latin typeface="华文新魏" panose="02010800040101010101" pitchFamily="2" charset="-122"/>
                <a:ea typeface="华文新魏" panose="02010800040101010101" pitchFamily="2" charset="-122"/>
              </a:rPr>
              <a:t>处理器可以将存储器中的字以下列格式存储：</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大端格式（</a:t>
            </a:r>
            <a:r>
              <a:rPr lang="en-US" altLang="zh-CN" sz="2400" dirty="0">
                <a:latin typeface="华文新魏" panose="02010800040101010101" pitchFamily="2" charset="-122"/>
                <a:ea typeface="华文新魏" panose="02010800040101010101" pitchFamily="2" charset="-122"/>
              </a:rPr>
              <a:t>Big-endian</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小端格式（</a:t>
            </a:r>
            <a:r>
              <a:rPr lang="en-US" altLang="zh-CN" sz="2400" dirty="0">
                <a:latin typeface="华文新魏" panose="02010800040101010101" pitchFamily="2" charset="-122"/>
                <a:ea typeface="华文新魏" panose="02010800040101010101" pitchFamily="2" charset="-122"/>
              </a:rPr>
              <a:t>Little-endian</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69316"/>
                                        </p:tgtEl>
                                        <p:attrNameLst>
                                          <p:attrName>style.visibility</p:attrName>
                                        </p:attrNameLst>
                                      </p:cBhvr>
                                      <p:to>
                                        <p:strVal val="visible"/>
                                      </p:to>
                                    </p:set>
                                    <p:animEffect transition="in" filter="box(in)">
                                      <p:cBhvr>
                                        <p:cTn id="7" dur="500"/>
                                        <p:tgtEl>
                                          <p:spTgt spid="269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2"/>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331779"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存储器格式</a:t>
            </a:r>
            <a:endParaRPr lang="zh-CN" altLang="en-US" dirty="0"/>
          </a:p>
        </p:txBody>
      </p:sp>
      <p:sp>
        <p:nvSpPr>
          <p:cNvPr id="331780" name="Text Box 4"/>
          <p:cNvSpPr txBox="1"/>
          <p:nvPr/>
        </p:nvSpPr>
        <p:spPr>
          <a:xfrm>
            <a:off x="1219200" y="2349500"/>
            <a:ext cx="7010400" cy="3378200"/>
          </a:xfrm>
          <a:prstGeom prst="rect">
            <a:avLst/>
          </a:prstGeom>
          <a:noFill/>
          <a:ln w="9525">
            <a:noFill/>
          </a:ln>
        </p:spPr>
        <p:txBody>
          <a:bodyPr anchor="t" anchorCtr="0">
            <a:spAutoFit/>
          </a:bodyPr>
          <a:p>
            <a:pPr algn="just">
              <a:spcBef>
                <a:spcPct val="50000"/>
              </a:spcBef>
              <a:buClrTx/>
              <a:buFontTx/>
            </a:pPr>
            <a:r>
              <a:rPr lang="zh-CN" altLang="en-US" sz="2400" dirty="0">
                <a:latin typeface="华文新魏" panose="02010800040101010101" pitchFamily="2" charset="-122"/>
                <a:ea typeface="华文新魏" panose="02010800040101010101" pitchFamily="2" charset="-122"/>
              </a:rPr>
              <a:t>地址空间的规则：</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位于地址</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的字包含的字节位于地址</a:t>
            </a:r>
            <a:r>
              <a:rPr lang="en-US" altLang="zh-CN" sz="2400" dirty="0">
                <a:latin typeface="华文新魏" panose="02010800040101010101" pitchFamily="2" charset="-122"/>
                <a:ea typeface="华文新魏" panose="02010800040101010101" pitchFamily="2" charset="-122"/>
              </a:rPr>
              <a:t>A,A+1,A+2</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A+3</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位于地址</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的半字包含的字节位于地址</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A+1</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位于地址</a:t>
            </a:r>
            <a:r>
              <a:rPr lang="en-US" altLang="zh-CN" sz="2400" dirty="0">
                <a:latin typeface="华文新魏" panose="02010800040101010101" pitchFamily="2" charset="-122"/>
                <a:ea typeface="华文新魏" panose="02010800040101010101" pitchFamily="2" charset="-122"/>
              </a:rPr>
              <a:t>A+2</a:t>
            </a:r>
            <a:r>
              <a:rPr lang="zh-CN" altLang="en-US" sz="2400" dirty="0">
                <a:latin typeface="华文新魏" panose="02010800040101010101" pitchFamily="2" charset="-122"/>
                <a:ea typeface="华文新魏" panose="02010800040101010101" pitchFamily="2" charset="-122"/>
              </a:rPr>
              <a:t>的半字包含的字节位于地址</a:t>
            </a:r>
            <a:r>
              <a:rPr lang="en-US" altLang="zh-CN" sz="2400" dirty="0">
                <a:latin typeface="华文新魏" panose="02010800040101010101" pitchFamily="2" charset="-122"/>
                <a:ea typeface="华文新魏" panose="02010800040101010101" pitchFamily="2" charset="-122"/>
              </a:rPr>
              <a:t>A+2</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A+3</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位于地址</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的字包含的半字位于地址</a:t>
            </a:r>
            <a:r>
              <a:rPr lang="en-US" altLang="zh-CN" sz="2400" dirty="0">
                <a:latin typeface="华文新魏" panose="02010800040101010101" pitchFamily="2" charset="-122"/>
                <a:ea typeface="华文新魏" panose="02010800040101010101" pitchFamily="2" charset="-122"/>
              </a:rPr>
              <a:t>A</a:t>
            </a:r>
            <a:r>
              <a:rPr lang="zh-CN" altLang="en-US" sz="2400" dirty="0">
                <a:latin typeface="华文新魏" panose="02010800040101010101" pitchFamily="2" charset="-122"/>
                <a:ea typeface="华文新魏" panose="02010800040101010101" pitchFamily="2" charset="-122"/>
              </a:rPr>
              <a:t>和</a:t>
            </a:r>
            <a:r>
              <a:rPr lang="en-US" altLang="zh-CN" sz="2400" dirty="0">
                <a:latin typeface="华文新魏" panose="02010800040101010101" pitchFamily="2" charset="-122"/>
                <a:ea typeface="华文新魏" panose="02010800040101010101" pitchFamily="2" charset="-122"/>
              </a:rPr>
              <a:t>A+2</a:t>
            </a:r>
            <a:r>
              <a:rPr lang="zh-CN" altLang="en-US" sz="2400" dirty="0">
                <a:latin typeface="华文新魏" panose="02010800040101010101" pitchFamily="2" charset="-122"/>
                <a:ea typeface="华文新魏" panose="02010800040101010101" pitchFamily="2" charset="-122"/>
              </a:rPr>
              <a:t>；</a:t>
            </a:r>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Times New Roman" panose="02020603050405020304" pitchFamily="18" charset="0"/>
            </a:endParaRPr>
          </a:p>
        </p:txBody>
      </p:sp>
      <p:grpSp>
        <p:nvGrpSpPr>
          <p:cNvPr id="2" name="Group 5"/>
          <p:cNvGrpSpPr/>
          <p:nvPr/>
        </p:nvGrpSpPr>
        <p:grpSpPr>
          <a:xfrm>
            <a:off x="2514600" y="2806700"/>
            <a:ext cx="4343400" cy="2743200"/>
            <a:chOff x="1584" y="2016"/>
            <a:chExt cx="2736" cy="1728"/>
          </a:xfrm>
        </p:grpSpPr>
        <p:sp>
          <p:nvSpPr>
            <p:cNvPr id="119813" name="Rectangle 6"/>
            <p:cNvSpPr/>
            <p:nvPr/>
          </p:nvSpPr>
          <p:spPr>
            <a:xfrm>
              <a:off x="1584" y="2016"/>
              <a:ext cx="2736" cy="172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19814" name="Rectangle 7"/>
            <p:cNvSpPr/>
            <p:nvPr/>
          </p:nvSpPr>
          <p:spPr>
            <a:xfrm>
              <a:off x="2016" y="2928"/>
              <a:ext cx="480" cy="33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9815" name="Rectangle 8"/>
            <p:cNvSpPr/>
            <p:nvPr/>
          </p:nvSpPr>
          <p:spPr>
            <a:xfrm>
              <a:off x="2496" y="2928"/>
              <a:ext cx="480" cy="33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9816" name="Rectangle 9"/>
            <p:cNvSpPr/>
            <p:nvPr/>
          </p:nvSpPr>
          <p:spPr>
            <a:xfrm>
              <a:off x="2976" y="2928"/>
              <a:ext cx="480" cy="33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9817" name="Rectangle 10"/>
            <p:cNvSpPr/>
            <p:nvPr/>
          </p:nvSpPr>
          <p:spPr>
            <a:xfrm>
              <a:off x="3456" y="2928"/>
              <a:ext cx="480" cy="336"/>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zh-CN" altLang="en-US" dirty="0">
                  <a:solidFill>
                    <a:srgbClr val="0000FF"/>
                  </a:solidFill>
                  <a:latin typeface="Times New Roman" panose="02020603050405020304" pitchFamily="18" charset="0"/>
                  <a:ea typeface="宋体" panose="02010600030101010101" pitchFamily="2" charset="-122"/>
                </a:rPr>
                <a:t>字节</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9818" name="Text Box 11"/>
            <p:cNvSpPr txBox="1"/>
            <p:nvPr/>
          </p:nvSpPr>
          <p:spPr>
            <a:xfrm>
              <a:off x="1632" y="3312"/>
              <a:ext cx="624"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地址</a:t>
              </a:r>
              <a:r>
                <a:rPr lang="en-US" altLang="zh-CN" dirty="0">
                  <a:latin typeface="Times New Roman" panose="02020603050405020304" pitchFamily="18" charset="0"/>
                  <a:ea typeface="宋体" panose="02010600030101010101" pitchFamily="2" charset="-122"/>
                </a:rPr>
                <a:t>A</a:t>
              </a:r>
              <a:endParaRPr lang="en-US" altLang="zh-CN" dirty="0">
                <a:latin typeface="Times New Roman" panose="02020603050405020304" pitchFamily="18" charset="0"/>
                <a:ea typeface="宋体" panose="02010600030101010101" pitchFamily="2" charset="-122"/>
              </a:endParaRPr>
            </a:p>
          </p:txBody>
        </p:sp>
        <p:sp>
          <p:nvSpPr>
            <p:cNvPr id="119819" name="Text Box 12"/>
            <p:cNvSpPr txBox="1"/>
            <p:nvPr/>
          </p:nvSpPr>
          <p:spPr>
            <a:xfrm>
              <a:off x="2160" y="3312"/>
              <a:ext cx="672" cy="231"/>
            </a:xfrm>
            <a:prstGeom prst="rect">
              <a:avLst/>
            </a:prstGeom>
            <a:no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A+1</a:t>
              </a:r>
              <a:endParaRPr lang="en-US" altLang="zh-CN" dirty="0">
                <a:latin typeface="Times New Roman" panose="02020603050405020304" pitchFamily="18" charset="0"/>
                <a:ea typeface="宋体" panose="02010600030101010101" pitchFamily="2" charset="-122"/>
              </a:endParaRPr>
            </a:p>
          </p:txBody>
        </p:sp>
        <p:sp>
          <p:nvSpPr>
            <p:cNvPr id="119820" name="Text Box 13"/>
            <p:cNvSpPr txBox="1"/>
            <p:nvPr/>
          </p:nvSpPr>
          <p:spPr>
            <a:xfrm>
              <a:off x="2640" y="3312"/>
              <a:ext cx="672" cy="231"/>
            </a:xfrm>
            <a:prstGeom prst="rect">
              <a:avLst/>
            </a:prstGeom>
            <a:no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A+2</a:t>
              </a:r>
              <a:endParaRPr lang="en-US" altLang="zh-CN" dirty="0">
                <a:latin typeface="Times New Roman" panose="02020603050405020304" pitchFamily="18" charset="0"/>
                <a:ea typeface="宋体" panose="02010600030101010101" pitchFamily="2" charset="-122"/>
              </a:endParaRPr>
            </a:p>
          </p:txBody>
        </p:sp>
        <p:sp>
          <p:nvSpPr>
            <p:cNvPr id="119821" name="Text Box 14"/>
            <p:cNvSpPr txBox="1"/>
            <p:nvPr/>
          </p:nvSpPr>
          <p:spPr>
            <a:xfrm>
              <a:off x="3168" y="3312"/>
              <a:ext cx="672" cy="231"/>
            </a:xfrm>
            <a:prstGeom prst="rect">
              <a:avLst/>
            </a:prstGeom>
            <a:no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A+3</a:t>
              </a:r>
              <a:endParaRPr lang="en-US" altLang="zh-CN" dirty="0">
                <a:latin typeface="Times New Roman" panose="02020603050405020304" pitchFamily="18" charset="0"/>
                <a:ea typeface="宋体" panose="02010600030101010101" pitchFamily="2" charset="-122"/>
              </a:endParaRPr>
            </a:p>
          </p:txBody>
        </p:sp>
      </p:grpSp>
      <p:grpSp>
        <p:nvGrpSpPr>
          <p:cNvPr id="3" name="Group 15"/>
          <p:cNvGrpSpPr/>
          <p:nvPr/>
        </p:nvGrpSpPr>
        <p:grpSpPr>
          <a:xfrm>
            <a:off x="3200400" y="3562350"/>
            <a:ext cx="3048000" cy="692150"/>
            <a:chOff x="2016" y="2492"/>
            <a:chExt cx="1920" cy="436"/>
          </a:xfrm>
        </p:grpSpPr>
        <p:sp>
          <p:nvSpPr>
            <p:cNvPr id="119823" name="AutoShape 16"/>
            <p:cNvSpPr/>
            <p:nvPr/>
          </p:nvSpPr>
          <p:spPr>
            <a:xfrm rot="5400000">
              <a:off x="2400" y="2352"/>
              <a:ext cx="192" cy="960"/>
            </a:xfrm>
            <a:prstGeom prst="leftBrace">
              <a:avLst>
                <a:gd name="adj1" fmla="val 41597"/>
                <a:gd name="adj2" fmla="val 50000"/>
              </a:avLst>
            </a:prstGeom>
            <a:noFill/>
            <a:ln w="25400"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19824" name="AutoShape 17"/>
            <p:cNvSpPr/>
            <p:nvPr/>
          </p:nvSpPr>
          <p:spPr>
            <a:xfrm rot="5400000">
              <a:off x="3360" y="2352"/>
              <a:ext cx="192" cy="960"/>
            </a:xfrm>
            <a:prstGeom prst="leftBrace">
              <a:avLst>
                <a:gd name="adj1" fmla="val 41597"/>
                <a:gd name="adj2" fmla="val 50000"/>
              </a:avLst>
            </a:prstGeom>
            <a:noFill/>
            <a:ln w="25400"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19825" name="Text Box 18"/>
            <p:cNvSpPr txBox="1"/>
            <p:nvPr/>
          </p:nvSpPr>
          <p:spPr>
            <a:xfrm>
              <a:off x="2112" y="2492"/>
              <a:ext cx="672" cy="231"/>
            </a:xfrm>
            <a:prstGeom prst="rect">
              <a:avLst/>
            </a:prstGeom>
            <a:noFill/>
            <a:ln w="9525">
              <a:noFill/>
            </a:ln>
          </p:spPr>
          <p:txBody>
            <a:bodyPr anchor="t" anchorCtr="0">
              <a:spAutoFit/>
            </a:bodyPr>
            <a:p>
              <a:pPr algn="ctr">
                <a:spcBef>
                  <a:spcPct val="50000"/>
                </a:spcBef>
                <a:buClrTx/>
                <a:buFontTx/>
              </a:pPr>
              <a:r>
                <a:rPr lang="zh-CN" altLang="en-US" dirty="0">
                  <a:solidFill>
                    <a:srgbClr val="0000FF"/>
                  </a:solidFill>
                  <a:latin typeface="Times New Roman" panose="02020603050405020304" pitchFamily="18" charset="0"/>
                  <a:ea typeface="宋体" panose="02010600030101010101" pitchFamily="2" charset="-122"/>
                </a:rPr>
                <a:t>半字</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19826" name="Text Box 19"/>
            <p:cNvSpPr txBox="1"/>
            <p:nvPr/>
          </p:nvSpPr>
          <p:spPr>
            <a:xfrm>
              <a:off x="3120" y="2496"/>
              <a:ext cx="672" cy="231"/>
            </a:xfrm>
            <a:prstGeom prst="rect">
              <a:avLst/>
            </a:prstGeom>
            <a:noFill/>
            <a:ln w="9525">
              <a:noFill/>
            </a:ln>
          </p:spPr>
          <p:txBody>
            <a:bodyPr anchor="t" anchorCtr="0">
              <a:spAutoFit/>
            </a:bodyPr>
            <a:p>
              <a:pPr algn="ctr">
                <a:spcBef>
                  <a:spcPct val="50000"/>
                </a:spcBef>
                <a:buClrTx/>
                <a:buFontTx/>
              </a:pPr>
              <a:r>
                <a:rPr lang="zh-CN" altLang="en-US" dirty="0">
                  <a:solidFill>
                    <a:srgbClr val="0000FF"/>
                  </a:solidFill>
                  <a:latin typeface="Times New Roman" panose="02020603050405020304" pitchFamily="18" charset="0"/>
                  <a:ea typeface="宋体" panose="02010600030101010101" pitchFamily="2" charset="-122"/>
                </a:rPr>
                <a:t>半字</a:t>
              </a:r>
              <a:endParaRPr lang="zh-CN" altLang="en-US" dirty="0">
                <a:solidFill>
                  <a:srgbClr val="0000FF"/>
                </a:solidFill>
                <a:latin typeface="Times New Roman" panose="02020603050405020304" pitchFamily="18" charset="0"/>
                <a:ea typeface="宋体" panose="02010600030101010101" pitchFamily="2" charset="-122"/>
              </a:endParaRPr>
            </a:p>
          </p:txBody>
        </p:sp>
      </p:grpSp>
      <p:grpSp>
        <p:nvGrpSpPr>
          <p:cNvPr id="4" name="Group 20"/>
          <p:cNvGrpSpPr/>
          <p:nvPr/>
        </p:nvGrpSpPr>
        <p:grpSpPr>
          <a:xfrm>
            <a:off x="3200400" y="3035300"/>
            <a:ext cx="3048000" cy="1219200"/>
            <a:chOff x="2016" y="2160"/>
            <a:chExt cx="1920" cy="768"/>
          </a:xfrm>
        </p:grpSpPr>
        <p:grpSp>
          <p:nvGrpSpPr>
            <p:cNvPr id="119828" name="Group 21"/>
            <p:cNvGrpSpPr/>
            <p:nvPr/>
          </p:nvGrpSpPr>
          <p:grpSpPr>
            <a:xfrm>
              <a:off x="2016" y="2160"/>
              <a:ext cx="1920" cy="432"/>
              <a:chOff x="2016" y="2208"/>
              <a:chExt cx="1920" cy="432"/>
            </a:xfrm>
          </p:grpSpPr>
          <p:sp>
            <p:nvSpPr>
              <p:cNvPr id="119829" name="AutoShape 22"/>
              <p:cNvSpPr/>
              <p:nvPr/>
            </p:nvSpPr>
            <p:spPr>
              <a:xfrm rot="5400000">
                <a:off x="2880" y="1584"/>
                <a:ext cx="192" cy="1920"/>
              </a:xfrm>
              <a:prstGeom prst="leftBrace">
                <a:avLst>
                  <a:gd name="adj1" fmla="val 83194"/>
                  <a:gd name="adj2" fmla="val 50000"/>
                </a:avLst>
              </a:prstGeom>
              <a:noFill/>
              <a:ln w="25400" cap="flat" cmpd="sng">
                <a:solidFill>
                  <a:srgbClr val="FF0000"/>
                </a:solidFill>
                <a:prstDash val="solid"/>
                <a:round/>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19830" name="Text Box 23"/>
              <p:cNvSpPr txBox="1"/>
              <p:nvPr/>
            </p:nvSpPr>
            <p:spPr>
              <a:xfrm>
                <a:off x="2640" y="2208"/>
                <a:ext cx="672" cy="231"/>
              </a:xfrm>
              <a:prstGeom prst="rect">
                <a:avLst/>
              </a:prstGeom>
              <a:noFill/>
              <a:ln w="9525">
                <a:noFill/>
              </a:ln>
            </p:spPr>
            <p:txBody>
              <a:bodyPr anchor="t" anchorCtr="0">
                <a:spAutoFit/>
              </a:bodyPr>
              <a:p>
                <a:pPr algn="ctr">
                  <a:spcBef>
                    <a:spcPct val="50000"/>
                  </a:spcBef>
                  <a:buClrTx/>
                  <a:buFontTx/>
                </a:pPr>
                <a:r>
                  <a:rPr lang="zh-CN" altLang="en-US" dirty="0">
                    <a:solidFill>
                      <a:srgbClr val="0000FF"/>
                    </a:solidFill>
                    <a:latin typeface="Times New Roman" panose="02020603050405020304" pitchFamily="18" charset="0"/>
                    <a:ea typeface="宋体" panose="02010600030101010101" pitchFamily="2" charset="-122"/>
                  </a:rPr>
                  <a:t>字</a:t>
                </a:r>
                <a:endParaRPr lang="zh-CN" altLang="en-US" dirty="0">
                  <a:solidFill>
                    <a:srgbClr val="0000FF"/>
                  </a:solidFill>
                  <a:latin typeface="Times New Roman" panose="02020603050405020304" pitchFamily="18" charset="0"/>
                  <a:ea typeface="宋体" panose="02010600030101010101" pitchFamily="2" charset="-122"/>
                </a:endParaRPr>
              </a:p>
            </p:txBody>
          </p:sp>
        </p:grpSp>
        <p:sp>
          <p:nvSpPr>
            <p:cNvPr id="119831" name="Line 24"/>
            <p:cNvSpPr/>
            <p:nvPr/>
          </p:nvSpPr>
          <p:spPr>
            <a:xfrm flipV="1">
              <a:off x="2016" y="2544"/>
              <a:ext cx="0" cy="384"/>
            </a:xfrm>
            <a:prstGeom prst="line">
              <a:avLst/>
            </a:prstGeom>
            <a:ln w="19050" cap="flat" cmpd="sng">
              <a:solidFill>
                <a:srgbClr val="FF0000"/>
              </a:solidFill>
              <a:prstDash val="dash"/>
              <a:round/>
              <a:headEnd type="none" w="med" len="med"/>
              <a:tailEnd type="none" w="med" len="med"/>
            </a:ln>
          </p:spPr>
        </p:sp>
        <p:sp>
          <p:nvSpPr>
            <p:cNvPr id="119832" name="Line 25"/>
            <p:cNvSpPr/>
            <p:nvPr/>
          </p:nvSpPr>
          <p:spPr>
            <a:xfrm flipV="1">
              <a:off x="3936" y="2544"/>
              <a:ext cx="0" cy="384"/>
            </a:xfrm>
            <a:prstGeom prst="line">
              <a:avLst/>
            </a:prstGeom>
            <a:ln w="19050" cap="flat" cmpd="sng">
              <a:solidFill>
                <a:srgbClr val="FF0000"/>
              </a:solidFill>
              <a:prstDash val="dash"/>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31779">
                                            <p:txEl>
                                              <p:charRg st="0" end="6"/>
                                            </p:txEl>
                                          </p:spTgt>
                                        </p:tgtEl>
                                        <p:attrNameLst>
                                          <p:attrName>style.visibility</p:attrName>
                                        </p:attrNameLst>
                                      </p:cBhvr>
                                      <p:to>
                                        <p:strVal val="visible"/>
                                      </p:to>
                                    </p:set>
                                    <p:anim calcmode="lin" valueType="num">
                                      <p:cBhvr additive="base">
                                        <p:cTn id="7" dur="500" fill="hold"/>
                                        <p:tgtEl>
                                          <p:spTgt spid="331779">
                                            <p:txEl>
                                              <p:charRg st="0" end="6"/>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31779">
                                            <p:txEl>
                                              <p:charRg st="0" end="6"/>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31780"/>
                                        </p:tgtEl>
                                        <p:attrNameLst>
                                          <p:attrName>style.visibility</p:attrName>
                                        </p:attrNameLst>
                                      </p:cBhvr>
                                      <p:to>
                                        <p:strVal val="visible"/>
                                      </p:to>
                                    </p:set>
                                    <p:animEffect transition="in" filter="box(in)">
                                      <p:cBhvr>
                                        <p:cTn id="12" dur="500"/>
                                        <p:tgtEl>
                                          <p:spTgt spid="33178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12" presetClass="entr" presetSubtype="4"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lide(fromBottom)">
                                      <p:cBhvr>
                                        <p:cTn id="22" dur="500"/>
                                        <p:tgtEl>
                                          <p:spTgt spid="3"/>
                                        </p:tgtEl>
                                      </p:cBhvr>
                                    </p:animEffect>
                                  </p:childTnLst>
                                </p:cTn>
                              </p:par>
                            </p:childTnLst>
                          </p:cTn>
                        </p:par>
                        <p:par>
                          <p:cTn id="23" fill="hold">
                            <p:stCondLst>
                              <p:cond delay="1000"/>
                            </p:stCondLst>
                            <p:childTnLst>
                              <p:par>
                                <p:cTn id="24" presetID="12" presetClass="entr" presetSubtype="4"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slide(fromBottom)">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advAuto="1000" build="p"/>
      <p:bldP spid="33178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Text Box 2"/>
          <p:cNvSpPr txBox="1"/>
          <p:nvPr/>
        </p:nvSpPr>
        <p:spPr>
          <a:xfrm>
            <a:off x="1219200" y="2427288"/>
            <a:ext cx="7010400" cy="4108450"/>
          </a:xfrm>
          <a:prstGeom prst="rect">
            <a:avLst/>
          </a:prstGeom>
          <a:noFill/>
          <a:ln w="9525">
            <a:noFill/>
          </a:ln>
        </p:spPr>
        <p:txBody>
          <a:bodyPr anchor="t" anchorCtr="0">
            <a:spAutoFit/>
          </a:bodyPr>
          <a:p>
            <a:pPr algn="just">
              <a:spcBef>
                <a:spcPct val="50000"/>
              </a:spcBef>
              <a:buClrTx/>
              <a:buFontTx/>
            </a:pPr>
            <a:r>
              <a:rPr lang="zh-CN" altLang="en-US" sz="2400" dirty="0">
                <a:latin typeface="华文新魏" panose="02010800040101010101" pitchFamily="2" charset="-122"/>
                <a:ea typeface="华文新魏" panose="02010800040101010101" pitchFamily="2" charset="-122"/>
              </a:rPr>
              <a:t>存储器系统有两种映射机制：</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小端存储器系统：</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pPr>
            <a:r>
              <a:rPr lang="zh-CN" altLang="en-US" sz="2400" dirty="0">
                <a:latin typeface="华文新魏" panose="02010800040101010101" pitchFamily="2" charset="-122"/>
                <a:ea typeface="华文新魏" panose="02010800040101010101" pitchFamily="2" charset="-122"/>
              </a:rPr>
              <a:t>        在小端格式中，高位数字存放在高位字节中。因此存储器系统字节</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连接到数据线</a:t>
            </a:r>
            <a:r>
              <a:rPr lang="en-US" altLang="zh-CN" sz="2400" dirty="0">
                <a:latin typeface="华文新魏" panose="02010800040101010101" pitchFamily="2" charset="-122"/>
                <a:ea typeface="华文新魏" panose="02010800040101010101" pitchFamily="2" charset="-122"/>
              </a:rPr>
              <a:t>7</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低位对齐</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 </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buChar char="§"/>
            </a:pPr>
            <a:r>
              <a:rPr lang="zh-CN" altLang="en-US" sz="2400" dirty="0">
                <a:latin typeface="华文新魏" panose="02010800040101010101" pitchFamily="2" charset="-122"/>
                <a:ea typeface="华文新魏" panose="02010800040101010101" pitchFamily="2" charset="-122"/>
              </a:rPr>
              <a:t>大端存储器系统：</a:t>
            </a:r>
            <a:endParaRPr lang="zh-CN" altLang="en-US" sz="2400" dirty="0">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pPr>
            <a:r>
              <a:rPr lang="zh-CN" altLang="en-US" sz="2400" dirty="0">
                <a:latin typeface="华文新魏" panose="02010800040101010101" pitchFamily="2" charset="-122"/>
                <a:ea typeface="华文新魏" panose="02010800040101010101" pitchFamily="2" charset="-122"/>
              </a:rPr>
              <a:t>        在大端格式中，高位数字存放在低位字节中。因此存储器系统字节</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连接到数据线</a:t>
            </a:r>
            <a:r>
              <a:rPr lang="en-US" altLang="zh-CN" sz="2400" dirty="0">
                <a:latin typeface="华文新魏" panose="02010800040101010101" pitchFamily="2" charset="-122"/>
                <a:ea typeface="华文新魏" panose="02010800040101010101" pitchFamily="2" charset="-122"/>
              </a:rPr>
              <a:t>31</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24</a:t>
            </a:r>
            <a:r>
              <a:rPr lang="en-US" altLang="zh-CN" dirty="0">
                <a:latin typeface="Tahoma" panose="020B0604030504040204" pitchFamily="34" charset="0"/>
                <a:ea typeface="宋体" panose="02010600030101010101" pitchFamily="2" charset="-122"/>
              </a:rPr>
              <a:t>(</a:t>
            </a:r>
            <a:r>
              <a:rPr lang="zh-CN" altLang="en-US" dirty="0">
                <a:latin typeface="Tahoma" panose="020B0604030504040204" pitchFamily="34" charset="0"/>
                <a:ea typeface="宋体" panose="02010600030101010101" pitchFamily="2" charset="-122"/>
              </a:rPr>
              <a:t>高位对齐</a:t>
            </a:r>
            <a:r>
              <a:rPr lang="en-US" altLang="zh-CN" dirty="0">
                <a:latin typeface="Tahoma" panose="020B0604030504040204" pitchFamily="34" charset="0"/>
                <a:ea typeface="宋体" panose="02010600030101010101" pitchFamily="2" charset="-122"/>
              </a:rPr>
              <a:t>)</a:t>
            </a:r>
            <a:r>
              <a:rPr lang="en-US" altLang="zh-CN" sz="2400" dirty="0">
                <a:latin typeface="华文新魏" panose="02010800040101010101" pitchFamily="2" charset="-122"/>
                <a:ea typeface="华文新魏" panose="02010800040101010101" pitchFamily="2" charset="-122"/>
              </a:rPr>
              <a:t> </a:t>
            </a:r>
            <a:r>
              <a:rPr lang="zh-CN" altLang="en-US" dirty="0">
                <a:latin typeface="Tahoma" panose="020B0604030504040204" pitchFamily="34" charset="0"/>
                <a:ea typeface="宋体" panose="02010600030101010101" pitchFamily="2" charset="-122"/>
              </a:rPr>
              <a:t>。</a:t>
            </a:r>
            <a:r>
              <a:rPr lang="zh-CN" altLang="en-US" sz="2400" dirty="0">
                <a:latin typeface="华文新魏" panose="02010800040101010101" pitchFamily="2" charset="-122"/>
                <a:ea typeface="华文新魏" panose="02010800040101010101" pitchFamily="2" charset="-122"/>
              </a:rPr>
              <a:t> </a:t>
            </a:r>
            <a:endParaRPr lang="zh-CN" altLang="en-US" sz="2400" dirty="0">
              <a:latin typeface="华文新魏" panose="02010800040101010101" pitchFamily="2" charset="-122"/>
              <a:ea typeface="华文新魏" panose="02010800040101010101" pitchFamily="2" charset="-122"/>
            </a:endParaRPr>
          </a:p>
        </p:txBody>
      </p:sp>
      <p:grpSp>
        <p:nvGrpSpPr>
          <p:cNvPr id="2" name="Group 3"/>
          <p:cNvGrpSpPr/>
          <p:nvPr/>
        </p:nvGrpSpPr>
        <p:grpSpPr>
          <a:xfrm>
            <a:off x="1763713" y="2997200"/>
            <a:ext cx="6096000" cy="3048000"/>
            <a:chOff x="1104" y="1872"/>
            <a:chExt cx="3840" cy="1920"/>
          </a:xfrm>
        </p:grpSpPr>
        <p:sp>
          <p:nvSpPr>
            <p:cNvPr id="120835" name="Rectangle 4"/>
            <p:cNvSpPr/>
            <p:nvPr/>
          </p:nvSpPr>
          <p:spPr>
            <a:xfrm>
              <a:off x="1104" y="1872"/>
              <a:ext cx="3840" cy="1920"/>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p>
              <a:pPr>
                <a:buClrTx/>
                <a:buFontTx/>
              </a:pPr>
              <a:endParaRPr lang="zh-CN" altLang="en-US" dirty="0">
                <a:latin typeface="Tahoma" panose="020B0604030504040204" pitchFamily="34" charset="0"/>
                <a:ea typeface="宋体" panose="02010600030101010101" pitchFamily="2" charset="-122"/>
              </a:endParaRPr>
            </a:p>
          </p:txBody>
        </p:sp>
        <p:sp>
          <p:nvSpPr>
            <p:cNvPr id="120836" name="Text Box 5"/>
            <p:cNvSpPr txBox="1"/>
            <p:nvPr/>
          </p:nvSpPr>
          <p:spPr>
            <a:xfrm>
              <a:off x="1728" y="3408"/>
              <a:ext cx="2832" cy="231"/>
            </a:xfrm>
            <a:prstGeom prst="rect">
              <a:avLst/>
            </a:prstGeom>
            <a:solidFill>
              <a:srgbClr val="FFFFCC">
                <a:alpha val="50195"/>
              </a:srgbClr>
            </a:solidFill>
            <a:ln w="9525">
              <a:noFill/>
            </a:ln>
          </p:spPr>
          <p:txBody>
            <a:bodyPr anchor="t" anchorCtr="0">
              <a:spAutoFit/>
            </a:bodyPr>
            <a:p>
              <a:pPr algn="ctr">
                <a:spcBef>
                  <a:spcPct val="50000"/>
                </a:spcBef>
                <a:buClrTx/>
                <a:buFontTx/>
              </a:pPr>
              <a:r>
                <a:rPr lang="en-US" altLang="zh-CN" dirty="0">
                  <a:latin typeface="Times New Roman" panose="02020603050405020304" pitchFamily="18" charset="0"/>
                  <a:ea typeface="宋体" panose="02010600030101010101" pitchFamily="2" charset="-122"/>
                </a:rPr>
                <a:t>0x12345678</a:t>
              </a:r>
              <a:r>
                <a:rPr lang="zh-CN" altLang="en-US" dirty="0">
                  <a:latin typeface="Times New Roman" panose="02020603050405020304" pitchFamily="18" charset="0"/>
                  <a:ea typeface="宋体" panose="02010600030101010101" pitchFamily="2" charset="-122"/>
                </a:rPr>
                <a:t>字数据的大小端存储方式</a:t>
              </a:r>
              <a:endParaRPr lang="zh-CN" altLang="en-US" dirty="0">
                <a:latin typeface="Times New Roman" panose="02020603050405020304" pitchFamily="18" charset="0"/>
                <a:ea typeface="宋体" panose="02010600030101010101" pitchFamily="2" charset="-122"/>
              </a:endParaRPr>
            </a:p>
          </p:txBody>
        </p:sp>
      </p:grpSp>
      <p:sp>
        <p:nvSpPr>
          <p:cNvPr id="120837" name="Rectangle 6"/>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120838" name="Rectangle 7"/>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存储器格式</a:t>
            </a:r>
            <a:endParaRPr lang="zh-CN" altLang="en-US" dirty="0"/>
          </a:p>
        </p:txBody>
      </p:sp>
      <p:grpSp>
        <p:nvGrpSpPr>
          <p:cNvPr id="3" name="Group 8"/>
          <p:cNvGrpSpPr/>
          <p:nvPr/>
        </p:nvGrpSpPr>
        <p:grpSpPr>
          <a:xfrm>
            <a:off x="2449513" y="3225800"/>
            <a:ext cx="4876800" cy="838200"/>
            <a:chOff x="1536" y="2016"/>
            <a:chExt cx="3072" cy="528"/>
          </a:xfrm>
        </p:grpSpPr>
        <p:sp>
          <p:nvSpPr>
            <p:cNvPr id="120840" name="Rectangle 9"/>
            <p:cNvSpPr/>
            <p:nvPr/>
          </p:nvSpPr>
          <p:spPr>
            <a:xfrm>
              <a:off x="2208" y="2256"/>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0x12</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41" name="Line 10"/>
            <p:cNvSpPr/>
            <p:nvPr/>
          </p:nvSpPr>
          <p:spPr>
            <a:xfrm>
              <a:off x="3936" y="2400"/>
              <a:ext cx="624" cy="0"/>
            </a:xfrm>
            <a:prstGeom prst="line">
              <a:avLst/>
            </a:prstGeom>
            <a:ln w="9525" cap="flat" cmpd="sng">
              <a:solidFill>
                <a:schemeClr val="tx1"/>
              </a:solidFill>
              <a:prstDash val="solid"/>
              <a:round/>
              <a:headEnd type="none" w="med" len="med"/>
              <a:tailEnd type="triangle" w="med" len="med"/>
            </a:ln>
          </p:spPr>
        </p:sp>
        <p:sp>
          <p:nvSpPr>
            <p:cNvPr id="120842" name="Line 11"/>
            <p:cNvSpPr/>
            <p:nvPr/>
          </p:nvSpPr>
          <p:spPr>
            <a:xfrm flipH="1">
              <a:off x="1584" y="2400"/>
              <a:ext cx="624" cy="0"/>
            </a:xfrm>
            <a:prstGeom prst="line">
              <a:avLst/>
            </a:prstGeom>
            <a:ln w="9525" cap="flat" cmpd="sng">
              <a:solidFill>
                <a:schemeClr val="tx1"/>
              </a:solidFill>
              <a:prstDash val="solid"/>
              <a:round/>
              <a:headEnd type="none" w="med" len="med"/>
              <a:tailEnd type="triangle" w="med" len="med"/>
            </a:ln>
          </p:spPr>
        </p:sp>
        <p:sp>
          <p:nvSpPr>
            <p:cNvPr id="120843" name="Text Box 12"/>
            <p:cNvSpPr txBox="1"/>
            <p:nvPr/>
          </p:nvSpPr>
          <p:spPr>
            <a:xfrm>
              <a:off x="3888" y="2160"/>
              <a:ext cx="720"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高位地址</a:t>
              </a:r>
              <a:endParaRPr lang="zh-CN" altLang="en-US" dirty="0">
                <a:latin typeface="Times New Roman" panose="02020603050405020304" pitchFamily="18" charset="0"/>
                <a:ea typeface="宋体" panose="02010600030101010101" pitchFamily="2" charset="-122"/>
              </a:endParaRPr>
            </a:p>
          </p:txBody>
        </p:sp>
        <p:sp>
          <p:nvSpPr>
            <p:cNvPr id="120844" name="Text Box 13"/>
            <p:cNvSpPr txBox="1"/>
            <p:nvPr/>
          </p:nvSpPr>
          <p:spPr>
            <a:xfrm>
              <a:off x="1536" y="2160"/>
              <a:ext cx="720"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低位地址</a:t>
              </a:r>
              <a:endParaRPr lang="zh-CN" altLang="en-US" dirty="0">
                <a:latin typeface="Times New Roman" panose="02020603050405020304" pitchFamily="18" charset="0"/>
                <a:ea typeface="宋体" panose="02010600030101010101" pitchFamily="2" charset="-122"/>
              </a:endParaRPr>
            </a:p>
          </p:txBody>
        </p:sp>
        <p:sp>
          <p:nvSpPr>
            <p:cNvPr id="120845" name="Rectangle 14"/>
            <p:cNvSpPr/>
            <p:nvPr/>
          </p:nvSpPr>
          <p:spPr>
            <a:xfrm>
              <a:off x="2640" y="2256"/>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0x34</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46" name="Rectangle 15"/>
            <p:cNvSpPr/>
            <p:nvPr/>
          </p:nvSpPr>
          <p:spPr>
            <a:xfrm>
              <a:off x="3072" y="2256"/>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0x56</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47" name="Rectangle 16"/>
            <p:cNvSpPr/>
            <p:nvPr/>
          </p:nvSpPr>
          <p:spPr>
            <a:xfrm>
              <a:off x="3504" y="2256"/>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0x78</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48" name="Text Box 17"/>
            <p:cNvSpPr txBox="1"/>
            <p:nvPr/>
          </p:nvSpPr>
          <p:spPr>
            <a:xfrm>
              <a:off x="2640" y="2016"/>
              <a:ext cx="720"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大端模式</a:t>
              </a:r>
              <a:endParaRPr lang="zh-CN" altLang="en-US" dirty="0">
                <a:latin typeface="Times New Roman" panose="02020603050405020304" pitchFamily="18" charset="0"/>
                <a:ea typeface="宋体" panose="02010600030101010101" pitchFamily="2" charset="-122"/>
              </a:endParaRPr>
            </a:p>
          </p:txBody>
        </p:sp>
      </p:grpSp>
      <p:grpSp>
        <p:nvGrpSpPr>
          <p:cNvPr id="4" name="Group 18"/>
          <p:cNvGrpSpPr/>
          <p:nvPr/>
        </p:nvGrpSpPr>
        <p:grpSpPr>
          <a:xfrm>
            <a:off x="2449513" y="4292600"/>
            <a:ext cx="4876800" cy="838200"/>
            <a:chOff x="1536" y="2688"/>
            <a:chExt cx="3072" cy="528"/>
          </a:xfrm>
        </p:grpSpPr>
        <p:sp>
          <p:nvSpPr>
            <p:cNvPr id="120850" name="Rectangle 19"/>
            <p:cNvSpPr/>
            <p:nvPr/>
          </p:nvSpPr>
          <p:spPr>
            <a:xfrm>
              <a:off x="2208" y="2928"/>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0x78</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51" name="Line 20"/>
            <p:cNvSpPr/>
            <p:nvPr/>
          </p:nvSpPr>
          <p:spPr>
            <a:xfrm>
              <a:off x="3936" y="3072"/>
              <a:ext cx="624" cy="0"/>
            </a:xfrm>
            <a:prstGeom prst="line">
              <a:avLst/>
            </a:prstGeom>
            <a:ln w="9525" cap="flat" cmpd="sng">
              <a:solidFill>
                <a:schemeClr val="tx1"/>
              </a:solidFill>
              <a:prstDash val="solid"/>
              <a:round/>
              <a:headEnd type="none" w="med" len="med"/>
              <a:tailEnd type="triangle" w="med" len="med"/>
            </a:ln>
          </p:spPr>
        </p:sp>
        <p:sp>
          <p:nvSpPr>
            <p:cNvPr id="120852" name="Line 21"/>
            <p:cNvSpPr/>
            <p:nvPr/>
          </p:nvSpPr>
          <p:spPr>
            <a:xfrm flipH="1">
              <a:off x="1584" y="3072"/>
              <a:ext cx="624" cy="0"/>
            </a:xfrm>
            <a:prstGeom prst="line">
              <a:avLst/>
            </a:prstGeom>
            <a:ln w="9525" cap="flat" cmpd="sng">
              <a:solidFill>
                <a:schemeClr val="tx1"/>
              </a:solidFill>
              <a:prstDash val="solid"/>
              <a:round/>
              <a:headEnd type="none" w="med" len="med"/>
              <a:tailEnd type="triangle" w="med" len="med"/>
            </a:ln>
          </p:spPr>
        </p:sp>
        <p:sp>
          <p:nvSpPr>
            <p:cNvPr id="120853" name="Text Box 22"/>
            <p:cNvSpPr txBox="1"/>
            <p:nvPr/>
          </p:nvSpPr>
          <p:spPr>
            <a:xfrm>
              <a:off x="3888" y="2832"/>
              <a:ext cx="720"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高位地址</a:t>
              </a:r>
              <a:endParaRPr lang="zh-CN" altLang="en-US" dirty="0">
                <a:latin typeface="Times New Roman" panose="02020603050405020304" pitchFamily="18" charset="0"/>
                <a:ea typeface="宋体" panose="02010600030101010101" pitchFamily="2" charset="-122"/>
              </a:endParaRPr>
            </a:p>
          </p:txBody>
        </p:sp>
        <p:sp>
          <p:nvSpPr>
            <p:cNvPr id="120854" name="Text Box 23"/>
            <p:cNvSpPr txBox="1"/>
            <p:nvPr/>
          </p:nvSpPr>
          <p:spPr>
            <a:xfrm>
              <a:off x="1536" y="2832"/>
              <a:ext cx="720"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低位地址</a:t>
              </a:r>
              <a:endParaRPr lang="zh-CN" altLang="en-US" dirty="0">
                <a:latin typeface="Times New Roman" panose="02020603050405020304" pitchFamily="18" charset="0"/>
                <a:ea typeface="宋体" panose="02010600030101010101" pitchFamily="2" charset="-122"/>
              </a:endParaRPr>
            </a:p>
          </p:txBody>
        </p:sp>
        <p:sp>
          <p:nvSpPr>
            <p:cNvPr id="120855" name="Rectangle 24"/>
            <p:cNvSpPr/>
            <p:nvPr/>
          </p:nvSpPr>
          <p:spPr>
            <a:xfrm>
              <a:off x="2640" y="2928"/>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0x56</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56" name="Rectangle 25"/>
            <p:cNvSpPr/>
            <p:nvPr/>
          </p:nvSpPr>
          <p:spPr>
            <a:xfrm>
              <a:off x="3072" y="2928"/>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0x34</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57" name="Rectangle 26"/>
            <p:cNvSpPr/>
            <p:nvPr/>
          </p:nvSpPr>
          <p:spPr>
            <a:xfrm>
              <a:off x="3504" y="2928"/>
              <a:ext cx="432" cy="288"/>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p>
              <a:pPr algn="ctr">
                <a:spcBef>
                  <a:spcPct val="20000"/>
                </a:spcBef>
                <a:buClrTx/>
                <a:buFontTx/>
              </a:pPr>
              <a:r>
                <a:rPr lang="en-US" altLang="zh-CN" dirty="0">
                  <a:solidFill>
                    <a:srgbClr val="0000FF"/>
                  </a:solidFill>
                  <a:latin typeface="Times New Roman" panose="02020603050405020304" pitchFamily="18" charset="0"/>
                  <a:ea typeface="宋体" panose="02010600030101010101" pitchFamily="2" charset="-122"/>
                </a:rPr>
                <a:t>0x12</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120858" name="Text Box 27"/>
            <p:cNvSpPr txBox="1"/>
            <p:nvPr/>
          </p:nvSpPr>
          <p:spPr>
            <a:xfrm>
              <a:off x="2640" y="2688"/>
              <a:ext cx="720" cy="231"/>
            </a:xfrm>
            <a:prstGeom prst="rect">
              <a:avLst/>
            </a:prstGeom>
            <a:noFill/>
            <a:ln w="9525">
              <a:noFill/>
            </a:ln>
          </p:spPr>
          <p:txBody>
            <a:bodyPr anchor="t" anchorCtr="0">
              <a:spAutoFit/>
            </a:bodyPr>
            <a:p>
              <a:pPr algn="ctr">
                <a:spcBef>
                  <a:spcPct val="50000"/>
                </a:spcBef>
                <a:buClrTx/>
                <a:buFontTx/>
              </a:pPr>
              <a:r>
                <a:rPr lang="zh-CN" altLang="en-US" dirty="0">
                  <a:latin typeface="Times New Roman" panose="02020603050405020304" pitchFamily="18" charset="0"/>
                  <a:ea typeface="宋体" panose="02010600030101010101" pitchFamily="2" charset="-122"/>
                </a:rPr>
                <a:t>小端模式</a:t>
              </a: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32802"/>
                                        </p:tgtEl>
                                        <p:attrNameLst>
                                          <p:attrName>style.visibility</p:attrName>
                                        </p:attrNameLst>
                                      </p:cBhvr>
                                      <p:to>
                                        <p:strVal val="visible"/>
                                      </p:to>
                                    </p:set>
                                    <p:animEffect transition="in" filter="box(in)">
                                      <p:cBhvr>
                                        <p:cTn id="7" dur="500"/>
                                        <p:tgtEl>
                                          <p:spTgt spid="33280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par>
                          <p:cTn id="13" fill="hold">
                            <p:stCondLst>
                              <p:cond delay="500"/>
                            </p:stCondLst>
                            <p:childTnLst>
                              <p:par>
                                <p:cTn id="14" presetID="16" presetClass="entr" presetSubtype="37"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outVertical)">
                                      <p:cBhvr>
                                        <p:cTn id="16" dur="500"/>
                                        <p:tgtEl>
                                          <p:spTgt spid="3"/>
                                        </p:tgtEl>
                                      </p:cBhvr>
                                    </p:animEffect>
                                  </p:childTnLst>
                                </p:cTn>
                              </p:par>
                            </p:childTnLst>
                          </p:cTn>
                        </p:par>
                        <p:par>
                          <p:cTn id="17" fill="hold">
                            <p:stCondLst>
                              <p:cond delay="1000"/>
                            </p:stCondLst>
                            <p:childTnLst>
                              <p:par>
                                <p:cTn id="18" presetID="16" presetClass="entr" presetSubtype="37"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out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2"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6" name="Text Box 2"/>
          <p:cNvSpPr txBox="1"/>
          <p:nvPr/>
        </p:nvSpPr>
        <p:spPr>
          <a:xfrm>
            <a:off x="1187450" y="2060575"/>
            <a:ext cx="7010400" cy="2830513"/>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一个基于</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内核的芯片可以只支持大端模式或小端模式，也可以两者都支持。通常，小端模式是</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处理器的默认形式。</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zh-CN" altLang="en-US" sz="2400" dirty="0">
                <a:latin typeface="华文新魏" panose="02010800040101010101" pitchFamily="2" charset="-122"/>
                <a:ea typeface="华文新魏" panose="02010800040101010101" pitchFamily="2" charset="-122"/>
              </a:rPr>
              <a:t>        在</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指令集中不包含任何直接选择大小端的指令，但是一个同时支持大小端模式的</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芯片可以通过硬件配置（一般使用芯片的引脚来配置）来匹配存储器系统所使用的规则。</a:t>
            </a:r>
            <a:endParaRPr lang="zh-CN" altLang="en-US" sz="2400" dirty="0">
              <a:latin typeface="华文新魏" panose="02010800040101010101" pitchFamily="2" charset="-122"/>
              <a:ea typeface="华文新魏" panose="02010800040101010101" pitchFamily="2" charset="-122"/>
            </a:endParaRPr>
          </a:p>
        </p:txBody>
      </p:sp>
      <p:sp>
        <p:nvSpPr>
          <p:cNvPr id="121858" name="Rectangle 3"/>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121859"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存储器格式</a:t>
            </a:r>
            <a:endParaRPr lang="zh-CN" altLang="en-US" dirty="0"/>
          </a:p>
        </p:txBody>
      </p:sp>
      <p:sp>
        <p:nvSpPr>
          <p:cNvPr id="333829" name="Text Box 5"/>
          <p:cNvSpPr txBox="1"/>
          <p:nvPr/>
        </p:nvSpPr>
        <p:spPr>
          <a:xfrm>
            <a:off x="1219200" y="4857750"/>
            <a:ext cx="7010400" cy="1187450"/>
          </a:xfrm>
          <a:prstGeom prst="rect">
            <a:avLst/>
          </a:prstGeom>
          <a:noFill/>
          <a:ln w="9525">
            <a:noFill/>
          </a:ln>
        </p:spPr>
        <p:txBody>
          <a:bodyPr anchor="t" anchorCtr="0">
            <a:spAutoFit/>
          </a:bodyPr>
          <a:p>
            <a:pPr algn="just">
              <a:spcBef>
                <a:spcPct val="50000"/>
              </a:spcBef>
              <a:buClrTx/>
              <a:buFontTx/>
            </a:pPr>
            <a:r>
              <a:rPr lang="zh-CN" altLang="en-US" sz="2400" dirty="0">
                <a:solidFill>
                  <a:srgbClr val="0000FF"/>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：如果实际的存储器格式与芯片的存储器格式不符时，只有以字为单位的数据存取才正确，否则将出现不可预期的结果。</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33826"/>
                                        </p:tgtEl>
                                        <p:attrNameLst>
                                          <p:attrName>style.visibility</p:attrName>
                                        </p:attrNameLst>
                                      </p:cBhvr>
                                      <p:to>
                                        <p:strVal val="visible"/>
                                      </p:to>
                                    </p:set>
                                    <p:animEffect transition="in" filter="box(in)">
                                      <p:cBhvr>
                                        <p:cTn id="7" dur="500"/>
                                        <p:tgtEl>
                                          <p:spTgt spid="333826"/>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333829"/>
                                        </p:tgtEl>
                                        <p:attrNameLst>
                                          <p:attrName>style.visibility</p:attrName>
                                        </p:attrNameLst>
                                      </p:cBhvr>
                                      <p:to>
                                        <p:strVal val="visible"/>
                                      </p:to>
                                    </p:set>
                                    <p:animEffect transition="in" filter="slide(fromBottom)">
                                      <p:cBhvr>
                                        <p:cTn id="11" dur="500"/>
                                        <p:tgtEl>
                                          <p:spTgt spid="333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6" grpId="0"/>
      <p:bldP spid="33382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270339" name="Rectangle 3"/>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地址空间</a:t>
            </a:r>
            <a:endParaRPr lang="zh-CN" altLang="en-US" dirty="0"/>
          </a:p>
        </p:txBody>
      </p:sp>
      <p:sp>
        <p:nvSpPr>
          <p:cNvPr id="270340" name="Text Box 4"/>
          <p:cNvSpPr txBox="1"/>
          <p:nvPr/>
        </p:nvSpPr>
        <p:spPr>
          <a:xfrm>
            <a:off x="1187450" y="2565400"/>
            <a:ext cx="7010400" cy="2830513"/>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ARM</a:t>
            </a:r>
            <a:r>
              <a:rPr lang="zh-CN" altLang="en-US" sz="2400" dirty="0">
                <a:latin typeface="华文新魏" panose="02010800040101010101" pitchFamily="2" charset="-122"/>
                <a:ea typeface="华文新魏" panose="02010800040101010101" pitchFamily="2" charset="-122"/>
              </a:rPr>
              <a:t>结构使用单个平面的</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个</a:t>
            </a:r>
            <a:r>
              <a:rPr lang="en-US" altLang="zh-CN" sz="2400" dirty="0">
                <a:latin typeface="华文新魏" panose="02010800040101010101" pitchFamily="2" charset="-122"/>
                <a:ea typeface="华文新魏" panose="02010800040101010101" pitchFamily="2" charset="-122"/>
              </a:rPr>
              <a:t>8</a:t>
            </a:r>
            <a:r>
              <a:rPr lang="zh-CN" altLang="en-US" sz="2400" dirty="0">
                <a:latin typeface="华文新魏" panose="02010800040101010101" pitchFamily="2" charset="-122"/>
                <a:ea typeface="华文新魏" panose="02010800040101010101" pitchFamily="2" charset="-122"/>
              </a:rPr>
              <a:t>位字节地址空间。字节地址按照无符号数排列，从</a:t>
            </a:r>
            <a:r>
              <a:rPr lang="en-US" altLang="zh-CN" sz="2400" dirty="0">
                <a:latin typeface="华文新魏" panose="02010800040101010101" pitchFamily="2" charset="-122"/>
                <a:ea typeface="华文新魏" panose="02010800040101010101" pitchFamily="2" charset="-122"/>
              </a:rPr>
              <a:t>0</a:t>
            </a:r>
            <a:r>
              <a:rPr lang="zh-CN" altLang="en-US" sz="2400" dirty="0">
                <a:latin typeface="华文新魏" panose="02010800040101010101" pitchFamily="2" charset="-122"/>
                <a:ea typeface="华文新魏" panose="02010800040101010101" pitchFamily="2" charset="-122"/>
              </a:rPr>
              <a:t>到</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a:t>
            </a:r>
            <a:r>
              <a:rPr lang="en-US" altLang="zh-CN" sz="2400" dirty="0">
                <a:latin typeface="华文新魏" panose="02010800040101010101" pitchFamily="2" charset="-122"/>
                <a:ea typeface="华文新魏" panose="02010800040101010101" pitchFamily="2" charset="-122"/>
              </a:rPr>
              <a:t>1</a:t>
            </a:r>
            <a:r>
              <a:rPr lang="zh-CN" altLang="en-US" sz="2400" dirty="0">
                <a:latin typeface="华文新魏" panose="02010800040101010101" pitchFamily="2" charset="-122"/>
                <a:ea typeface="华文新魏" panose="02010800040101010101" pitchFamily="2" charset="-122"/>
              </a:rPr>
              <a:t>。地址空间可以看作是包含</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30</a:t>
            </a:r>
            <a:r>
              <a:rPr lang="zh-CN" altLang="en-US" sz="2400" dirty="0">
                <a:latin typeface="华文新魏" panose="02010800040101010101" pitchFamily="2" charset="-122"/>
                <a:ea typeface="华文新魏" panose="02010800040101010101" pitchFamily="2" charset="-122"/>
              </a:rPr>
              <a:t>个</a:t>
            </a:r>
            <a:r>
              <a:rPr lang="en-US" altLang="zh-CN" sz="2400" dirty="0">
                <a:latin typeface="华文新魏" panose="02010800040101010101" pitchFamily="2" charset="-122"/>
                <a:ea typeface="华文新魏" panose="02010800040101010101" pitchFamily="2" charset="-122"/>
              </a:rPr>
              <a:t>32</a:t>
            </a:r>
            <a:r>
              <a:rPr lang="zh-CN" altLang="en-US" sz="2400" dirty="0">
                <a:latin typeface="华文新魏" panose="02010800040101010101" pitchFamily="2" charset="-122"/>
                <a:ea typeface="华文新魏" panose="02010800040101010101" pitchFamily="2" charset="-122"/>
              </a:rPr>
              <a:t>位字，或</a:t>
            </a:r>
            <a:r>
              <a:rPr lang="en-US" altLang="zh-CN" sz="2400" dirty="0">
                <a:latin typeface="华文新魏" panose="02010800040101010101" pitchFamily="2" charset="-122"/>
                <a:ea typeface="华文新魏" panose="02010800040101010101" pitchFamily="2" charset="-122"/>
              </a:rPr>
              <a:t>2</a:t>
            </a:r>
            <a:r>
              <a:rPr lang="en-US" altLang="zh-CN" sz="2400" baseline="30000" dirty="0">
                <a:latin typeface="华文新魏" panose="02010800040101010101" pitchFamily="2" charset="-122"/>
                <a:ea typeface="华文新魏" panose="02010800040101010101" pitchFamily="2" charset="-122"/>
              </a:rPr>
              <a:t>31</a:t>
            </a:r>
            <a:r>
              <a:rPr lang="zh-CN" altLang="en-US" sz="2400" dirty="0">
                <a:latin typeface="华文新魏" panose="02010800040101010101" pitchFamily="2" charset="-122"/>
                <a:ea typeface="华文新魏" panose="02010800040101010101" pitchFamily="2" charset="-122"/>
              </a:rPr>
              <a:t>个</a:t>
            </a:r>
            <a:r>
              <a:rPr lang="en-US" altLang="zh-CN" sz="2400" dirty="0">
                <a:latin typeface="华文新魏" panose="02010800040101010101" pitchFamily="2" charset="-122"/>
                <a:ea typeface="华文新魏" panose="02010800040101010101" pitchFamily="2" charset="-122"/>
              </a:rPr>
              <a:t>16</a:t>
            </a:r>
            <a:r>
              <a:rPr lang="zh-CN" altLang="en-US" sz="2400" dirty="0">
                <a:latin typeface="华文新魏" panose="02010800040101010101" pitchFamily="2" charset="-122"/>
                <a:ea typeface="华文新魏" panose="02010800040101010101" pitchFamily="2" charset="-122"/>
              </a:rPr>
              <a:t>位半字。如果地址向上或向下溢出地址空间，通常会发生翻转。</a:t>
            </a:r>
            <a:endParaRPr lang="zh-CN" altLang="en-US" sz="2400" dirty="0">
              <a:latin typeface="华文新魏" panose="02010800040101010101" pitchFamily="2" charset="-122"/>
              <a:ea typeface="华文新魏" panose="02010800040101010101" pitchFamily="2" charset="-122"/>
            </a:endParaRPr>
          </a:p>
          <a:p>
            <a:pPr algn="just">
              <a:spcBef>
                <a:spcPct val="50000"/>
              </a:spcBef>
              <a:buClrTx/>
              <a:buFontTx/>
            </a:pPr>
            <a:r>
              <a:rPr lang="zh-CN" altLang="en-US" sz="2400" dirty="0">
                <a:solidFill>
                  <a:srgbClr val="0000FF"/>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：如果在取指操作时地址发生溢出，只要没有执行预取的无效指令，就不会导致异常。</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70339">
                                            <p:txEl>
                                              <p:charRg st="0" end="5"/>
                                            </p:txEl>
                                          </p:spTgt>
                                        </p:tgtEl>
                                        <p:attrNameLst>
                                          <p:attrName>style.visibility</p:attrName>
                                        </p:attrNameLst>
                                      </p:cBhvr>
                                      <p:to>
                                        <p:strVal val="visible"/>
                                      </p:to>
                                    </p:set>
                                    <p:anim calcmode="lin" valueType="num">
                                      <p:cBhvr additive="base">
                                        <p:cTn id="7" dur="500" fill="hold"/>
                                        <p:tgtEl>
                                          <p:spTgt spid="270339">
                                            <p:txEl>
                                              <p:charRg st="0" end="5"/>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70339">
                                            <p:txEl>
                                              <p:charRg st="0" end="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70340"/>
                                        </p:tgtEl>
                                        <p:attrNameLst>
                                          <p:attrName>style.visibility</p:attrName>
                                        </p:attrNameLst>
                                      </p:cBhvr>
                                      <p:to>
                                        <p:strVal val="visible"/>
                                      </p:to>
                                    </p:set>
                                    <p:animEffect transition="in" filter="box(in)">
                                      <p:cBhvr>
                                        <p:cTn id="12" dur="500"/>
                                        <p:tgtEl>
                                          <p:spTgt spid="270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advAuto="1000" build="p"/>
      <p:bldP spid="27034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Text Box 2"/>
          <p:cNvSpPr txBox="1"/>
          <p:nvPr/>
        </p:nvSpPr>
        <p:spPr>
          <a:xfrm>
            <a:off x="1042988" y="2205038"/>
            <a:ext cx="7313612" cy="374332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ARM</a:t>
            </a:r>
            <a:r>
              <a:rPr lang="zh-CN" altLang="en-US" sz="2400" dirty="0">
                <a:latin typeface="华文新魏" panose="02010800040101010101" pitchFamily="2" charset="-122"/>
                <a:ea typeface="华文新魏" panose="02010800040101010101" pitchFamily="2" charset="-122"/>
              </a:rPr>
              <a:t>结构通常希望所有的存储器访问都合理的对齐。具体来说就是字访问的地址通常是字对齐的，而半字访问使用的地址是半字对齐的。不按这种方式对齐的存储器访问称为</a:t>
            </a:r>
            <a:r>
              <a:rPr lang="zh-CN" altLang="en-US" sz="2400" dirty="0">
                <a:solidFill>
                  <a:srgbClr val="0000FF"/>
                </a:solidFill>
                <a:latin typeface="华文新魏" panose="02010800040101010101" pitchFamily="2" charset="-122"/>
                <a:ea typeface="华文新魏" panose="02010800040101010101" pitchFamily="2" charset="-122"/>
              </a:rPr>
              <a:t>非对齐的存储器访问</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将一个非字（半字）对齐的地址写入</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）状态的</a:t>
            </a:r>
            <a:r>
              <a:rPr lang="en-US" altLang="zh-CN" sz="2400" dirty="0">
                <a:solidFill>
                  <a:schemeClr val="tx1"/>
                </a:solidFill>
                <a:latin typeface="华文新魏" panose="02010800040101010101" pitchFamily="2" charset="-122"/>
                <a:ea typeface="华文新魏" panose="02010800040101010101" pitchFamily="2" charset="-122"/>
              </a:rPr>
              <a:t>PC(R15)</a:t>
            </a:r>
            <a:r>
              <a:rPr lang="zh-CN" altLang="en-US" sz="2400" dirty="0">
                <a:solidFill>
                  <a:schemeClr val="tx1"/>
                </a:solidFill>
                <a:latin typeface="华文新魏" panose="02010800040101010101" pitchFamily="2" charset="-122"/>
                <a:ea typeface="华文新魏" panose="02010800040101010101" pitchFamily="2" charset="-122"/>
              </a:rPr>
              <a:t>寄存器，将引起非对齐的指令取指。</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在一个非字（半字）对齐的地址读写一个字（半字），将引起非对齐的数据访问： </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23906" name="Rectangle 3"/>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275460"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未对齐的存储器访问</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75460">
                                            <p:txEl>
                                              <p:charRg st="0" end="10"/>
                                            </p:txEl>
                                          </p:spTgt>
                                        </p:tgtEl>
                                        <p:attrNameLst>
                                          <p:attrName>style.visibility</p:attrName>
                                        </p:attrNameLst>
                                      </p:cBhvr>
                                      <p:to>
                                        <p:strVal val="visible"/>
                                      </p:to>
                                    </p:set>
                                    <p:anim calcmode="lin" valueType="num">
                                      <p:cBhvr additive="base">
                                        <p:cTn id="7" dur="500" fill="hold"/>
                                        <p:tgtEl>
                                          <p:spTgt spid="275460">
                                            <p:txEl>
                                              <p:charRg st="0" end="1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75460">
                                            <p:txEl>
                                              <p:charRg st="0" end="1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75458"/>
                                        </p:tgtEl>
                                        <p:attrNameLst>
                                          <p:attrName>style.visibility</p:attrName>
                                        </p:attrNameLst>
                                      </p:cBhvr>
                                      <p:to>
                                        <p:strVal val="visible"/>
                                      </p:to>
                                    </p:set>
                                    <p:animEffect transition="in" filter="box(in)">
                                      <p:cBhvr>
                                        <p:cTn id="12" dur="500"/>
                                        <p:tgtEl>
                                          <p:spTgt spid="275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8" grpId="0"/>
      <p:bldP spid="275460" grpId="0" advAuto="100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Text Box 2"/>
          <p:cNvSpPr txBox="1"/>
          <p:nvPr/>
        </p:nvSpPr>
        <p:spPr>
          <a:xfrm>
            <a:off x="1187450" y="2492375"/>
            <a:ext cx="7162800" cy="301307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许多</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实现在前一条指令的执行尚未完成时将指令从存储器中取出。这个动作称为</a:t>
            </a:r>
            <a:r>
              <a:rPr lang="zh-CN" altLang="en-US" sz="2400" dirty="0">
                <a:solidFill>
                  <a:srgbClr val="0000FF"/>
                </a:solidFill>
                <a:latin typeface="华文新魏" panose="02010800040101010101" pitchFamily="2" charset="-122"/>
                <a:ea typeface="华文新魏" panose="02010800040101010101" pitchFamily="2" charset="-122"/>
              </a:rPr>
              <a:t>指令的预取</a:t>
            </a:r>
            <a:r>
              <a:rPr lang="zh-CN" altLang="en-US" sz="2400" dirty="0">
                <a:latin typeface="华文新魏" panose="02010800040101010101" pitchFamily="2" charset="-122"/>
                <a:ea typeface="华文新魏" panose="02010800040101010101" pitchFamily="2" charset="-122"/>
              </a:rPr>
              <a:t>。指令的预取并不是实际执行指令。芯片的生产厂商可以自由选择预取指令的数目。被预取的指令可能得不到运行，可能的原因是：</a:t>
            </a:r>
            <a:endParaRPr lang="zh-CN" altLang="en-US" sz="2400" dirty="0">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发生异常；</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发生跳转；</a:t>
            </a:r>
            <a:endParaRPr lang="zh-CN" altLang="en-US" sz="2400" dirty="0">
              <a:solidFill>
                <a:schemeClr val="tx1"/>
              </a:solidFill>
              <a:latin typeface="华文新魏" panose="02010800040101010101" pitchFamily="2" charset="-122"/>
              <a:ea typeface="华文新魏" panose="02010800040101010101" pitchFamily="2" charset="-122"/>
            </a:endParaRPr>
          </a:p>
        </p:txBody>
      </p:sp>
      <p:sp>
        <p:nvSpPr>
          <p:cNvPr id="124930" name="Rectangle 3"/>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276484"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指令的预取和自修改代码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76484">
                                            <p:txEl>
                                              <p:charRg st="0" end="12"/>
                                            </p:txEl>
                                          </p:spTgt>
                                        </p:tgtEl>
                                        <p:attrNameLst>
                                          <p:attrName>style.visibility</p:attrName>
                                        </p:attrNameLst>
                                      </p:cBhvr>
                                      <p:to>
                                        <p:strVal val="visible"/>
                                      </p:to>
                                    </p:set>
                                    <p:anim calcmode="lin" valueType="num">
                                      <p:cBhvr additive="base">
                                        <p:cTn id="7" dur="500" fill="hold"/>
                                        <p:tgtEl>
                                          <p:spTgt spid="276484">
                                            <p:txEl>
                                              <p:charRg st="0" end="12"/>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76484">
                                            <p:txEl>
                                              <p:charRg st="0" end="12"/>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76482"/>
                                        </p:tgtEl>
                                        <p:attrNameLst>
                                          <p:attrName>style.visibility</p:attrName>
                                        </p:attrNameLst>
                                      </p:cBhvr>
                                      <p:to>
                                        <p:strVal val="visible"/>
                                      </p:to>
                                    </p:set>
                                    <p:animEffect transition="in" filter="box(in)">
                                      <p:cBhvr>
                                        <p:cTn id="12" dur="500"/>
                                        <p:tgtEl>
                                          <p:spTgt spid="276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p:bldP spid="276484" grpId="0" advAuto="100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Text Box 2"/>
          <p:cNvSpPr txBox="1"/>
          <p:nvPr/>
        </p:nvSpPr>
        <p:spPr>
          <a:xfrm>
            <a:off x="1219200" y="2389188"/>
            <a:ext cx="7162800" cy="2830512"/>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当读取</a:t>
            </a:r>
            <a:r>
              <a:rPr lang="en-US" altLang="zh-CN" sz="2400" dirty="0">
                <a:latin typeface="华文新魏" panose="02010800040101010101" pitchFamily="2" charset="-122"/>
                <a:ea typeface="华文新魏" panose="02010800040101010101" pitchFamily="2" charset="-122"/>
              </a:rPr>
              <a:t>PC</a:t>
            </a:r>
            <a:r>
              <a:rPr lang="zh-CN" altLang="en-US" sz="2400" dirty="0">
                <a:latin typeface="华文新魏" panose="02010800040101010101" pitchFamily="2" charset="-122"/>
                <a:ea typeface="华文新魏" panose="02010800040101010101" pitchFamily="2" charset="-122"/>
              </a:rPr>
              <a:t>时，得到的指令地址比正在执行指令的地址落后两条指令：</a:t>
            </a:r>
            <a:endParaRPr lang="zh-CN" altLang="en-US" sz="2400" dirty="0">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对于</a:t>
            </a:r>
            <a:r>
              <a:rPr lang="en-US" altLang="zh-CN" sz="2400" dirty="0">
                <a:solidFill>
                  <a:schemeClr val="tx1"/>
                </a:solidFill>
                <a:latin typeface="华文新魏" panose="02010800040101010101" pitchFamily="2" charset="-122"/>
                <a:ea typeface="华文新魏" panose="02010800040101010101" pitchFamily="2" charset="-122"/>
              </a:rPr>
              <a:t>ARM</a:t>
            </a:r>
            <a:r>
              <a:rPr lang="zh-CN" altLang="en-US" sz="2400" dirty="0">
                <a:solidFill>
                  <a:schemeClr val="tx1"/>
                </a:solidFill>
                <a:latin typeface="华文新魏" panose="02010800040101010101" pitchFamily="2" charset="-122"/>
                <a:ea typeface="华文新魏" panose="02010800040101010101" pitchFamily="2" charset="-122"/>
              </a:rPr>
              <a:t>指令，得到的地址是它自身地址</a:t>
            </a:r>
            <a:r>
              <a:rPr lang="en-US" altLang="zh-CN" sz="2400" dirty="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pPr lvl="1" indent="0" algn="just" rtl="0" eaLnBrk="1" fontAlgn="base" hangingPunct="1">
              <a:spcBef>
                <a:spcPct val="50000"/>
              </a:spcBef>
              <a:spcAft>
                <a:spcPct val="0"/>
              </a:spcAft>
              <a:buClr>
                <a:srgbClr val="0000FF"/>
              </a:buClr>
              <a:buFont typeface="Wingdings" panose="05000000000000000000" pitchFamily="2" charset="2"/>
              <a:buChar char="§"/>
            </a:pPr>
            <a:r>
              <a:rPr lang="zh-CN" altLang="en-US" sz="2400" dirty="0">
                <a:solidFill>
                  <a:schemeClr val="tx1"/>
                </a:solidFill>
                <a:latin typeface="华文新魏" panose="02010800040101010101" pitchFamily="2" charset="-122"/>
                <a:ea typeface="华文新魏" panose="02010800040101010101" pitchFamily="2" charset="-122"/>
              </a:rPr>
              <a:t>对于</a:t>
            </a:r>
            <a:r>
              <a:rPr lang="en-US" altLang="zh-CN" sz="2400" dirty="0">
                <a:solidFill>
                  <a:schemeClr val="tx1"/>
                </a:solidFill>
                <a:latin typeface="华文新魏" panose="02010800040101010101" pitchFamily="2" charset="-122"/>
                <a:ea typeface="华文新魏" panose="02010800040101010101" pitchFamily="2" charset="-122"/>
              </a:rPr>
              <a:t>Thumb</a:t>
            </a:r>
            <a:r>
              <a:rPr lang="zh-CN" altLang="en-US" sz="2400" dirty="0">
                <a:solidFill>
                  <a:schemeClr val="tx1"/>
                </a:solidFill>
                <a:latin typeface="华文新魏" panose="02010800040101010101" pitchFamily="2" charset="-122"/>
                <a:ea typeface="华文新魏" panose="02010800040101010101" pitchFamily="2" charset="-122"/>
              </a:rPr>
              <a:t>指令，得到的地址是它自身地址</a:t>
            </a:r>
            <a:r>
              <a:rPr lang="en-US" altLang="zh-CN" sz="2400" dirty="0">
                <a:solidFill>
                  <a:schemeClr val="tx1"/>
                </a:solidFill>
                <a:latin typeface="华文新魏" panose="02010800040101010101" pitchFamily="2" charset="-122"/>
                <a:ea typeface="华文新魏" panose="02010800040101010101" pitchFamily="2" charset="-122"/>
              </a:rPr>
              <a:t>+4</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dirty="0">
              <a:solidFill>
                <a:schemeClr val="tx1"/>
              </a:solidFill>
              <a:latin typeface="华文新魏" panose="02010800040101010101" pitchFamily="2" charset="-122"/>
              <a:ea typeface="华文新魏" panose="02010800040101010101" pitchFamily="2" charset="-122"/>
            </a:endParaRPr>
          </a:p>
          <a:p>
            <a:pPr algn="just">
              <a:spcBef>
                <a:spcPct val="50000"/>
              </a:spcBef>
              <a:buClr>
                <a:srgbClr val="0000FF"/>
              </a:buClr>
              <a:buFont typeface="Wingdings" panose="05000000000000000000" pitchFamily="2" charset="2"/>
            </a:pPr>
            <a:r>
              <a:rPr lang="zh-CN" altLang="en-US" sz="2400" dirty="0">
                <a:latin typeface="华文新魏" panose="02010800040101010101" pitchFamily="2" charset="-122"/>
                <a:ea typeface="华文新魏" panose="02010800040101010101" pitchFamily="2" charset="-122"/>
              </a:rPr>
              <a:t>        </a:t>
            </a:r>
            <a:endParaRPr lang="zh-CN" altLang="en-US" sz="2400" dirty="0">
              <a:latin typeface="华文新魏" panose="02010800040101010101" pitchFamily="2" charset="-122"/>
              <a:ea typeface="华文新魏" panose="02010800040101010101" pitchFamily="2" charset="-122"/>
            </a:endParaRPr>
          </a:p>
        </p:txBody>
      </p:sp>
      <p:sp>
        <p:nvSpPr>
          <p:cNvPr id="125954" name="Rectangle 3"/>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277508"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指令的预取和自修改代码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77508">
                                            <p:txEl>
                                              <p:charRg st="0" end="12"/>
                                            </p:txEl>
                                          </p:spTgt>
                                        </p:tgtEl>
                                        <p:attrNameLst>
                                          <p:attrName>style.visibility</p:attrName>
                                        </p:attrNameLst>
                                      </p:cBhvr>
                                      <p:to>
                                        <p:strVal val="visible"/>
                                      </p:to>
                                    </p:set>
                                    <p:anim calcmode="lin" valueType="num">
                                      <p:cBhvr additive="base">
                                        <p:cTn id="7" dur="500" fill="hold"/>
                                        <p:tgtEl>
                                          <p:spTgt spid="277508">
                                            <p:txEl>
                                              <p:charRg st="0" end="12"/>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77508">
                                            <p:txEl>
                                              <p:charRg st="0" end="12"/>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77506"/>
                                        </p:tgtEl>
                                        <p:attrNameLst>
                                          <p:attrName>style.visibility</p:attrName>
                                        </p:attrNameLst>
                                      </p:cBhvr>
                                      <p:to>
                                        <p:strVal val="visible"/>
                                      </p:to>
                                    </p:set>
                                    <p:animEffect transition="in" filter="box(in)">
                                      <p:cBhvr>
                                        <p:cTn id="12" dur="500"/>
                                        <p:tgtEl>
                                          <p:spTgt spid="277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p:bldP spid="277508" grpId="0" advAuto="100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Text Box 2"/>
          <p:cNvSpPr txBox="1"/>
          <p:nvPr/>
        </p:nvSpPr>
        <p:spPr>
          <a:xfrm>
            <a:off x="1187450" y="2276475"/>
            <a:ext cx="7162800" cy="2282825"/>
          </a:xfrm>
          <a:prstGeom prst="rect">
            <a:avLst/>
          </a:prstGeom>
          <a:noFill/>
          <a:ln w="9525">
            <a:noFill/>
          </a:ln>
        </p:spPr>
        <p:txBody>
          <a:bodyPr anchor="t" anchorCtr="0">
            <a:spAutoFit/>
          </a:bodyPr>
          <a:p>
            <a:pPr algn="just">
              <a:spcBef>
                <a:spcPct val="50000"/>
              </a:spcBef>
              <a:buClrTx/>
              <a:buFontTx/>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基于</a:t>
            </a:r>
            <a:r>
              <a:rPr lang="en-US" altLang="zh-CN" sz="2400" dirty="0">
                <a:latin typeface="华文新魏" panose="02010800040101010101" pitchFamily="2" charset="-122"/>
                <a:ea typeface="华文新魏" panose="02010800040101010101" pitchFamily="2" charset="-122"/>
              </a:rPr>
              <a:t>ARM</a:t>
            </a:r>
            <a:r>
              <a:rPr lang="zh-CN" altLang="en-US" sz="2400" dirty="0">
                <a:latin typeface="华文新魏" panose="02010800040101010101" pitchFamily="2" charset="-122"/>
                <a:ea typeface="华文新魏" panose="02010800040101010101" pitchFamily="2" charset="-122"/>
              </a:rPr>
              <a:t>内核的芯片具有许多的外设，这些外设访问的标准方法是使用</a:t>
            </a:r>
            <a:r>
              <a:rPr lang="zh-CN" altLang="en-US" sz="2400" dirty="0">
                <a:solidFill>
                  <a:srgbClr val="0000FF"/>
                </a:solidFill>
                <a:latin typeface="华文新魏" panose="02010800040101010101" pitchFamily="2" charset="-122"/>
                <a:ea typeface="华文新魏" panose="02010800040101010101" pitchFamily="2" charset="-122"/>
              </a:rPr>
              <a:t>存储器映射的</a:t>
            </a:r>
            <a:r>
              <a:rPr lang="en-US" altLang="zh-CN" sz="2400" dirty="0">
                <a:solidFill>
                  <a:srgbClr val="0000FF"/>
                </a:solidFill>
                <a:latin typeface="华文新魏" panose="02010800040101010101" pitchFamily="2" charset="-122"/>
                <a:ea typeface="华文新魏" panose="02010800040101010101" pitchFamily="2" charset="-122"/>
              </a:rPr>
              <a:t>I/O</a:t>
            </a:r>
            <a:r>
              <a:rPr lang="zh-CN" altLang="en-US" sz="2400" dirty="0">
                <a:latin typeface="华文新魏" panose="02010800040101010101" pitchFamily="2" charset="-122"/>
                <a:ea typeface="华文新魏" panose="02010800040101010101" pitchFamily="2" charset="-122"/>
              </a:rPr>
              <a:t>，为外设的每个寄存器都分配一个地址。通常，从这些地址装载数据用于读入，向这些地址保存数据用于输出。有些地址的装载和保存用于外设的控制功能，而不是输入或输出功能。 </a:t>
            </a:r>
            <a:endParaRPr lang="zh-CN" altLang="en-US" sz="2400" dirty="0">
              <a:latin typeface="华文新魏" panose="02010800040101010101" pitchFamily="2" charset="-122"/>
              <a:ea typeface="华文新魏" panose="02010800040101010101" pitchFamily="2" charset="-122"/>
            </a:endParaRPr>
          </a:p>
        </p:txBody>
      </p:sp>
      <p:sp>
        <p:nvSpPr>
          <p:cNvPr id="126978" name="Rectangle 3"/>
          <p:cNvSpPr>
            <a:spLocks noGrp="1"/>
          </p:cNvSpPr>
          <p:nvPr>
            <p:ph type="title"/>
          </p:nvPr>
        </p:nvSpPr>
        <p:spPr>
          <a:ln/>
        </p:spPr>
        <p:txBody>
          <a:bodyPr vert="horz" wrap="square" lIns="91440" tIns="45720" rIns="91440" bIns="45720" anchor="ctr" anchorCtr="0"/>
          <a:p>
            <a:pPr eaLnBrk="1" hangingPunct="1"/>
            <a:r>
              <a:rPr lang="en-US" altLang="zh-CN" dirty="0"/>
              <a:t>3.11  </a:t>
            </a:r>
            <a:r>
              <a:rPr lang="zh-CN" altLang="en-US" dirty="0"/>
              <a:t>存储器及存储器映射</a:t>
            </a:r>
            <a:r>
              <a:rPr lang="en-US" altLang="zh-CN" dirty="0"/>
              <a:t>I/O</a:t>
            </a:r>
            <a:endParaRPr lang="en-US" altLang="zh-CN" dirty="0"/>
          </a:p>
        </p:txBody>
      </p:sp>
      <p:sp>
        <p:nvSpPr>
          <p:cNvPr id="282628" name="Rectangle 4"/>
          <p:cNvSpPr>
            <a:spLocks noGrp="1"/>
          </p:cNvSpPr>
          <p:nvPr>
            <p:ph idx="1"/>
          </p:nvPr>
        </p:nvSpPr>
        <p:spPr>
          <a:xfrm>
            <a:off x="468313" y="1341438"/>
            <a:ext cx="8486775" cy="815975"/>
          </a:xfrm>
          <a:ln/>
        </p:spPr>
        <p:txBody>
          <a:bodyPr vert="horz" wrap="square" lIns="91440" tIns="45720" rIns="91440" bIns="45720" anchor="t" anchorCtr="0"/>
          <a:p>
            <a:pPr eaLnBrk="1" hangingPunct="1"/>
            <a:r>
              <a:rPr lang="zh-CN" altLang="en-US" dirty="0"/>
              <a:t>存储器映射的</a:t>
            </a:r>
            <a:r>
              <a:rPr lang="en-US" altLang="zh-CN" dirty="0"/>
              <a:t>I/O</a:t>
            </a:r>
            <a:endParaRPr lang="en-US" altLang="zh-CN" dirty="0"/>
          </a:p>
        </p:txBody>
      </p:sp>
      <p:sp>
        <p:nvSpPr>
          <p:cNvPr id="282629" name="Text Box 5"/>
          <p:cNvSpPr txBox="1"/>
          <p:nvPr/>
        </p:nvSpPr>
        <p:spPr>
          <a:xfrm>
            <a:off x="1219200" y="4776788"/>
            <a:ext cx="7162800" cy="1187450"/>
          </a:xfrm>
          <a:prstGeom prst="rect">
            <a:avLst/>
          </a:prstGeom>
          <a:noFill/>
          <a:ln w="9525">
            <a:noFill/>
          </a:ln>
        </p:spPr>
        <p:txBody>
          <a:bodyPr anchor="t" anchorCtr="0">
            <a:spAutoFit/>
          </a:bodyPr>
          <a:p>
            <a:pPr algn="just">
              <a:spcBef>
                <a:spcPct val="50000"/>
              </a:spcBef>
              <a:buClrTx/>
              <a:buFontTx/>
            </a:pPr>
            <a:r>
              <a:rPr lang="zh-CN" altLang="en-US" sz="2400" dirty="0">
                <a:solidFill>
                  <a:srgbClr val="0000FF"/>
                </a:solidFill>
                <a:latin typeface="华文新魏" panose="02010800040101010101" pitchFamily="2" charset="-122"/>
                <a:ea typeface="华文新魏" panose="02010800040101010101" pitchFamily="2" charset="-122"/>
              </a:rPr>
              <a:t>注意</a:t>
            </a:r>
            <a:r>
              <a:rPr lang="zh-CN" altLang="en-US" sz="2400" dirty="0">
                <a:latin typeface="华文新魏" panose="02010800040101010101" pitchFamily="2" charset="-122"/>
                <a:ea typeface="华文新魏" panose="02010800040101010101" pitchFamily="2" charset="-122"/>
              </a:rPr>
              <a:t>：存储器映射的</a:t>
            </a:r>
            <a:r>
              <a:rPr lang="en-US" altLang="zh-CN" sz="2400" dirty="0">
                <a:latin typeface="华文新魏" panose="02010800040101010101" pitchFamily="2" charset="-122"/>
                <a:ea typeface="华文新魏" panose="02010800040101010101" pitchFamily="2" charset="-122"/>
              </a:rPr>
              <a:t>I/O</a:t>
            </a:r>
            <a:r>
              <a:rPr lang="zh-CN" altLang="en-US" sz="2400" dirty="0">
                <a:latin typeface="华文新魏" panose="02010800040101010101" pitchFamily="2" charset="-122"/>
                <a:ea typeface="华文新魏" panose="02010800040101010101" pitchFamily="2" charset="-122"/>
              </a:rPr>
              <a:t>位置的操作不同于正常的存储器位置的操作。通常，存储器映射的</a:t>
            </a:r>
            <a:r>
              <a:rPr lang="en-US" altLang="zh-CN" sz="2400" dirty="0">
                <a:latin typeface="华文新魏" panose="02010800040101010101" pitchFamily="2" charset="-122"/>
                <a:ea typeface="华文新魏" panose="02010800040101010101" pitchFamily="2" charset="-122"/>
              </a:rPr>
              <a:t>I/O</a:t>
            </a:r>
            <a:r>
              <a:rPr lang="zh-CN" altLang="en-US" sz="2400" dirty="0">
                <a:latin typeface="华文新魏" panose="02010800040101010101" pitchFamily="2" charset="-122"/>
                <a:ea typeface="华文新魏" panose="02010800040101010101" pitchFamily="2" charset="-122"/>
              </a:rPr>
              <a:t>位置没有高速缓存和无缓冲区。</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82628">
                                            <p:txEl>
                                              <p:charRg st="0" end="10"/>
                                            </p:txEl>
                                          </p:spTgt>
                                        </p:tgtEl>
                                        <p:attrNameLst>
                                          <p:attrName>style.visibility</p:attrName>
                                        </p:attrNameLst>
                                      </p:cBhvr>
                                      <p:to>
                                        <p:strVal val="visible"/>
                                      </p:to>
                                    </p:set>
                                    <p:anim calcmode="lin" valueType="num">
                                      <p:cBhvr additive="base">
                                        <p:cTn id="7" dur="500" fill="hold"/>
                                        <p:tgtEl>
                                          <p:spTgt spid="282628">
                                            <p:txEl>
                                              <p:charRg st="0" end="1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2628">
                                            <p:txEl>
                                              <p:charRg st="0" end="1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82626"/>
                                        </p:tgtEl>
                                        <p:attrNameLst>
                                          <p:attrName>style.visibility</p:attrName>
                                        </p:attrNameLst>
                                      </p:cBhvr>
                                      <p:to>
                                        <p:strVal val="visible"/>
                                      </p:to>
                                    </p:set>
                                    <p:animEffect transition="in" filter="box(in)">
                                      <p:cBhvr>
                                        <p:cTn id="12" dur="500"/>
                                        <p:tgtEl>
                                          <p:spTgt spid="282626"/>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282629"/>
                                        </p:tgtEl>
                                        <p:attrNameLst>
                                          <p:attrName>style.visibility</p:attrName>
                                        </p:attrNameLst>
                                      </p:cBhvr>
                                      <p:to>
                                        <p:strVal val="visible"/>
                                      </p:to>
                                    </p:set>
                                    <p:animEffect transition="in" filter="slide(fromBottom)">
                                      <p:cBhvr>
                                        <p:cTn id="16" dur="500"/>
                                        <p:tgtEl>
                                          <p:spTgt spid="28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p:bldP spid="282628" grpId="0" advAuto="1000" build="p"/>
      <p:bldP spid="282629" grpId="0"/>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0</TotalTime>
  <Words>29671</Words>
  <Application>WPS 演示</Application>
  <PresentationFormat>全屏显示(4:3)</PresentationFormat>
  <Paragraphs>7161</Paragraphs>
  <Slides>114</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114</vt:i4>
      </vt:variant>
    </vt:vector>
  </HeadingPairs>
  <TitlesOfParts>
    <vt:vector size="132" baseType="lpstr">
      <vt:lpstr>Arial</vt:lpstr>
      <vt:lpstr>宋体</vt:lpstr>
      <vt:lpstr>Wingdings</vt:lpstr>
      <vt:lpstr>Tahoma</vt:lpstr>
      <vt:lpstr>Times New Roman</vt:lpstr>
      <vt:lpstr>黑体</vt:lpstr>
      <vt:lpstr>华文琥珀</vt:lpstr>
      <vt:lpstr>华文新魏</vt:lpstr>
      <vt:lpstr>楷体_GB2312</vt:lpstr>
      <vt:lpstr>新宋体</vt:lpstr>
      <vt:lpstr>Symbol</vt:lpstr>
      <vt:lpstr>Courier New</vt:lpstr>
      <vt:lpstr>微软雅黑</vt:lpstr>
      <vt:lpstr>Arial Unicode MS</vt:lpstr>
      <vt:lpstr>Blends</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gz</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ARM7体系结构</dc:title>
  <dc:creator>yanhanliang</dc:creator>
  <cp:lastModifiedBy>李祺</cp:lastModifiedBy>
  <cp:revision>165</cp:revision>
  <dcterms:created xsi:type="dcterms:W3CDTF">2005-02-26T06:00:55Z</dcterms:created>
  <dcterms:modified xsi:type="dcterms:W3CDTF">2026-03-31T04:57:49Z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D895322FEBF142A4838858AD98F0B83B_13</vt:lpwstr>
  </property>
  <property fmtid="{D5CDD505-2E9C-101B-9397-08002B2CF9AE}" pid="3" name="KSOProductBuildVer">
    <vt:lpwstr>2052-12.1.0.25225</vt:lpwstr>
  </property>
</Properties>
</file>